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6"/>
  </p:notesMasterIdLst>
  <p:sldIdLst>
    <p:sldId id="256" r:id="rId5"/>
    <p:sldId id="257" r:id="rId6"/>
    <p:sldId id="258" r:id="rId7"/>
    <p:sldId id="265" r:id="rId8"/>
    <p:sldId id="266" r:id="rId9"/>
    <p:sldId id="267" r:id="rId10"/>
    <p:sldId id="268" r:id="rId11"/>
    <p:sldId id="269" r:id="rId12"/>
    <p:sldId id="270" r:id="rId13"/>
    <p:sldId id="27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78" r:id="rId34"/>
    <p:sldId id="264" r:id="rId35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8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9F1E2E-BDD4-408A-BE75-631B6A813E5F}" type="datetimeFigureOut">
              <a:rPr lang="en-PK" smtClean="0"/>
              <a:t>09/25/2025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0D1A1E-38F7-45F1-BB27-746B7D33024C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69347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omputer chip">
            <a:extLst>
              <a:ext uri="{FF2B5EF4-FFF2-40B4-BE49-F238E27FC236}">
                <a16:creationId xmlns:a16="http://schemas.microsoft.com/office/drawing/2014/main" id="{B7C4D4CB-B007-3AB5-EF06-7C5257827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967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rectangles with lines&#10;&#10;Description automatically generated">
            <a:extLst>
              <a:ext uri="{FF2B5EF4-FFF2-40B4-BE49-F238E27FC236}">
                <a16:creationId xmlns:a16="http://schemas.microsoft.com/office/drawing/2014/main" id="{DD488B95-72F4-76CE-3189-8A9477FCF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1D4DF28-AC8A-0D82-B92C-8A5ED786F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1965" y="63079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</a:rPr>
              <a:t>Slide Number </a:t>
            </a:r>
            <a:fld id="{6EBC3B51-DE6F-4918-BB1B-21BDA37DE1D0}" type="slidenum">
              <a:rPr lang="en-PK" smtClean="0">
                <a:solidFill>
                  <a:schemeClr val="bg1"/>
                </a:solidFill>
              </a:rPr>
              <a:pPr/>
              <a:t>‹#›</a:t>
            </a:fld>
            <a:endParaRPr lang="en-P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9814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object with blue and red lines&#10;&#10;Description automatically generated">
            <a:extLst>
              <a:ext uri="{FF2B5EF4-FFF2-40B4-BE49-F238E27FC236}">
                <a16:creationId xmlns:a16="http://schemas.microsoft.com/office/drawing/2014/main" id="{523AA178-0CC2-6955-92C1-EEEC77DB2A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F2A5D-78E0-2E04-5D71-B63878460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1965" y="63079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80016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3B2167B4-EDB8-B40B-E472-47EB16BC38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61293E8-2588-D3AC-2E8E-FFE07F938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1965" y="63079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53502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ircuit board">
            <a:extLst>
              <a:ext uri="{FF2B5EF4-FFF2-40B4-BE49-F238E27FC236}">
                <a16:creationId xmlns:a16="http://schemas.microsoft.com/office/drawing/2014/main" id="{580311C9-E88C-0D0D-C7A0-DE329F5F5D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DC63A69-E135-0E4A-4141-17EA3282C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1965" y="63079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0A48E9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01871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rectangle with red lines&#10;&#10;Description automatically generated">
            <a:extLst>
              <a:ext uri="{FF2B5EF4-FFF2-40B4-BE49-F238E27FC236}">
                <a16:creationId xmlns:a16="http://schemas.microsoft.com/office/drawing/2014/main" id="{3784EB11-51CF-FB6D-529D-780173816C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E14F1AE-727D-83CD-76EC-0BA31199F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1965" y="63079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Slide Number </a:t>
            </a:r>
            <a:fld id="{6EBC3B51-DE6F-4918-BB1B-21BDA37DE1D0}" type="slidenum">
              <a:rPr lang="en-PK" smtClean="0">
                <a:solidFill>
                  <a:schemeClr val="bg1"/>
                </a:solidFill>
              </a:rPr>
              <a:pPr/>
              <a:t>‹#›</a:t>
            </a:fld>
            <a:endParaRPr lang="en-P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989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and white rectangle with red and white stripes&#10;&#10;Description automatically generated">
            <a:extLst>
              <a:ext uri="{FF2B5EF4-FFF2-40B4-BE49-F238E27FC236}">
                <a16:creationId xmlns:a16="http://schemas.microsoft.com/office/drawing/2014/main" id="{B1EC7180-B643-D62A-51DD-6CC7365EDA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BA303DE-3891-9023-236C-F556977CB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1965" y="63079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Slide Number </a:t>
            </a:r>
            <a:fld id="{6EBC3B51-DE6F-4918-BB1B-21BDA37DE1D0}" type="slidenum">
              <a:rPr lang="en-PK" smtClean="0">
                <a:solidFill>
                  <a:schemeClr val="bg1"/>
                </a:solidFill>
              </a:rPr>
              <a:pPr/>
              <a:t>‹#›</a:t>
            </a:fld>
            <a:endParaRPr lang="en-P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646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triangle&#10;&#10;Description automatically generated">
            <a:extLst>
              <a:ext uri="{FF2B5EF4-FFF2-40B4-BE49-F238E27FC236}">
                <a16:creationId xmlns:a16="http://schemas.microsoft.com/office/drawing/2014/main" id="{1FD40875-6D60-5165-F803-06366A368D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C6D1EB7-678E-7245-5293-34C273AEC7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1965" y="630797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Slide Number </a:t>
            </a:r>
            <a:fld id="{6EBC3B51-DE6F-4918-BB1B-21BDA37DE1D0}" type="slidenum">
              <a:rPr lang="en-PK" smtClean="0">
                <a:solidFill>
                  <a:schemeClr val="bg1"/>
                </a:solidFill>
              </a:rPr>
              <a:pPr/>
              <a:t>‹#›</a:t>
            </a:fld>
            <a:endParaRPr lang="en-P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844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computer chip">
            <a:extLst>
              <a:ext uri="{FF2B5EF4-FFF2-40B4-BE49-F238E27FC236}">
                <a16:creationId xmlns:a16="http://schemas.microsoft.com/office/drawing/2014/main" id="{5A100EB6-FA84-9FD7-ABD0-BE2715324E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"/>
            <a:ext cx="12192000" cy="6857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932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CC1281-A2D0-2D11-F699-7B0E1940B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3F03E-DD81-4036-B5E4-8852BABCF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67E74-68E7-D190-7B2E-3DE4FB7A5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9AAF7-88AE-2D3B-F147-A710823FE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EC6B0-9DEC-3CDF-461B-E6905FC115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BC3B51-DE6F-4918-BB1B-21BDA37DE1D0}" type="slidenum">
              <a:rPr lang="en-PK" smtClean="0"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89978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051DD2-4AE1-0027-8BDB-E316C3C538E3}"/>
              </a:ext>
            </a:extLst>
          </p:cNvPr>
          <p:cNvSpPr txBox="1"/>
          <p:nvPr/>
        </p:nvSpPr>
        <p:spPr>
          <a:xfrm>
            <a:off x="3539067" y="4885267"/>
            <a:ext cx="4995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>
                <a:solidFill>
                  <a:schemeClr val="bg1"/>
                </a:solidFill>
              </a:rPr>
              <a:t>TCL SCRIPTING</a:t>
            </a:r>
          </a:p>
        </p:txBody>
      </p:sp>
    </p:spTree>
    <p:extLst>
      <p:ext uri="{BB962C8B-B14F-4D97-AF65-F5344CB8AC3E}">
        <p14:creationId xmlns:p14="http://schemas.microsoft.com/office/powerpoint/2010/main" val="3435969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F66578-F16F-9AF9-0D21-29A7F25088CB}"/>
              </a:ext>
            </a:extLst>
          </p:cNvPr>
          <p:cNvSpPr txBox="1"/>
          <p:nvPr/>
        </p:nvSpPr>
        <p:spPr>
          <a:xfrm>
            <a:off x="717755" y="491613"/>
            <a:ext cx="5378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Course Objectives </a:t>
            </a:r>
            <a:endParaRPr lang="en-PK" sz="4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B475CF-0606-FCA0-B699-36EC7103A4A4}"/>
              </a:ext>
            </a:extLst>
          </p:cNvPr>
          <p:cNvSpPr txBox="1"/>
          <p:nvPr/>
        </p:nvSpPr>
        <p:spPr>
          <a:xfrm>
            <a:off x="701965" y="2229738"/>
            <a:ext cx="11130116" cy="2103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sz="2400" dirty="0"/>
              <a:t>By the end of this course, you will be able to</a:t>
            </a:r>
          </a:p>
          <a:p>
            <a:pPr algn="just">
              <a:lnSpc>
                <a:spcPct val="110000"/>
              </a:lnSpc>
            </a:pPr>
            <a:r>
              <a:rPr lang="en-US" sz="2400" dirty="0"/>
              <a:t> ● Explain </a:t>
            </a:r>
            <a:r>
              <a:rPr lang="en-US" sz="2400" dirty="0" err="1"/>
              <a:t>Tcl</a:t>
            </a:r>
            <a:r>
              <a:rPr lang="en-US" sz="2400" dirty="0"/>
              <a:t> scripting </a:t>
            </a:r>
          </a:p>
          <a:p>
            <a:pPr algn="just">
              <a:lnSpc>
                <a:spcPct val="110000"/>
              </a:lnSpc>
            </a:pPr>
            <a:r>
              <a:rPr lang="en-US" sz="2400" dirty="0"/>
              <a:t>● Identify </a:t>
            </a:r>
            <a:r>
              <a:rPr lang="en-US" sz="2400" dirty="0" err="1"/>
              <a:t>Tcl</a:t>
            </a:r>
            <a:r>
              <a:rPr lang="en-US" sz="2400" dirty="0"/>
              <a:t> uses and strengths </a:t>
            </a:r>
          </a:p>
          <a:p>
            <a:pPr algn="just">
              <a:lnSpc>
                <a:spcPct val="110000"/>
              </a:lnSpc>
            </a:pPr>
            <a:r>
              <a:rPr lang="en-US" sz="2400" dirty="0"/>
              <a:t>● Write simple </a:t>
            </a:r>
            <a:r>
              <a:rPr lang="en-US" sz="2400" dirty="0" err="1"/>
              <a:t>Tcl</a:t>
            </a:r>
            <a:r>
              <a:rPr lang="en-US" sz="2400" dirty="0"/>
              <a:t> scripts </a:t>
            </a:r>
          </a:p>
          <a:p>
            <a:pPr algn="just">
              <a:lnSpc>
                <a:spcPct val="110000"/>
              </a:lnSpc>
            </a:pPr>
            <a:r>
              <a:rPr lang="en-US" sz="2400" dirty="0"/>
              <a:t>● Demonstrate the </a:t>
            </a:r>
            <a:r>
              <a:rPr lang="en-US" sz="2400" dirty="0" err="1"/>
              <a:t>Tcl</a:t>
            </a:r>
            <a:r>
              <a:rPr lang="en-US" sz="2400" dirty="0"/>
              <a:t> usage for EDA scripting</a:t>
            </a:r>
            <a:endParaRPr lang="en-PK" sz="2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1112D-6FB4-A3F9-B328-E9207994B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EBC3B51-DE6F-4918-BB1B-21BDA37DE1D0}" type="slidenum">
              <a:rPr lang="en-PK" smtClean="0"/>
              <a:pPr/>
              <a:t>2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25105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4BAB25-2BE7-F23C-EE23-B04CF3C43245}"/>
              </a:ext>
            </a:extLst>
          </p:cNvPr>
          <p:cNvSpPr txBox="1"/>
          <p:nvPr/>
        </p:nvSpPr>
        <p:spPr>
          <a:xfrm>
            <a:off x="717755" y="491613"/>
            <a:ext cx="53782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Why Should I Use </a:t>
            </a:r>
            <a:r>
              <a:rPr lang="en-US" sz="4000" dirty="0" err="1"/>
              <a:t>Tcl</a:t>
            </a:r>
            <a:r>
              <a:rPr lang="en-US" sz="4000" dirty="0"/>
              <a:t>? </a:t>
            </a:r>
            <a:endParaRPr lang="en-PK" sz="4000" b="1" dirty="0">
              <a:solidFill>
                <a:srgbClr val="0A48E9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77BD6-F144-1192-9B3C-55BF5C33BF3A}"/>
              </a:ext>
            </a:extLst>
          </p:cNvPr>
          <p:cNvSpPr txBox="1"/>
          <p:nvPr/>
        </p:nvSpPr>
        <p:spPr>
          <a:xfrm>
            <a:off x="812800" y="1714524"/>
            <a:ext cx="9779000" cy="3428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en-US" dirty="0"/>
              <a:t>● Productivity 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● Portability 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	▪ MS Windows, UNIX variants, Macintosh, OpenVMS, BeOS, etc. 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● Availability 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	▪ Download, use, modify, and re-distribute without royalties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 ● Interfacing between the tools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	 ▪ Can bridge incompatible interfaces, platforms, and distant locations 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● Many available extensions 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	▪ GUI programming (Tk, Tix, BLT, </a:t>
            </a:r>
            <a:r>
              <a:rPr lang="en-US" dirty="0" err="1"/>
              <a:t>Togl</a:t>
            </a:r>
            <a:r>
              <a:rPr lang="en-US" dirty="0"/>
              <a:t>, etc.) 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	▪ Interaction with command-line applications (expect)</a:t>
            </a:r>
          </a:p>
          <a:p>
            <a:pPr algn="just">
              <a:lnSpc>
                <a:spcPct val="110000"/>
              </a:lnSpc>
            </a:pPr>
            <a:r>
              <a:rPr lang="en-US" dirty="0"/>
              <a:t>	▪ Database (</a:t>
            </a:r>
            <a:r>
              <a:rPr lang="en-US" dirty="0" err="1"/>
              <a:t>OraTcl</a:t>
            </a:r>
            <a:r>
              <a:rPr lang="en-US" dirty="0"/>
              <a:t>), object-oriented programming (</a:t>
            </a:r>
            <a:r>
              <a:rPr lang="en-US" dirty="0" err="1"/>
              <a:t>incr_Tcl</a:t>
            </a:r>
            <a:r>
              <a:rPr lang="en-US" dirty="0"/>
              <a:t>)</a:t>
            </a:r>
            <a:endParaRPr lang="en-PK" dirty="0">
              <a:solidFill>
                <a:srgbClr val="0A48E9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C2339-5968-C52E-0E24-D6A8620B8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261795"/>
            <a:ext cx="2743200" cy="365125"/>
          </a:xfrm>
        </p:spPr>
        <p:txBody>
          <a:bodyPr/>
          <a:lstStyle/>
          <a:p>
            <a:fld id="{6EBC3B51-DE6F-4918-BB1B-21BDA37DE1D0}" type="slidenum">
              <a:rPr lang="en-PK" smtClean="0"/>
              <a:pPr/>
              <a:t>3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7403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83EA80-7B68-C15B-46DC-E6FDE5041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4</a:t>
            </a:fld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628D22-EB63-4673-2D97-F3F8E89F1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133" y="1490133"/>
            <a:ext cx="9211734" cy="4473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D1A9EF-6061-7CDD-8FE9-52F515E0E1A4}"/>
              </a:ext>
            </a:extLst>
          </p:cNvPr>
          <p:cNvSpPr txBox="1"/>
          <p:nvPr/>
        </p:nvSpPr>
        <p:spPr>
          <a:xfrm>
            <a:off x="1049866" y="622994"/>
            <a:ext cx="5655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Tcl</a:t>
            </a:r>
            <a:r>
              <a:rPr lang="en-US" sz="4000" dirty="0"/>
              <a:t>: Main Features </a:t>
            </a:r>
          </a:p>
        </p:txBody>
      </p:sp>
    </p:spTree>
    <p:extLst>
      <p:ext uri="{BB962C8B-B14F-4D97-AF65-F5344CB8AC3E}">
        <p14:creationId xmlns:p14="http://schemas.microsoft.com/office/powerpoint/2010/main" val="3461856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BEC2B9-DC2B-171B-9AF3-96306AFCE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5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9E319-B621-9E18-0932-6A1486C86761}"/>
              </a:ext>
            </a:extLst>
          </p:cNvPr>
          <p:cNvSpPr txBox="1"/>
          <p:nvPr/>
        </p:nvSpPr>
        <p:spPr>
          <a:xfrm>
            <a:off x="778933" y="618067"/>
            <a:ext cx="40809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Tcl</a:t>
            </a:r>
            <a:r>
              <a:rPr lang="en-US" sz="4000" dirty="0"/>
              <a:t> in EDA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D643DE-7E80-4D5A-C994-8F6753623B11}"/>
              </a:ext>
            </a:extLst>
          </p:cNvPr>
          <p:cNvSpPr txBox="1"/>
          <p:nvPr/>
        </p:nvSpPr>
        <p:spPr>
          <a:xfrm>
            <a:off x="914400" y="1436277"/>
            <a:ext cx="8737600" cy="424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Tcl</a:t>
            </a:r>
            <a:r>
              <a:rPr lang="en-US" sz="1600" dirty="0"/>
              <a:t> is the standard EDA scripting language. Typical uses:</a:t>
            </a:r>
          </a:p>
          <a:p>
            <a:endParaRPr lang="en-US" sz="1600" dirty="0"/>
          </a:p>
          <a:p>
            <a:pPr lvl="1">
              <a:lnSpc>
                <a:spcPct val="150000"/>
              </a:lnSpc>
            </a:pPr>
            <a:r>
              <a:rPr lang="en-US" sz="1600" dirty="0"/>
              <a:t>● Simulation, synthesis and test automation scripting 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● Data analysis and visualization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● Design flow integration 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● Netlist conversion, analysis and hacking 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● Linking incompatible tools running on different platforms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● Scripting front-ends for command-line based applications 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● IP core customization scripting 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● Automated testbenches, regression testing, HW/SW co-verification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● Portable system demonstrators/applications</a:t>
            </a:r>
          </a:p>
          <a:p>
            <a:pPr lvl="1">
              <a:lnSpc>
                <a:spcPct val="150000"/>
              </a:lnSpc>
            </a:pPr>
            <a:r>
              <a:rPr lang="en-US" sz="1600" dirty="0"/>
              <a:t>● Project/EDA system administration (installation, backup, etc.)</a:t>
            </a:r>
          </a:p>
        </p:txBody>
      </p:sp>
    </p:spTree>
    <p:extLst>
      <p:ext uri="{BB962C8B-B14F-4D97-AF65-F5344CB8AC3E}">
        <p14:creationId xmlns:p14="http://schemas.microsoft.com/office/powerpoint/2010/main" val="2832000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0BF6CE-9EEF-6C67-1572-19D8299F20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6</a:t>
            </a:fld>
            <a:endParaRPr lang="en-P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3954CB-25CF-6489-0530-16AE19EC53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699" y="1533427"/>
            <a:ext cx="9537957" cy="44666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15FCDB0-66D6-6140-7425-B2D8D5A80977}"/>
              </a:ext>
            </a:extLst>
          </p:cNvPr>
          <p:cNvSpPr txBox="1"/>
          <p:nvPr/>
        </p:nvSpPr>
        <p:spPr>
          <a:xfrm>
            <a:off x="829733" y="592667"/>
            <a:ext cx="43772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Tcl</a:t>
            </a:r>
            <a:r>
              <a:rPr lang="en-US" sz="4000" dirty="0"/>
              <a:t> Commands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9206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EA38CD-0F34-849E-FE27-E9887049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7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BC2FC-65B0-C753-1A01-F1815F90ED45}"/>
              </a:ext>
            </a:extLst>
          </p:cNvPr>
          <p:cNvSpPr txBox="1"/>
          <p:nvPr/>
        </p:nvSpPr>
        <p:spPr>
          <a:xfrm>
            <a:off x="701965" y="651934"/>
            <a:ext cx="69426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Tcl</a:t>
            </a:r>
            <a:r>
              <a:rPr lang="en-US" sz="4000" dirty="0"/>
              <a:t> Script Processing Summary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50BEE2-0C09-D328-5706-26239E1867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65" y="1634067"/>
            <a:ext cx="9408968" cy="43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211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F0CBF5-741C-528E-8610-DFDF51479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8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8F5E9-63B1-78AD-24F0-8207B0FAA432}"/>
              </a:ext>
            </a:extLst>
          </p:cNvPr>
          <p:cNvSpPr txBox="1"/>
          <p:nvPr/>
        </p:nvSpPr>
        <p:spPr>
          <a:xfrm>
            <a:off x="701964" y="609600"/>
            <a:ext cx="70450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Word Grouping with "" and {}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BDD10-04C7-172E-5A1B-2AB60088A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730" y="1557867"/>
            <a:ext cx="9272337" cy="447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54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9A8266-336D-58C0-388A-DF515B1A4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9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D45F5F-2613-F2CD-B31C-4E22D6022202}"/>
              </a:ext>
            </a:extLst>
          </p:cNvPr>
          <p:cNvSpPr txBox="1"/>
          <p:nvPr/>
        </p:nvSpPr>
        <p:spPr>
          <a:xfrm>
            <a:off x="973667" y="609600"/>
            <a:ext cx="3835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Tcl</a:t>
            </a:r>
            <a:r>
              <a:rPr lang="en-US" sz="4000" dirty="0"/>
              <a:t> Comments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4AFCBE-2037-FBC9-9E04-A321FCF2AD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668" y="1468916"/>
            <a:ext cx="9838266" cy="448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126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F8DF7B-F20D-5F54-89B6-11B6EA50A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10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AADDF2-E4DF-8F57-3DE9-79490887F5D6}"/>
              </a:ext>
            </a:extLst>
          </p:cNvPr>
          <p:cNvSpPr txBox="1"/>
          <p:nvPr/>
        </p:nvSpPr>
        <p:spPr>
          <a:xfrm>
            <a:off x="889000" y="1845734"/>
            <a:ext cx="88222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Tcl</a:t>
            </a:r>
            <a:r>
              <a:rPr lang="en-US" dirty="0"/>
              <a:t> interpreter also parses comments:</a:t>
            </a:r>
          </a:p>
          <a:p>
            <a:endParaRPr lang="en-US" dirty="0"/>
          </a:p>
          <a:p>
            <a:r>
              <a:rPr lang="en-US" b="1" dirty="0"/>
              <a:t>proc p1 {} {</a:t>
            </a:r>
          </a:p>
          <a:p>
            <a:r>
              <a:rPr lang="en-US" b="1" dirty="0"/>
              <a:t>    puts {# I wanted to write this}</a:t>
            </a:r>
          </a:p>
          <a:p>
            <a:r>
              <a:rPr lang="en-US" b="1" dirty="0"/>
              <a:t>    puts {I've changed my mind}</a:t>
            </a:r>
          </a:p>
          <a:p>
            <a:r>
              <a:rPr lang="en-US" b="1" dirty="0"/>
              <a:t>}</a:t>
            </a:r>
          </a:p>
          <a:p>
            <a:r>
              <a:rPr lang="en-US" b="1" dirty="0"/>
              <a:t>p1</a:t>
            </a:r>
          </a:p>
          <a:p>
            <a:endParaRPr lang="en-US" dirty="0"/>
          </a:p>
          <a:p>
            <a:r>
              <a:rPr lang="en-US" dirty="0"/>
              <a:t> % source </a:t>
            </a:r>
            <a:r>
              <a:rPr lang="en-US" dirty="0" err="1"/>
              <a:t>comment.tcl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415FA5-E33E-E47B-FCFC-0DFD52D77998}"/>
              </a:ext>
            </a:extLst>
          </p:cNvPr>
          <p:cNvSpPr txBox="1"/>
          <p:nvPr/>
        </p:nvSpPr>
        <p:spPr>
          <a:xfrm>
            <a:off x="889000" y="584200"/>
            <a:ext cx="7526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Example of Comment Parsing</a:t>
            </a:r>
          </a:p>
        </p:txBody>
      </p:sp>
    </p:spTree>
    <p:extLst>
      <p:ext uri="{BB962C8B-B14F-4D97-AF65-F5344CB8AC3E}">
        <p14:creationId xmlns:p14="http://schemas.microsoft.com/office/powerpoint/2010/main" val="3696977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890C71-B53D-0930-DC6E-1B6DE6744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Slide Number </a:t>
            </a:r>
            <a:fld id="{6EBC3B51-DE6F-4918-BB1B-21BDA37DE1D0}" type="slidenum">
              <a:rPr lang="en-PK" smtClean="0"/>
              <a:pPr/>
              <a:t>11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24BED4-4C4D-1992-4384-9EDD5244E7E5}"/>
              </a:ext>
            </a:extLst>
          </p:cNvPr>
          <p:cNvSpPr txBox="1"/>
          <p:nvPr/>
        </p:nvSpPr>
        <p:spPr>
          <a:xfrm>
            <a:off x="889000" y="618067"/>
            <a:ext cx="36406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2D7D5-25C7-67DB-B914-1F9DDAC21C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405411"/>
            <a:ext cx="9829800" cy="436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06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D88270-9DDE-9D5B-A383-062DBFD31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Slide Number 11</a:t>
            </a:r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34EAD-B823-9747-A68F-498FD0974D30}"/>
              </a:ext>
            </a:extLst>
          </p:cNvPr>
          <p:cNvSpPr txBox="1"/>
          <p:nvPr/>
        </p:nvSpPr>
        <p:spPr>
          <a:xfrm>
            <a:off x="872067" y="508000"/>
            <a:ext cx="63923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/>
              <a:t>Variable Names and Values </a:t>
            </a:r>
            <a:endParaRPr lang="en-US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4024D5-5B93-1ACF-D370-82F31AC9E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34" y="1418211"/>
            <a:ext cx="9652000" cy="449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9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6EDEC8-3423-9DDF-EF05-630338ED14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13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A0FBAB-0ADA-6BDE-CFA3-FF81F4FEC646}"/>
              </a:ext>
            </a:extLst>
          </p:cNvPr>
          <p:cNvSpPr txBox="1"/>
          <p:nvPr/>
        </p:nvSpPr>
        <p:spPr>
          <a:xfrm>
            <a:off x="701965" y="635000"/>
            <a:ext cx="10083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Tcl</a:t>
            </a:r>
            <a:r>
              <a:rPr lang="en-US" sz="4000" dirty="0"/>
              <a:t> Scripting Processing Step: Substitution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0AFAC1-5F83-6866-3BE5-94E19ABE5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00" y="1420688"/>
            <a:ext cx="9768634" cy="4401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721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B44D1A-EAF2-83FC-46E4-3B3A531B7F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14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5D2737-F74A-3003-D182-4CFBDDD01D3B}"/>
              </a:ext>
            </a:extLst>
          </p:cNvPr>
          <p:cNvSpPr txBox="1"/>
          <p:nvPr/>
        </p:nvSpPr>
        <p:spPr>
          <a:xfrm>
            <a:off x="701965" y="601133"/>
            <a:ext cx="6138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Variable Substitution ($)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C2240A-7E5B-6A18-F016-8C38B9005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887" y="1366611"/>
            <a:ext cx="9723646" cy="4520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759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FCA1A3-D7E6-23B5-5A07-4302B2B27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15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A6E5EC-7E27-69B2-F212-C041D5B98060}"/>
              </a:ext>
            </a:extLst>
          </p:cNvPr>
          <p:cNvSpPr txBox="1"/>
          <p:nvPr/>
        </p:nvSpPr>
        <p:spPr>
          <a:xfrm>
            <a:off x="701965" y="601133"/>
            <a:ext cx="6249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Backslash Substitution (\)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05F19-6352-3561-7A8E-DA2927E0D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971" y="1461314"/>
            <a:ext cx="9710962" cy="445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360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D8CD55-9928-ED4A-464A-7D82116C4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16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CA77A4-A753-75AD-D9A6-42749CF8E628}"/>
              </a:ext>
            </a:extLst>
          </p:cNvPr>
          <p:cNvSpPr txBox="1"/>
          <p:nvPr/>
        </p:nvSpPr>
        <p:spPr>
          <a:xfrm>
            <a:off x="812800" y="618067"/>
            <a:ext cx="6798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Command Substitution ([])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871D47-5585-0DDB-ECD3-0AD7564ED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1448987"/>
            <a:ext cx="9542153" cy="452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37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4D57C7-4418-786D-A43A-CFAC62E5F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17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BC4DF7-F30F-498D-1BED-5EE639E6D242}"/>
              </a:ext>
            </a:extLst>
          </p:cNvPr>
          <p:cNvSpPr txBox="1"/>
          <p:nvPr/>
        </p:nvSpPr>
        <p:spPr>
          <a:xfrm>
            <a:off x="872067" y="465667"/>
            <a:ext cx="6273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Command Evaluation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ADF90-FC30-E565-D417-59FC14716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625" y="1388367"/>
            <a:ext cx="9598241" cy="450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836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5A33B1-C8EC-D231-C26E-22A627DA2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18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F2CF5E-BF7F-0D8E-6B10-3DF4998C268F}"/>
              </a:ext>
            </a:extLst>
          </p:cNvPr>
          <p:cNvSpPr txBox="1"/>
          <p:nvPr/>
        </p:nvSpPr>
        <p:spPr>
          <a:xfrm>
            <a:off x="973667" y="1693333"/>
            <a:ext cx="8813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% set d 10</a:t>
            </a:r>
          </a:p>
          <a:p>
            <a:endParaRPr lang="en-US" dirty="0"/>
          </a:p>
          <a:p>
            <a:r>
              <a:rPr lang="en-US" dirty="0"/>
              <a:t> % set e 12 </a:t>
            </a:r>
          </a:p>
          <a:p>
            <a:endParaRPr lang="en-US" dirty="0"/>
          </a:p>
          <a:p>
            <a:r>
              <a:rPr lang="en-US" dirty="0"/>
              <a:t>% puts "Time = [set d; set e] ns"</a:t>
            </a:r>
          </a:p>
          <a:p>
            <a:endParaRPr lang="en-US" b="1" dirty="0"/>
          </a:p>
          <a:p>
            <a:r>
              <a:rPr lang="en-US" b="1" dirty="0"/>
              <a:t>Answer =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391274-705B-F044-C932-D5BD3372DC29}"/>
              </a:ext>
            </a:extLst>
          </p:cNvPr>
          <p:cNvSpPr txBox="1"/>
          <p:nvPr/>
        </p:nvSpPr>
        <p:spPr>
          <a:xfrm>
            <a:off x="973667" y="550333"/>
            <a:ext cx="894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Example of Command Substitution ([]) </a:t>
            </a:r>
          </a:p>
        </p:txBody>
      </p:sp>
    </p:spTree>
    <p:extLst>
      <p:ext uri="{BB962C8B-B14F-4D97-AF65-F5344CB8AC3E}">
        <p14:creationId xmlns:p14="http://schemas.microsoft.com/office/powerpoint/2010/main" val="1208473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288553-DAC0-172F-27B0-05D724F1D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19</a:t>
            </a:fld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22BBA-5710-94C3-44D5-419DB8FAEC34}"/>
              </a:ext>
            </a:extLst>
          </p:cNvPr>
          <p:cNvSpPr txBox="1"/>
          <p:nvPr/>
        </p:nvSpPr>
        <p:spPr>
          <a:xfrm>
            <a:off x="701965" y="626533"/>
            <a:ext cx="84251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Nested Command Substitution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0677BB-FB22-2AA8-846C-B47ACE39F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18" y="1454200"/>
            <a:ext cx="9563315" cy="446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02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3FB9AB-4125-07EB-EA4A-146357B78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20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04223F-7F94-0C62-5DA6-1B3A4F9355FF}"/>
              </a:ext>
            </a:extLst>
          </p:cNvPr>
          <p:cNvSpPr txBox="1"/>
          <p:nvPr/>
        </p:nvSpPr>
        <p:spPr>
          <a:xfrm>
            <a:off x="1201498" y="1467255"/>
            <a:ext cx="3386666" cy="101566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C00000"/>
                </a:solidFill>
              </a:rPr>
              <a:t>set a 10 </a:t>
            </a:r>
          </a:p>
          <a:p>
            <a:endParaRPr lang="en-US" sz="1200" b="1" dirty="0">
              <a:solidFill>
                <a:srgbClr val="C00000"/>
              </a:solidFill>
            </a:endParaRPr>
          </a:p>
          <a:p>
            <a:r>
              <a:rPr lang="en-US" sz="1200" b="1" dirty="0">
                <a:solidFill>
                  <a:srgbClr val="C00000"/>
                </a:solidFill>
              </a:rPr>
              <a:t>set b "{$a}\{ #[set c 14]" </a:t>
            </a:r>
          </a:p>
          <a:p>
            <a:endParaRPr lang="en-US" sz="1200" b="1" dirty="0">
              <a:solidFill>
                <a:srgbClr val="C00000"/>
              </a:solidFill>
            </a:endParaRPr>
          </a:p>
          <a:p>
            <a:r>
              <a:rPr lang="en-US" sz="1200" b="1" dirty="0">
                <a:solidFill>
                  <a:srgbClr val="C00000"/>
                </a:solidFill>
              </a:rPr>
              <a:t>puts "$b"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AC79C-023F-6C90-E258-528F890683B0}"/>
              </a:ext>
            </a:extLst>
          </p:cNvPr>
          <p:cNvSpPr txBox="1"/>
          <p:nvPr/>
        </p:nvSpPr>
        <p:spPr>
          <a:xfrm>
            <a:off x="914400" y="372533"/>
            <a:ext cx="8255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Example of Command Evaluation</a:t>
            </a:r>
          </a:p>
          <a:p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A687BD-056E-8F76-152E-6974036F5EC0}"/>
              </a:ext>
            </a:extLst>
          </p:cNvPr>
          <p:cNvSpPr txBox="1"/>
          <p:nvPr/>
        </p:nvSpPr>
        <p:spPr>
          <a:xfrm>
            <a:off x="1109133" y="2964283"/>
            <a:ext cx="56049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 value stored in b?</a:t>
            </a:r>
          </a:p>
          <a:p>
            <a:endParaRPr lang="en-US" dirty="0"/>
          </a:p>
          <a:p>
            <a:pPr lvl="1"/>
            <a:r>
              <a:rPr lang="en-US" dirty="0"/>
              <a:t>1. 10{10}{□ </a:t>
            </a:r>
          </a:p>
          <a:p>
            <a:pPr lvl="1"/>
            <a:r>
              <a:rPr lang="en-US" dirty="0"/>
              <a:t>2. {□#14 </a:t>
            </a:r>
          </a:p>
          <a:p>
            <a:pPr lvl="1"/>
            <a:r>
              <a:rPr lang="en-US" dirty="0"/>
              <a:t>3. {10}{□#[set□c□14] </a:t>
            </a:r>
          </a:p>
          <a:p>
            <a:pPr lvl="1"/>
            <a:r>
              <a:rPr lang="en-US" dirty="0"/>
              <a:t>4. $a{□#14</a:t>
            </a:r>
          </a:p>
          <a:p>
            <a:pPr lvl="1"/>
            <a:r>
              <a:rPr lang="en-US" dirty="0"/>
              <a:t>5. {10}{□#14</a:t>
            </a:r>
          </a:p>
          <a:p>
            <a:pPr lvl="1"/>
            <a:r>
              <a:rPr lang="en-US" dirty="0"/>
              <a:t>6. {$a}\{□#[set□c□14]</a:t>
            </a:r>
          </a:p>
          <a:p>
            <a:pPr lvl="1"/>
            <a:r>
              <a:rPr lang="en-US" dirty="0"/>
              <a:t>7. {$a}{□#14 </a:t>
            </a:r>
          </a:p>
          <a:p>
            <a:pPr lvl="1"/>
            <a:r>
              <a:rPr lang="en-US" dirty="0"/>
              <a:t>8. This will generate a syntax error!</a:t>
            </a:r>
          </a:p>
        </p:txBody>
      </p:sp>
    </p:spTree>
    <p:extLst>
      <p:ext uri="{BB962C8B-B14F-4D97-AF65-F5344CB8AC3E}">
        <p14:creationId xmlns:p14="http://schemas.microsoft.com/office/powerpoint/2010/main" val="2963747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7E4DB8-2900-E6B7-FE1E-C1DBCB6471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21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08639-BA70-D416-2D10-4F8E7106B43C}"/>
              </a:ext>
            </a:extLst>
          </p:cNvPr>
          <p:cNvSpPr txBox="1"/>
          <p:nvPr/>
        </p:nvSpPr>
        <p:spPr>
          <a:xfrm>
            <a:off x="1014984" y="457200"/>
            <a:ext cx="6099048" cy="70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C1DF5-0CA0-7580-5244-54A36F29C61D}"/>
              </a:ext>
            </a:extLst>
          </p:cNvPr>
          <p:cNvSpPr txBox="1"/>
          <p:nvPr/>
        </p:nvSpPr>
        <p:spPr>
          <a:xfrm>
            <a:off x="1115568" y="457200"/>
            <a:ext cx="3703320" cy="566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09A211-4211-B06F-3A35-1C3EAB6ACCE1}"/>
              </a:ext>
            </a:extLst>
          </p:cNvPr>
          <p:cNvSpPr txBox="1"/>
          <p:nvPr/>
        </p:nvSpPr>
        <p:spPr>
          <a:xfrm>
            <a:off x="950976" y="457200"/>
            <a:ext cx="4261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Tcl</a:t>
            </a:r>
            <a:r>
              <a:rPr lang="en-US" sz="4000" dirty="0"/>
              <a:t> as a Calculator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32EB6B-FE07-D237-9454-79FB4437C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984" y="1568012"/>
            <a:ext cx="8945223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227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FAC1B6-4EED-F344-E873-0F4D9654F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22</a:t>
            </a:fld>
            <a:endParaRPr lang="en-P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D1FDB9-E043-910C-E8AE-349A5E759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65" y="1464430"/>
            <a:ext cx="8828682" cy="476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349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80BE08-CEA3-AECB-9CC7-9E4A460F5B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23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CA6629-15A1-497C-5FC4-A3F007DEC0E6}"/>
              </a:ext>
            </a:extLst>
          </p:cNvPr>
          <p:cNvSpPr txBox="1"/>
          <p:nvPr/>
        </p:nvSpPr>
        <p:spPr>
          <a:xfrm>
            <a:off x="1042416" y="512064"/>
            <a:ext cx="4489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Operators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A29B4-6A97-B454-DF97-52C082094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56" y="1478364"/>
            <a:ext cx="9040487" cy="424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883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6916EB-7BB5-1815-C873-2852987F8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24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D0C5B-B7C1-03AD-1545-4EB13A6C8F43}"/>
              </a:ext>
            </a:extLst>
          </p:cNvPr>
          <p:cNvSpPr txBox="1"/>
          <p:nvPr/>
        </p:nvSpPr>
        <p:spPr>
          <a:xfrm>
            <a:off x="1024128" y="448056"/>
            <a:ext cx="54772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Examples: </a:t>
            </a:r>
            <a:r>
              <a:rPr lang="en-US" sz="4000" dirty="0" err="1"/>
              <a:t>Tcl</a:t>
            </a:r>
            <a:r>
              <a:rPr lang="en-US" sz="4000" dirty="0"/>
              <a:t> Operators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B26C31-4EC6-9B76-EEB5-1B6AE5E5B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07" y="1555189"/>
            <a:ext cx="9021434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984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7454EF-A925-7F20-1371-E84F4BE75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25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EFD696-559F-F08C-CD01-AE8EC5847F80}"/>
              </a:ext>
            </a:extLst>
          </p:cNvPr>
          <p:cNvSpPr txBox="1"/>
          <p:nvPr/>
        </p:nvSpPr>
        <p:spPr>
          <a:xfrm>
            <a:off x="914400" y="512064"/>
            <a:ext cx="907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Mathematical Functions: Randomization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02C27D-B189-C9F3-572E-E2A0686A0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21589"/>
            <a:ext cx="9183382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46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C0AA41-E88B-8903-0663-25B3493FE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26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365830-146E-0B6A-617F-CE16A037AB29}"/>
              </a:ext>
            </a:extLst>
          </p:cNvPr>
          <p:cNvSpPr txBox="1"/>
          <p:nvPr/>
        </p:nvSpPr>
        <p:spPr>
          <a:xfrm>
            <a:off x="923544" y="484632"/>
            <a:ext cx="8897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Examples of Mathematical Functions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831D1C-BCB6-CB51-C87E-870537D43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1556279"/>
            <a:ext cx="8802328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140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5A1C2F-9B9B-5F8E-4B0B-15169B8AF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27</a:t>
            </a:fld>
            <a:endParaRPr lang="en-PK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841DB3-31FA-2BFD-0459-43F5FF6A3DFB}"/>
              </a:ext>
            </a:extLst>
          </p:cNvPr>
          <p:cNvSpPr txBox="1"/>
          <p:nvPr/>
        </p:nvSpPr>
        <p:spPr>
          <a:xfrm>
            <a:off x="1078992" y="484632"/>
            <a:ext cx="83850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Incrementing and Decrementing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682522-18B2-DF8A-FB90-93F8798A08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765" y="1625797"/>
            <a:ext cx="7675502" cy="360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04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9608B2-2587-8530-E47C-A6057BC315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28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BE3CAD-99BC-1A2E-BF8E-33D7F1FB2363}"/>
              </a:ext>
            </a:extLst>
          </p:cNvPr>
          <p:cNvSpPr txBox="1"/>
          <p:nvPr/>
        </p:nvSpPr>
        <p:spPr>
          <a:xfrm>
            <a:off x="1261872" y="1865376"/>
            <a:ext cx="68671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Syntax</a:t>
            </a:r>
            <a:r>
              <a:rPr lang="en-US" dirty="0"/>
              <a:t> </a:t>
            </a:r>
          </a:p>
          <a:p>
            <a:r>
              <a:rPr lang="en-US" dirty="0" err="1"/>
              <a:t>incr</a:t>
            </a:r>
            <a:r>
              <a:rPr lang="en-US" dirty="0"/>
              <a:t> </a:t>
            </a:r>
            <a:r>
              <a:rPr lang="en-US" dirty="0" err="1"/>
              <a:t>varName</a:t>
            </a:r>
            <a:r>
              <a:rPr lang="en-US" dirty="0"/>
              <a:t> ?increment? </a:t>
            </a:r>
          </a:p>
          <a:p>
            <a:endParaRPr lang="en-US" dirty="0"/>
          </a:p>
          <a:p>
            <a:r>
              <a:rPr lang="en-US" b="1" dirty="0"/>
              <a:t>Examples</a:t>
            </a:r>
            <a:r>
              <a:rPr lang="en-US" dirty="0"/>
              <a:t> </a:t>
            </a:r>
          </a:p>
          <a:p>
            <a:r>
              <a:rPr lang="en-US" dirty="0"/>
              <a:t>% set x 2; if {[info exists x]} {</a:t>
            </a:r>
            <a:r>
              <a:rPr lang="en-US" dirty="0" err="1"/>
              <a:t>incr</a:t>
            </a:r>
            <a:r>
              <a:rPr lang="en-US" dirty="0"/>
              <a:t> x} else {set x 0} </a:t>
            </a:r>
          </a:p>
          <a:p>
            <a:endParaRPr lang="en-US" dirty="0"/>
          </a:p>
          <a:p>
            <a:r>
              <a:rPr lang="en-US" dirty="0"/>
              <a:t>3 </a:t>
            </a:r>
          </a:p>
          <a:p>
            <a:endParaRPr lang="en-US" dirty="0"/>
          </a:p>
          <a:p>
            <a:r>
              <a:rPr lang="en-US" dirty="0"/>
              <a:t>% unset x; if {[info exists x]} {</a:t>
            </a:r>
            <a:r>
              <a:rPr lang="en-US" dirty="0" err="1"/>
              <a:t>incr</a:t>
            </a:r>
            <a:r>
              <a:rPr lang="en-US" dirty="0"/>
              <a:t> x} else {set x 0}</a:t>
            </a:r>
          </a:p>
          <a:p>
            <a:endParaRPr lang="en-US" dirty="0"/>
          </a:p>
          <a:p>
            <a:r>
              <a:rPr lang="en-US" dirty="0"/>
              <a:t>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207B22-A76A-0704-C178-C0C679A37D1E}"/>
              </a:ext>
            </a:extLst>
          </p:cNvPr>
          <p:cNvSpPr txBox="1"/>
          <p:nvPr/>
        </p:nvSpPr>
        <p:spPr>
          <a:xfrm>
            <a:off x="996696" y="548640"/>
            <a:ext cx="56784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Example: Incrementing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000107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4F8CAE-B8A0-FC17-236A-85D52C6180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29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97A76A-3058-6E03-C1ED-AF3EE4FA0686}"/>
              </a:ext>
            </a:extLst>
          </p:cNvPr>
          <p:cNvSpPr txBox="1"/>
          <p:nvPr/>
        </p:nvSpPr>
        <p:spPr>
          <a:xfrm>
            <a:off x="877824" y="530352"/>
            <a:ext cx="5861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Numerical Accuracy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9CB89D-2C75-678B-21A8-5F64FE729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24" y="1447698"/>
            <a:ext cx="9211961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6053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462E4C-0329-B145-F81A-D52C8BB0D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Number </a:t>
            </a:r>
            <a:fld id="{6EBC3B51-DE6F-4918-BB1B-21BDA37DE1D0}" type="slidenum">
              <a:rPr lang="en-PK" smtClean="0"/>
              <a:pPr/>
              <a:t>30</a:t>
            </a:fld>
            <a:endParaRPr lang="en-PK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FEA952-E348-A889-FE5F-34C79CF5A626}"/>
              </a:ext>
            </a:extLst>
          </p:cNvPr>
          <p:cNvSpPr txBox="1"/>
          <p:nvPr/>
        </p:nvSpPr>
        <p:spPr>
          <a:xfrm>
            <a:off x="701965" y="575733"/>
            <a:ext cx="5944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Basic Procedures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84C8E-1BE6-3F30-DA3C-1389EE9D5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826" y="1418727"/>
            <a:ext cx="9581307" cy="452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9861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0557751"/>
      </p:ext>
    </p:extLst>
  </p:cSld>
  <p:clrMapOvr>
    <a:masterClrMapping/>
  </p:clrMapOvr>
</p:sld>
</file>

<file path=ppt/theme/theme1.xml><?xml version="1.0" encoding="utf-8"?>
<a:theme xmlns:a="http://schemas.openxmlformats.org/drawingml/2006/main" name="ncdc_v6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cdc_v11" id="{259B31BA-8765-400C-BD76-CF87730DC37E}" vid="{4777888F-1638-480F-A3BC-C5C6E23905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2146F22DA3004398AF34F8CDB1DFD0" ma:contentTypeVersion="5" ma:contentTypeDescription="Create a new document." ma:contentTypeScope="" ma:versionID="d3cd96ca60f14144d34cbd25b01c6091">
  <xsd:schema xmlns:xsd="http://www.w3.org/2001/XMLSchema" xmlns:xs="http://www.w3.org/2001/XMLSchema" xmlns:p="http://schemas.microsoft.com/office/2006/metadata/properties" xmlns:ns3="e8006037-3db5-425d-8ca4-509f7aa9cd3c" targetNamespace="http://schemas.microsoft.com/office/2006/metadata/properties" ma:root="true" ma:fieldsID="1df64afd67a0cb89352c92856bbe3b2c" ns3:_="">
    <xsd:import namespace="e8006037-3db5-425d-8ca4-509f7aa9cd3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006037-3db5-425d-8ca4-509f7aa9cd3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8006037-3db5-425d-8ca4-509f7aa9cd3c" xsi:nil="true"/>
  </documentManagement>
</p:properties>
</file>

<file path=customXml/itemProps1.xml><?xml version="1.0" encoding="utf-8"?>
<ds:datastoreItem xmlns:ds="http://schemas.openxmlformats.org/officeDocument/2006/customXml" ds:itemID="{97A3D80D-914C-4449-89F4-FACDD3ECEA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633FDA-574D-41BC-AFE6-289DA11DB8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006037-3db5-425d-8ca4-509f7aa9cd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D7B1AEE-106B-4BF7-A2F9-EBD53EE9C052}">
  <ds:schemaRefs>
    <ds:schemaRef ds:uri="e8006037-3db5-425d-8ca4-509f7aa9cd3c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ncdc_final_template_7thjune2024 (1)</Template>
  <TotalTime>508</TotalTime>
  <Words>602</Words>
  <Application>Microsoft Office PowerPoint</Application>
  <PresentationFormat>Widescreen</PresentationFormat>
  <Paragraphs>128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Aptos Display</vt:lpstr>
      <vt:lpstr>Arial</vt:lpstr>
      <vt:lpstr>Century Gothic</vt:lpstr>
      <vt:lpstr>ncdc_v6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Naveed</dc:creator>
  <cp:lastModifiedBy>Alina Naveed</cp:lastModifiedBy>
  <cp:revision>2</cp:revision>
  <dcterms:created xsi:type="dcterms:W3CDTF">2025-09-24T04:40:32Z</dcterms:created>
  <dcterms:modified xsi:type="dcterms:W3CDTF">2025-09-25T04:45:17Z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0x010100DF2146F22DA3004398AF34F8CDB1DFD0</vt:lpwstr>
  </property>
</Properties>
</file>