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2"/>
  </p:notesMasterIdLst>
  <p:handoutMasterIdLst>
    <p:handoutMasterId r:id="rId93"/>
  </p:handoutMasterIdLst>
  <p:sldIdLst>
    <p:sldId id="256" r:id="rId2"/>
    <p:sldId id="720" r:id="rId3"/>
    <p:sldId id="316" r:id="rId4"/>
    <p:sldId id="397" r:id="rId5"/>
    <p:sldId id="321" r:id="rId6"/>
    <p:sldId id="320" r:id="rId7"/>
    <p:sldId id="323" r:id="rId8"/>
    <p:sldId id="324" r:id="rId9"/>
    <p:sldId id="376" r:id="rId10"/>
    <p:sldId id="377" r:id="rId11"/>
    <p:sldId id="396" r:id="rId12"/>
    <p:sldId id="325" r:id="rId13"/>
    <p:sldId id="327" r:id="rId14"/>
    <p:sldId id="329" r:id="rId15"/>
    <p:sldId id="330" r:id="rId16"/>
    <p:sldId id="721" r:id="rId17"/>
    <p:sldId id="378" r:id="rId18"/>
    <p:sldId id="379" r:id="rId19"/>
    <p:sldId id="380" r:id="rId20"/>
    <p:sldId id="381" r:id="rId21"/>
    <p:sldId id="382" r:id="rId22"/>
    <p:sldId id="383" r:id="rId23"/>
    <p:sldId id="384" r:id="rId24"/>
    <p:sldId id="385" r:id="rId25"/>
    <p:sldId id="386" r:id="rId26"/>
    <p:sldId id="387" r:id="rId27"/>
    <p:sldId id="388" r:id="rId28"/>
    <p:sldId id="389" r:id="rId29"/>
    <p:sldId id="390" r:id="rId30"/>
    <p:sldId id="391" r:id="rId31"/>
    <p:sldId id="398" r:id="rId32"/>
    <p:sldId id="392" r:id="rId33"/>
    <p:sldId id="336" r:id="rId34"/>
    <p:sldId id="393" r:id="rId35"/>
    <p:sldId id="331" r:id="rId36"/>
    <p:sldId id="332" r:id="rId37"/>
    <p:sldId id="333" r:id="rId38"/>
    <p:sldId id="334" r:id="rId39"/>
    <p:sldId id="335" r:id="rId40"/>
    <p:sldId id="337" r:id="rId41"/>
    <p:sldId id="338" r:id="rId42"/>
    <p:sldId id="339" r:id="rId43"/>
    <p:sldId id="340" r:id="rId44"/>
    <p:sldId id="344" r:id="rId45"/>
    <p:sldId id="345" r:id="rId46"/>
    <p:sldId id="399" r:id="rId47"/>
    <p:sldId id="400" r:id="rId48"/>
    <p:sldId id="401" r:id="rId49"/>
    <p:sldId id="346" r:id="rId50"/>
    <p:sldId id="347" r:id="rId51"/>
    <p:sldId id="348" r:id="rId52"/>
    <p:sldId id="349" r:id="rId53"/>
    <p:sldId id="350" r:id="rId54"/>
    <p:sldId id="351" r:id="rId55"/>
    <p:sldId id="352" r:id="rId56"/>
    <p:sldId id="353" r:id="rId57"/>
    <p:sldId id="722" r:id="rId58"/>
    <p:sldId id="402" r:id="rId59"/>
    <p:sldId id="724" r:id="rId60"/>
    <p:sldId id="403" r:id="rId61"/>
    <p:sldId id="404" r:id="rId62"/>
    <p:sldId id="354" r:id="rId63"/>
    <p:sldId id="710" r:id="rId64"/>
    <p:sldId id="719" r:id="rId65"/>
    <p:sldId id="685" r:id="rId66"/>
    <p:sldId id="713" r:id="rId67"/>
    <p:sldId id="712" r:id="rId68"/>
    <p:sldId id="355" r:id="rId69"/>
    <p:sldId id="394" r:id="rId70"/>
    <p:sldId id="395" r:id="rId71"/>
    <p:sldId id="725" r:id="rId72"/>
    <p:sldId id="356" r:id="rId73"/>
    <p:sldId id="357" r:id="rId74"/>
    <p:sldId id="369" r:id="rId75"/>
    <p:sldId id="358" r:id="rId76"/>
    <p:sldId id="359" r:id="rId77"/>
    <p:sldId id="360" r:id="rId78"/>
    <p:sldId id="361" r:id="rId79"/>
    <p:sldId id="362" r:id="rId80"/>
    <p:sldId id="365" r:id="rId81"/>
    <p:sldId id="363" r:id="rId82"/>
    <p:sldId id="364" r:id="rId83"/>
    <p:sldId id="366" r:id="rId84"/>
    <p:sldId id="367" r:id="rId85"/>
    <p:sldId id="368" r:id="rId86"/>
    <p:sldId id="371" r:id="rId87"/>
    <p:sldId id="372" r:id="rId88"/>
    <p:sldId id="373" r:id="rId89"/>
    <p:sldId id="374" r:id="rId90"/>
    <p:sldId id="723" r:id="rId91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B68879-5A9C-402E-9011-4CECD9838D44}" v="52" dt="2025-09-08T10:55:36.0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9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handoutMaster" Target="handoutMasters/handoutMaster1.xml"/><Relationship Id="rId9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jeel Khilji" userId="d7c9e5d0-931d-429e-91f4-ab214ce9376a" providerId="ADAL" clId="{E2418967-D9BB-4836-A7B1-6D90887AE8F3}"/>
    <pc:docChg chg="modSld">
      <pc:chgData name="Sharjeel Khilji" userId="d7c9e5d0-931d-429e-91f4-ab214ce9376a" providerId="ADAL" clId="{E2418967-D9BB-4836-A7B1-6D90887AE8F3}" dt="2025-08-08T05:17:20.432" v="1" actId="404"/>
      <pc:docMkLst>
        <pc:docMk/>
      </pc:docMkLst>
      <pc:sldChg chg="modSp mod">
        <pc:chgData name="Sharjeel Khilji" userId="d7c9e5d0-931d-429e-91f4-ab214ce9376a" providerId="ADAL" clId="{E2418967-D9BB-4836-A7B1-6D90887AE8F3}" dt="2025-08-08T05:17:20.432" v="1" actId="404"/>
        <pc:sldMkLst>
          <pc:docMk/>
          <pc:sldMk cId="2843283411" sldId="384"/>
        </pc:sldMkLst>
      </pc:sldChg>
    </pc:docChg>
  </pc:docChgLst>
  <pc:docChgLst>
    <pc:chgData name="Sharjeel Khilji" userId="d7c9e5d0-931d-429e-91f4-ab214ce9376a" providerId="ADAL" clId="{9355A8DB-037E-4519-AB3A-CCB6926EBB87}"/>
    <pc:docChg chg="undo custSel delSld modSld">
      <pc:chgData name="Sharjeel Khilji" userId="d7c9e5d0-931d-429e-91f4-ab214ce9376a" providerId="ADAL" clId="{9355A8DB-037E-4519-AB3A-CCB6926EBB87}" dt="2025-05-02T11:38:09.528" v="48" actId="20577"/>
      <pc:docMkLst>
        <pc:docMk/>
      </pc:docMkLst>
      <pc:sldChg chg="modSp mod">
        <pc:chgData name="Sharjeel Khilji" userId="d7c9e5d0-931d-429e-91f4-ab214ce9376a" providerId="ADAL" clId="{9355A8DB-037E-4519-AB3A-CCB6926EBB87}" dt="2025-05-02T11:38:09.528" v="48" actId="20577"/>
        <pc:sldMkLst>
          <pc:docMk/>
          <pc:sldMk cId="0" sldId="330"/>
        </pc:sldMkLst>
      </pc:sldChg>
      <pc:sldChg chg="modSp mod">
        <pc:chgData name="Sharjeel Khilji" userId="d7c9e5d0-931d-429e-91f4-ab214ce9376a" providerId="ADAL" clId="{9355A8DB-037E-4519-AB3A-CCB6926EBB87}" dt="2025-05-02T10:12:12.292" v="20" actId="14100"/>
        <pc:sldMkLst>
          <pc:docMk/>
          <pc:sldMk cId="0" sldId="331"/>
        </pc:sldMkLst>
      </pc:sldChg>
      <pc:sldChg chg="addSp delSp modSp mod">
        <pc:chgData name="Sharjeel Khilji" userId="d7c9e5d0-931d-429e-91f4-ab214ce9376a" providerId="ADAL" clId="{9355A8DB-037E-4519-AB3A-CCB6926EBB87}" dt="2025-05-02T10:42:13.750" v="47" actId="20577"/>
        <pc:sldMkLst>
          <pc:docMk/>
          <pc:sldMk cId="0" sldId="340"/>
        </pc:sldMkLst>
      </pc:sldChg>
      <pc:sldChg chg="modSp">
        <pc:chgData name="Sharjeel Khilji" userId="d7c9e5d0-931d-429e-91f4-ab214ce9376a" providerId="ADAL" clId="{9355A8DB-037E-4519-AB3A-CCB6926EBB87}" dt="2025-05-02T05:58:25.954" v="4" actId="20577"/>
        <pc:sldMkLst>
          <pc:docMk/>
          <pc:sldMk cId="2560384181" sldId="381"/>
        </pc:sldMkLst>
      </pc:sldChg>
      <pc:sldChg chg="modSp mod">
        <pc:chgData name="Sharjeel Khilji" userId="d7c9e5d0-931d-429e-91f4-ab214ce9376a" providerId="ADAL" clId="{9355A8DB-037E-4519-AB3A-CCB6926EBB87}" dt="2025-05-02T06:17:16.218" v="7" actId="1076"/>
        <pc:sldMkLst>
          <pc:docMk/>
          <pc:sldMk cId="3742768264" sldId="385"/>
        </pc:sldMkLst>
      </pc:sldChg>
      <pc:sldChg chg="modSp mod">
        <pc:chgData name="Sharjeel Khilji" userId="d7c9e5d0-931d-429e-91f4-ab214ce9376a" providerId="ADAL" clId="{9355A8DB-037E-4519-AB3A-CCB6926EBB87}" dt="2025-05-02T06:19:17.051" v="8" actId="404"/>
        <pc:sldMkLst>
          <pc:docMk/>
          <pc:sldMk cId="172434346" sldId="387"/>
        </pc:sldMkLst>
      </pc:sldChg>
      <pc:sldChg chg="modSp mod">
        <pc:chgData name="Sharjeel Khilji" userId="d7c9e5d0-931d-429e-91f4-ab214ce9376a" providerId="ADAL" clId="{9355A8DB-037E-4519-AB3A-CCB6926EBB87}" dt="2025-05-02T06:52:17.339" v="10" actId="404"/>
        <pc:sldMkLst>
          <pc:docMk/>
          <pc:sldMk cId="2366557240" sldId="391"/>
        </pc:sldMkLst>
      </pc:sldChg>
      <pc:sldChg chg="modSp mod">
        <pc:chgData name="Sharjeel Khilji" userId="d7c9e5d0-931d-429e-91f4-ab214ce9376a" providerId="ADAL" clId="{9355A8DB-037E-4519-AB3A-CCB6926EBB87}" dt="2025-05-02T07:07:21.394" v="18" actId="20577"/>
        <pc:sldMkLst>
          <pc:docMk/>
          <pc:sldMk cId="3507278863" sldId="393"/>
        </pc:sldMkLst>
      </pc:sldChg>
      <pc:sldChg chg="del">
        <pc:chgData name="Sharjeel Khilji" userId="d7c9e5d0-931d-429e-91f4-ab214ce9376a" providerId="ADAL" clId="{9355A8DB-037E-4519-AB3A-CCB6926EBB87}" dt="2025-05-02T07:18:36.945" v="19" actId="47"/>
        <pc:sldMkLst>
          <pc:docMk/>
          <pc:sldMk cId="145995019" sldId="394"/>
        </pc:sldMkLst>
      </pc:sldChg>
    </pc:docChg>
  </pc:docChgLst>
  <pc:docChgLst>
    <pc:chgData name="Sharjeel Khilji" userId="d7c9e5d0-931d-429e-91f4-ab214ce9376a" providerId="ADAL" clId="{48B68879-5A9C-402E-9011-4CECD9838D44}"/>
    <pc:docChg chg="undo custSel addSld delSld modSld sldOrd">
      <pc:chgData name="Sharjeel Khilji" userId="d7c9e5d0-931d-429e-91f4-ab214ce9376a" providerId="ADAL" clId="{48B68879-5A9C-402E-9011-4CECD9838D44}" dt="2025-09-05T11:49:30.155" v="2486"/>
      <pc:docMkLst>
        <pc:docMk/>
      </pc:docMkLst>
      <pc:sldChg chg="modSp mod modClrScheme chgLayout">
        <pc:chgData name="Sharjeel Khilji" userId="d7c9e5d0-931d-429e-91f4-ab214ce9376a" providerId="ADAL" clId="{48B68879-5A9C-402E-9011-4CECD9838D44}" dt="2025-09-01T05:55:57.118" v="42" actId="14100"/>
        <pc:sldMkLst>
          <pc:docMk/>
          <pc:sldMk cId="0" sldId="256"/>
        </pc:sldMkLst>
        <pc:spChg chg="mod">
          <ac:chgData name="Sharjeel Khilji" userId="d7c9e5d0-931d-429e-91f4-ab214ce9376a" providerId="ADAL" clId="{48B68879-5A9C-402E-9011-4CECD9838D44}" dt="2025-09-01T05:55:57.118" v="42" actId="14100"/>
          <ac:spMkLst>
            <pc:docMk/>
            <pc:sldMk cId="0" sldId="256"/>
            <ac:spMk id="3" creationId="{00000000-0000-0000-0000-000000000000}"/>
          </ac:spMkLst>
        </pc:spChg>
        <pc:spChg chg="mod modVis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256"/>
            <ac:spMk id="4" creationId="{00000000-0000-0000-0000-000000000000}"/>
          </ac:spMkLst>
        </pc:spChg>
        <pc:spChg chg="mod modVis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256"/>
            <ac:spMk id="5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256"/>
            <ac:spMk id="13314" creationId="{00000000-0000-0000-0000-000000000000}"/>
          </ac:spMkLst>
        </pc:spChg>
      </pc:sldChg>
      <pc:sldChg chg="addSp delSp modSp del mod modClrScheme chgLayout">
        <pc:chgData name="Sharjeel Khilji" userId="d7c9e5d0-931d-429e-91f4-ab214ce9376a" providerId="ADAL" clId="{48B68879-5A9C-402E-9011-4CECD9838D44}" dt="2025-09-05T10:51:06.787" v="2457" actId="47"/>
        <pc:sldMkLst>
          <pc:docMk/>
          <pc:sldMk cId="0" sldId="314"/>
        </pc:sldMkLst>
      </pc:sldChg>
      <pc:sldChg chg="modSp del">
        <pc:chgData name="Sharjeel Khilji" userId="d7c9e5d0-931d-429e-91f4-ab214ce9376a" providerId="ADAL" clId="{48B68879-5A9C-402E-9011-4CECD9838D44}" dt="2025-09-02T09:24:44.083" v="305" actId="47"/>
        <pc:sldMkLst>
          <pc:docMk/>
          <pc:sldMk cId="0" sldId="315"/>
        </pc:sldMkLst>
      </pc:sldChg>
      <pc:sldChg chg="modSp mod">
        <pc:chgData name="Sharjeel Khilji" userId="d7c9e5d0-931d-429e-91f4-ab214ce9376a" providerId="ADAL" clId="{48B68879-5A9C-402E-9011-4CECD9838D44}" dt="2025-09-05T10:51:20.343" v="2458" actId="20577"/>
        <pc:sldMkLst>
          <pc:docMk/>
          <pc:sldMk cId="0" sldId="316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16"/>
            <ac:spMk id="9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10:51:20.343" v="2458" actId="20577"/>
          <ac:spMkLst>
            <pc:docMk/>
            <pc:sldMk cId="0" sldId="316"/>
            <ac:spMk id="1411075" creationId="{00000000-0000-0000-0000-000000000000}"/>
          </ac:spMkLst>
        </pc:spChg>
      </pc:sldChg>
      <pc:sldChg chg="modSp del">
        <pc:chgData name="Sharjeel Khilji" userId="d7c9e5d0-931d-429e-91f4-ab214ce9376a" providerId="ADAL" clId="{48B68879-5A9C-402E-9011-4CECD9838D44}" dt="2025-09-02T09:25:10.429" v="306" actId="47"/>
        <pc:sldMkLst>
          <pc:docMk/>
          <pc:sldMk cId="0" sldId="318"/>
        </pc:sldMkLst>
      </pc:sldChg>
      <pc:sldChg chg="modSp del mod">
        <pc:chgData name="Sharjeel Khilji" userId="d7c9e5d0-931d-429e-91f4-ab214ce9376a" providerId="ADAL" clId="{48B68879-5A9C-402E-9011-4CECD9838D44}" dt="2025-09-02T09:25:13.694" v="307" actId="47"/>
        <pc:sldMkLst>
          <pc:docMk/>
          <pc:sldMk cId="0" sldId="319"/>
        </pc:sldMkLst>
      </pc:sldChg>
      <pc:sldChg chg="modSp mod">
        <pc:chgData name="Sharjeel Khilji" userId="d7c9e5d0-931d-429e-91f4-ab214ce9376a" providerId="ADAL" clId="{48B68879-5A9C-402E-9011-4CECD9838D44}" dt="2025-09-05T11:35:16.658" v="2483" actId="1076"/>
        <pc:sldMkLst>
          <pc:docMk/>
          <pc:sldMk cId="0" sldId="320"/>
        </pc:sldMkLst>
        <pc:spChg chg="mod">
          <ac:chgData name="Sharjeel Khilji" userId="d7c9e5d0-931d-429e-91f4-ab214ce9376a" providerId="ADAL" clId="{48B68879-5A9C-402E-9011-4CECD9838D44}" dt="2025-09-01T05:55:04.292" v="19"/>
          <ac:spMkLst>
            <pc:docMk/>
            <pc:sldMk cId="0" sldId="320"/>
            <ac:spMk id="139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11:35:16.658" v="2483" actId="1076"/>
          <ac:spMkLst>
            <pc:docMk/>
            <pc:sldMk cId="0" sldId="320"/>
            <ac:spMk id="1415170" creationId="{00000000-0000-0000-0000-000000000000}"/>
          </ac:spMkLst>
        </pc:spChg>
      </pc:sldChg>
      <pc:sldChg chg="modSp mod ord">
        <pc:chgData name="Sharjeel Khilji" userId="d7c9e5d0-931d-429e-91f4-ab214ce9376a" providerId="ADAL" clId="{48B68879-5A9C-402E-9011-4CECD9838D44}" dt="2025-09-02T09:28:17.436" v="312" actId="6549"/>
        <pc:sldMkLst>
          <pc:docMk/>
          <pc:sldMk cId="0" sldId="321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21"/>
            <ac:spMk id="20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2T09:28:17.436" v="312" actId="6549"/>
          <ac:spMkLst>
            <pc:docMk/>
            <pc:sldMk cId="0" sldId="321"/>
            <ac:spMk id="1416194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5T11:33:26.478" v="2480" actId="20577"/>
        <pc:sldMkLst>
          <pc:docMk/>
          <pc:sldMk cId="0" sldId="323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23"/>
            <ac:spMk id="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11:33:26.478" v="2480" actId="20577"/>
          <ac:spMkLst>
            <pc:docMk/>
            <pc:sldMk cId="0" sldId="323"/>
            <ac:spMk id="1417219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5T11:31:52.202" v="2474" actId="1076"/>
        <pc:sldMkLst>
          <pc:docMk/>
          <pc:sldMk cId="0" sldId="324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24"/>
            <ac:spMk id="18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11:31:44.769" v="2473" actId="1076"/>
          <ac:spMkLst>
            <pc:docMk/>
            <pc:sldMk cId="0" sldId="324"/>
            <ac:spMk id="1419278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11:31:52.202" v="2474" actId="1076"/>
          <ac:spMkLst>
            <pc:docMk/>
            <pc:sldMk cId="0" sldId="324"/>
            <ac:spMk id="1419279" creationId="{00000000-0000-0000-0000-000000000000}"/>
          </ac:spMkLst>
        </pc:spChg>
      </pc:sldChg>
      <pc:sldChg chg="modSp ord">
        <pc:chgData name="Sharjeel Khilji" userId="d7c9e5d0-931d-429e-91f4-ab214ce9376a" providerId="ADAL" clId="{48B68879-5A9C-402E-9011-4CECD9838D44}" dt="2025-09-03T13:55:27.425" v="967"/>
        <pc:sldMkLst>
          <pc:docMk/>
          <pc:sldMk cId="0" sldId="325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25"/>
            <ac:spMk id="9" creationId="{00000000-0000-0000-0000-000000000000}"/>
          </ac:spMkLst>
        </pc:spChg>
      </pc:sldChg>
      <pc:sldChg chg="modSp ord">
        <pc:chgData name="Sharjeel Khilji" userId="d7c9e5d0-931d-429e-91f4-ab214ce9376a" providerId="ADAL" clId="{48B68879-5A9C-402E-9011-4CECD9838D44}" dt="2025-09-03T13:55:27.425" v="967"/>
        <pc:sldMkLst>
          <pc:docMk/>
          <pc:sldMk cId="0" sldId="326"/>
        </pc:sldMkLst>
      </pc:sldChg>
      <pc:sldChg chg="modSp ord">
        <pc:chgData name="Sharjeel Khilji" userId="d7c9e5d0-931d-429e-91f4-ab214ce9376a" providerId="ADAL" clId="{48B68879-5A9C-402E-9011-4CECD9838D44}" dt="2025-09-03T13:55:27.425" v="967"/>
        <pc:sldMkLst>
          <pc:docMk/>
          <pc:sldMk cId="0" sldId="327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27"/>
            <ac:spMk id="3" creationId="{00000000-0000-0000-0000-000000000000}"/>
          </ac:spMkLst>
        </pc:spChg>
      </pc:sldChg>
      <pc:sldChg chg="modSp add del ord">
        <pc:chgData name="Sharjeel Khilji" userId="d7c9e5d0-931d-429e-91f4-ab214ce9376a" providerId="ADAL" clId="{48B68879-5A9C-402E-9011-4CECD9838D44}" dt="2025-09-03T13:55:27.425" v="967"/>
        <pc:sldMkLst>
          <pc:docMk/>
          <pc:sldMk cId="0" sldId="328"/>
        </pc:sldMkLst>
      </pc:sldChg>
      <pc:sldChg chg="modSp ord">
        <pc:chgData name="Sharjeel Khilji" userId="d7c9e5d0-931d-429e-91f4-ab214ce9376a" providerId="ADAL" clId="{48B68879-5A9C-402E-9011-4CECD9838D44}" dt="2025-09-03T13:55:27.425" v="967"/>
        <pc:sldMkLst>
          <pc:docMk/>
          <pc:sldMk cId="0" sldId="329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29"/>
            <ac:spMk id="14" creationId="{00000000-0000-0000-0000-000000000000}"/>
          </ac:spMkLst>
        </pc:spChg>
      </pc:sldChg>
      <pc:sldChg chg="modSp ord">
        <pc:chgData name="Sharjeel Khilji" userId="d7c9e5d0-931d-429e-91f4-ab214ce9376a" providerId="ADAL" clId="{48B68879-5A9C-402E-9011-4CECD9838D44}" dt="2025-09-03T13:55:27.425" v="967"/>
        <pc:sldMkLst>
          <pc:docMk/>
          <pc:sldMk cId="0" sldId="330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30"/>
            <ac:spMk id="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30"/>
            <ac:spMk id="1277954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31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31"/>
            <ac:spMk id="102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32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32"/>
            <ac:spMk id="7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34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34"/>
            <ac:spMk id="6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3T12:33:07.712" v="960" actId="20577"/>
        <pc:sldMkLst>
          <pc:docMk/>
          <pc:sldMk cId="0" sldId="335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35"/>
            <ac:spMk id="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3T12:33:07.712" v="960" actId="20577"/>
          <ac:spMkLst>
            <pc:docMk/>
            <pc:sldMk cId="0" sldId="335"/>
            <ac:spMk id="1486850" creationId="{00000000-0000-0000-0000-000000000000}"/>
          </ac:spMkLst>
        </pc:spChg>
      </pc:sldChg>
      <pc:sldChg chg="modSp mod ord modShow">
        <pc:chgData name="Sharjeel Khilji" userId="d7c9e5d0-931d-429e-91f4-ab214ce9376a" providerId="ADAL" clId="{48B68879-5A9C-402E-9011-4CECD9838D44}" dt="2025-09-03T12:34:10.718" v="963" actId="729"/>
        <pc:sldMkLst>
          <pc:docMk/>
          <pc:sldMk cId="0" sldId="336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36"/>
            <ac:spMk id="6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37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37"/>
            <ac:spMk id="84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38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38"/>
            <ac:spMk id="6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39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39"/>
            <ac:spMk id="55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1T05:55:36.189" v="38"/>
        <pc:sldMkLst>
          <pc:docMk/>
          <pc:sldMk cId="0" sldId="340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0"/>
            <ac:spMk id="22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0"/>
            <ac:spMk id="1496067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44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4"/>
            <ac:spMk id="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4"/>
            <ac:spMk id="1548290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3T14:01:45.930" v="991" actId="20577"/>
        <pc:sldMkLst>
          <pc:docMk/>
          <pc:sldMk cId="0" sldId="345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5"/>
            <ac:spMk id="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5"/>
            <ac:spMk id="1550338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3T14:01:45.930" v="991" actId="20577"/>
          <ac:spMkLst>
            <pc:docMk/>
            <pc:sldMk cId="0" sldId="345"/>
            <ac:spMk id="1550339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4T04:41:37.714" v="993" actId="14100"/>
        <pc:sldMkLst>
          <pc:docMk/>
          <pc:sldMk cId="0" sldId="346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6"/>
            <ac:spMk id="7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6"/>
            <ac:spMk id="155238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6"/>
            <ac:spMk id="1552387" creationId="{00000000-0000-0000-0000-000000000000}"/>
          </ac:spMkLst>
        </pc:spChg>
        <pc:picChg chg="mod">
          <ac:chgData name="Sharjeel Khilji" userId="d7c9e5d0-931d-429e-91f4-ab214ce9376a" providerId="ADAL" clId="{48B68879-5A9C-402E-9011-4CECD9838D44}" dt="2025-09-04T04:41:37.714" v="993" actId="14100"/>
          <ac:picMkLst>
            <pc:docMk/>
            <pc:sldMk cId="0" sldId="346"/>
            <ac:picMk id="1552388" creationId="{00000000-0000-0000-0000-000000000000}"/>
          </ac:picMkLst>
        </pc:pic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47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7"/>
            <ac:spMk id="2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7"/>
            <ac:spMk id="3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48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8"/>
            <ac:spMk id="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8"/>
            <ac:spMk id="1545218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49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9"/>
            <ac:spMk id="22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9"/>
            <ac:spMk id="1547266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50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0"/>
            <ac:spMk id="22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4T10:07:32.138" v="2027" actId="20577"/>
        <pc:sldMkLst>
          <pc:docMk/>
          <pc:sldMk cId="0" sldId="351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1"/>
            <ac:spMk id="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1"/>
            <ac:spMk id="1551362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4T10:07:32.138" v="2027" actId="20577"/>
          <ac:spMkLst>
            <pc:docMk/>
            <pc:sldMk cId="0" sldId="351"/>
            <ac:spMk id="1551363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52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2"/>
            <ac:spMk id="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2"/>
            <ac:spMk id="1553410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53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3"/>
            <ac:spMk id="7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3"/>
            <ac:spMk id="1555458" creationId="{00000000-0000-0000-0000-000000000000}"/>
          </ac:spMkLst>
        </pc:spChg>
      </pc:sldChg>
      <pc:sldChg chg="addSp delSp modSp mod ord">
        <pc:chgData name="Sharjeel Khilji" userId="d7c9e5d0-931d-429e-91f4-ab214ce9376a" providerId="ADAL" clId="{48B68879-5A9C-402E-9011-4CECD9838D44}" dt="2025-09-04T12:38:00.654" v="2195"/>
        <pc:sldMkLst>
          <pc:docMk/>
          <pc:sldMk cId="0" sldId="354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4"/>
            <ac:spMk id="41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55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5"/>
            <ac:spMk id="96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2T13:03:21.543" v="447" actId="20577"/>
        <pc:sldMkLst>
          <pc:docMk/>
          <pc:sldMk cId="0" sldId="356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6"/>
            <ac:spMk id="62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6"/>
            <ac:spMk id="1691650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2T13:03:21.543" v="447" actId="20577"/>
          <ac:spMkLst>
            <pc:docMk/>
            <pc:sldMk cId="0" sldId="356"/>
            <ac:spMk id="1691682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57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7"/>
            <ac:spMk id="34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58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8"/>
            <ac:spMk id="3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8"/>
            <ac:spMk id="1685506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59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9"/>
            <ac:spMk id="36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1T05:55:36.189" v="38"/>
        <pc:sldMkLst>
          <pc:docMk/>
          <pc:sldMk cId="0" sldId="360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0"/>
            <ac:spMk id="39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0"/>
            <ac:spMk id="1686530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0"/>
            <ac:spMk id="1686531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5T06:51:02.865" v="2395" actId="1076"/>
        <pc:sldMkLst>
          <pc:docMk/>
          <pc:sldMk cId="0" sldId="361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1"/>
            <ac:spMk id="62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1"/>
            <ac:spMk id="1691650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06:51:02.865" v="2395" actId="1076"/>
          <ac:spMkLst>
            <pc:docMk/>
            <pc:sldMk cId="0" sldId="361"/>
            <ac:spMk id="1691689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06:50:56.967" v="2393" actId="1076"/>
          <ac:spMkLst>
            <pc:docMk/>
            <pc:sldMk cId="0" sldId="361"/>
            <ac:spMk id="1691690" creationId="{00000000-0000-0000-0000-000000000000}"/>
          </ac:spMkLst>
        </pc:spChg>
      </pc:sldChg>
      <pc:sldChg chg="modSp modAnim">
        <pc:chgData name="Sharjeel Khilji" userId="d7c9e5d0-931d-429e-91f4-ab214ce9376a" providerId="ADAL" clId="{48B68879-5A9C-402E-9011-4CECD9838D44}" dt="2025-09-05T06:09:41.620" v="2269" actId="20577"/>
        <pc:sldMkLst>
          <pc:docMk/>
          <pc:sldMk cId="0" sldId="362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2"/>
            <ac:spMk id="43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06:09:41.620" v="2269" actId="20577"/>
          <ac:spMkLst>
            <pc:docMk/>
            <pc:sldMk cId="0" sldId="362"/>
            <ac:spMk id="1687592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5T06:15:09.763" v="2270" actId="20577"/>
        <pc:sldMkLst>
          <pc:docMk/>
          <pc:sldMk cId="0" sldId="363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3"/>
            <ac:spMk id="40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06:15:09.763" v="2270" actId="20577"/>
          <ac:spMkLst>
            <pc:docMk/>
            <pc:sldMk cId="0" sldId="363"/>
            <ac:spMk id="1689603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5T07:06:19.764" v="2399" actId="404"/>
        <pc:sldMkLst>
          <pc:docMk/>
          <pc:sldMk cId="0" sldId="364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4"/>
            <ac:spMk id="67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07:06:16.885" v="2398" actId="404"/>
          <ac:spMkLst>
            <pc:docMk/>
            <pc:sldMk cId="0" sldId="364"/>
            <ac:spMk id="1690637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07:06:19.764" v="2399" actId="404"/>
          <ac:spMkLst>
            <pc:docMk/>
            <pc:sldMk cId="0" sldId="364"/>
            <ac:spMk id="1690658" creationId="{00000000-0000-0000-0000-000000000000}"/>
          </ac:spMkLst>
        </pc:spChg>
      </pc:sldChg>
      <pc:sldChg chg="modSp ord">
        <pc:chgData name="Sharjeel Khilji" userId="d7c9e5d0-931d-429e-91f4-ab214ce9376a" providerId="ADAL" clId="{48B68879-5A9C-402E-9011-4CECD9838D44}" dt="2025-09-05T06:59:56.315" v="2397"/>
        <pc:sldMkLst>
          <pc:docMk/>
          <pc:sldMk cId="0" sldId="365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5"/>
            <ac:spMk id="43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5T07:10:24.420" v="2405" actId="6549"/>
        <pc:sldMkLst>
          <pc:docMk/>
          <pc:sldMk cId="0" sldId="366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6"/>
            <ac:spMk id="25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07:10:24.420" v="2405" actId="6549"/>
          <ac:spMkLst>
            <pc:docMk/>
            <pc:sldMk cId="0" sldId="366"/>
            <ac:spMk id="1694723" creationId="{00000000-0000-0000-0000-000000000000}"/>
          </ac:spMkLst>
        </pc:spChg>
      </pc:sldChg>
      <pc:sldChg chg="addSp modSp mod">
        <pc:chgData name="Sharjeel Khilji" userId="d7c9e5d0-931d-429e-91f4-ab214ce9376a" providerId="ADAL" clId="{48B68879-5A9C-402E-9011-4CECD9838D44}" dt="2025-09-05T10:08:24.828" v="2454" actId="1076"/>
        <pc:sldMkLst>
          <pc:docMk/>
          <pc:sldMk cId="0" sldId="367"/>
        </pc:sldMkLst>
        <pc:spChg chg="add mod">
          <ac:chgData name="Sharjeel Khilji" userId="d7c9e5d0-931d-429e-91f4-ab214ce9376a" providerId="ADAL" clId="{48B68879-5A9C-402E-9011-4CECD9838D44}" dt="2025-09-05T10:08:24.828" v="2454" actId="1076"/>
          <ac:spMkLst>
            <pc:docMk/>
            <pc:sldMk cId="0" sldId="367"/>
            <ac:spMk id="4" creationId="{DBB2D51C-A66C-D758-A480-0203280311A9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7"/>
            <ac:spMk id="55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1T05:55:36.189" v="38"/>
        <pc:sldMkLst>
          <pc:docMk/>
          <pc:sldMk cId="0" sldId="368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8"/>
            <ac:spMk id="38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8"/>
            <ac:spMk id="1696770" creationId="{00000000-0000-0000-0000-000000000000}"/>
          </ac:spMkLst>
        </pc:spChg>
      </pc:sldChg>
      <pc:sldChg chg="modSp ord">
        <pc:chgData name="Sharjeel Khilji" userId="d7c9e5d0-931d-429e-91f4-ab214ce9376a" providerId="ADAL" clId="{48B68879-5A9C-402E-9011-4CECD9838D44}" dt="2025-09-04T14:07:17.699" v="2250"/>
        <pc:sldMkLst>
          <pc:docMk/>
          <pc:sldMk cId="0" sldId="369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9"/>
            <ac:spMk id="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9"/>
            <ac:spMk id="1698818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5T10:23:57.240" v="2456" actId="14100"/>
        <pc:sldMkLst>
          <pc:docMk/>
          <pc:sldMk cId="0" sldId="371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71"/>
            <ac:spMk id="4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10:23:57.240" v="2456" actId="14100"/>
          <ac:spMkLst>
            <pc:docMk/>
            <pc:sldMk cId="0" sldId="371"/>
            <ac:spMk id="1703968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10:23:52.671" v="2455" actId="14100"/>
          <ac:spMkLst>
            <pc:docMk/>
            <pc:sldMk cId="0" sldId="371"/>
            <ac:spMk id="1703976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72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72"/>
            <ac:spMk id="44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73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73"/>
            <ac:spMk id="6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74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74"/>
            <ac:spMk id="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74"/>
            <ac:spMk id="1708034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75"/>
        </pc:sldMkLst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2328174621" sldId="376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328174621" sldId="376"/>
            <ac:spMk id="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328174621" sldId="376"/>
            <ac:spMk id="5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328174621" sldId="376"/>
            <ac:spMk id="1079298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328174621" sldId="376"/>
            <ac:spMk id="1079299" creationId="{00000000-0000-0000-0000-000000000000}"/>
          </ac:spMkLst>
        </pc:spChg>
      </pc:sldChg>
      <pc:sldChg chg="delSp modSp mod">
        <pc:chgData name="Sharjeel Khilji" userId="d7c9e5d0-931d-429e-91f4-ab214ce9376a" providerId="ADAL" clId="{48B68879-5A9C-402E-9011-4CECD9838D44}" dt="2025-09-05T11:40:32.967" v="2484" actId="478"/>
        <pc:sldMkLst>
          <pc:docMk/>
          <pc:sldMk cId="3589514644" sldId="377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3589514644" sldId="377"/>
            <ac:spMk id="43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3589514644" sldId="377"/>
            <ac:spMk id="4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3589514644" sldId="377"/>
            <ac:spMk id="1080322" creationId="{00000000-0000-0000-0000-000000000000}"/>
          </ac:spMkLst>
        </pc:spChg>
      </pc:sldChg>
      <pc:sldChg chg="modSp mod ord">
        <pc:chgData name="Sharjeel Khilji" userId="d7c9e5d0-931d-429e-91f4-ab214ce9376a" providerId="ADAL" clId="{48B68879-5A9C-402E-9011-4CECD9838D44}" dt="2025-09-05T11:49:30.155" v="2486"/>
        <pc:sldMkLst>
          <pc:docMk/>
          <pc:sldMk cId="914487420" sldId="378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914487420" sldId="378"/>
            <ac:spMk id="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914487420" sldId="378"/>
            <ac:spMk id="5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914487420" sldId="378"/>
            <ac:spMk id="1082370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3T09:20:46.280" v="661" actId="20577"/>
          <ac:spMkLst>
            <pc:docMk/>
            <pc:sldMk cId="914487420" sldId="378"/>
            <ac:spMk id="1082371" creationId="{00000000-0000-0000-0000-000000000000}"/>
          </ac:spMkLst>
        </pc:spChg>
      </pc:sldChg>
      <pc:sldChg chg="modSp mod ord">
        <pc:chgData name="Sharjeel Khilji" userId="d7c9e5d0-931d-429e-91f4-ab214ce9376a" providerId="ADAL" clId="{48B68879-5A9C-402E-9011-4CECD9838D44}" dt="2025-09-05T11:49:30.155" v="2486"/>
        <pc:sldMkLst>
          <pc:docMk/>
          <pc:sldMk cId="2572046803" sldId="379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572046803" sldId="379"/>
            <ac:spMk id="23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572046803" sldId="379"/>
            <ac:spMk id="2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3T09:24:51.211" v="670" actId="14100"/>
          <ac:spMkLst>
            <pc:docMk/>
            <pc:sldMk cId="2572046803" sldId="379"/>
            <ac:spMk id="1084420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3T09:25:40.327" v="673" actId="20577"/>
        <pc:sldMkLst>
          <pc:docMk/>
          <pc:sldMk cId="2632765787" sldId="380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632765787" sldId="380"/>
            <ac:spMk id="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632765787" sldId="380"/>
            <ac:spMk id="5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3T09:25:40.327" v="673" actId="20577"/>
          <ac:spMkLst>
            <pc:docMk/>
            <pc:sldMk cId="2632765787" sldId="380"/>
            <ac:spMk id="1085443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3T09:26:58.083" v="680" actId="1076"/>
        <pc:sldMkLst>
          <pc:docMk/>
          <pc:sldMk cId="2560384181" sldId="381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560384181" sldId="381"/>
            <ac:spMk id="13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560384181" sldId="381"/>
            <ac:spMk id="1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560384181" sldId="381"/>
            <ac:spMk id="108646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3T09:26:58.083" v="680" actId="1076"/>
          <ac:spMkLst>
            <pc:docMk/>
            <pc:sldMk cId="2560384181" sldId="381"/>
            <ac:spMk id="1086475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3T09:28:19.239" v="682" actId="1076"/>
        <pc:sldMkLst>
          <pc:docMk/>
          <pc:sldMk cId="1594106836" sldId="382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594106836" sldId="382"/>
            <ac:spMk id="57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594106836" sldId="382"/>
            <ac:spMk id="58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3T09:28:19.239" v="682" actId="1076"/>
          <ac:spMkLst>
            <pc:docMk/>
            <pc:sldMk cId="1594106836" sldId="382"/>
            <ac:spMk id="108856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3T09:28:13.506" v="681" actId="1076"/>
          <ac:spMkLst>
            <pc:docMk/>
            <pc:sldMk cId="1594106836" sldId="382"/>
            <ac:spMk id="1088567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3580393416" sldId="383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3580393416" sldId="383"/>
            <ac:spMk id="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3580393416" sldId="383"/>
            <ac:spMk id="5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3580393416" sldId="383"/>
            <ac:spMk id="1089538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2843283411" sldId="384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843283411" sldId="384"/>
            <ac:spMk id="78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843283411" sldId="384"/>
            <ac:spMk id="79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1T05:55:36.189" v="38"/>
        <pc:sldMkLst>
          <pc:docMk/>
          <pc:sldMk cId="3742768264" sldId="385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3742768264" sldId="385"/>
            <ac:spMk id="10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3742768264" sldId="385"/>
            <ac:spMk id="11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3742768264" sldId="385"/>
            <ac:spMk id="1092610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3742768264" sldId="385"/>
            <ac:spMk id="1092611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2657506041" sldId="386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657506041" sldId="386"/>
            <ac:spMk id="8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657506041" sldId="386"/>
            <ac:spMk id="85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172434346" sldId="387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72434346" sldId="387"/>
            <ac:spMk id="127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72434346" sldId="387"/>
            <ac:spMk id="128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1178169822" sldId="388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178169822" sldId="388"/>
            <ac:spMk id="142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178169822" sldId="388"/>
            <ac:spMk id="143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2T07:51:21.725" v="72" actId="15"/>
        <pc:sldMkLst>
          <pc:docMk/>
          <pc:sldMk cId="1063949056" sldId="389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063949056" sldId="389"/>
            <ac:spMk id="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063949056" sldId="389"/>
            <ac:spMk id="5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063949056" sldId="389"/>
            <ac:spMk id="109670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2T07:51:21.725" v="72" actId="15"/>
          <ac:spMkLst>
            <pc:docMk/>
            <pc:sldMk cId="1063949056" sldId="389"/>
            <ac:spMk id="1096707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3T12:03:56.439" v="880" actId="20577"/>
        <pc:sldMkLst>
          <pc:docMk/>
          <pc:sldMk cId="1089716394" sldId="390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089716394" sldId="390"/>
            <ac:spMk id="21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089716394" sldId="390"/>
            <ac:spMk id="22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3T12:03:56.439" v="880" actId="20577"/>
          <ac:spMkLst>
            <pc:docMk/>
            <pc:sldMk cId="1089716394" sldId="390"/>
            <ac:spMk id="1097747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3T12:13:17.389" v="883" actId="20577"/>
        <pc:sldMkLst>
          <pc:docMk/>
          <pc:sldMk cId="2366557240" sldId="391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366557240" sldId="391"/>
            <ac:spMk id="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366557240" sldId="391"/>
            <ac:spMk id="5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3T12:13:17.389" v="883" actId="20577"/>
          <ac:spMkLst>
            <pc:docMk/>
            <pc:sldMk cId="2366557240" sldId="391"/>
            <ac:spMk id="1099779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5T06:31:25.677" v="2321" actId="20577"/>
        <pc:sldMkLst>
          <pc:docMk/>
          <pc:sldMk cId="2906400927" sldId="392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906400927" sldId="392"/>
            <ac:spMk id="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906400927" sldId="392"/>
            <ac:spMk id="5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06:31:25.677" v="2321" actId="20577"/>
          <ac:spMkLst>
            <pc:docMk/>
            <pc:sldMk cId="2906400927" sldId="392"/>
            <ac:spMk id="1100802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3T12:29:36.965" v="949" actId="20577"/>
        <pc:sldMkLst>
          <pc:docMk/>
          <pc:sldMk cId="3507278863" sldId="393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3507278863" sldId="393"/>
            <ac:spMk id="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3507278863" sldId="393"/>
            <ac:spMk id="5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2T08:02:00.137" v="302" actId="404"/>
          <ac:spMkLst>
            <pc:docMk/>
            <pc:sldMk cId="3507278863" sldId="393"/>
            <ac:spMk id="110182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3T12:29:36.965" v="949" actId="20577"/>
          <ac:spMkLst>
            <pc:docMk/>
            <pc:sldMk cId="3507278863" sldId="393"/>
            <ac:spMk id="1101827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4T12:03:13.439" v="2188" actId="20577"/>
        <pc:sldMkLst>
          <pc:docMk/>
          <pc:sldMk cId="143382255" sldId="394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43382255" sldId="394"/>
            <ac:spMk id="2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4T12:03:13.439" v="2188" actId="20577"/>
          <ac:spMkLst>
            <pc:docMk/>
            <pc:sldMk cId="143382255" sldId="394"/>
            <ac:spMk id="3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43382255" sldId="394"/>
            <ac:spMk id="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43382255" sldId="394"/>
            <ac:spMk id="5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859087474" sldId="395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859087474" sldId="395"/>
            <ac:spMk id="2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859087474" sldId="395"/>
            <ac:spMk id="3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859087474" sldId="395"/>
            <ac:spMk id="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859087474" sldId="395"/>
            <ac:spMk id="5" creationId="{00000000-0000-0000-0000-000000000000}"/>
          </ac:spMkLst>
        </pc:spChg>
      </pc:sldChg>
      <pc:sldChg chg="addSp delSp modSp new mod">
        <pc:chgData name="Sharjeel Khilji" userId="d7c9e5d0-931d-429e-91f4-ab214ce9376a" providerId="ADAL" clId="{48B68879-5A9C-402E-9011-4CECD9838D44}" dt="2025-09-01T06:12:16.495" v="70" actId="14100"/>
        <pc:sldMkLst>
          <pc:docMk/>
          <pc:sldMk cId="1406392819" sldId="396"/>
        </pc:sldMkLst>
        <pc:spChg chg="mod">
          <ac:chgData name="Sharjeel Khilji" userId="d7c9e5d0-931d-429e-91f4-ab214ce9376a" providerId="ADAL" clId="{48B68879-5A9C-402E-9011-4CECD9838D44}" dt="2025-09-01T06:11:59.674" v="67" actId="20577"/>
          <ac:spMkLst>
            <pc:docMk/>
            <pc:sldMk cId="1406392819" sldId="396"/>
            <ac:spMk id="2" creationId="{DCDCB18D-00D8-C66F-4327-35C1701CF386}"/>
          </ac:spMkLst>
        </pc:spChg>
        <pc:picChg chg="add mod">
          <ac:chgData name="Sharjeel Khilji" userId="d7c9e5d0-931d-429e-91f4-ab214ce9376a" providerId="ADAL" clId="{48B68879-5A9C-402E-9011-4CECD9838D44}" dt="2025-09-01T06:12:16.495" v="70" actId="14100"/>
          <ac:picMkLst>
            <pc:docMk/>
            <pc:sldMk cId="1406392819" sldId="396"/>
            <ac:picMk id="7" creationId="{72A0596A-05D3-3255-DF2F-FB5A56234ED3}"/>
          </ac:picMkLst>
        </pc:picChg>
      </pc:sldChg>
      <pc:sldChg chg="addSp delSp modSp new mod">
        <pc:chgData name="Sharjeel Khilji" userId="d7c9e5d0-931d-429e-91f4-ab214ce9376a" providerId="ADAL" clId="{48B68879-5A9C-402E-9011-4CECD9838D44}" dt="2025-09-02T09:34:11.779" v="446" actId="1076"/>
        <pc:sldMkLst>
          <pc:docMk/>
          <pc:sldMk cId="1935998898" sldId="397"/>
        </pc:sldMkLst>
        <pc:spChg chg="mod">
          <ac:chgData name="Sharjeel Khilji" userId="d7c9e5d0-931d-429e-91f4-ab214ce9376a" providerId="ADAL" clId="{48B68879-5A9C-402E-9011-4CECD9838D44}" dt="2025-09-02T09:29:27.572" v="348" actId="20577"/>
          <ac:spMkLst>
            <pc:docMk/>
            <pc:sldMk cId="1935998898" sldId="397"/>
            <ac:spMk id="2" creationId="{A1D83AD3-9D94-654D-5B35-E437EC0CDE93}"/>
          </ac:spMkLst>
        </pc:spChg>
        <pc:spChg chg="add del mod">
          <ac:chgData name="Sharjeel Khilji" userId="d7c9e5d0-931d-429e-91f4-ab214ce9376a" providerId="ADAL" clId="{48B68879-5A9C-402E-9011-4CECD9838D44}" dt="2025-09-02T09:33:42.615" v="445" actId="20577"/>
          <ac:spMkLst>
            <pc:docMk/>
            <pc:sldMk cId="1935998898" sldId="397"/>
            <ac:spMk id="3" creationId="{2A972BC2-697E-9D95-5FAB-3BCA01901403}"/>
          </ac:spMkLst>
        </pc:spChg>
        <pc:spChg chg="add mod">
          <ac:chgData name="Sharjeel Khilji" userId="d7c9e5d0-931d-429e-91f4-ab214ce9376a" providerId="ADAL" clId="{48B68879-5A9C-402E-9011-4CECD9838D44}" dt="2025-09-02T09:32:32.829" v="413" actId="1076"/>
          <ac:spMkLst>
            <pc:docMk/>
            <pc:sldMk cId="1935998898" sldId="397"/>
            <ac:spMk id="10" creationId="{32120E61-0C20-E3A5-165E-0CC8FB1EB2F5}"/>
          </ac:spMkLst>
        </pc:spChg>
        <pc:picChg chg="add mod">
          <ac:chgData name="Sharjeel Khilji" userId="d7c9e5d0-931d-429e-91f4-ab214ce9376a" providerId="ADAL" clId="{48B68879-5A9C-402E-9011-4CECD9838D44}" dt="2025-09-02T09:34:11.779" v="446" actId="1076"/>
          <ac:picMkLst>
            <pc:docMk/>
            <pc:sldMk cId="1935998898" sldId="397"/>
            <ac:picMk id="9" creationId="{409C2913-1595-CF84-CE7D-336CE6F2DBE2}"/>
          </ac:picMkLst>
        </pc:picChg>
      </pc:sldChg>
      <pc:sldChg chg="new del">
        <pc:chgData name="Sharjeel Khilji" userId="d7c9e5d0-931d-429e-91f4-ab214ce9376a" providerId="ADAL" clId="{48B68879-5A9C-402E-9011-4CECD9838D44}" dt="2025-09-02T09:27:55.886" v="309" actId="47"/>
        <pc:sldMkLst>
          <pc:docMk/>
          <pc:sldMk cId="2935058835" sldId="397"/>
        </pc:sldMkLst>
      </pc:sldChg>
      <pc:sldChg chg="addSp delSp modSp new mod ord">
        <pc:chgData name="Sharjeel Khilji" userId="d7c9e5d0-931d-429e-91f4-ab214ce9376a" providerId="ADAL" clId="{48B68879-5A9C-402E-9011-4CECD9838D44}" dt="2025-09-05T06:30:07.427" v="2302"/>
        <pc:sldMkLst>
          <pc:docMk/>
          <pc:sldMk cId="3627584651" sldId="398"/>
        </pc:sldMkLst>
        <pc:spChg chg="mod">
          <ac:chgData name="Sharjeel Khilji" userId="d7c9e5d0-931d-429e-91f4-ab214ce9376a" providerId="ADAL" clId="{48B68879-5A9C-402E-9011-4CECD9838D44}" dt="2025-09-03T11:05:58.082" v="728" actId="20577"/>
          <ac:spMkLst>
            <pc:docMk/>
            <pc:sldMk cId="3627584651" sldId="398"/>
            <ac:spMk id="2" creationId="{1FF6F7E8-9670-F847-124A-9D772406E23A}"/>
          </ac:spMkLst>
        </pc:spChg>
        <pc:picChg chg="add mod">
          <ac:chgData name="Sharjeel Khilji" userId="d7c9e5d0-931d-429e-91f4-ab214ce9376a" providerId="ADAL" clId="{48B68879-5A9C-402E-9011-4CECD9838D44}" dt="2025-09-03T11:07:07.615" v="733" actId="1076"/>
          <ac:picMkLst>
            <pc:docMk/>
            <pc:sldMk cId="3627584651" sldId="398"/>
            <ac:picMk id="7" creationId="{58AA9AD5-CC4E-4005-24CE-DC8DACB79302}"/>
          </ac:picMkLst>
        </pc:picChg>
      </pc:sldChg>
      <pc:sldChg chg="modSp new mod">
        <pc:chgData name="Sharjeel Khilji" userId="d7c9e5d0-931d-429e-91f4-ab214ce9376a" providerId="ADAL" clId="{48B68879-5A9C-402E-9011-4CECD9838D44}" dt="2025-09-04T05:32:19.868" v="1185" actId="1076"/>
        <pc:sldMkLst>
          <pc:docMk/>
          <pc:sldMk cId="3274214473" sldId="399"/>
        </pc:sldMkLst>
        <pc:spChg chg="mod">
          <ac:chgData name="Sharjeel Khilji" userId="d7c9e5d0-931d-429e-91f4-ab214ce9376a" providerId="ADAL" clId="{48B68879-5A9C-402E-9011-4CECD9838D44}" dt="2025-09-04T05:12:51.896" v="1046" actId="20577"/>
          <ac:spMkLst>
            <pc:docMk/>
            <pc:sldMk cId="3274214473" sldId="399"/>
            <ac:spMk id="2" creationId="{C94EA100-6A6D-0C5F-DE1B-44E8327957E3}"/>
          </ac:spMkLst>
        </pc:spChg>
        <pc:spChg chg="mod">
          <ac:chgData name="Sharjeel Khilji" userId="d7c9e5d0-931d-429e-91f4-ab214ce9376a" providerId="ADAL" clId="{48B68879-5A9C-402E-9011-4CECD9838D44}" dt="2025-09-04T05:32:19.868" v="1185" actId="1076"/>
          <ac:spMkLst>
            <pc:docMk/>
            <pc:sldMk cId="3274214473" sldId="399"/>
            <ac:spMk id="3" creationId="{D4AADEFC-9EAD-2D3C-6D41-93130B4BA5D8}"/>
          </ac:spMkLst>
        </pc:spChg>
      </pc:sldChg>
      <pc:sldChg chg="addSp delSp modSp new mod">
        <pc:chgData name="Sharjeel Khilji" userId="d7c9e5d0-931d-429e-91f4-ab214ce9376a" providerId="ADAL" clId="{48B68879-5A9C-402E-9011-4CECD9838D44}" dt="2025-09-04T09:28:10.682" v="1965" actId="20577"/>
        <pc:sldMkLst>
          <pc:docMk/>
          <pc:sldMk cId="1392808498" sldId="400"/>
        </pc:sldMkLst>
        <pc:spChg chg="mod">
          <ac:chgData name="Sharjeel Khilji" userId="d7c9e5d0-931d-429e-91f4-ab214ce9376a" providerId="ADAL" clId="{48B68879-5A9C-402E-9011-4CECD9838D44}" dt="2025-09-04T05:42:04.759" v="1225" actId="6549"/>
          <ac:spMkLst>
            <pc:docMk/>
            <pc:sldMk cId="1392808498" sldId="400"/>
            <ac:spMk id="2" creationId="{79F55C2C-8DF6-F5FB-A53C-DEC96330C135}"/>
          </ac:spMkLst>
        </pc:spChg>
        <pc:spChg chg="mod">
          <ac:chgData name="Sharjeel Khilji" userId="d7c9e5d0-931d-429e-91f4-ab214ce9376a" providerId="ADAL" clId="{48B68879-5A9C-402E-9011-4CECD9838D44}" dt="2025-09-04T09:28:10.682" v="1965" actId="20577"/>
          <ac:spMkLst>
            <pc:docMk/>
            <pc:sldMk cId="1392808498" sldId="400"/>
            <ac:spMk id="3" creationId="{CEF24A3F-9755-1E47-B6AD-516C8BC125BB}"/>
          </ac:spMkLst>
        </pc:spChg>
      </pc:sldChg>
      <pc:sldChg chg="addSp delSp modSp new del mod modClrScheme chgLayout">
        <pc:chgData name="Sharjeel Khilji" userId="d7c9e5d0-931d-429e-91f4-ab214ce9376a" providerId="ADAL" clId="{48B68879-5A9C-402E-9011-4CECD9838D44}" dt="2025-09-04T05:32:19.408" v="1184" actId="680"/>
        <pc:sldMkLst>
          <pc:docMk/>
          <pc:sldMk cId="3992507864" sldId="400"/>
        </pc:sldMkLst>
      </pc:sldChg>
      <pc:sldChg chg="addSp modSp new mod">
        <pc:chgData name="Sharjeel Khilji" userId="d7c9e5d0-931d-429e-91f4-ab214ce9376a" providerId="ADAL" clId="{48B68879-5A9C-402E-9011-4CECD9838D44}" dt="2025-09-04T09:54:32.850" v="2026" actId="20577"/>
        <pc:sldMkLst>
          <pc:docMk/>
          <pc:sldMk cId="1502750081" sldId="401"/>
        </pc:sldMkLst>
        <pc:spChg chg="mod">
          <ac:chgData name="Sharjeel Khilji" userId="d7c9e5d0-931d-429e-91f4-ab214ce9376a" providerId="ADAL" clId="{48B68879-5A9C-402E-9011-4CECD9838D44}" dt="2025-09-04T07:02:16.372" v="1575" actId="20577"/>
          <ac:spMkLst>
            <pc:docMk/>
            <pc:sldMk cId="1502750081" sldId="401"/>
            <ac:spMk id="2" creationId="{6131C08E-99EF-0933-AF07-111497376847}"/>
          </ac:spMkLst>
        </pc:spChg>
        <pc:spChg chg="mod">
          <ac:chgData name="Sharjeel Khilji" userId="d7c9e5d0-931d-429e-91f4-ab214ce9376a" providerId="ADAL" clId="{48B68879-5A9C-402E-9011-4CECD9838D44}" dt="2025-09-04T09:54:32.850" v="2026" actId="20577"/>
          <ac:spMkLst>
            <pc:docMk/>
            <pc:sldMk cId="1502750081" sldId="401"/>
            <ac:spMk id="3" creationId="{94D70F28-9EA1-CD28-401B-8F1B57BBEEC4}"/>
          </ac:spMkLst>
        </pc:spChg>
        <pc:picChg chg="add mod">
          <ac:chgData name="Sharjeel Khilji" userId="d7c9e5d0-931d-429e-91f4-ab214ce9376a" providerId="ADAL" clId="{48B68879-5A9C-402E-9011-4CECD9838D44}" dt="2025-09-04T09:52:57.750" v="1967" actId="14100"/>
          <ac:picMkLst>
            <pc:docMk/>
            <pc:sldMk cId="1502750081" sldId="401"/>
            <ac:picMk id="7" creationId="{0A234644-96A2-8155-F0F5-BCBEF0140B36}"/>
          </ac:picMkLst>
        </pc:picChg>
      </pc:sldChg>
      <pc:sldChg chg="delSp modSp new mod">
        <pc:chgData name="Sharjeel Khilji" userId="d7c9e5d0-931d-429e-91f4-ab214ce9376a" providerId="ADAL" clId="{48B68879-5A9C-402E-9011-4CECD9838D44}" dt="2025-09-04T10:53:59.581" v="2074" actId="1076"/>
        <pc:sldMkLst>
          <pc:docMk/>
          <pc:sldMk cId="1597863631" sldId="402"/>
        </pc:sldMkLst>
        <pc:spChg chg="mod">
          <ac:chgData name="Sharjeel Khilji" userId="d7c9e5d0-931d-429e-91f4-ab214ce9376a" providerId="ADAL" clId="{48B68879-5A9C-402E-9011-4CECD9838D44}" dt="2025-09-04T10:53:59.581" v="2074" actId="1076"/>
          <ac:spMkLst>
            <pc:docMk/>
            <pc:sldMk cId="1597863631" sldId="402"/>
            <ac:spMk id="3" creationId="{F2092908-6764-CDB3-2E6A-DBA99F4E3136}"/>
          </ac:spMkLst>
        </pc:spChg>
      </pc:sldChg>
      <pc:sldChg chg="addSp delSp modSp new mod">
        <pc:chgData name="Sharjeel Khilji" userId="d7c9e5d0-931d-429e-91f4-ab214ce9376a" providerId="ADAL" clId="{48B68879-5A9C-402E-9011-4CECD9838D44}" dt="2025-09-04T11:33:40.272" v="2135" actId="20577"/>
        <pc:sldMkLst>
          <pc:docMk/>
          <pc:sldMk cId="1514856769" sldId="403"/>
        </pc:sldMkLst>
        <pc:spChg chg="mod">
          <ac:chgData name="Sharjeel Khilji" userId="d7c9e5d0-931d-429e-91f4-ab214ce9376a" providerId="ADAL" clId="{48B68879-5A9C-402E-9011-4CECD9838D44}" dt="2025-09-04T11:33:40.272" v="2135" actId="20577"/>
          <ac:spMkLst>
            <pc:docMk/>
            <pc:sldMk cId="1514856769" sldId="403"/>
            <ac:spMk id="2" creationId="{20D378C6-2561-6985-231D-1A8C418EBDFB}"/>
          </ac:spMkLst>
        </pc:spChg>
        <pc:picChg chg="add mod">
          <ac:chgData name="Sharjeel Khilji" userId="d7c9e5d0-931d-429e-91f4-ab214ce9376a" providerId="ADAL" clId="{48B68879-5A9C-402E-9011-4CECD9838D44}" dt="2025-09-04T11:33:19.516" v="2107" actId="14100"/>
          <ac:picMkLst>
            <pc:docMk/>
            <pc:sldMk cId="1514856769" sldId="403"/>
            <ac:picMk id="9" creationId="{48B0DAA2-AD9B-0440-8596-4A25EDC14136}"/>
          </ac:picMkLst>
        </pc:picChg>
      </pc:sldChg>
      <pc:sldChg chg="addSp delSp modSp new mod">
        <pc:chgData name="Sharjeel Khilji" userId="d7c9e5d0-931d-429e-91f4-ab214ce9376a" providerId="ADAL" clId="{48B68879-5A9C-402E-9011-4CECD9838D44}" dt="2025-09-04T11:34:07.320" v="2143" actId="1076"/>
        <pc:sldMkLst>
          <pc:docMk/>
          <pc:sldMk cId="2407652035" sldId="404"/>
        </pc:sldMkLst>
        <pc:spChg chg="mod">
          <ac:chgData name="Sharjeel Khilji" userId="d7c9e5d0-931d-429e-91f4-ab214ce9376a" providerId="ADAL" clId="{48B68879-5A9C-402E-9011-4CECD9838D44}" dt="2025-09-04T11:33:36.179" v="2134" actId="20577"/>
          <ac:spMkLst>
            <pc:docMk/>
            <pc:sldMk cId="2407652035" sldId="404"/>
            <ac:spMk id="2" creationId="{8315D04A-663E-4E63-FAE0-60B9463ACCA7}"/>
          </ac:spMkLst>
        </pc:spChg>
        <pc:picChg chg="add mod">
          <ac:chgData name="Sharjeel Khilji" userId="d7c9e5d0-931d-429e-91f4-ab214ce9376a" providerId="ADAL" clId="{48B68879-5A9C-402E-9011-4CECD9838D44}" dt="2025-09-04T11:34:07.320" v="2143" actId="1076"/>
          <ac:picMkLst>
            <pc:docMk/>
            <pc:sldMk cId="2407652035" sldId="404"/>
            <ac:picMk id="7" creationId="{1682C97B-9E22-2E99-ED8D-830485B76067}"/>
          </ac:picMkLst>
        </pc:picChg>
      </pc:sldChg>
      <pc:sldChg chg="modSp add mod">
        <pc:chgData name="Sharjeel Khilji" userId="d7c9e5d0-931d-429e-91f4-ab214ce9376a" providerId="ADAL" clId="{48B68879-5A9C-402E-9011-4CECD9838D44}" dt="2025-09-04T12:59:13.823" v="2233" actId="1076"/>
        <pc:sldMkLst>
          <pc:docMk/>
          <pc:sldMk cId="0" sldId="685"/>
        </pc:sldMkLst>
        <pc:spChg chg="mod">
          <ac:chgData name="Sharjeel Khilji" userId="d7c9e5d0-931d-429e-91f4-ab214ce9376a" providerId="ADAL" clId="{48B68879-5A9C-402E-9011-4CECD9838D44}" dt="2025-09-04T12:59:13.823" v="2233" actId="1076"/>
          <ac:spMkLst>
            <pc:docMk/>
            <pc:sldMk cId="0" sldId="685"/>
            <ac:spMk id="1163289" creationId="{A9FD1032-FA00-C97C-281D-A0DD16B13920}"/>
          </ac:spMkLst>
        </pc:spChg>
      </pc:sldChg>
      <pc:sldChg chg="modSp add del mod">
        <pc:chgData name="Sharjeel Khilji" userId="d7c9e5d0-931d-429e-91f4-ab214ce9376a" providerId="ADAL" clId="{48B68879-5A9C-402E-9011-4CECD9838D44}" dt="2025-09-04T12:45:47.952" v="2213" actId="47"/>
        <pc:sldMkLst>
          <pc:docMk/>
          <pc:sldMk cId="0" sldId="686"/>
        </pc:sldMkLst>
      </pc:sldChg>
      <pc:sldChg chg="addSp delSp add del">
        <pc:chgData name="Sharjeel Khilji" userId="d7c9e5d0-931d-429e-91f4-ab214ce9376a" providerId="ADAL" clId="{48B68879-5A9C-402E-9011-4CECD9838D44}" dt="2025-09-04T12:47:40.183" v="2218" actId="47"/>
        <pc:sldMkLst>
          <pc:docMk/>
          <pc:sldMk cId="0" sldId="706"/>
        </pc:sldMkLst>
      </pc:sldChg>
      <pc:sldChg chg="modSp add del mod">
        <pc:chgData name="Sharjeel Khilji" userId="d7c9e5d0-931d-429e-91f4-ab214ce9376a" providerId="ADAL" clId="{48B68879-5A9C-402E-9011-4CECD9838D44}" dt="2025-09-04T12:47:40.183" v="2218" actId="47"/>
        <pc:sldMkLst>
          <pc:docMk/>
          <pc:sldMk cId="0" sldId="707"/>
        </pc:sldMkLst>
      </pc:sldChg>
      <pc:sldChg chg="modSp add mod">
        <pc:chgData name="Sharjeel Khilji" userId="d7c9e5d0-931d-429e-91f4-ab214ce9376a" providerId="ADAL" clId="{48B68879-5A9C-402E-9011-4CECD9838D44}" dt="2025-09-04T12:46:08.546" v="2217" actId="1076"/>
        <pc:sldMkLst>
          <pc:docMk/>
          <pc:sldMk cId="0" sldId="710"/>
        </pc:sldMkLst>
        <pc:spChg chg="mod">
          <ac:chgData name="Sharjeel Khilji" userId="d7c9e5d0-931d-429e-91f4-ab214ce9376a" providerId="ADAL" clId="{48B68879-5A9C-402E-9011-4CECD9838D44}" dt="2025-09-04T12:46:01.157" v="2216" actId="1076"/>
          <ac:spMkLst>
            <pc:docMk/>
            <pc:sldMk cId="0" sldId="710"/>
            <ac:spMk id="1206274" creationId="{18BC1EDE-B9FE-0160-05D2-B1D06725B0C3}"/>
          </ac:spMkLst>
        </pc:spChg>
        <pc:spChg chg="mod">
          <ac:chgData name="Sharjeel Khilji" userId="d7c9e5d0-931d-429e-91f4-ab214ce9376a" providerId="ADAL" clId="{48B68879-5A9C-402E-9011-4CECD9838D44}" dt="2025-09-04T12:46:08.546" v="2217" actId="1076"/>
          <ac:spMkLst>
            <pc:docMk/>
            <pc:sldMk cId="0" sldId="710"/>
            <ac:spMk id="1206285" creationId="{CD99944C-8E81-806E-7A17-FBCEA22C068B}"/>
          </ac:spMkLst>
        </pc:spChg>
      </pc:sldChg>
      <pc:sldChg chg="modSp add mod ord">
        <pc:chgData name="Sharjeel Khilji" userId="d7c9e5d0-931d-429e-91f4-ab214ce9376a" providerId="ADAL" clId="{48B68879-5A9C-402E-9011-4CECD9838D44}" dt="2025-09-04T13:13:58.484" v="2244" actId="20577"/>
        <pc:sldMkLst>
          <pc:docMk/>
          <pc:sldMk cId="0" sldId="712"/>
        </pc:sldMkLst>
        <pc:spChg chg="mod">
          <ac:chgData name="Sharjeel Khilji" userId="d7c9e5d0-931d-429e-91f4-ab214ce9376a" providerId="ADAL" clId="{48B68879-5A9C-402E-9011-4CECD9838D44}" dt="2025-09-04T12:59:25.627" v="2236" actId="1076"/>
          <ac:spMkLst>
            <pc:docMk/>
            <pc:sldMk cId="0" sldId="712"/>
            <ac:spMk id="1208322" creationId="{7CAFBF89-11FE-79F7-7C87-58855D9FA13F}"/>
          </ac:spMkLst>
        </pc:spChg>
        <pc:spChg chg="mod">
          <ac:chgData name="Sharjeel Khilji" userId="d7c9e5d0-931d-429e-91f4-ab214ce9376a" providerId="ADAL" clId="{48B68879-5A9C-402E-9011-4CECD9838D44}" dt="2025-09-04T13:13:58.484" v="2244" actId="20577"/>
          <ac:spMkLst>
            <pc:docMk/>
            <pc:sldMk cId="0" sldId="712"/>
            <ac:spMk id="1208324" creationId="{B13B1EDA-5534-3B5A-7AAD-C64C54D64C50}"/>
          </ac:spMkLst>
        </pc:spChg>
        <pc:spChg chg="mod">
          <ac:chgData name="Sharjeel Khilji" userId="d7c9e5d0-931d-429e-91f4-ab214ce9376a" providerId="ADAL" clId="{48B68879-5A9C-402E-9011-4CECD9838D44}" dt="2025-09-04T13:01:14.789" v="2237" actId="404"/>
          <ac:spMkLst>
            <pc:docMk/>
            <pc:sldMk cId="0" sldId="712"/>
            <ac:spMk id="1208333" creationId="{3D6231DB-003F-7366-6B85-2E3F28C2350B}"/>
          </ac:spMkLst>
        </pc:spChg>
      </pc:sldChg>
      <pc:sldChg chg="modSp add mod">
        <pc:chgData name="Sharjeel Khilji" userId="d7c9e5d0-931d-429e-91f4-ab214ce9376a" providerId="ADAL" clId="{48B68879-5A9C-402E-9011-4CECD9838D44}" dt="2025-09-04T13:01:49.156" v="2240" actId="1076"/>
        <pc:sldMkLst>
          <pc:docMk/>
          <pc:sldMk cId="0" sldId="713"/>
        </pc:sldMkLst>
        <pc:spChg chg="mod">
          <ac:chgData name="Sharjeel Khilji" userId="d7c9e5d0-931d-429e-91f4-ab214ce9376a" providerId="ADAL" clId="{48B68879-5A9C-402E-9011-4CECD9838D44}" dt="2025-09-04T13:01:41.350" v="2239" actId="404"/>
          <ac:spMkLst>
            <pc:docMk/>
            <pc:sldMk cId="0" sldId="713"/>
            <ac:spMk id="1209346" creationId="{AFC04CBD-97FE-7747-91DA-E52FF48462B5}"/>
          </ac:spMkLst>
        </pc:spChg>
        <pc:spChg chg="mod">
          <ac:chgData name="Sharjeel Khilji" userId="d7c9e5d0-931d-429e-91f4-ab214ce9376a" providerId="ADAL" clId="{48B68879-5A9C-402E-9011-4CECD9838D44}" dt="2025-09-04T13:01:49.156" v="2240" actId="1076"/>
          <ac:spMkLst>
            <pc:docMk/>
            <pc:sldMk cId="0" sldId="713"/>
            <ac:spMk id="1209348" creationId="{1A1567FA-45C0-C9E9-72A6-02C556B020D6}"/>
          </ac:spMkLst>
        </pc:spChg>
        <pc:spChg chg="mod">
          <ac:chgData name="Sharjeel Khilji" userId="d7c9e5d0-931d-429e-91f4-ab214ce9376a" providerId="ADAL" clId="{48B68879-5A9C-402E-9011-4CECD9838D44}" dt="2025-09-04T13:01:49.156" v="2240" actId="1076"/>
          <ac:spMkLst>
            <pc:docMk/>
            <pc:sldMk cId="0" sldId="713"/>
            <ac:spMk id="1209349" creationId="{BC03C3F8-5021-784A-9DB4-6737DA1F89AB}"/>
          </ac:spMkLst>
        </pc:spChg>
        <pc:spChg chg="mod">
          <ac:chgData name="Sharjeel Khilji" userId="d7c9e5d0-931d-429e-91f4-ab214ce9376a" providerId="ADAL" clId="{48B68879-5A9C-402E-9011-4CECD9838D44}" dt="2025-09-04T13:01:49.156" v="2240" actId="1076"/>
          <ac:spMkLst>
            <pc:docMk/>
            <pc:sldMk cId="0" sldId="713"/>
            <ac:spMk id="1209351" creationId="{59FD245D-8E18-AAEE-5281-D5DD96B0555C}"/>
          </ac:spMkLst>
        </pc:spChg>
        <pc:spChg chg="mod">
          <ac:chgData name="Sharjeel Khilji" userId="d7c9e5d0-931d-429e-91f4-ab214ce9376a" providerId="ADAL" clId="{48B68879-5A9C-402E-9011-4CECD9838D44}" dt="2025-09-04T13:01:49.156" v="2240" actId="1076"/>
          <ac:spMkLst>
            <pc:docMk/>
            <pc:sldMk cId="0" sldId="713"/>
            <ac:spMk id="1209352" creationId="{ED4A5A08-5121-BCB2-7E19-B7FE3A9F1C92}"/>
          </ac:spMkLst>
        </pc:spChg>
        <pc:spChg chg="mod">
          <ac:chgData name="Sharjeel Khilji" userId="d7c9e5d0-931d-429e-91f4-ab214ce9376a" providerId="ADAL" clId="{48B68879-5A9C-402E-9011-4CECD9838D44}" dt="2025-09-04T13:01:49.156" v="2240" actId="1076"/>
          <ac:spMkLst>
            <pc:docMk/>
            <pc:sldMk cId="0" sldId="713"/>
            <ac:spMk id="1209355" creationId="{5CFBD77B-C2CB-005E-31C6-DB091B997322}"/>
          </ac:spMkLst>
        </pc:spChg>
        <pc:spChg chg="mod">
          <ac:chgData name="Sharjeel Khilji" userId="d7c9e5d0-931d-429e-91f4-ab214ce9376a" providerId="ADAL" clId="{48B68879-5A9C-402E-9011-4CECD9838D44}" dt="2025-09-04T13:01:49.156" v="2240" actId="1076"/>
          <ac:spMkLst>
            <pc:docMk/>
            <pc:sldMk cId="0" sldId="713"/>
            <ac:spMk id="1209356" creationId="{A0F2C996-5B32-645D-5E73-FE5647834BA7}"/>
          </ac:spMkLst>
        </pc:spChg>
        <pc:spChg chg="mod">
          <ac:chgData name="Sharjeel Khilji" userId="d7c9e5d0-931d-429e-91f4-ab214ce9376a" providerId="ADAL" clId="{48B68879-5A9C-402E-9011-4CECD9838D44}" dt="2025-09-04T13:01:49.156" v="2240" actId="1076"/>
          <ac:spMkLst>
            <pc:docMk/>
            <pc:sldMk cId="0" sldId="713"/>
            <ac:spMk id="1209360" creationId="{FE6991D7-B246-73AC-62FA-89B4408A095E}"/>
          </ac:spMkLst>
        </pc:spChg>
        <pc:spChg chg="mod">
          <ac:chgData name="Sharjeel Khilji" userId="d7c9e5d0-931d-429e-91f4-ab214ce9376a" providerId="ADAL" clId="{48B68879-5A9C-402E-9011-4CECD9838D44}" dt="2025-09-04T13:01:49.156" v="2240" actId="1076"/>
          <ac:spMkLst>
            <pc:docMk/>
            <pc:sldMk cId="0" sldId="713"/>
            <ac:spMk id="1209362" creationId="{A91CB9D5-7E35-30D7-818A-9080B908306D}"/>
          </ac:spMkLst>
        </pc:spChg>
        <pc:spChg chg="mod">
          <ac:chgData name="Sharjeel Khilji" userId="d7c9e5d0-931d-429e-91f4-ab214ce9376a" providerId="ADAL" clId="{48B68879-5A9C-402E-9011-4CECD9838D44}" dt="2025-09-04T13:01:49.156" v="2240" actId="1076"/>
          <ac:spMkLst>
            <pc:docMk/>
            <pc:sldMk cId="0" sldId="713"/>
            <ac:spMk id="1209363" creationId="{E72C6F49-E4C8-AC25-0A38-A17AFB4AFCB1}"/>
          </ac:spMkLst>
        </pc:spChg>
        <pc:spChg chg="mod">
          <ac:chgData name="Sharjeel Khilji" userId="d7c9e5d0-931d-429e-91f4-ab214ce9376a" providerId="ADAL" clId="{48B68879-5A9C-402E-9011-4CECD9838D44}" dt="2025-09-04T13:01:49.156" v="2240" actId="1076"/>
          <ac:spMkLst>
            <pc:docMk/>
            <pc:sldMk cId="0" sldId="713"/>
            <ac:spMk id="1209365" creationId="{55E8FB55-26AB-ADC7-FE3A-CD261A9C7230}"/>
          </ac:spMkLst>
        </pc:spChg>
      </pc:sldChg>
      <pc:sldChg chg="modSp add mod">
        <pc:chgData name="Sharjeel Khilji" userId="d7c9e5d0-931d-429e-91f4-ab214ce9376a" providerId="ADAL" clId="{48B68879-5A9C-402E-9011-4CECD9838D44}" dt="2025-09-04T12:49:41.485" v="2231" actId="404"/>
        <pc:sldMkLst>
          <pc:docMk/>
          <pc:sldMk cId="0" sldId="719"/>
        </pc:sldMkLst>
        <pc:spChg chg="mod">
          <ac:chgData name="Sharjeel Khilji" userId="d7c9e5d0-931d-429e-91f4-ab214ce9376a" providerId="ADAL" clId="{48B68879-5A9C-402E-9011-4CECD9838D44}" dt="2025-09-04T12:48:15.310" v="2221" actId="14100"/>
          <ac:spMkLst>
            <pc:docMk/>
            <pc:sldMk cId="0" sldId="719"/>
            <ac:spMk id="1215490" creationId="{5EF1D445-CC3B-AC2C-9694-7738459CF43C}"/>
          </ac:spMkLst>
        </pc:spChg>
        <pc:spChg chg="mod">
          <ac:chgData name="Sharjeel Khilji" userId="d7c9e5d0-931d-429e-91f4-ab214ce9376a" providerId="ADAL" clId="{48B68879-5A9C-402E-9011-4CECD9838D44}" dt="2025-09-04T12:48:21.773" v="2222" actId="1076"/>
          <ac:spMkLst>
            <pc:docMk/>
            <pc:sldMk cId="0" sldId="719"/>
            <ac:spMk id="1215520" creationId="{3B6EFD5D-5B4A-CBCD-4AED-169F12223B80}"/>
          </ac:spMkLst>
        </pc:spChg>
        <pc:spChg chg="mod">
          <ac:chgData name="Sharjeel Khilji" userId="d7c9e5d0-931d-429e-91f4-ab214ce9376a" providerId="ADAL" clId="{48B68879-5A9C-402E-9011-4CECD9838D44}" dt="2025-09-04T12:48:21.773" v="2222" actId="1076"/>
          <ac:spMkLst>
            <pc:docMk/>
            <pc:sldMk cId="0" sldId="719"/>
            <ac:spMk id="1215524" creationId="{51B0E004-C142-4158-D7FA-E99D5C35A45F}"/>
          </ac:spMkLst>
        </pc:spChg>
        <pc:spChg chg="mod">
          <ac:chgData name="Sharjeel Khilji" userId="d7c9e5d0-931d-429e-91f4-ab214ce9376a" providerId="ADAL" clId="{48B68879-5A9C-402E-9011-4CECD9838D44}" dt="2025-09-04T12:48:21.773" v="2222" actId="1076"/>
          <ac:spMkLst>
            <pc:docMk/>
            <pc:sldMk cId="0" sldId="719"/>
            <ac:spMk id="1215525" creationId="{B61DF57D-1852-EFD8-43A0-297F3817A2B4}"/>
          </ac:spMkLst>
        </pc:spChg>
        <pc:spChg chg="mod">
          <ac:chgData name="Sharjeel Khilji" userId="d7c9e5d0-931d-429e-91f4-ab214ce9376a" providerId="ADAL" clId="{48B68879-5A9C-402E-9011-4CECD9838D44}" dt="2025-09-04T12:48:21.773" v="2222" actId="1076"/>
          <ac:spMkLst>
            <pc:docMk/>
            <pc:sldMk cId="0" sldId="719"/>
            <ac:spMk id="1215526" creationId="{47F08B61-0EBC-9B4D-BCA8-36A31D9E8D28}"/>
          </ac:spMkLst>
        </pc:spChg>
        <pc:spChg chg="mod">
          <ac:chgData name="Sharjeel Khilji" userId="d7c9e5d0-931d-429e-91f4-ab214ce9376a" providerId="ADAL" clId="{48B68879-5A9C-402E-9011-4CECD9838D44}" dt="2025-09-04T12:48:21.773" v="2222" actId="1076"/>
          <ac:spMkLst>
            <pc:docMk/>
            <pc:sldMk cId="0" sldId="719"/>
            <ac:spMk id="1215527" creationId="{914A21F6-6513-251C-7147-26BEFBC13BD8}"/>
          </ac:spMkLst>
        </pc:spChg>
        <pc:spChg chg="mod">
          <ac:chgData name="Sharjeel Khilji" userId="d7c9e5d0-931d-429e-91f4-ab214ce9376a" providerId="ADAL" clId="{48B68879-5A9C-402E-9011-4CECD9838D44}" dt="2025-09-04T12:48:21.773" v="2222" actId="1076"/>
          <ac:spMkLst>
            <pc:docMk/>
            <pc:sldMk cId="0" sldId="719"/>
            <ac:spMk id="1215528" creationId="{468524D9-8A42-015C-5BDE-2EC511235C99}"/>
          </ac:spMkLst>
        </pc:spChg>
        <pc:spChg chg="mod">
          <ac:chgData name="Sharjeel Khilji" userId="d7c9e5d0-931d-429e-91f4-ab214ce9376a" providerId="ADAL" clId="{48B68879-5A9C-402E-9011-4CECD9838D44}" dt="2025-09-04T12:48:21.773" v="2222" actId="1076"/>
          <ac:spMkLst>
            <pc:docMk/>
            <pc:sldMk cId="0" sldId="719"/>
            <ac:spMk id="1215529" creationId="{6479CAA1-05C7-408C-649B-73E87BF0C584}"/>
          </ac:spMkLst>
        </pc:spChg>
        <pc:spChg chg="mod">
          <ac:chgData name="Sharjeel Khilji" userId="d7c9e5d0-931d-429e-91f4-ab214ce9376a" providerId="ADAL" clId="{48B68879-5A9C-402E-9011-4CECD9838D44}" dt="2025-09-04T12:48:21.773" v="2222" actId="1076"/>
          <ac:spMkLst>
            <pc:docMk/>
            <pc:sldMk cId="0" sldId="719"/>
            <ac:spMk id="1215530" creationId="{A82E160F-F110-53C7-4EA7-FB0A98ED86CB}"/>
          </ac:spMkLst>
        </pc:spChg>
        <pc:spChg chg="mod">
          <ac:chgData name="Sharjeel Khilji" userId="d7c9e5d0-931d-429e-91f4-ab214ce9376a" providerId="ADAL" clId="{48B68879-5A9C-402E-9011-4CECD9838D44}" dt="2025-09-04T12:48:21.773" v="2222" actId="1076"/>
          <ac:spMkLst>
            <pc:docMk/>
            <pc:sldMk cId="0" sldId="719"/>
            <ac:spMk id="1215531" creationId="{297E2C43-BB30-B0BD-C18D-8A7BB09082C6}"/>
          </ac:spMkLst>
        </pc:spChg>
        <pc:spChg chg="mod">
          <ac:chgData name="Sharjeel Khilji" userId="d7c9e5d0-931d-429e-91f4-ab214ce9376a" providerId="ADAL" clId="{48B68879-5A9C-402E-9011-4CECD9838D44}" dt="2025-09-04T12:49:41.485" v="2231" actId="404"/>
          <ac:spMkLst>
            <pc:docMk/>
            <pc:sldMk cId="0" sldId="719"/>
            <ac:spMk id="1215532" creationId="{5A1CF2FA-C0C2-C8FC-CC91-F394704A7BF1}"/>
          </ac:spMkLst>
        </pc:spChg>
      </pc:sldChg>
      <pc:sldChg chg="modSp new mod">
        <pc:chgData name="Sharjeel Khilji" userId="d7c9e5d0-931d-429e-91f4-ab214ce9376a" providerId="ADAL" clId="{48B68879-5A9C-402E-9011-4CECD9838D44}" dt="2025-09-05T06:32:11.211" v="2339" actId="20577"/>
        <pc:sldMkLst>
          <pc:docMk/>
          <pc:sldMk cId="2235680817" sldId="720"/>
        </pc:sldMkLst>
        <pc:spChg chg="mod">
          <ac:chgData name="Sharjeel Khilji" userId="d7c9e5d0-931d-429e-91f4-ab214ce9376a" providerId="ADAL" clId="{48B68879-5A9C-402E-9011-4CECD9838D44}" dt="2025-09-05T06:22:50.907" v="2279" actId="20577"/>
          <ac:spMkLst>
            <pc:docMk/>
            <pc:sldMk cId="2235680817" sldId="720"/>
            <ac:spMk id="2" creationId="{FEF659B1-33A4-DFE3-62B2-4F83D3D6C916}"/>
          </ac:spMkLst>
        </pc:spChg>
        <pc:spChg chg="mod">
          <ac:chgData name="Sharjeel Khilji" userId="d7c9e5d0-931d-429e-91f4-ab214ce9376a" providerId="ADAL" clId="{48B68879-5A9C-402E-9011-4CECD9838D44}" dt="2025-09-05T06:32:11.211" v="2339" actId="20577"/>
          <ac:spMkLst>
            <pc:docMk/>
            <pc:sldMk cId="2235680817" sldId="720"/>
            <ac:spMk id="3" creationId="{A077A3C5-05C4-24FD-77C8-84C5413AC68F}"/>
          </ac:spMkLst>
        </pc:spChg>
      </pc:sldChg>
      <pc:sldChg chg="modSp add mod">
        <pc:chgData name="Sharjeel Khilji" userId="d7c9e5d0-931d-429e-91f4-ab214ce9376a" providerId="ADAL" clId="{48B68879-5A9C-402E-9011-4CECD9838D44}" dt="2025-09-05T06:32:37.800" v="2341" actId="207"/>
        <pc:sldMkLst>
          <pc:docMk/>
          <pc:sldMk cId="2394088853" sldId="721"/>
        </pc:sldMkLst>
        <pc:spChg chg="mod">
          <ac:chgData name="Sharjeel Khilji" userId="d7c9e5d0-931d-429e-91f4-ab214ce9376a" providerId="ADAL" clId="{48B68879-5A9C-402E-9011-4CECD9838D44}" dt="2025-09-05T06:32:37.800" v="2341" actId="207"/>
          <ac:spMkLst>
            <pc:docMk/>
            <pc:sldMk cId="2394088853" sldId="721"/>
            <ac:spMk id="3" creationId="{8913A6BD-C8D7-C598-8644-38B6D13FA46C}"/>
          </ac:spMkLst>
        </pc:spChg>
      </pc:sldChg>
      <pc:sldChg chg="modSp add mod">
        <pc:chgData name="Sharjeel Khilji" userId="d7c9e5d0-931d-429e-91f4-ab214ce9376a" providerId="ADAL" clId="{48B68879-5A9C-402E-9011-4CECD9838D44}" dt="2025-09-05T06:32:57.009" v="2343" actId="207"/>
        <pc:sldMkLst>
          <pc:docMk/>
          <pc:sldMk cId="2339467727" sldId="722"/>
        </pc:sldMkLst>
        <pc:spChg chg="mod">
          <ac:chgData name="Sharjeel Khilji" userId="d7c9e5d0-931d-429e-91f4-ab214ce9376a" providerId="ADAL" clId="{48B68879-5A9C-402E-9011-4CECD9838D44}" dt="2025-09-05T06:32:57.009" v="2343" actId="207"/>
          <ac:spMkLst>
            <pc:docMk/>
            <pc:sldMk cId="2339467727" sldId="722"/>
            <ac:spMk id="3" creationId="{D4ECE81E-5642-E895-F651-11DC15B43C30}"/>
          </ac:spMkLst>
        </pc:spChg>
      </pc:sldChg>
      <pc:sldChg chg="modSp new mod">
        <pc:chgData name="Sharjeel Khilji" userId="d7c9e5d0-931d-429e-91f4-ab214ce9376a" providerId="ADAL" clId="{48B68879-5A9C-402E-9011-4CECD9838D44}" dt="2025-09-05T06:33:53.220" v="2387" actId="20577"/>
        <pc:sldMkLst>
          <pc:docMk/>
          <pc:sldMk cId="1467681291" sldId="723"/>
        </pc:sldMkLst>
        <pc:spChg chg="mod">
          <ac:chgData name="Sharjeel Khilji" userId="d7c9e5d0-931d-429e-91f4-ab214ce9376a" providerId="ADAL" clId="{48B68879-5A9C-402E-9011-4CECD9838D44}" dt="2025-09-05T06:33:33.513" v="2357" actId="20577"/>
          <ac:spMkLst>
            <pc:docMk/>
            <pc:sldMk cId="1467681291" sldId="723"/>
            <ac:spMk id="2" creationId="{3A355C06-5AF4-B39E-DDAA-29C7E23DF557}"/>
          </ac:spMkLst>
        </pc:spChg>
        <pc:spChg chg="mod">
          <ac:chgData name="Sharjeel Khilji" userId="d7c9e5d0-931d-429e-91f4-ab214ce9376a" providerId="ADAL" clId="{48B68879-5A9C-402E-9011-4CECD9838D44}" dt="2025-09-05T06:33:53.220" v="2387" actId="20577"/>
          <ac:spMkLst>
            <pc:docMk/>
            <pc:sldMk cId="1467681291" sldId="723"/>
            <ac:spMk id="3" creationId="{936C9F0B-BB9A-BCD9-E231-1081B7ACB411}"/>
          </ac:spMkLst>
        </pc:spChg>
      </pc:sldChg>
    </pc:docChg>
  </pc:docChgLst>
  <pc:docChgLst>
    <pc:chgData name="Sharjeel Khilji" userId="d7c9e5d0-931d-429e-91f4-ab214ce9376a" providerId="ADAL" clId="{A4AE5403-6C46-4B1D-8B41-33DFC0FE06D7}"/>
    <pc:docChg chg="custSel addSld modSld sldOrd">
      <pc:chgData name="Sharjeel Khilji" userId="d7c9e5d0-931d-429e-91f4-ab214ce9376a" providerId="ADAL" clId="{A4AE5403-6C46-4B1D-8B41-33DFC0FE06D7}" dt="2025-09-08T10:58:16.322" v="74"/>
      <pc:docMkLst>
        <pc:docMk/>
      </pc:docMkLst>
      <pc:sldChg chg="modSp mod">
        <pc:chgData name="Sharjeel Khilji" userId="d7c9e5d0-931d-429e-91f4-ab214ce9376a" providerId="ADAL" clId="{A4AE5403-6C46-4B1D-8B41-33DFC0FE06D7}" dt="2025-09-08T10:41:31.671" v="66" actId="6549"/>
        <pc:sldMkLst>
          <pc:docMk/>
          <pc:sldMk cId="0" sldId="354"/>
        </pc:sldMkLst>
        <pc:spChg chg="mod">
          <ac:chgData name="Sharjeel Khilji" userId="d7c9e5d0-931d-429e-91f4-ab214ce9376a" providerId="ADAL" clId="{A4AE5403-6C46-4B1D-8B41-33DFC0FE06D7}" dt="2025-09-08T10:41:31.671" v="66" actId="6549"/>
          <ac:spMkLst>
            <pc:docMk/>
            <pc:sldMk cId="0" sldId="354"/>
            <ac:spMk id="1617924" creationId="{00000000-0000-0000-0000-000000000000}"/>
          </ac:spMkLst>
        </pc:spChg>
        <pc:spChg chg="mod">
          <ac:chgData name="Sharjeel Khilji" userId="d7c9e5d0-931d-429e-91f4-ab214ce9376a" providerId="ADAL" clId="{A4AE5403-6C46-4B1D-8B41-33DFC0FE06D7}" dt="2025-09-08T10:41:02.682" v="61" actId="1076"/>
          <ac:spMkLst>
            <pc:docMk/>
            <pc:sldMk cId="0" sldId="354"/>
            <ac:spMk id="1617951" creationId="{00000000-0000-0000-0000-000000000000}"/>
          </ac:spMkLst>
        </pc:spChg>
      </pc:sldChg>
      <pc:sldChg chg="ord">
        <pc:chgData name="Sharjeel Khilji" userId="d7c9e5d0-931d-429e-91f4-ab214ce9376a" providerId="ADAL" clId="{A4AE5403-6C46-4B1D-8B41-33DFC0FE06D7}" dt="2025-09-08T10:58:16.322" v="74"/>
        <pc:sldMkLst>
          <pc:docMk/>
          <pc:sldMk cId="0" sldId="355"/>
        </pc:sldMkLst>
      </pc:sldChg>
      <pc:sldChg chg="modSp">
        <pc:chgData name="Sharjeel Khilji" userId="d7c9e5d0-931d-429e-91f4-ab214ce9376a" providerId="ADAL" clId="{A4AE5403-6C46-4B1D-8B41-33DFC0FE06D7}" dt="2025-09-08T10:12:30.177" v="19" actId="1076"/>
        <pc:sldMkLst>
          <pc:docMk/>
          <pc:sldMk cId="0" sldId="685"/>
        </pc:sldMkLst>
        <pc:spChg chg="mod">
          <ac:chgData name="Sharjeel Khilji" userId="d7c9e5d0-931d-429e-91f4-ab214ce9376a" providerId="ADAL" clId="{A4AE5403-6C46-4B1D-8B41-33DFC0FE06D7}" dt="2025-09-08T10:12:30.177" v="19" actId="1076"/>
          <ac:spMkLst>
            <pc:docMk/>
            <pc:sldMk cId="0" sldId="685"/>
            <ac:spMk id="1163297" creationId="{8D2527E0-1850-2289-E674-4EB925EAE9A9}"/>
          </ac:spMkLst>
        </pc:spChg>
        <pc:spChg chg="mod">
          <ac:chgData name="Sharjeel Khilji" userId="d7c9e5d0-931d-429e-91f4-ab214ce9376a" providerId="ADAL" clId="{A4AE5403-6C46-4B1D-8B41-33DFC0FE06D7}" dt="2025-09-08T10:12:30.177" v="19" actId="1076"/>
          <ac:spMkLst>
            <pc:docMk/>
            <pc:sldMk cId="0" sldId="685"/>
            <ac:spMk id="1163299" creationId="{9EC577B2-96C3-96DD-88F2-1BD5EE287010}"/>
          </ac:spMkLst>
        </pc:spChg>
        <pc:spChg chg="mod">
          <ac:chgData name="Sharjeel Khilji" userId="d7c9e5d0-931d-429e-91f4-ab214ce9376a" providerId="ADAL" clId="{A4AE5403-6C46-4B1D-8B41-33DFC0FE06D7}" dt="2025-09-08T10:12:30.177" v="19" actId="1076"/>
          <ac:spMkLst>
            <pc:docMk/>
            <pc:sldMk cId="0" sldId="685"/>
            <ac:spMk id="1163306" creationId="{D7B7E35B-82ED-43C5-5365-F364F3DFCCDE}"/>
          </ac:spMkLst>
        </pc:spChg>
        <pc:spChg chg="mod">
          <ac:chgData name="Sharjeel Khilji" userId="d7c9e5d0-931d-429e-91f4-ab214ce9376a" providerId="ADAL" clId="{A4AE5403-6C46-4B1D-8B41-33DFC0FE06D7}" dt="2025-09-08T10:12:30.177" v="19" actId="1076"/>
          <ac:spMkLst>
            <pc:docMk/>
            <pc:sldMk cId="0" sldId="685"/>
            <ac:spMk id="1163311" creationId="{D320483B-3D6C-D996-4969-B37E28D76305}"/>
          </ac:spMkLst>
        </pc:spChg>
        <pc:spChg chg="mod">
          <ac:chgData name="Sharjeel Khilji" userId="d7c9e5d0-931d-429e-91f4-ab214ce9376a" providerId="ADAL" clId="{A4AE5403-6C46-4B1D-8B41-33DFC0FE06D7}" dt="2025-09-08T10:12:30.177" v="19" actId="1076"/>
          <ac:spMkLst>
            <pc:docMk/>
            <pc:sldMk cId="0" sldId="685"/>
            <ac:spMk id="1163315" creationId="{AD13F5A9-7146-C723-46B5-0E1C532B3AE6}"/>
          </ac:spMkLst>
        </pc:spChg>
        <pc:spChg chg="mod">
          <ac:chgData name="Sharjeel Khilji" userId="d7c9e5d0-931d-429e-91f4-ab214ce9376a" providerId="ADAL" clId="{A4AE5403-6C46-4B1D-8B41-33DFC0FE06D7}" dt="2025-09-08T10:12:30.177" v="19" actId="1076"/>
          <ac:spMkLst>
            <pc:docMk/>
            <pc:sldMk cId="0" sldId="685"/>
            <ac:spMk id="1163316" creationId="{6D53DA12-4AD0-D56D-8532-3C87FEE45441}"/>
          </ac:spMkLst>
        </pc:spChg>
        <pc:spChg chg="mod">
          <ac:chgData name="Sharjeel Khilji" userId="d7c9e5d0-931d-429e-91f4-ab214ce9376a" providerId="ADAL" clId="{A4AE5403-6C46-4B1D-8B41-33DFC0FE06D7}" dt="2025-09-08T10:12:30.177" v="19" actId="1076"/>
          <ac:spMkLst>
            <pc:docMk/>
            <pc:sldMk cId="0" sldId="685"/>
            <ac:spMk id="1163323" creationId="{4B151B74-4B78-C3BE-F99B-F7425455BF79}"/>
          </ac:spMkLst>
        </pc:spChg>
        <pc:spChg chg="mod">
          <ac:chgData name="Sharjeel Khilji" userId="d7c9e5d0-931d-429e-91f4-ab214ce9376a" providerId="ADAL" clId="{A4AE5403-6C46-4B1D-8B41-33DFC0FE06D7}" dt="2025-09-08T10:12:30.177" v="19" actId="1076"/>
          <ac:spMkLst>
            <pc:docMk/>
            <pc:sldMk cId="0" sldId="685"/>
            <ac:spMk id="1163324" creationId="{9C1057A1-4D54-0420-54A6-49E4263121AC}"/>
          </ac:spMkLst>
        </pc:spChg>
        <pc:spChg chg="mod">
          <ac:chgData name="Sharjeel Khilji" userId="d7c9e5d0-931d-429e-91f4-ab214ce9376a" providerId="ADAL" clId="{A4AE5403-6C46-4B1D-8B41-33DFC0FE06D7}" dt="2025-09-08T10:12:30.177" v="19" actId="1076"/>
          <ac:spMkLst>
            <pc:docMk/>
            <pc:sldMk cId="0" sldId="685"/>
            <ac:spMk id="1163325" creationId="{A5CDD6E3-B4C5-F311-FC03-70A0C1C6EC2E}"/>
          </ac:spMkLst>
        </pc:spChg>
        <pc:spChg chg="mod">
          <ac:chgData name="Sharjeel Khilji" userId="d7c9e5d0-931d-429e-91f4-ab214ce9376a" providerId="ADAL" clId="{A4AE5403-6C46-4B1D-8B41-33DFC0FE06D7}" dt="2025-09-08T10:12:30.177" v="19" actId="1076"/>
          <ac:spMkLst>
            <pc:docMk/>
            <pc:sldMk cId="0" sldId="685"/>
            <ac:spMk id="1163331" creationId="{41370F9D-691A-E9EE-C5E7-E2E535D21BE5}"/>
          </ac:spMkLst>
        </pc:spChg>
      </pc:sldChg>
      <pc:sldChg chg="modSp mod ord">
        <pc:chgData name="Sharjeel Khilji" userId="d7c9e5d0-931d-429e-91f4-ab214ce9376a" providerId="ADAL" clId="{A4AE5403-6C46-4B1D-8B41-33DFC0FE06D7}" dt="2025-09-08T10:58:07.716" v="72"/>
        <pc:sldMkLst>
          <pc:docMk/>
          <pc:sldMk cId="0" sldId="712"/>
        </pc:sldMkLst>
        <pc:spChg chg="mod">
          <ac:chgData name="Sharjeel Khilji" userId="d7c9e5d0-931d-429e-91f4-ab214ce9376a" providerId="ADAL" clId="{A4AE5403-6C46-4B1D-8B41-33DFC0FE06D7}" dt="2025-09-08T10:57:05.966" v="70" actId="6549"/>
          <ac:spMkLst>
            <pc:docMk/>
            <pc:sldMk cId="0" sldId="712"/>
            <ac:spMk id="1208340" creationId="{E7DD6BE5-7122-A142-14E7-1E3D15AF2CF3}"/>
          </ac:spMkLst>
        </pc:spChg>
      </pc:sldChg>
      <pc:sldChg chg="modSp">
        <pc:chgData name="Sharjeel Khilji" userId="d7c9e5d0-931d-429e-91f4-ab214ce9376a" providerId="ADAL" clId="{A4AE5403-6C46-4B1D-8B41-33DFC0FE06D7}" dt="2025-09-08T10:55:36.099" v="68" actId="1076"/>
        <pc:sldMkLst>
          <pc:docMk/>
          <pc:sldMk cId="0" sldId="713"/>
        </pc:sldMkLst>
        <pc:spChg chg="mod">
          <ac:chgData name="Sharjeel Khilji" userId="d7c9e5d0-931d-429e-91f4-ab214ce9376a" providerId="ADAL" clId="{A4AE5403-6C46-4B1D-8B41-33DFC0FE06D7}" dt="2025-09-08T10:55:36.099" v="68" actId="1076"/>
          <ac:spMkLst>
            <pc:docMk/>
            <pc:sldMk cId="0" sldId="713"/>
            <ac:spMk id="1209349" creationId="{BC03C3F8-5021-784A-9DB4-6737DA1F89AB}"/>
          </ac:spMkLst>
        </pc:spChg>
        <pc:spChg chg="mod">
          <ac:chgData name="Sharjeel Khilji" userId="d7c9e5d0-931d-429e-91f4-ab214ce9376a" providerId="ADAL" clId="{A4AE5403-6C46-4B1D-8B41-33DFC0FE06D7}" dt="2025-09-08T10:55:36.099" v="68" actId="1076"/>
          <ac:spMkLst>
            <pc:docMk/>
            <pc:sldMk cId="0" sldId="713"/>
            <ac:spMk id="1209352" creationId="{ED4A5A08-5121-BCB2-7E19-B7FE3A9F1C92}"/>
          </ac:spMkLst>
        </pc:spChg>
        <pc:spChg chg="mod">
          <ac:chgData name="Sharjeel Khilji" userId="d7c9e5d0-931d-429e-91f4-ab214ce9376a" providerId="ADAL" clId="{A4AE5403-6C46-4B1D-8B41-33DFC0FE06D7}" dt="2025-09-08T10:55:36.099" v="68" actId="1076"/>
          <ac:spMkLst>
            <pc:docMk/>
            <pc:sldMk cId="0" sldId="713"/>
            <ac:spMk id="1209353" creationId="{D60C5CDB-3EBD-92C5-6D37-15B3C377D716}"/>
          </ac:spMkLst>
        </pc:spChg>
        <pc:spChg chg="mod">
          <ac:chgData name="Sharjeel Khilji" userId="d7c9e5d0-931d-429e-91f4-ab214ce9376a" providerId="ADAL" clId="{A4AE5403-6C46-4B1D-8B41-33DFC0FE06D7}" dt="2025-09-08T10:55:36.099" v="68" actId="1076"/>
          <ac:spMkLst>
            <pc:docMk/>
            <pc:sldMk cId="0" sldId="713"/>
            <ac:spMk id="1209356" creationId="{A0F2C996-5B32-645D-5E73-FE5647834BA7}"/>
          </ac:spMkLst>
        </pc:spChg>
        <pc:spChg chg="mod">
          <ac:chgData name="Sharjeel Khilji" userId="d7c9e5d0-931d-429e-91f4-ab214ce9376a" providerId="ADAL" clId="{A4AE5403-6C46-4B1D-8B41-33DFC0FE06D7}" dt="2025-09-08T10:55:36.099" v="68" actId="1076"/>
          <ac:spMkLst>
            <pc:docMk/>
            <pc:sldMk cId="0" sldId="713"/>
            <ac:spMk id="1209357" creationId="{2A642A56-5975-38D1-CEA9-7C96D45F477B}"/>
          </ac:spMkLst>
        </pc:spChg>
        <pc:spChg chg="mod">
          <ac:chgData name="Sharjeel Khilji" userId="d7c9e5d0-931d-429e-91f4-ab214ce9376a" providerId="ADAL" clId="{A4AE5403-6C46-4B1D-8B41-33DFC0FE06D7}" dt="2025-09-08T10:55:36.099" v="68" actId="1076"/>
          <ac:spMkLst>
            <pc:docMk/>
            <pc:sldMk cId="0" sldId="713"/>
            <ac:spMk id="1209359" creationId="{2F30D5EE-9284-3049-4F0C-911FD54BDE5E}"/>
          </ac:spMkLst>
        </pc:spChg>
        <pc:spChg chg="mod">
          <ac:chgData name="Sharjeel Khilji" userId="d7c9e5d0-931d-429e-91f4-ab214ce9376a" providerId="ADAL" clId="{A4AE5403-6C46-4B1D-8B41-33DFC0FE06D7}" dt="2025-09-08T10:55:36.099" v="68" actId="1076"/>
          <ac:spMkLst>
            <pc:docMk/>
            <pc:sldMk cId="0" sldId="713"/>
            <ac:spMk id="1209360" creationId="{FE6991D7-B246-73AC-62FA-89B4408A095E}"/>
          </ac:spMkLst>
        </pc:spChg>
        <pc:spChg chg="mod">
          <ac:chgData name="Sharjeel Khilji" userId="d7c9e5d0-931d-429e-91f4-ab214ce9376a" providerId="ADAL" clId="{A4AE5403-6C46-4B1D-8B41-33DFC0FE06D7}" dt="2025-09-08T10:55:36.099" v="68" actId="1076"/>
          <ac:spMkLst>
            <pc:docMk/>
            <pc:sldMk cId="0" sldId="713"/>
            <ac:spMk id="1209361" creationId="{FB268A54-A74E-3D56-D45D-55745C7D257A}"/>
          </ac:spMkLst>
        </pc:spChg>
        <pc:spChg chg="mod">
          <ac:chgData name="Sharjeel Khilji" userId="d7c9e5d0-931d-429e-91f4-ab214ce9376a" providerId="ADAL" clId="{A4AE5403-6C46-4B1D-8B41-33DFC0FE06D7}" dt="2025-09-08T10:55:36.099" v="68" actId="1076"/>
          <ac:spMkLst>
            <pc:docMk/>
            <pc:sldMk cId="0" sldId="713"/>
            <ac:spMk id="1209362" creationId="{A91CB9D5-7E35-30D7-818A-9080B908306D}"/>
          </ac:spMkLst>
        </pc:spChg>
        <pc:spChg chg="mod">
          <ac:chgData name="Sharjeel Khilji" userId="d7c9e5d0-931d-429e-91f4-ab214ce9376a" providerId="ADAL" clId="{A4AE5403-6C46-4B1D-8B41-33DFC0FE06D7}" dt="2025-09-08T10:55:36.099" v="68" actId="1076"/>
          <ac:spMkLst>
            <pc:docMk/>
            <pc:sldMk cId="0" sldId="713"/>
            <ac:spMk id="1209364" creationId="{0A3F6241-8A12-7170-1ED2-ABBEC0740812}"/>
          </ac:spMkLst>
        </pc:spChg>
      </pc:sldChg>
      <pc:sldChg chg="addSp delSp modSp new mod">
        <pc:chgData name="Sharjeel Khilji" userId="d7c9e5d0-931d-429e-91f4-ab214ce9376a" providerId="ADAL" clId="{A4AE5403-6C46-4B1D-8B41-33DFC0FE06D7}" dt="2025-09-08T09:53:20.987" v="18" actId="1076"/>
        <pc:sldMkLst>
          <pc:docMk/>
          <pc:sldMk cId="258313003" sldId="724"/>
        </pc:sldMkLst>
        <pc:spChg chg="mod">
          <ac:chgData name="Sharjeel Khilji" userId="d7c9e5d0-931d-429e-91f4-ab214ce9376a" providerId="ADAL" clId="{A4AE5403-6C46-4B1D-8B41-33DFC0FE06D7}" dt="2025-09-08T09:53:09.445" v="14" actId="20577"/>
          <ac:spMkLst>
            <pc:docMk/>
            <pc:sldMk cId="258313003" sldId="724"/>
            <ac:spMk id="2" creationId="{A1C59882-667D-B2D7-3902-D6B3D8DFE8FF}"/>
          </ac:spMkLst>
        </pc:spChg>
        <pc:spChg chg="del">
          <ac:chgData name="Sharjeel Khilji" userId="d7c9e5d0-931d-429e-91f4-ab214ce9376a" providerId="ADAL" clId="{A4AE5403-6C46-4B1D-8B41-33DFC0FE06D7}" dt="2025-09-08T09:53:13.499" v="15" actId="478"/>
          <ac:spMkLst>
            <pc:docMk/>
            <pc:sldMk cId="258313003" sldId="724"/>
            <ac:spMk id="3" creationId="{7BC17653-2099-B41A-1D15-211F0A7E5EC1}"/>
          </ac:spMkLst>
        </pc:spChg>
        <pc:picChg chg="add mod">
          <ac:chgData name="Sharjeel Khilji" userId="d7c9e5d0-931d-429e-91f4-ab214ce9376a" providerId="ADAL" clId="{A4AE5403-6C46-4B1D-8B41-33DFC0FE06D7}" dt="2025-09-08T09:53:20.987" v="18" actId="1076"/>
          <ac:picMkLst>
            <pc:docMk/>
            <pc:sldMk cId="258313003" sldId="724"/>
            <ac:picMk id="7" creationId="{E039C7D9-115D-A953-47BB-6126F0C10904}"/>
          </ac:picMkLst>
        </pc:picChg>
      </pc:sldChg>
      <pc:sldChg chg="addSp delSp modSp new mod">
        <pc:chgData name="Sharjeel Khilji" userId="d7c9e5d0-931d-429e-91f4-ab214ce9376a" providerId="ADAL" clId="{A4AE5403-6C46-4B1D-8B41-33DFC0FE06D7}" dt="2025-09-08T10:35:51.834" v="60" actId="20577"/>
        <pc:sldMkLst>
          <pc:docMk/>
          <pc:sldMk cId="1942227127" sldId="725"/>
        </pc:sldMkLst>
        <pc:spChg chg="mod">
          <ac:chgData name="Sharjeel Khilji" userId="d7c9e5d0-931d-429e-91f4-ab214ce9376a" providerId="ADAL" clId="{A4AE5403-6C46-4B1D-8B41-33DFC0FE06D7}" dt="2025-09-08T10:35:51.834" v="60" actId="20577"/>
          <ac:spMkLst>
            <pc:docMk/>
            <pc:sldMk cId="1942227127" sldId="725"/>
            <ac:spMk id="2" creationId="{3333ADB8-9631-D986-9704-B908393EB06E}"/>
          </ac:spMkLst>
        </pc:spChg>
        <pc:spChg chg="del">
          <ac:chgData name="Sharjeel Khilji" userId="d7c9e5d0-931d-429e-91f4-ab214ce9376a" providerId="ADAL" clId="{A4AE5403-6C46-4B1D-8B41-33DFC0FE06D7}" dt="2025-09-08T10:34:43.182" v="24" actId="478"/>
          <ac:spMkLst>
            <pc:docMk/>
            <pc:sldMk cId="1942227127" sldId="725"/>
            <ac:spMk id="3" creationId="{07FA3E4E-AD6E-CEE1-572E-47C3435CFF88}"/>
          </ac:spMkLst>
        </pc:spChg>
        <pc:picChg chg="add mod">
          <ac:chgData name="Sharjeel Khilji" userId="d7c9e5d0-931d-429e-91f4-ab214ce9376a" providerId="ADAL" clId="{A4AE5403-6C46-4B1D-8B41-33DFC0FE06D7}" dt="2025-09-08T10:34:53.358" v="28" actId="1076"/>
          <ac:picMkLst>
            <pc:docMk/>
            <pc:sldMk cId="1942227127" sldId="725"/>
            <ac:picMk id="7" creationId="{CCB2B91D-F905-163B-F335-58680DFFC45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694" cy="512646"/>
          </a:xfrm>
          <a:prstGeom prst="rect">
            <a:avLst/>
          </a:prstGeom>
        </p:spPr>
        <p:txBody>
          <a:bodyPr vert="horz" lIns="100179" tIns="50090" rIns="100179" bIns="5009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quarter" idx="1"/>
          </p:nvPr>
        </p:nvSpPr>
        <p:spPr>
          <a:xfrm>
            <a:off x="4021505" y="0"/>
            <a:ext cx="3076694" cy="512646"/>
          </a:xfrm>
          <a:prstGeom prst="rect">
            <a:avLst/>
          </a:prstGeom>
        </p:spPr>
        <p:txBody>
          <a:bodyPr vert="horz" lIns="100179" tIns="50090" rIns="100179" bIns="5009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 smtClean="0">
                <a:latin typeface="+mn-lt"/>
              </a:defRPr>
            </a:lvl1pPr>
          </a:lstStyle>
          <a:p>
            <a:pPr>
              <a:defRPr/>
            </a:pPr>
            <a:fld id="{20F03AD3-9EDF-4B63-B2AA-0C2872CCD88C}" type="datetimeFigureOut">
              <a:rPr lang="en-US"/>
              <a:pPr>
                <a:defRPr/>
              </a:pPr>
              <a:t>9/8/2025</a:t>
            </a:fld>
            <a:endParaRPr lang="en-US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2"/>
          </p:nvPr>
        </p:nvSpPr>
        <p:spPr>
          <a:xfrm>
            <a:off x="0" y="9721968"/>
            <a:ext cx="3076694" cy="510358"/>
          </a:xfrm>
          <a:prstGeom prst="rect">
            <a:avLst/>
          </a:prstGeom>
        </p:spPr>
        <p:txBody>
          <a:bodyPr vert="horz" lIns="100179" tIns="50090" rIns="100179" bIns="5009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3"/>
          </p:nvPr>
        </p:nvSpPr>
        <p:spPr>
          <a:xfrm>
            <a:off x="4021505" y="9721968"/>
            <a:ext cx="3076694" cy="510358"/>
          </a:xfrm>
          <a:prstGeom prst="rect">
            <a:avLst/>
          </a:prstGeom>
        </p:spPr>
        <p:txBody>
          <a:bodyPr vert="horz" lIns="100179" tIns="50090" rIns="100179" bIns="5009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 smtClean="0">
                <a:latin typeface="+mn-lt"/>
              </a:defRPr>
            </a:lvl1pPr>
          </a:lstStyle>
          <a:p>
            <a:pPr>
              <a:defRPr/>
            </a:pPr>
            <a:fld id="{5B7EDD60-A5F5-4C2B-985C-2A0350A9C2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063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694" cy="512646"/>
          </a:xfrm>
          <a:prstGeom prst="rect">
            <a:avLst/>
          </a:prstGeom>
        </p:spPr>
        <p:txBody>
          <a:bodyPr vert="horz" lIns="100179" tIns="50090" rIns="100179" bIns="5009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4021505" y="0"/>
            <a:ext cx="3076694" cy="512646"/>
          </a:xfrm>
          <a:prstGeom prst="rect">
            <a:avLst/>
          </a:prstGeom>
        </p:spPr>
        <p:txBody>
          <a:bodyPr vert="horz" lIns="100179" tIns="50090" rIns="100179" bIns="5009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 smtClean="0">
                <a:latin typeface="+mn-lt"/>
              </a:defRPr>
            </a:lvl1pPr>
          </a:lstStyle>
          <a:p>
            <a:pPr>
              <a:defRPr/>
            </a:pPr>
            <a:fld id="{B8966A15-D1F4-4B4D-A49B-D4C3A45EDE9C}" type="datetimeFigureOut">
              <a:rPr lang="en-US"/>
              <a:pPr>
                <a:defRPr/>
              </a:pPr>
              <a:t>9/8/2025</a:t>
            </a:fld>
            <a:endParaRPr lang="en-US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0179" tIns="50090" rIns="100179" bIns="50090" rtlCol="0" anchor="ctr"/>
          <a:lstStyle/>
          <a:p>
            <a:pPr lvl="0"/>
            <a:endParaRPr lang="en-US" noProof="0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710261" y="4860983"/>
            <a:ext cx="5678779" cy="4606950"/>
          </a:xfrm>
          <a:prstGeom prst="rect">
            <a:avLst/>
          </a:prstGeom>
        </p:spPr>
        <p:txBody>
          <a:bodyPr vert="horz" lIns="100179" tIns="50090" rIns="100179" bIns="50090" rtlCol="0">
            <a:normAutofit/>
          </a:bodyPr>
          <a:lstStyle/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US" noProof="0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9721968"/>
            <a:ext cx="3076694" cy="510358"/>
          </a:xfrm>
          <a:prstGeom prst="rect">
            <a:avLst/>
          </a:prstGeom>
        </p:spPr>
        <p:txBody>
          <a:bodyPr vert="horz" lIns="100179" tIns="50090" rIns="100179" bIns="5009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4021505" y="9721968"/>
            <a:ext cx="3076694" cy="510358"/>
          </a:xfrm>
          <a:prstGeom prst="rect">
            <a:avLst/>
          </a:prstGeom>
        </p:spPr>
        <p:txBody>
          <a:bodyPr vert="horz" lIns="100179" tIns="50090" rIns="100179" bIns="5009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 smtClean="0">
                <a:latin typeface="+mn-lt"/>
              </a:defRPr>
            </a:lvl1pPr>
          </a:lstStyle>
          <a:p>
            <a:pPr>
              <a:defRPr/>
            </a:pPr>
            <a:fld id="{176D7977-68D1-4252-9F88-452108E30D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038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B58EE1-150D-7C49-A34F-690C4D6CDB04}" type="slidenum">
              <a:rPr lang="en-US"/>
              <a:pPr/>
              <a:t>3</a:t>
            </a:fld>
            <a:endParaRPr lang="en-US"/>
          </a:p>
        </p:txBody>
      </p:sp>
      <p:sp>
        <p:nvSpPr>
          <p:cNvPr id="141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3300" y="776288"/>
            <a:ext cx="5092700" cy="38211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12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7499" y="4860089"/>
            <a:ext cx="5204305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r>
              <a:rPr lang="en-US" dirty="0">
                <a:latin typeface="Times-Roman" charset="0"/>
              </a:rPr>
              <a:t>Early machines had things like mercury delay lines (</a:t>
            </a:r>
            <a:r>
              <a:rPr lang="en-US" dirty="0" err="1">
                <a:latin typeface="Times-Roman" charset="0"/>
              </a:rPr>
              <a:t>jse</a:t>
            </a:r>
            <a:r>
              <a:rPr lang="en-US" dirty="0">
                <a:latin typeface="Times-Roman" charset="0"/>
              </a:rPr>
              <a:t>)</a:t>
            </a:r>
          </a:p>
          <a:p>
            <a:r>
              <a:rPr lang="en-US" dirty="0">
                <a:latin typeface="Times-Roman" charset="0"/>
              </a:rPr>
              <a:t>Photo from David Gesswein </a:t>
            </a:r>
            <a:r>
              <a:rPr lang="en-US" dirty="0">
                <a:solidFill>
                  <a:srgbClr val="0000EE"/>
                </a:solidFill>
                <a:latin typeface="Times-Roman" charset="0"/>
              </a:rPr>
              <a:t>djg@pdp8.net</a:t>
            </a:r>
          </a:p>
        </p:txBody>
      </p:sp>
    </p:spTree>
    <p:extLst>
      <p:ext uri="{BB962C8B-B14F-4D97-AF65-F5344CB8AC3E}">
        <p14:creationId xmlns:p14="http://schemas.microsoft.com/office/powerpoint/2010/main" val="2918655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D62F2D-FA58-AB42-9D7B-855CCBA2322C}" type="slidenum">
              <a:rPr lang="en-US"/>
              <a:pPr/>
              <a:t>5</a:t>
            </a:fld>
            <a:endParaRPr lang="en-US"/>
          </a:p>
        </p:txBody>
      </p:sp>
      <p:sp>
        <p:nvSpPr>
          <p:cNvPr id="146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85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2B19C0-4737-BF44-93F4-B9B875658A6A}" type="slidenum">
              <a:rPr lang="en-US"/>
              <a:pPr/>
              <a:t>6</a:t>
            </a:fld>
            <a:endParaRPr lang="en-US"/>
          </a:p>
        </p:txBody>
      </p:sp>
      <p:sp>
        <p:nvSpPr>
          <p:cNvPr id="1460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0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116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041A85-5294-8D41-A2B1-AB6CB46010AA}" type="slidenum">
              <a:rPr lang="en-US"/>
              <a:pPr/>
              <a:t>7</a:t>
            </a:fld>
            <a:endParaRPr lang="en-US"/>
          </a:p>
        </p:txBody>
      </p:sp>
      <p:sp>
        <p:nvSpPr>
          <p:cNvPr id="141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18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r>
              <a:rPr lang="en-US"/>
              <a:t>Use RAS/CAS to reduce average latency.</a:t>
            </a:r>
          </a:p>
        </p:txBody>
      </p:sp>
    </p:spTree>
    <p:extLst>
      <p:ext uri="{BB962C8B-B14F-4D97-AF65-F5344CB8AC3E}">
        <p14:creationId xmlns:p14="http://schemas.microsoft.com/office/powerpoint/2010/main" val="2403415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708045-81A1-B648-AAB6-35995F3CCACE}" type="slidenum">
              <a:rPr lang="en-US"/>
              <a:pPr/>
              <a:t>8</a:t>
            </a:fld>
            <a:endParaRPr lang="en-US"/>
          </a:p>
        </p:txBody>
      </p:sp>
      <p:sp>
        <p:nvSpPr>
          <p:cNvPr id="146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506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BC828D-0AD0-4DB5-9474-145D505CF3A2}" type="slidenum">
              <a:rPr lang="en-US"/>
              <a:pPr/>
              <a:t>10</a:t>
            </a:fld>
            <a:endParaRPr lang="en-US"/>
          </a:p>
        </p:txBody>
      </p:sp>
      <p:sp>
        <p:nvSpPr>
          <p:cNvPr id="10813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37311" y="4560570"/>
            <a:ext cx="4564380" cy="4322763"/>
          </a:xfrm>
          <a:ln/>
        </p:spPr>
        <p:txBody>
          <a:bodyPr lIns="95643" tIns="46982" rIns="95643" bIns="46982"/>
          <a:lstStyle/>
          <a:p>
            <a:endParaRPr lang="en-US"/>
          </a:p>
        </p:txBody>
      </p:sp>
      <p:sp>
        <p:nvSpPr>
          <p:cNvPr id="108134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19138"/>
            <a:ext cx="4800600" cy="3602037"/>
          </a:xfrm>
          <a:ln cap="flat"/>
        </p:spPr>
      </p:sp>
    </p:spTree>
    <p:extLst>
      <p:ext uri="{BB962C8B-B14F-4D97-AF65-F5344CB8AC3E}">
        <p14:creationId xmlns:p14="http://schemas.microsoft.com/office/powerpoint/2010/main" val="2483656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5B4D7C-05F8-E746-BCB7-00CAD162DF8F}" type="slidenum">
              <a:rPr lang="en-US"/>
              <a:pPr/>
              <a:t>12</a:t>
            </a:fld>
            <a:endParaRPr lang="en-US"/>
          </a:p>
        </p:txBody>
      </p:sp>
      <p:sp>
        <p:nvSpPr>
          <p:cNvPr id="141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10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434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D2B161-8397-9A4F-8916-FEA3F11FAB3E}" type="slidenum">
              <a:rPr lang="en-US"/>
              <a:pPr/>
              <a:t>14</a:t>
            </a:fld>
            <a:endParaRPr lang="en-US"/>
          </a:p>
        </p:txBody>
      </p:sp>
      <p:sp>
        <p:nvSpPr>
          <p:cNvPr id="142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3300" y="776288"/>
            <a:ext cx="5091113" cy="38195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74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5959" y="4858396"/>
            <a:ext cx="5205845" cy="46079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118" tIns="47558" rIns="95118" bIns="47558">
            <a:prstTxWarp prst="textNoShape">
              <a:avLst/>
            </a:prstTxWarp>
          </a:bodyPr>
          <a:lstStyle/>
          <a:p>
            <a:r>
              <a:rPr lang="en-US"/>
              <a:t>Due to cost</a:t>
            </a:r>
          </a:p>
          <a:p>
            <a:r>
              <a:rPr lang="en-US"/>
              <a:t>Due to size of DRAM</a:t>
            </a:r>
          </a:p>
          <a:p>
            <a:r>
              <a:rPr lang="en-US"/>
              <a:t>Due to cost and wire delays (wires on-chip cost much less, and are faster)</a:t>
            </a:r>
          </a:p>
        </p:txBody>
      </p:sp>
    </p:spTree>
    <p:extLst>
      <p:ext uri="{BB962C8B-B14F-4D97-AF65-F5344CB8AC3E}">
        <p14:creationId xmlns:p14="http://schemas.microsoft.com/office/powerpoint/2010/main" val="693210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08464A-7152-A545-983D-9A2D6980091E}" type="slidenum">
              <a:rPr lang="en-US"/>
              <a:pPr/>
              <a:t>15</a:t>
            </a:fld>
            <a:endParaRPr lang="en-US"/>
          </a:p>
        </p:txBody>
      </p:sp>
      <p:sp>
        <p:nvSpPr>
          <p:cNvPr id="1278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8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285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825CFD-D3AC-4030-9113-EE404FAA1C41}" type="slidenum">
              <a:rPr lang="en-US"/>
              <a:pPr/>
              <a:t>17</a:t>
            </a:fld>
            <a:endParaRPr lang="en-US"/>
          </a:p>
        </p:txBody>
      </p:sp>
      <p:sp>
        <p:nvSpPr>
          <p:cNvPr id="10833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37311" y="4560570"/>
            <a:ext cx="4564380" cy="4322763"/>
          </a:xfrm>
          <a:noFill/>
          <a:ln/>
        </p:spPr>
        <p:txBody>
          <a:bodyPr lIns="95643" tIns="46982" rIns="95643" bIns="46982">
            <a:normAutofit fontScale="92500" lnSpcReduction="10000"/>
          </a:bodyPr>
          <a:lstStyle/>
          <a:p>
            <a:r>
              <a:rPr lang="en-US"/>
              <a:t>The principle of locality states that programs access a relatively small portion of the address space at  any instant of time.</a:t>
            </a:r>
          </a:p>
          <a:p>
            <a:r>
              <a:rPr lang="en-US"/>
              <a:t>This is kind of like in real life, we all have a lot of friends.  But at any given time most of us can  only  keep in touch with a small group of them.</a:t>
            </a:r>
          </a:p>
          <a:p>
            <a:r>
              <a:rPr lang="en-US"/>
              <a:t>There are two different types of locality: Temporal and Spatial. Temporal locality is the locality in time  which says if an item is referenced, it  will tend to be referenced again soon.</a:t>
            </a:r>
          </a:p>
          <a:p>
            <a:r>
              <a:rPr lang="en-US"/>
              <a:t>This is like saying if you just talk to one of your friends, it is likely that you will talk to him or her again soon.</a:t>
            </a:r>
          </a:p>
          <a:p>
            <a:r>
              <a:rPr lang="en-US"/>
              <a:t>This makes sense. For example, if you just have lunch with a friend, you may say, let’s go to the ball game this Sunday.  So you will talk to him again soon.</a:t>
            </a:r>
          </a:p>
          <a:p>
            <a:r>
              <a:rPr lang="en-US"/>
              <a:t>Spatial locality is the locality in space.  It says if an item is referenced, items whose addresses are close by tend to be referenced soon.</a:t>
            </a:r>
          </a:p>
          <a:p>
            <a:r>
              <a:rPr lang="en-US"/>
              <a:t>Once again, using our analogy.  We can usually divide our friends into groups.  Like friends from high school, friends from work, friends from home.</a:t>
            </a:r>
          </a:p>
          <a:p>
            <a:r>
              <a:rPr lang="en-US"/>
              <a:t>Let’s say you just talk to one of your friends from high school and she may say something like: “So did you hear so and so just won the lottery.”</a:t>
            </a:r>
          </a:p>
          <a:p>
            <a:r>
              <a:rPr lang="en-US"/>
              <a:t>You probably will say NO, I better give him a call and find out more.</a:t>
            </a:r>
          </a:p>
          <a:p>
            <a:r>
              <a:rPr lang="en-US"/>
              <a:t>So this is an example of spatial locality.  You just talked to a friend from your high school days.  As a result, you end up talking to another high school friend.  Or at least in this case, you hope he still remember you are his friend.</a:t>
            </a:r>
          </a:p>
          <a:p>
            <a:endParaRPr lang="en-US"/>
          </a:p>
          <a:p>
            <a:r>
              <a:rPr lang="en-US"/>
              <a:t>+3 = 10 min. (X:50)</a:t>
            </a:r>
          </a:p>
        </p:txBody>
      </p:sp>
      <p:sp>
        <p:nvSpPr>
          <p:cNvPr id="108339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19138"/>
            <a:ext cx="4800600" cy="3602037"/>
          </a:xfrm>
          <a:ln cap="flat"/>
        </p:spPr>
      </p:sp>
    </p:spTree>
    <p:extLst>
      <p:ext uri="{BB962C8B-B14F-4D97-AF65-F5344CB8AC3E}">
        <p14:creationId xmlns:p14="http://schemas.microsoft.com/office/powerpoint/2010/main" val="3013238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016773-5073-443D-AEB9-E69B71031837}" type="slidenum">
              <a:rPr lang="en-US"/>
              <a:pPr/>
              <a:t>20</a:t>
            </a:fld>
            <a:endParaRPr lang="en-US"/>
          </a:p>
        </p:txBody>
      </p:sp>
      <p:sp>
        <p:nvSpPr>
          <p:cNvPr id="10874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37311" y="4560570"/>
            <a:ext cx="4564380" cy="4322763"/>
          </a:xfrm>
          <a:noFill/>
          <a:ln/>
        </p:spPr>
        <p:txBody>
          <a:bodyPr lIns="95643" tIns="46982" rIns="95643" bIns="46982">
            <a:normAutofit fontScale="92500"/>
          </a:bodyPr>
          <a:lstStyle/>
          <a:p>
            <a:r>
              <a:rPr lang="en-US" dirty="0"/>
              <a:t>A HIT is when the data the processor wants to access is found in the upper level (Blk X).</a:t>
            </a:r>
          </a:p>
          <a:p>
            <a:r>
              <a:rPr lang="en-US" dirty="0"/>
              <a:t>The fraction of the memory access that are HIT is defined as HIT rate.</a:t>
            </a:r>
          </a:p>
          <a:p>
            <a:r>
              <a:rPr lang="en-US" dirty="0"/>
              <a:t>HIT Time is the time to access the Upper Level where the data is found (X).  It consists of:</a:t>
            </a:r>
          </a:p>
          <a:p>
            <a:r>
              <a:rPr lang="en-US" dirty="0"/>
              <a:t>(a) Time to access this level.</a:t>
            </a:r>
          </a:p>
          <a:p>
            <a:r>
              <a:rPr lang="en-US" dirty="0"/>
              <a:t>(b) AND the time to determine if this is a Hit or Miss.</a:t>
            </a:r>
          </a:p>
          <a:p>
            <a:r>
              <a:rPr lang="en-US" dirty="0"/>
              <a:t>If the data the processor wants cannot be found in the Upper level.  Then we have a miss and we need to retrieve the data (Blk Y) from the lower level.</a:t>
            </a:r>
          </a:p>
          <a:p>
            <a:r>
              <a:rPr lang="en-US" dirty="0"/>
              <a:t>By definition (definition of Hit: Fraction), the miss rate is just 1 minus the hit rate.</a:t>
            </a:r>
          </a:p>
          <a:p>
            <a:r>
              <a:rPr lang="en-US" dirty="0"/>
              <a:t>This miss penalty also consists of two parts:</a:t>
            </a:r>
          </a:p>
          <a:p>
            <a:r>
              <a:rPr lang="en-US" dirty="0"/>
              <a:t>(a) The time it takes to replace a block (Blk Y to </a:t>
            </a:r>
            <a:r>
              <a:rPr lang="en-US" dirty="0" err="1"/>
              <a:t>BlkX</a:t>
            </a:r>
            <a:r>
              <a:rPr lang="en-US" dirty="0"/>
              <a:t>) in the upper level.</a:t>
            </a:r>
          </a:p>
          <a:p>
            <a:r>
              <a:rPr lang="en-US" dirty="0"/>
              <a:t>(b) And then the time it takes to deliver this new block to the processor.</a:t>
            </a:r>
          </a:p>
          <a:p>
            <a:r>
              <a:rPr lang="en-US" dirty="0"/>
              <a:t>It is very important that your Hit Time to be much </a:t>
            </a:r>
            <a:r>
              <a:rPr lang="en-US" dirty="0" err="1"/>
              <a:t>much</a:t>
            </a:r>
            <a:r>
              <a:rPr lang="en-US" dirty="0"/>
              <a:t> smaller than your miss penalty.  Otherwise, there will be no reason to build a memory hierarchy.</a:t>
            </a:r>
          </a:p>
          <a:p>
            <a:endParaRPr lang="en-US" dirty="0"/>
          </a:p>
          <a:p>
            <a:r>
              <a:rPr lang="en-US" dirty="0"/>
              <a:t>+2 = 14 min. (X:54)</a:t>
            </a:r>
          </a:p>
          <a:p>
            <a:endParaRPr lang="en-US" dirty="0"/>
          </a:p>
        </p:txBody>
      </p:sp>
      <p:sp>
        <p:nvSpPr>
          <p:cNvPr id="108749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19138"/>
            <a:ext cx="4800600" cy="3602037"/>
          </a:xfrm>
          <a:ln cap="flat"/>
        </p:spPr>
      </p:sp>
    </p:spTree>
    <p:extLst>
      <p:ext uri="{BB962C8B-B14F-4D97-AF65-F5344CB8AC3E}">
        <p14:creationId xmlns:p14="http://schemas.microsoft.com/office/powerpoint/2010/main" val="968536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1068F9-B6B0-4897-8514-78EB91B9DEA5}" type="slidenum">
              <a:rPr lang="en-US"/>
              <a:pPr/>
              <a:t>23</a:t>
            </a:fld>
            <a:endParaRPr lang="en-US"/>
          </a:p>
        </p:txBody>
      </p:sp>
      <p:sp>
        <p:nvSpPr>
          <p:cNvPr id="1091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1091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901" y="4560570"/>
            <a:ext cx="5359400" cy="4322763"/>
          </a:xfrm>
        </p:spPr>
        <p:txBody>
          <a:bodyPr/>
          <a:lstStyle/>
          <a:p>
            <a:r>
              <a:rPr lang="en-US" dirty="0"/>
              <a:t>Simplest scheme is to extract bits from ‘block number’ to determine ‘set’ (</a:t>
            </a:r>
            <a:r>
              <a:rPr lang="en-US" dirty="0" err="1"/>
              <a:t>jse</a:t>
            </a:r>
            <a:r>
              <a:rPr lang="en-US" dirty="0"/>
              <a:t>)</a:t>
            </a:r>
          </a:p>
          <a:p>
            <a:r>
              <a:rPr lang="en-US" dirty="0"/>
              <a:t>More sophisticated schemes will hash the block number ---- why could that be good/bad?</a:t>
            </a:r>
          </a:p>
        </p:txBody>
      </p:sp>
    </p:spTree>
    <p:extLst>
      <p:ext uri="{BB962C8B-B14F-4D97-AF65-F5344CB8AC3E}">
        <p14:creationId xmlns:p14="http://schemas.microsoft.com/office/powerpoint/2010/main" val="1057535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EFEB6D-6EAB-450C-8C0C-0B000CDE0523}" type="slidenum">
              <a:rPr lang="en-US"/>
              <a:pPr/>
              <a:t>29</a:t>
            </a:fld>
            <a:endParaRPr lang="en-US"/>
          </a:p>
        </p:txBody>
      </p:sp>
      <p:sp>
        <p:nvSpPr>
          <p:cNvPr id="1098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76787" cy="3584575"/>
          </a:xfrm>
          <a:ln/>
        </p:spPr>
      </p:sp>
      <p:sp>
        <p:nvSpPr>
          <p:cNvPr id="1098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5360" y="4556127"/>
            <a:ext cx="5363211" cy="4324985"/>
          </a:xfrm>
        </p:spPr>
        <p:txBody>
          <a:bodyPr lIns="95109" tIns="47554" rIns="95109" bIns="47554"/>
          <a:lstStyle/>
          <a:p>
            <a:r>
              <a:rPr lang="en-US" dirty="0"/>
              <a:t>Larger block size will reduce compulsory misses (first miss to a block).</a:t>
            </a:r>
          </a:p>
          <a:p>
            <a:r>
              <a:rPr lang="en-US" dirty="0"/>
              <a:t>Larger blocks may increase conflict misses since the number of blocks</a:t>
            </a:r>
          </a:p>
          <a:p>
            <a:r>
              <a:rPr lang="en-US" dirty="0"/>
              <a:t>is smaller.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2134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1F1880-39F3-B849-9762-40EB0B75D7A1}" type="slidenum">
              <a:rPr lang="en-US"/>
              <a:pPr/>
              <a:t>33</a:t>
            </a:fld>
            <a:endParaRPr lang="en-US"/>
          </a:p>
        </p:txBody>
      </p:sp>
      <p:sp>
        <p:nvSpPr>
          <p:cNvPr id="1543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3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8483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879CAB-0025-594F-A5CE-91DD953A6AA4}" type="slidenum">
              <a:rPr lang="en-US"/>
              <a:pPr/>
              <a:t>35</a:t>
            </a:fld>
            <a:endParaRPr lang="en-US"/>
          </a:p>
        </p:txBody>
      </p:sp>
      <p:sp>
        <p:nvSpPr>
          <p:cNvPr id="148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817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r>
              <a:rPr lang="en-US"/>
              <a:t>How are writes to istream handled?</a:t>
            </a:r>
          </a:p>
        </p:txBody>
      </p:sp>
    </p:spTree>
    <p:extLst>
      <p:ext uri="{BB962C8B-B14F-4D97-AF65-F5344CB8AC3E}">
        <p14:creationId xmlns:p14="http://schemas.microsoft.com/office/powerpoint/2010/main" val="2039505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00DFD0-9B15-5D41-B709-180819A9C591}" type="slidenum">
              <a:rPr lang="en-US"/>
              <a:pPr/>
              <a:t>36</a:t>
            </a:fld>
            <a:endParaRPr lang="en-US"/>
          </a:p>
        </p:txBody>
      </p:sp>
      <p:sp>
        <p:nvSpPr>
          <p:cNvPr id="148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3300" y="776288"/>
            <a:ext cx="5091113" cy="38195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837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5959" y="4858396"/>
            <a:ext cx="5205845" cy="46079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118" tIns="47558" rIns="95118" bIns="47558">
            <a:prstTxWarp prst="textNoShape">
              <a:avLst/>
            </a:prstTxWarp>
          </a:bodyPr>
          <a:lstStyle/>
          <a:p>
            <a:r>
              <a:rPr lang="en-US"/>
              <a:t>Design the largest primary cache without slowing down the clock</a:t>
            </a:r>
          </a:p>
          <a:p>
            <a:r>
              <a:rPr lang="en-US"/>
              <a:t>Or adding pipeline stages.</a:t>
            </a:r>
          </a:p>
        </p:txBody>
      </p:sp>
    </p:spTree>
    <p:extLst>
      <p:ext uri="{BB962C8B-B14F-4D97-AF65-F5344CB8AC3E}">
        <p14:creationId xmlns:p14="http://schemas.microsoft.com/office/powerpoint/2010/main" val="31845610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F9CE97-CB9D-C746-B214-C0239D00167B}" type="slidenum">
              <a:rPr lang="en-US"/>
              <a:pPr/>
              <a:t>37</a:t>
            </a:fld>
            <a:endParaRPr lang="en-US"/>
          </a:p>
        </p:txBody>
      </p:sp>
      <p:sp>
        <p:nvSpPr>
          <p:cNvPr id="149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991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endParaRPr lang="ko-KR" altLang="en-US">
              <a:ea typeface="AppleMyungjo" charset="-127"/>
              <a:cs typeface="AppleMyungjo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08987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E420CB-F852-3B42-9687-227F1D453EDD}" type="slidenum">
              <a:rPr lang="en-US"/>
              <a:pPr/>
              <a:t>38</a:t>
            </a:fld>
            <a:endParaRPr lang="en-US"/>
          </a:p>
        </p:txBody>
      </p:sp>
      <p:sp>
        <p:nvSpPr>
          <p:cNvPr id="1485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858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endParaRPr lang="ko-KR" altLang="en-US">
              <a:ea typeface="AppleMyungjo" charset="-127"/>
              <a:cs typeface="AppleMyungjo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87295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2F17D4-B91E-9A46-A430-8EBAABAB7F9F}" type="slidenum">
              <a:rPr lang="en-US"/>
              <a:pPr/>
              <a:t>39</a:t>
            </a:fld>
            <a:endParaRPr lang="en-US"/>
          </a:p>
        </p:txBody>
      </p:sp>
      <p:sp>
        <p:nvSpPr>
          <p:cNvPr id="148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878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r>
              <a:rPr lang="en-US"/>
              <a:t>Requested block first…. </a:t>
            </a:r>
          </a:p>
          <a:p>
            <a:endParaRPr lang="en-US"/>
          </a:p>
          <a:p>
            <a:r>
              <a:rPr lang="en-US"/>
              <a:t>The following could be in the slide…</a:t>
            </a:r>
          </a:p>
          <a:p>
            <a:r>
              <a:rPr lang="en-US"/>
              <a:t>spatial locality reduces compulsory misses and     	capacity reload misses</a:t>
            </a:r>
          </a:p>
          <a:p>
            <a:pPr lvl="1"/>
            <a:r>
              <a:rPr lang="en-US"/>
              <a:t>  fewer blocks may increase conflict miss rate</a:t>
            </a:r>
          </a:p>
          <a:p>
            <a:pPr lvl="1"/>
            <a:r>
              <a:rPr lang="en-US"/>
              <a:t>  larger blocks may increase miss penalty</a:t>
            </a:r>
          </a:p>
          <a:p>
            <a:pPr lvl="1">
              <a:spcBef>
                <a:spcPct val="0"/>
              </a:spcBef>
              <a:buFontTx/>
              <a:buChar char="-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953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EE92C8-F3ED-E344-A8DC-1FB5E23AB384}" type="slidenum">
              <a:rPr lang="en-US"/>
              <a:pPr/>
              <a:t>40</a:t>
            </a:fld>
            <a:endParaRPr lang="en-US"/>
          </a:p>
        </p:txBody>
      </p:sp>
      <p:sp>
        <p:nvSpPr>
          <p:cNvPr id="1490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90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r>
              <a:rPr lang="en-US"/>
              <a:t>Completely serial (jse)</a:t>
            </a:r>
          </a:p>
        </p:txBody>
      </p:sp>
    </p:spTree>
    <p:extLst>
      <p:ext uri="{BB962C8B-B14F-4D97-AF65-F5344CB8AC3E}">
        <p14:creationId xmlns:p14="http://schemas.microsoft.com/office/powerpoint/2010/main" val="35279639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B610F2-F181-204D-BDCB-7AEDCBB4EC70}" type="slidenum">
              <a:rPr lang="en-US"/>
              <a:pPr/>
              <a:t>41</a:t>
            </a:fld>
            <a:endParaRPr lang="en-US"/>
          </a:p>
        </p:txBody>
      </p:sp>
      <p:sp>
        <p:nvSpPr>
          <p:cNvPr id="1492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929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pPr marL="228600" indent="-228600"/>
            <a:r>
              <a:rPr lang="en-US" sz="1600"/>
              <a:t>Need to bypass from write buffer if read address matches write buffer tag!</a:t>
            </a:r>
          </a:p>
          <a:p>
            <a:pPr marL="228600" indent="-22860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933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5CFE49-1DDC-324F-AB7B-DA52B0862878}" type="slidenum">
              <a:rPr lang="en-US"/>
              <a:pPr/>
              <a:t>42</a:t>
            </a:fld>
            <a:endParaRPr lang="en-US"/>
          </a:p>
        </p:txBody>
      </p:sp>
      <p:sp>
        <p:nvSpPr>
          <p:cNvPr id="1495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950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endParaRPr lang="ko-KR" altLang="en-US">
              <a:ea typeface="AppleMyungjo" charset="-127"/>
              <a:cs typeface="AppleMyungjo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64745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A3B88A-5425-F749-AC98-2E95D747A66E}" type="slidenum">
              <a:rPr lang="en-US"/>
              <a:pPr/>
              <a:t>43</a:t>
            </a:fld>
            <a:endParaRPr lang="en-US"/>
          </a:p>
        </p:txBody>
      </p:sp>
      <p:sp>
        <p:nvSpPr>
          <p:cNvPr id="149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3300" y="776288"/>
            <a:ext cx="5091113" cy="38195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970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5959" y="4858396"/>
            <a:ext cx="5205845" cy="46079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118" tIns="47558" rIns="95118" bIns="47558">
            <a:prstTxWarp prst="textNoShape">
              <a:avLst/>
            </a:prstTxWarp>
          </a:bodyPr>
          <a:lstStyle/>
          <a:p>
            <a:r>
              <a:rPr lang="en-US"/>
              <a:t>Deisgners of the MIPS M/1000 estimated that waiting for a four-word buffer to empty</a:t>
            </a:r>
          </a:p>
          <a:p>
            <a:r>
              <a:rPr lang="en-US"/>
              <a:t>increased the read miss penalty by a factor of 1.5.</a:t>
            </a:r>
          </a:p>
        </p:txBody>
      </p:sp>
    </p:spTree>
    <p:extLst>
      <p:ext uri="{BB962C8B-B14F-4D97-AF65-F5344CB8AC3E}">
        <p14:creationId xmlns:p14="http://schemas.microsoft.com/office/powerpoint/2010/main" val="13824385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639F6E-3ECE-C647-B337-F779F5549089}" type="slidenum">
              <a:rPr lang="en-US"/>
              <a:pPr/>
              <a:t>44</a:t>
            </a:fld>
            <a:endParaRPr lang="en-US"/>
          </a:p>
        </p:txBody>
      </p:sp>
      <p:sp>
        <p:nvSpPr>
          <p:cNvPr id="154931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77938" y="984250"/>
            <a:ext cx="4543425" cy="34083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493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5957" y="4860089"/>
            <a:ext cx="5207386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5216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950071-C93C-FF42-9DDC-60EF4BC53818}" type="slidenum">
              <a:rPr lang="en-US"/>
              <a:pPr/>
              <a:t>45</a:t>
            </a:fld>
            <a:endParaRPr lang="en-US"/>
          </a:p>
        </p:txBody>
      </p:sp>
      <p:sp>
        <p:nvSpPr>
          <p:cNvPr id="1551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1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r>
              <a:rPr lang="en-US"/>
              <a:t>New slide (jse)</a:t>
            </a:r>
          </a:p>
        </p:txBody>
      </p:sp>
    </p:spTree>
    <p:extLst>
      <p:ext uri="{BB962C8B-B14F-4D97-AF65-F5344CB8AC3E}">
        <p14:creationId xmlns:p14="http://schemas.microsoft.com/office/powerpoint/2010/main" val="12854032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EBDE70-4969-DE40-9FC5-847066B1D134}" type="slidenum">
              <a:rPr lang="en-US"/>
              <a:pPr/>
              <a:t>49</a:t>
            </a:fld>
            <a:endParaRPr lang="en-US"/>
          </a:p>
        </p:txBody>
      </p:sp>
      <p:sp>
        <p:nvSpPr>
          <p:cNvPr id="155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3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r>
              <a:rPr lang="en-US"/>
              <a:t>If two is good, then three must be better (jse)</a:t>
            </a:r>
          </a:p>
        </p:txBody>
      </p:sp>
    </p:spTree>
    <p:extLst>
      <p:ext uri="{BB962C8B-B14F-4D97-AF65-F5344CB8AC3E}">
        <p14:creationId xmlns:p14="http://schemas.microsoft.com/office/powerpoint/2010/main" val="836553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D9CBE8-E38E-F341-9284-4AE348082965}" type="slidenum">
              <a:rPr lang="en-US"/>
              <a:pPr/>
              <a:t>51</a:t>
            </a:fld>
            <a:endParaRPr lang="en-US"/>
          </a:p>
        </p:txBody>
      </p:sp>
      <p:sp>
        <p:nvSpPr>
          <p:cNvPr id="1546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3300" y="776288"/>
            <a:ext cx="5091113" cy="38195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46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5959" y="4858396"/>
            <a:ext cx="5205845" cy="46079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118" tIns="47558" rIns="95118" bIns="47558">
            <a:prstTxWarp prst="textNoShape">
              <a:avLst/>
            </a:prstTxWarp>
          </a:bodyPr>
          <a:lstStyle/>
          <a:p>
            <a:r>
              <a:rPr lang="en-US"/>
              <a:t>Reduces compulsory misses, can increase conflict and</a:t>
            </a:r>
          </a:p>
          <a:p>
            <a:r>
              <a:rPr lang="en-US"/>
              <a:t>capacity misses.</a:t>
            </a:r>
          </a:p>
        </p:txBody>
      </p:sp>
    </p:spTree>
    <p:extLst>
      <p:ext uri="{BB962C8B-B14F-4D97-AF65-F5344CB8AC3E}">
        <p14:creationId xmlns:p14="http://schemas.microsoft.com/office/powerpoint/2010/main" val="39078072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430AB8-F3E8-C945-87EE-DA711275EC13}" type="slidenum">
              <a:rPr lang="en-US"/>
              <a:pPr/>
              <a:t>52</a:t>
            </a:fld>
            <a:endParaRPr lang="en-US"/>
          </a:p>
        </p:txBody>
      </p:sp>
      <p:sp>
        <p:nvSpPr>
          <p:cNvPr id="154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482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endParaRPr lang="ko-KR" altLang="en-US" dirty="0">
              <a:ea typeface="AppleMyungjo" charset="-127"/>
              <a:cs typeface="AppleMyungjo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47380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380B60-8C41-7945-9844-26C9603729E8}" type="slidenum">
              <a:rPr lang="en-US"/>
              <a:pPr/>
              <a:t>53</a:t>
            </a:fld>
            <a:endParaRPr lang="en-US"/>
          </a:p>
        </p:txBody>
      </p:sp>
      <p:sp>
        <p:nvSpPr>
          <p:cNvPr id="1550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3300" y="776288"/>
            <a:ext cx="5091113" cy="38195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0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5959" y="4858396"/>
            <a:ext cx="5205845" cy="46079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118" tIns="47558" rIns="95118" bIns="47558">
            <a:prstTxWarp prst="textNoShape">
              <a:avLst/>
            </a:prstTxWarp>
          </a:bodyPr>
          <a:lstStyle/>
          <a:p>
            <a:r>
              <a:rPr lang="en-US"/>
              <a:t>Need to check the stream buffer if the requested block is in there.</a:t>
            </a:r>
          </a:p>
          <a:p>
            <a:r>
              <a:rPr lang="en-US"/>
              <a:t>Never more than one 32-byte block in the stream buffer.</a:t>
            </a:r>
          </a:p>
        </p:txBody>
      </p:sp>
    </p:spTree>
    <p:extLst>
      <p:ext uri="{BB962C8B-B14F-4D97-AF65-F5344CB8AC3E}">
        <p14:creationId xmlns:p14="http://schemas.microsoft.com/office/powerpoint/2010/main" val="26228320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B177C9-52D0-7544-B3BE-3DA420E92DDB}" type="slidenum">
              <a:rPr lang="en-US"/>
              <a:pPr/>
              <a:t>54</a:t>
            </a:fld>
            <a:endParaRPr lang="en-US"/>
          </a:p>
        </p:txBody>
      </p:sp>
      <p:sp>
        <p:nvSpPr>
          <p:cNvPr id="1552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3300" y="776288"/>
            <a:ext cx="5091113" cy="38195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2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5959" y="4858396"/>
            <a:ext cx="5205845" cy="46079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118" tIns="47558" rIns="95118" bIns="47558">
            <a:prstTxWarp prst="textNoShape">
              <a:avLst/>
            </a:prstTxWarp>
          </a:bodyPr>
          <a:lstStyle/>
          <a:p>
            <a:r>
              <a:rPr lang="en-US"/>
              <a:t>HP PA 7200 uses OBL prefetching</a:t>
            </a:r>
          </a:p>
          <a:p>
            <a:endParaRPr lang="en-US"/>
          </a:p>
          <a:p>
            <a:r>
              <a:rPr lang="en-US"/>
              <a:t>Tag prefetching is twice as effective as prefetch-on-miss in</a:t>
            </a:r>
          </a:p>
          <a:p>
            <a:r>
              <a:rPr lang="en-US"/>
              <a:t>reducing miss rates.</a:t>
            </a:r>
          </a:p>
        </p:txBody>
      </p:sp>
    </p:spTree>
    <p:extLst>
      <p:ext uri="{BB962C8B-B14F-4D97-AF65-F5344CB8AC3E}">
        <p14:creationId xmlns:p14="http://schemas.microsoft.com/office/powerpoint/2010/main" val="10081131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D7C2E8-3C3D-B445-93ED-6C06A76D60FA}" type="slidenum">
              <a:rPr lang="en-US"/>
              <a:pPr/>
              <a:t>55</a:t>
            </a:fld>
            <a:endParaRPr lang="en-US"/>
          </a:p>
        </p:txBody>
      </p:sp>
      <p:sp>
        <p:nvSpPr>
          <p:cNvPr id="155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3300" y="776288"/>
            <a:ext cx="5091113" cy="38195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4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5959" y="4858396"/>
            <a:ext cx="5205845" cy="46079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118" tIns="47558" rIns="95118" bIns="47558">
            <a:prstTxWarp prst="textNoShape">
              <a:avLst/>
            </a:prstTxWarp>
          </a:bodyPr>
          <a:lstStyle/>
          <a:p>
            <a:r>
              <a:rPr lang="en-US" dirty="0"/>
              <a:t>Cache should be non-blocking or lockup-free.</a:t>
            </a:r>
          </a:p>
          <a:p>
            <a:r>
              <a:rPr lang="en-US" dirty="0"/>
              <a:t>By that we mean that the processor can proceed while the prefetched</a:t>
            </a:r>
          </a:p>
          <a:p>
            <a:r>
              <a:rPr lang="en-US" dirty="0"/>
              <a:t>Data is being fetched; and the caches continue to supply instructions</a:t>
            </a:r>
          </a:p>
          <a:p>
            <a:r>
              <a:rPr lang="en-US" dirty="0"/>
              <a:t>And data while waiting for the prefetched data to return.</a:t>
            </a:r>
          </a:p>
        </p:txBody>
      </p:sp>
    </p:spTree>
    <p:extLst>
      <p:ext uri="{BB962C8B-B14F-4D97-AF65-F5344CB8AC3E}">
        <p14:creationId xmlns:p14="http://schemas.microsoft.com/office/powerpoint/2010/main" val="3350297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A6A9FB-EEF0-1A46-AB74-244BAB2E5907}" type="slidenum">
              <a:rPr lang="en-US"/>
              <a:pPr/>
              <a:t>56</a:t>
            </a:fld>
            <a:endParaRPr lang="en-US"/>
          </a:p>
        </p:txBody>
      </p:sp>
      <p:sp>
        <p:nvSpPr>
          <p:cNvPr id="1556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6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endParaRPr lang="ko-KR" altLang="en-US">
              <a:ea typeface="AppleMyungjo" charset="-127"/>
              <a:cs typeface="AppleMyungjo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2871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1581CE-9B63-394C-9788-06C3A0C4654C}" type="slidenum">
              <a:rPr lang="en-US"/>
              <a:pPr/>
              <a:t>62</a:t>
            </a:fld>
            <a:endParaRPr lang="en-US"/>
          </a:p>
        </p:txBody>
      </p:sp>
      <p:sp>
        <p:nvSpPr>
          <p:cNvPr id="1618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1713" y="774700"/>
            <a:ext cx="5094287" cy="38211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18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4417" y="4858396"/>
            <a:ext cx="5208926" cy="46079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r>
              <a:rPr lang="en-US" altLang="ko-KR">
                <a:ea typeface="굴림" charset="-127"/>
                <a:cs typeface="굴림" charset="-127"/>
              </a:rPr>
              <a:t>Portability on machines with different memory configurations.</a:t>
            </a:r>
          </a:p>
        </p:txBody>
      </p:sp>
    </p:spTree>
    <p:extLst>
      <p:ext uri="{BB962C8B-B14F-4D97-AF65-F5344CB8AC3E}">
        <p14:creationId xmlns:p14="http://schemas.microsoft.com/office/powerpoint/2010/main" val="1322410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8E3698-8743-1846-A4B7-A150278E3AFF}" type="slidenum">
              <a:rPr lang="en-US"/>
              <a:pPr/>
              <a:t>68</a:t>
            </a:fld>
            <a:endParaRPr lang="en-US"/>
          </a:p>
        </p:txBody>
      </p:sp>
      <p:sp>
        <p:nvSpPr>
          <p:cNvPr id="1625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250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1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endParaRPr lang="ko-KR" altLang="en-US">
              <a:ea typeface="AppleMyungjo" charset="-127"/>
              <a:cs typeface="AppleMyungjo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71897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93DD48-7234-7D49-80D8-2564C3784A37}" type="slidenum">
              <a:rPr lang="en-US"/>
              <a:pPr/>
              <a:t>72</a:t>
            </a:fld>
            <a:endParaRPr lang="en-US"/>
          </a:p>
        </p:txBody>
      </p:sp>
      <p:sp>
        <p:nvSpPr>
          <p:cNvPr id="169267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79525" y="984250"/>
            <a:ext cx="4540250" cy="34067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92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5957" y="4860088"/>
            <a:ext cx="5207386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357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A38F50-FA05-5A4B-8627-CB1860D055A7}" type="slidenum">
              <a:rPr lang="en-US"/>
              <a:pPr/>
              <a:t>73</a:t>
            </a:fld>
            <a:endParaRPr lang="en-US"/>
          </a:p>
        </p:txBody>
      </p:sp>
      <p:sp>
        <p:nvSpPr>
          <p:cNvPr id="1674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1713" y="774700"/>
            <a:ext cx="5094287" cy="38211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74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4417" y="4858396"/>
            <a:ext cx="5208926" cy="46079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r>
              <a:rPr lang="en-US"/>
              <a:t>Need to restart instruction.</a:t>
            </a:r>
          </a:p>
          <a:p>
            <a:r>
              <a:rPr lang="en-US"/>
              <a:t>Soft and hard page faults.</a:t>
            </a:r>
          </a:p>
        </p:txBody>
      </p:sp>
    </p:spTree>
    <p:extLst>
      <p:ext uri="{BB962C8B-B14F-4D97-AF65-F5344CB8AC3E}">
        <p14:creationId xmlns:p14="http://schemas.microsoft.com/office/powerpoint/2010/main" val="6624916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832431-74DD-E743-9F33-0821DD3E2AB9}" type="slidenum">
              <a:rPr lang="en-US"/>
              <a:pPr/>
              <a:t>74</a:t>
            </a:fld>
            <a:endParaRPr lang="en-US"/>
          </a:p>
        </p:txBody>
      </p:sp>
      <p:sp>
        <p:nvSpPr>
          <p:cNvPr id="1719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9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533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97A1B1-C6C7-C446-99DA-6038C074CACB}" type="slidenum">
              <a:rPr lang="en-US"/>
              <a:pPr/>
              <a:t>75</a:t>
            </a:fld>
            <a:endParaRPr lang="en-US"/>
          </a:p>
        </p:txBody>
      </p:sp>
      <p:sp>
        <p:nvSpPr>
          <p:cNvPr id="1712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2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5897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97A1B1-C6C7-C446-99DA-6038C074CACB}" type="slidenum">
              <a:rPr lang="en-US"/>
              <a:pPr/>
              <a:t>76</a:t>
            </a:fld>
            <a:endParaRPr lang="en-US"/>
          </a:p>
        </p:txBody>
      </p:sp>
      <p:sp>
        <p:nvSpPr>
          <p:cNvPr id="1712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2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2891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DB7107-9289-174E-A25C-1A3A4DED27F6}" type="slidenum">
              <a:rPr lang="en-US"/>
              <a:pPr/>
              <a:t>77</a:t>
            </a:fld>
            <a:endParaRPr lang="en-US"/>
          </a:p>
        </p:txBody>
      </p:sp>
      <p:sp>
        <p:nvSpPr>
          <p:cNvPr id="1713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3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338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93DD48-7234-7D49-80D8-2564C3784A37}" type="slidenum">
              <a:rPr lang="en-US"/>
              <a:pPr/>
              <a:t>78</a:t>
            </a:fld>
            <a:endParaRPr lang="en-US"/>
          </a:p>
        </p:txBody>
      </p:sp>
      <p:sp>
        <p:nvSpPr>
          <p:cNvPr id="169267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79525" y="984250"/>
            <a:ext cx="4540250" cy="34067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92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5957" y="4860088"/>
            <a:ext cx="5207386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1860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CB84F0-15BA-244B-AC6B-5BBD5D240918}" type="slidenum">
              <a:rPr lang="en-US"/>
              <a:pPr/>
              <a:t>79</a:t>
            </a:fld>
            <a:endParaRPr lang="en-US"/>
          </a:p>
        </p:txBody>
      </p:sp>
      <p:sp>
        <p:nvSpPr>
          <p:cNvPr id="168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1713" y="774700"/>
            <a:ext cx="5095875" cy="38227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88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4417" y="4858396"/>
            <a:ext cx="5208926" cy="46079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r>
              <a:rPr lang="en-US"/>
              <a:t>Two processes sharing the same file,</a:t>
            </a:r>
          </a:p>
          <a:p>
            <a:r>
              <a:rPr lang="en-US"/>
              <a:t>Map the same memory segment to different</a:t>
            </a:r>
          </a:p>
          <a:p>
            <a:r>
              <a:rPr lang="en-US"/>
              <a:t>Parts of their address space.</a:t>
            </a:r>
          </a:p>
        </p:txBody>
      </p:sp>
    </p:spTree>
    <p:extLst>
      <p:ext uri="{BB962C8B-B14F-4D97-AF65-F5344CB8AC3E}">
        <p14:creationId xmlns:p14="http://schemas.microsoft.com/office/powerpoint/2010/main" val="38509338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6A95B7-CABA-D54F-AE3E-098345DA8470}" type="slidenum">
              <a:rPr lang="en-US"/>
              <a:pPr/>
              <a:t>80</a:t>
            </a:fld>
            <a:endParaRPr lang="en-US"/>
          </a:p>
        </p:txBody>
      </p:sp>
      <p:sp>
        <p:nvSpPr>
          <p:cNvPr id="1693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1713" y="774700"/>
            <a:ext cx="5095875" cy="38227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936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4417" y="4858396"/>
            <a:ext cx="5208926" cy="46079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r>
              <a:rPr lang="en-US"/>
              <a:t>If they differ in the lower ‘a’ bits alone, and share a physical page.</a:t>
            </a:r>
          </a:p>
        </p:txBody>
      </p:sp>
    </p:spTree>
    <p:extLst>
      <p:ext uri="{BB962C8B-B14F-4D97-AF65-F5344CB8AC3E}">
        <p14:creationId xmlns:p14="http://schemas.microsoft.com/office/powerpoint/2010/main" val="85885083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B2FA53-C9A4-1C4F-B97F-A0B5917806B9}" type="slidenum">
              <a:rPr lang="en-US"/>
              <a:pPr/>
              <a:t>81</a:t>
            </a:fld>
            <a:endParaRPr lang="en-US"/>
          </a:p>
        </p:txBody>
      </p:sp>
      <p:sp>
        <p:nvSpPr>
          <p:cNvPr id="1714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4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4337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DCAC6A-73CA-C046-A447-0AE714663C4D}" type="slidenum">
              <a:rPr lang="en-US"/>
              <a:pPr/>
              <a:t>82</a:t>
            </a:fld>
            <a:endParaRPr lang="en-US"/>
          </a:p>
        </p:txBody>
      </p:sp>
      <p:sp>
        <p:nvSpPr>
          <p:cNvPr id="1691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1713" y="774700"/>
            <a:ext cx="5095875" cy="38227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91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4417" y="4858396"/>
            <a:ext cx="5208926" cy="46079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pPr lvl="1">
              <a:spcBef>
                <a:spcPct val="0"/>
              </a:spcBef>
            </a:pPr>
            <a:r>
              <a:rPr lang="en-US" sz="2400" b="1" dirty="0"/>
              <a:t>Consider 4-Kbyte pages and caches with 32-byte blocks</a:t>
            </a:r>
          </a:p>
          <a:p>
            <a:pPr lvl="1">
              <a:spcBef>
                <a:spcPct val="0"/>
              </a:spcBef>
            </a:pPr>
            <a:r>
              <a:rPr lang="en-US" sz="2400" b="1" dirty="0"/>
              <a:t>	 32-Kbyte cache 	</a:t>
            </a:r>
            <a:r>
              <a:rPr lang="en-US" sz="2400" b="1" dirty="0">
                <a:latin typeface="Symbol" charset="2"/>
              </a:rPr>
              <a:t></a:t>
            </a:r>
            <a:r>
              <a:rPr lang="en-US" sz="2400" b="1" dirty="0"/>
              <a:t> 2</a:t>
            </a:r>
            <a:r>
              <a:rPr lang="en-US" sz="2400" b="1" baseline="30000" dirty="0"/>
              <a:t>a </a:t>
            </a:r>
            <a:r>
              <a:rPr lang="en-US" sz="2400" b="1" dirty="0"/>
              <a:t>= 8  		</a:t>
            </a:r>
          </a:p>
          <a:p>
            <a:pPr lvl="2">
              <a:spcBef>
                <a:spcPct val="0"/>
              </a:spcBef>
            </a:pPr>
            <a:r>
              <a:rPr lang="en-US" sz="2400" b="1" dirty="0"/>
              <a:t>   4-Mbyte cache 	</a:t>
            </a:r>
            <a:r>
              <a:rPr lang="en-US" sz="2400" b="1" dirty="0">
                <a:latin typeface="Symbol" charset="2"/>
              </a:rPr>
              <a:t></a:t>
            </a:r>
            <a:r>
              <a:rPr lang="en-US" sz="2400" b="1" dirty="0"/>
              <a:t> 2</a:t>
            </a:r>
            <a:r>
              <a:rPr lang="en-US" sz="2400" b="1" baseline="30000" dirty="0"/>
              <a:t>a </a:t>
            </a:r>
            <a:r>
              <a:rPr lang="en-US" sz="2400" b="1" dirty="0"/>
              <a:t>=1024 		</a:t>
            </a:r>
            <a:r>
              <a:rPr lang="en-US" sz="2400" b="1" i="1" dirty="0"/>
              <a:t>No ! 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00722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44A592-8570-694E-9769-07812C0AACF6}" type="slidenum">
              <a:rPr lang="en-US"/>
              <a:pPr/>
              <a:t>83</a:t>
            </a:fld>
            <a:endParaRPr lang="en-US"/>
          </a:p>
        </p:txBody>
      </p:sp>
      <p:sp>
        <p:nvSpPr>
          <p:cNvPr id="171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51062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37085D-875E-D44A-80CF-3C547ACB4309}" type="slidenum">
              <a:rPr lang="en-US"/>
              <a:pPr/>
              <a:t>84</a:t>
            </a:fld>
            <a:endParaRPr lang="en-US"/>
          </a:p>
        </p:txBody>
      </p:sp>
      <p:sp>
        <p:nvSpPr>
          <p:cNvPr id="1716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6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65688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692B3D-372E-D34F-9032-9CB28DF7E90D}" type="slidenum">
              <a:rPr lang="en-US"/>
              <a:pPr/>
              <a:t>85</a:t>
            </a:fld>
            <a:endParaRPr lang="en-US"/>
          </a:p>
        </p:txBody>
      </p:sp>
      <p:sp>
        <p:nvSpPr>
          <p:cNvPr id="1717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7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2800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43EA02-6999-594F-9E7E-B05CB6CAF4EE}" type="slidenum">
              <a:rPr lang="en-US"/>
              <a:pPr/>
              <a:t>86</a:t>
            </a:fld>
            <a:endParaRPr lang="en-US"/>
          </a:p>
        </p:txBody>
      </p:sp>
      <p:sp>
        <p:nvSpPr>
          <p:cNvPr id="1722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2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95898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E9DA32-E0E0-FC4D-A0DC-681F1DDA54F4}" type="slidenum">
              <a:rPr lang="en-US"/>
              <a:pPr/>
              <a:t>87</a:t>
            </a:fld>
            <a:endParaRPr lang="en-US"/>
          </a:p>
        </p:txBody>
      </p:sp>
      <p:sp>
        <p:nvSpPr>
          <p:cNvPr id="172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58737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188053-F834-2F42-A651-13E84E95A402}" type="slidenum">
              <a:rPr lang="en-US"/>
              <a:pPr/>
              <a:t>88</a:t>
            </a:fld>
            <a:endParaRPr lang="en-US"/>
          </a:p>
        </p:txBody>
      </p:sp>
      <p:sp>
        <p:nvSpPr>
          <p:cNvPr id="1744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4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389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8D40B4-DE4B-3A46-A544-E86568F9DC45}" type="slidenum">
              <a:rPr lang="en-US"/>
              <a:pPr/>
              <a:t>89</a:t>
            </a:fld>
            <a:endParaRPr lang="en-US"/>
          </a:p>
        </p:txBody>
      </p:sp>
      <p:sp>
        <p:nvSpPr>
          <p:cNvPr id="1726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6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406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sv-SE"/>
              <a:t>Klicka här för att ändra format</a:t>
            </a:r>
            <a:endParaRPr lang="en-US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/>
              <a:t>Klicka här för att ändra format på underrubrik i bakgrunden</a:t>
            </a:r>
            <a:endParaRPr lang="en-US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B81E7-0473-4982-81AD-4CA2D336817D}" type="datetime1">
              <a:rPr lang="sv-SE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CS252 s06 Adv. Memory Hieriarchy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293CAD-5655-463B-A25B-1A2DCEAF66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  <a:endParaRPr lang="en-US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3A9CC3-C0C5-49F5-88AB-58977EE0B2C7}" type="datetime1">
              <a:rPr lang="sv-SE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CS252 s06 Adv. Memory Hieriarchy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EE58DA-F00E-43DF-8114-C98C33C3E2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v-SE"/>
              <a:t>Klicka här för att ändra format</a:t>
            </a:r>
            <a:endParaRPr lang="en-US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65B79-F6D6-4B0E-BD06-246AA47F0CE8}" type="datetime1">
              <a:rPr lang="sv-SE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CS252 s06 Adv. Memory Hieriarchy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8139A8-A3CB-4D89-B56E-466500A609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  <a:endParaRPr lang="en-US"/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2DA33B-DC5E-4FD6-A081-6F61144B8502}" type="datetime1">
              <a:rPr lang="sv-SE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6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CS252 s06 Adv. Memory Hieriarchy</a:t>
            </a:r>
          </a:p>
        </p:txBody>
      </p:sp>
      <p:sp>
        <p:nvSpPr>
          <p:cNvPr id="7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70C89C-BD9D-4CA6-88F1-F08A0EC92E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Klicka här för att ändra format</a:t>
            </a:r>
            <a:endParaRPr lang="en-US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7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5828DB-6EF3-4A91-9B9E-2B942E1E2E42}" type="datetime1">
              <a:rPr lang="sv-SE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8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CS252 s06 Adv. Memory Hieriarchy</a:t>
            </a:r>
          </a:p>
        </p:txBody>
      </p:sp>
      <p:sp>
        <p:nvSpPr>
          <p:cNvPr id="9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DCE19C-5BAD-4855-81A2-AAC784006E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  <a:endParaRPr lang="en-US"/>
          </a:p>
        </p:txBody>
      </p:sp>
      <p:sp>
        <p:nvSpPr>
          <p:cNvPr id="3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D859B-AF57-46B3-A2B0-A2A7C45A26BF}" type="datetime1">
              <a:rPr lang="sv-SE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4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CS252 s06 Adv. Memory Hieriarchy</a:t>
            </a:r>
          </a:p>
        </p:txBody>
      </p:sp>
      <p:sp>
        <p:nvSpPr>
          <p:cNvPr id="5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BE227B-5649-4809-97B3-09E42CFB10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F68E7-AB34-4447-84BC-EE8D5E8F0E8A}" type="datetime1">
              <a:rPr lang="sv-SE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3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CS252 s06 Adv. Memory Hieriarchy</a:t>
            </a:r>
          </a:p>
        </p:txBody>
      </p:sp>
      <p:sp>
        <p:nvSpPr>
          <p:cNvPr id="4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516A0C-113C-43EC-867F-334DE3063E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/>
              <a:t>Klicka här för att ändra format</a:t>
            </a:r>
            <a:endParaRPr lang="en-US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29F593-DFDE-416B-AC8B-BB825FFBBE0F}" type="datetime1">
              <a:rPr lang="sv-SE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6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CS252 s06 Adv. Memory Hieriarchy</a:t>
            </a:r>
          </a:p>
        </p:txBody>
      </p:sp>
      <p:sp>
        <p:nvSpPr>
          <p:cNvPr id="7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04024F-256A-4362-90E9-300E4B148A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/>
              <a:t>Klicka här för att ändra format</a:t>
            </a:r>
            <a:endParaRPr lang="en-US"/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B772B3-C955-490F-9FF4-FB2C20160BAA}" type="datetime1">
              <a:rPr lang="sv-SE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6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CS252 s06 Adv. Memory Hieriarchy</a:t>
            </a:r>
          </a:p>
        </p:txBody>
      </p:sp>
      <p:sp>
        <p:nvSpPr>
          <p:cNvPr id="7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9E21BE-C901-4538-A559-2D2780F2E1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  <a:endParaRPr lang="en-US"/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BE8344-1D20-417D-A833-40FBF54018D6}" type="datetime1">
              <a:rPr lang="sv-SE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CS252 s06 Adv. Memory Hieriarchy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827BA6-09B3-404D-A0B7-18943F532B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sv-SE"/>
              <a:t>Klicka här för att ändra format</a:t>
            </a:r>
            <a:endParaRPr lang="en-US"/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C44632-4187-4D86-A367-8A0543D15ED1}" type="datetime1">
              <a:rPr lang="sv-SE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CS252 s06 Adv. Memory Hieriarchy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681D57-A823-4812-99D7-EBAEFA0E57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Platshållare för rubrik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</a:t>
            </a:r>
            <a:endParaRPr lang="en-US"/>
          </a:p>
        </p:txBody>
      </p:sp>
      <p:sp>
        <p:nvSpPr>
          <p:cNvPr id="9219" name="Platshållare för text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2EC020F-65F2-4049-8B1C-155A70F7CEA7}" type="datetime1">
              <a:rPr lang="sv-SE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CS252 s06 Adv. Memory Hieriarchy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31C5373-8DEC-47D0-B15F-7EF4664B61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hdr="0" ft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emiconductor.samsung.com/consumer-storage/internal-ssd/990-pro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ubri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Memory Hierarchies</a:t>
            </a:r>
            <a:endParaRPr lang="en-US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3430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sv-SE"/>
              <a:t>Courtesy: Prof. Mats Brorsson, KTH, Sweden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0D0F41-CB8C-4D29-91A1-D1A9020504B7}" type="datetime1">
              <a:rPr lang="sv-SE" smtClean="0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724556-D18E-46ED-9248-8F43C52BEC94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659B1-33A4-DFE3-62B2-4F83D3D6C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7A3C5-05C4-24FD-77C8-84C5413AC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  <a:p>
            <a:pPr lvl="1"/>
            <a:r>
              <a:rPr lang="en-US" dirty="0"/>
              <a:t>DRAM</a:t>
            </a:r>
          </a:p>
          <a:p>
            <a:r>
              <a:rPr lang="en-US" dirty="0"/>
              <a:t>Caches</a:t>
            </a:r>
          </a:p>
          <a:p>
            <a:r>
              <a:rPr lang="en-US" dirty="0"/>
              <a:t>Memory Management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ED692-7C7D-3D8F-3059-FCA2AAD7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5D0E49-1E3F-4C49-5D87-356C080D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80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D5188-89AE-5848-8C76-13C82806496C}" type="slidenum">
              <a:rPr lang="en-US"/>
              <a:pPr/>
              <a:t>3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1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7162800" cy="762000"/>
          </a:xfrm>
        </p:spPr>
        <p:txBody>
          <a:bodyPr/>
          <a:lstStyle/>
          <a:p>
            <a:r>
              <a:rPr lang="en-US"/>
              <a:t>Core Memory</a:t>
            </a:r>
          </a:p>
        </p:txBody>
      </p:sp>
      <p:sp>
        <p:nvSpPr>
          <p:cNvPr id="141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458200" cy="2336800"/>
          </a:xfrm>
          <a:noFill/>
          <a:ln/>
        </p:spPr>
        <p:txBody>
          <a:bodyPr/>
          <a:lstStyle/>
          <a:p>
            <a:r>
              <a:rPr lang="en-US" sz="2400" dirty="0"/>
              <a:t>Core memory was first large scale reliable main memory</a:t>
            </a:r>
          </a:p>
          <a:p>
            <a:pPr lvl="1"/>
            <a:r>
              <a:rPr lang="en-US" sz="2000" dirty="0"/>
              <a:t>Invented by Forrester in late 40s/early 50s at MIT for Whirlwind project</a:t>
            </a:r>
          </a:p>
          <a:p>
            <a:r>
              <a:rPr lang="en-US" sz="2400" dirty="0"/>
              <a:t>Bits stored as magnetization polarity on small ferrite cores threaded onto two-dimensional grid of wires</a:t>
            </a:r>
          </a:p>
          <a:p>
            <a:r>
              <a:rPr lang="en-US" sz="2400" dirty="0"/>
              <a:t>Coincident current pulses on X and Y wires would write cell and also sense original state (destructive reads)</a:t>
            </a:r>
          </a:p>
        </p:txBody>
      </p:sp>
      <p:pic>
        <p:nvPicPr>
          <p:cNvPr id="1411076" name="Picture 4" descr="g619fron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3441696"/>
            <a:ext cx="4244851" cy="3299672"/>
          </a:xfrm>
          <a:prstGeom prst="rect">
            <a:avLst/>
          </a:prstGeom>
          <a:noFill/>
        </p:spPr>
      </p:pic>
      <p:sp>
        <p:nvSpPr>
          <p:cNvPr id="1411077" name="Text Box 5"/>
          <p:cNvSpPr txBox="1">
            <a:spLocks noChangeArrowheads="1"/>
          </p:cNvSpPr>
          <p:nvPr/>
        </p:nvSpPr>
        <p:spPr bwMode="auto">
          <a:xfrm>
            <a:off x="196279" y="6016625"/>
            <a:ext cx="4312221" cy="5355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r">
              <a:lnSpc>
                <a:spcPct val="80000"/>
              </a:lnSpc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Verdana" charset="0"/>
              </a:rPr>
              <a:t>Core memory: DEC PDP-8/E Board,  </a:t>
            </a:r>
          </a:p>
          <a:p>
            <a:pPr algn="r">
              <a:lnSpc>
                <a:spcPct val="80000"/>
              </a:lnSpc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Verdana" charset="0"/>
              </a:rPr>
              <a:t>4K words x 12 bits, (1968)</a:t>
            </a:r>
          </a:p>
        </p:txBody>
      </p:sp>
      <p:sp>
        <p:nvSpPr>
          <p:cNvPr id="1411078" name="Rectangle 6"/>
          <p:cNvSpPr>
            <a:spLocks noChangeArrowheads="1"/>
          </p:cNvSpPr>
          <p:nvPr/>
        </p:nvSpPr>
        <p:spPr bwMode="auto">
          <a:xfrm>
            <a:off x="268287" y="3391941"/>
            <a:ext cx="4303713" cy="277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Robust, non-volatile storage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Used on space shuttle computers until recently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Cores threaded onto wires by hand (25 billion a year at peak production)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Core access time ~ 1</a:t>
            </a:r>
            <a:r>
              <a:rPr lang="en-US" sz="2000" dirty="0">
                <a:solidFill>
                  <a:schemeClr val="tx1"/>
                </a:solidFill>
                <a:latin typeface="Symbol" charset="2"/>
              </a:rPr>
              <a:t>m</a:t>
            </a:r>
            <a:r>
              <a:rPr lang="en-US" sz="2000" dirty="0">
                <a:solidFill>
                  <a:schemeClr val="tx1"/>
                </a:solidFill>
              </a:rPr>
              <a:t>s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•"/>
            </a:pPr>
            <a:endParaRPr 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3AD3-9D94-654D-5B35-E437EC0CD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of the art SSD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72BC2-697E-9D95-5FAB-3BCA01901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542" y="1166018"/>
            <a:ext cx="8229600" cy="4525963"/>
          </a:xfrm>
        </p:spPr>
        <p:txBody>
          <a:bodyPr/>
          <a:lstStyle/>
          <a:p>
            <a:r>
              <a:rPr lang="en-US" dirty="0"/>
              <a:t>Samsung 990 PRO</a:t>
            </a:r>
          </a:p>
          <a:p>
            <a:r>
              <a:rPr lang="en-US" dirty="0"/>
              <a:t>Capacity 4TB</a:t>
            </a:r>
          </a:p>
          <a:p>
            <a:r>
              <a:rPr lang="en-US" dirty="0"/>
              <a:t>Sequential read</a:t>
            </a:r>
          </a:p>
          <a:p>
            <a:pPr lvl="1"/>
            <a:r>
              <a:rPr lang="en-US" dirty="0"/>
              <a:t>4TB: Up to 7,450 MB/s</a:t>
            </a:r>
          </a:p>
          <a:p>
            <a:r>
              <a:rPr lang="en-US" dirty="0"/>
              <a:t>Sequential write</a:t>
            </a:r>
          </a:p>
          <a:p>
            <a:pPr lvl="1"/>
            <a:r>
              <a:rPr lang="en-US" dirty="0"/>
              <a:t>4TB: Up to 6,900 MB/s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344B6-177D-44D1-2901-D7BEEF393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A93342-8196-E993-839E-07FE0BFF5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9C2913-1595-CF84-CE7D-336CE6F2D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720" y="1568042"/>
            <a:ext cx="4808004" cy="15215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120E61-0C20-E3A5-165E-0CC8FB1EB2F5}"/>
              </a:ext>
            </a:extLst>
          </p:cNvPr>
          <p:cNvSpPr txBox="1"/>
          <p:nvPr/>
        </p:nvSpPr>
        <p:spPr>
          <a:xfrm>
            <a:off x="816309" y="6075073"/>
            <a:ext cx="7511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</a:t>
            </a:r>
            <a:r>
              <a:rPr lang="en-US" sz="1400" dirty="0">
                <a:hlinkClick r:id="rId3"/>
              </a:rPr>
              <a:t>https://semiconductor.samsung.com/consumer-storage/internal-ssd/990-pro/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5998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CEF-0100-5D43-B2A3-239B7CB4809E}" type="slidenum">
              <a:rPr lang="en-US"/>
              <a:pPr/>
              <a:t>5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1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7620000" cy="1143000"/>
          </a:xfrm>
        </p:spPr>
        <p:txBody>
          <a:bodyPr/>
          <a:lstStyle/>
          <a:p>
            <a:r>
              <a:rPr lang="en-US" dirty="0"/>
              <a:t>DRAM</a:t>
            </a:r>
            <a:br>
              <a:rPr lang="en-US" dirty="0"/>
            </a:br>
            <a:r>
              <a:rPr lang="en-US" sz="2400" dirty="0"/>
              <a:t>(Laptops/Desktops/Servers)</a:t>
            </a:r>
            <a:endParaRPr lang="en-US" dirty="0"/>
          </a:p>
        </p:txBody>
      </p:sp>
      <p:sp>
        <p:nvSpPr>
          <p:cNvPr id="141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3733800"/>
            <a:ext cx="5943600" cy="2438400"/>
          </a:xfrm>
          <a:noFill/>
          <a:ln/>
        </p:spPr>
        <p:txBody>
          <a:bodyPr/>
          <a:lstStyle/>
          <a:p>
            <a:pPr marL="342900" indent="-342900"/>
            <a:r>
              <a:rPr lang="en-US" sz="2000"/>
              <a:t>DIMM (Dual Inline Memory Module) contains multiple chips with clock/control/address signals connected in parallel (sometimes need buffers to drive signals to all chips)</a:t>
            </a:r>
          </a:p>
          <a:p>
            <a:pPr marL="342900" indent="-342900"/>
            <a:r>
              <a:rPr lang="en-US" sz="2000"/>
              <a:t>Data pins work together to return wide word (e.g., 64-bit data bus using 16x4-bit parts)</a:t>
            </a:r>
          </a:p>
          <a:p>
            <a:pPr marL="342900" indent="-342900"/>
            <a:endParaRPr lang="en-US" sz="2000"/>
          </a:p>
        </p:txBody>
      </p:sp>
      <p:grpSp>
        <p:nvGrpSpPr>
          <p:cNvPr id="2" name="Group 20"/>
          <p:cNvGrpSpPr/>
          <p:nvPr/>
        </p:nvGrpSpPr>
        <p:grpSpPr>
          <a:xfrm>
            <a:off x="838200" y="1371600"/>
            <a:ext cx="4708525" cy="1935163"/>
            <a:chOff x="609600" y="990600"/>
            <a:chExt cx="4708525" cy="1935163"/>
          </a:xfrm>
        </p:grpSpPr>
        <p:sp>
          <p:nvSpPr>
            <p:cNvPr id="1416196" name="Rectangle 4"/>
            <p:cNvSpPr>
              <a:spLocks noChangeArrowheads="1"/>
            </p:cNvSpPr>
            <p:nvPr/>
          </p:nvSpPr>
          <p:spPr bwMode="auto">
            <a:xfrm>
              <a:off x="4267200" y="1146175"/>
              <a:ext cx="914400" cy="1143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6197" name="Line 5"/>
            <p:cNvSpPr>
              <a:spLocks noChangeShapeType="1"/>
            </p:cNvSpPr>
            <p:nvPr/>
          </p:nvSpPr>
          <p:spPr bwMode="auto">
            <a:xfrm>
              <a:off x="3733800" y="1908175"/>
              <a:ext cx="533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6198" name="Line 6"/>
            <p:cNvSpPr>
              <a:spLocks noChangeShapeType="1"/>
            </p:cNvSpPr>
            <p:nvPr/>
          </p:nvSpPr>
          <p:spPr bwMode="auto">
            <a:xfrm>
              <a:off x="4648200" y="2289175"/>
              <a:ext cx="0" cy="533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6199" name="Line 7"/>
            <p:cNvSpPr>
              <a:spLocks noChangeShapeType="1"/>
            </p:cNvSpPr>
            <p:nvPr/>
          </p:nvSpPr>
          <p:spPr bwMode="auto">
            <a:xfrm>
              <a:off x="3733800" y="1374775"/>
              <a:ext cx="533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6200" name="Line 8"/>
            <p:cNvSpPr>
              <a:spLocks noChangeShapeType="1"/>
            </p:cNvSpPr>
            <p:nvPr/>
          </p:nvSpPr>
          <p:spPr bwMode="auto">
            <a:xfrm flipH="1">
              <a:off x="3886200" y="1831975"/>
              <a:ext cx="76200" cy="152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6201" name="Text Box 9"/>
            <p:cNvSpPr txBox="1">
              <a:spLocks noChangeArrowheads="1"/>
            </p:cNvSpPr>
            <p:nvPr/>
          </p:nvSpPr>
          <p:spPr bwMode="auto">
            <a:xfrm>
              <a:off x="762000" y="1527175"/>
              <a:ext cx="3352800" cy="6413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Address lines multiplexed row/column address</a:t>
              </a:r>
            </a:p>
          </p:txBody>
        </p:sp>
        <p:sp>
          <p:nvSpPr>
            <p:cNvPr id="1416202" name="Text Box 10"/>
            <p:cNvSpPr txBox="1">
              <a:spLocks noChangeArrowheads="1"/>
            </p:cNvSpPr>
            <p:nvPr/>
          </p:nvSpPr>
          <p:spPr bwMode="auto">
            <a:xfrm>
              <a:off x="609600" y="1146175"/>
              <a:ext cx="33528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Clock and control signals</a:t>
              </a:r>
            </a:p>
          </p:txBody>
        </p:sp>
        <p:sp>
          <p:nvSpPr>
            <p:cNvPr id="1416203" name="Line 11"/>
            <p:cNvSpPr>
              <a:spLocks noChangeShapeType="1"/>
            </p:cNvSpPr>
            <p:nvPr/>
          </p:nvSpPr>
          <p:spPr bwMode="auto">
            <a:xfrm flipH="1">
              <a:off x="3886200" y="1298575"/>
              <a:ext cx="76200" cy="152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6204" name="Line 12"/>
            <p:cNvSpPr>
              <a:spLocks noChangeShapeType="1"/>
            </p:cNvSpPr>
            <p:nvPr/>
          </p:nvSpPr>
          <p:spPr bwMode="auto">
            <a:xfrm flipH="1">
              <a:off x="4572000" y="2517775"/>
              <a:ext cx="152400" cy="76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6205" name="Text Box 13"/>
            <p:cNvSpPr txBox="1">
              <a:spLocks noChangeArrowheads="1"/>
            </p:cNvSpPr>
            <p:nvPr/>
          </p:nvSpPr>
          <p:spPr bwMode="auto">
            <a:xfrm>
              <a:off x="2625725" y="2284413"/>
              <a:ext cx="2082800" cy="6413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Data bus</a:t>
              </a:r>
            </a:p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(4b,8b,16b,32b)</a:t>
              </a:r>
            </a:p>
          </p:txBody>
        </p:sp>
        <p:sp>
          <p:nvSpPr>
            <p:cNvPr id="1416206" name="Text Box 14"/>
            <p:cNvSpPr txBox="1">
              <a:spLocks noChangeArrowheads="1"/>
            </p:cNvSpPr>
            <p:nvPr/>
          </p:nvSpPr>
          <p:spPr bwMode="auto">
            <a:xfrm>
              <a:off x="4114800" y="1298575"/>
              <a:ext cx="1203325" cy="70167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2000">
                  <a:solidFill>
                    <a:schemeClr val="tx1"/>
                  </a:solidFill>
                  <a:latin typeface="Verdana" charset="0"/>
                </a:rPr>
                <a:t>DRAM chip</a:t>
              </a:r>
            </a:p>
          </p:txBody>
        </p:sp>
        <p:sp>
          <p:nvSpPr>
            <p:cNvPr id="1416207" name="Text Box 15"/>
            <p:cNvSpPr txBox="1">
              <a:spLocks noChangeArrowheads="1"/>
            </p:cNvSpPr>
            <p:nvPr/>
          </p:nvSpPr>
          <p:spPr bwMode="auto">
            <a:xfrm>
              <a:off x="3627438" y="1905000"/>
              <a:ext cx="609600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>
                  <a:solidFill>
                    <a:schemeClr val="tx1"/>
                  </a:solidFill>
                  <a:latin typeface="Verdana" charset="0"/>
                </a:rPr>
                <a:t>~12</a:t>
              </a:r>
            </a:p>
          </p:txBody>
        </p:sp>
        <p:sp>
          <p:nvSpPr>
            <p:cNvPr id="1416208" name="Text Box 16"/>
            <p:cNvSpPr txBox="1">
              <a:spLocks noChangeArrowheads="1"/>
            </p:cNvSpPr>
            <p:nvPr/>
          </p:nvSpPr>
          <p:spPr bwMode="auto">
            <a:xfrm>
              <a:off x="3646488" y="990600"/>
              <a:ext cx="479425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>
                  <a:solidFill>
                    <a:schemeClr val="tx1"/>
                  </a:solidFill>
                  <a:latin typeface="Verdana" charset="0"/>
                </a:rPr>
                <a:t>~7</a:t>
              </a:r>
            </a:p>
          </p:txBody>
        </p:sp>
      </p:grpSp>
      <p:pic>
        <p:nvPicPr>
          <p:cNvPr id="1416209" name="Picture 17" descr="module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27750" y="1066800"/>
            <a:ext cx="2743200" cy="5334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05D5D-CE0A-AD4C-A101-D6DEDB52AA2D}" type="slidenum">
              <a:rPr lang="en-US"/>
              <a:pPr/>
              <a:t>6</a:t>
            </a:fld>
            <a:endParaRPr lang="en-US" b="0" dirty="0">
              <a:solidFill>
                <a:srgbClr val="FBBA03"/>
              </a:solidFill>
            </a:endParaRPr>
          </a:p>
        </p:txBody>
      </p:sp>
      <p:sp>
        <p:nvSpPr>
          <p:cNvPr id="1415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35436" y="123826"/>
            <a:ext cx="6248400" cy="1066800"/>
          </a:xfrm>
        </p:spPr>
        <p:txBody>
          <a:bodyPr/>
          <a:lstStyle/>
          <a:p>
            <a:r>
              <a:rPr lang="en-US" sz="3600" dirty="0"/>
              <a:t>DRAM Architecture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422400" y="990600"/>
            <a:ext cx="6403975" cy="3995738"/>
            <a:chOff x="896" y="624"/>
            <a:chExt cx="4034" cy="2517"/>
          </a:xfrm>
        </p:grpSpPr>
        <p:sp useBgFill="1">
          <p:nvSpPr>
            <p:cNvPr id="1415172" name="Rectangle 4"/>
            <p:cNvSpPr>
              <a:spLocks noChangeArrowheads="1"/>
            </p:cNvSpPr>
            <p:nvPr/>
          </p:nvSpPr>
          <p:spPr bwMode="auto">
            <a:xfrm>
              <a:off x="1712" y="1123"/>
              <a:ext cx="407" cy="1108"/>
            </a:xfrm>
            <a:prstGeom prst="rect">
              <a:avLst/>
            </a:prstGeom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173" name="Rectangle 5"/>
            <p:cNvSpPr>
              <a:spLocks noChangeArrowheads="1"/>
            </p:cNvSpPr>
            <p:nvPr/>
          </p:nvSpPr>
          <p:spPr bwMode="auto">
            <a:xfrm rot="16200000">
              <a:off x="1357" y="1464"/>
              <a:ext cx="1123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Row Address Decoder</a:t>
              </a:r>
            </a:p>
          </p:txBody>
        </p:sp>
        <p:sp>
          <p:nvSpPr>
            <p:cNvPr id="1415174" name="Line 6"/>
            <p:cNvSpPr>
              <a:spLocks noChangeShapeType="1"/>
            </p:cNvSpPr>
            <p:nvPr/>
          </p:nvSpPr>
          <p:spPr bwMode="auto">
            <a:xfrm>
              <a:off x="2123" y="1239"/>
              <a:ext cx="163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175" name="Line 7"/>
            <p:cNvSpPr>
              <a:spLocks noChangeShapeType="1"/>
            </p:cNvSpPr>
            <p:nvPr/>
          </p:nvSpPr>
          <p:spPr bwMode="auto">
            <a:xfrm>
              <a:off x="2123" y="1478"/>
              <a:ext cx="163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2282" y="1239"/>
              <a:ext cx="155" cy="156"/>
              <a:chOff x="1776" y="1584"/>
              <a:chExt cx="188" cy="188"/>
            </a:xfrm>
          </p:grpSpPr>
          <p:sp useBgFill="1">
            <p:nvSpPr>
              <p:cNvPr id="1415177" name="Rectangle 9"/>
              <p:cNvSpPr>
                <a:spLocks noChangeArrowheads="1"/>
              </p:cNvSpPr>
              <p:nvPr/>
            </p:nvSpPr>
            <p:spPr bwMode="auto">
              <a:xfrm>
                <a:off x="1876" y="1684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178" name="Line 10"/>
              <p:cNvSpPr>
                <a:spLocks noChangeShapeType="1"/>
              </p:cNvSpPr>
              <p:nvPr/>
            </p:nvSpPr>
            <p:spPr bwMode="auto">
              <a:xfrm flipV="1">
                <a:off x="1920" y="158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179" name="Line 11"/>
              <p:cNvSpPr>
                <a:spLocks noChangeShapeType="1"/>
              </p:cNvSpPr>
              <p:nvPr/>
            </p:nvSpPr>
            <p:spPr bwMode="auto">
              <a:xfrm flipH="1">
                <a:off x="1776" y="1728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415180" name="Line 12"/>
            <p:cNvSpPr>
              <a:spLocks noChangeShapeType="1"/>
            </p:cNvSpPr>
            <p:nvPr/>
          </p:nvSpPr>
          <p:spPr bwMode="auto">
            <a:xfrm>
              <a:off x="2282" y="1080"/>
              <a:ext cx="0" cy="1353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181" name="Line 13"/>
            <p:cNvSpPr>
              <a:spLocks noChangeShapeType="1"/>
            </p:cNvSpPr>
            <p:nvPr/>
          </p:nvSpPr>
          <p:spPr bwMode="auto">
            <a:xfrm>
              <a:off x="2520" y="1080"/>
              <a:ext cx="0" cy="1353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182" name="Line 14"/>
            <p:cNvSpPr>
              <a:spLocks noChangeShapeType="1"/>
            </p:cNvSpPr>
            <p:nvPr/>
          </p:nvSpPr>
          <p:spPr bwMode="auto">
            <a:xfrm>
              <a:off x="2759" y="1080"/>
              <a:ext cx="0" cy="1353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183" name="Line 15"/>
            <p:cNvSpPr>
              <a:spLocks noChangeShapeType="1"/>
            </p:cNvSpPr>
            <p:nvPr/>
          </p:nvSpPr>
          <p:spPr bwMode="auto">
            <a:xfrm>
              <a:off x="2998" y="1080"/>
              <a:ext cx="0" cy="1353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184" name="Line 16"/>
            <p:cNvSpPr>
              <a:spLocks noChangeShapeType="1"/>
            </p:cNvSpPr>
            <p:nvPr/>
          </p:nvSpPr>
          <p:spPr bwMode="auto">
            <a:xfrm>
              <a:off x="3237" y="1080"/>
              <a:ext cx="0" cy="1353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185" name="Line 17"/>
            <p:cNvSpPr>
              <a:spLocks noChangeShapeType="1"/>
            </p:cNvSpPr>
            <p:nvPr/>
          </p:nvSpPr>
          <p:spPr bwMode="auto">
            <a:xfrm>
              <a:off x="3475" y="1080"/>
              <a:ext cx="0" cy="1353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186" name="Line 18"/>
            <p:cNvSpPr>
              <a:spLocks noChangeShapeType="1"/>
            </p:cNvSpPr>
            <p:nvPr/>
          </p:nvSpPr>
          <p:spPr bwMode="auto">
            <a:xfrm>
              <a:off x="2123" y="1717"/>
              <a:ext cx="163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4" name="Group 19"/>
            <p:cNvGrpSpPr>
              <a:grpSpLocks/>
            </p:cNvGrpSpPr>
            <p:nvPr/>
          </p:nvGrpSpPr>
          <p:grpSpPr bwMode="auto">
            <a:xfrm>
              <a:off x="2282" y="1478"/>
              <a:ext cx="155" cy="156"/>
              <a:chOff x="1776" y="1872"/>
              <a:chExt cx="188" cy="188"/>
            </a:xfrm>
          </p:grpSpPr>
          <p:sp useBgFill="1">
            <p:nvSpPr>
              <p:cNvPr id="1415188" name="Rectangle 20"/>
              <p:cNvSpPr>
                <a:spLocks noChangeArrowheads="1"/>
              </p:cNvSpPr>
              <p:nvPr/>
            </p:nvSpPr>
            <p:spPr bwMode="auto">
              <a:xfrm>
                <a:off x="1876" y="1972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189" name="Line 21"/>
              <p:cNvSpPr>
                <a:spLocks noChangeShapeType="1"/>
              </p:cNvSpPr>
              <p:nvPr/>
            </p:nvSpPr>
            <p:spPr bwMode="auto">
              <a:xfrm flipV="1">
                <a:off x="1920" y="1872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190" name="Line 22"/>
              <p:cNvSpPr>
                <a:spLocks noChangeShapeType="1"/>
              </p:cNvSpPr>
              <p:nvPr/>
            </p:nvSpPr>
            <p:spPr bwMode="auto">
              <a:xfrm flipH="1">
                <a:off x="1776" y="2016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" name="Group 23"/>
            <p:cNvGrpSpPr>
              <a:grpSpLocks/>
            </p:cNvGrpSpPr>
            <p:nvPr/>
          </p:nvGrpSpPr>
          <p:grpSpPr bwMode="auto">
            <a:xfrm>
              <a:off x="2282" y="1717"/>
              <a:ext cx="155" cy="156"/>
              <a:chOff x="1776" y="2160"/>
              <a:chExt cx="188" cy="188"/>
            </a:xfrm>
          </p:grpSpPr>
          <p:sp useBgFill="1">
            <p:nvSpPr>
              <p:cNvPr id="1415192" name="Rectangle 24"/>
              <p:cNvSpPr>
                <a:spLocks noChangeArrowheads="1"/>
              </p:cNvSpPr>
              <p:nvPr/>
            </p:nvSpPr>
            <p:spPr bwMode="auto">
              <a:xfrm>
                <a:off x="1876" y="2260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193" name="Line 25"/>
              <p:cNvSpPr>
                <a:spLocks noChangeShapeType="1"/>
              </p:cNvSpPr>
              <p:nvPr/>
            </p:nvSpPr>
            <p:spPr bwMode="auto">
              <a:xfrm flipV="1">
                <a:off x="1920" y="216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194" name="Line 26"/>
              <p:cNvSpPr>
                <a:spLocks noChangeShapeType="1"/>
              </p:cNvSpPr>
              <p:nvPr/>
            </p:nvSpPr>
            <p:spPr bwMode="auto">
              <a:xfrm flipH="1">
                <a:off x="1776" y="2304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" name="Group 27"/>
            <p:cNvGrpSpPr>
              <a:grpSpLocks/>
            </p:cNvGrpSpPr>
            <p:nvPr/>
          </p:nvGrpSpPr>
          <p:grpSpPr bwMode="auto">
            <a:xfrm>
              <a:off x="2282" y="1955"/>
              <a:ext cx="155" cy="156"/>
              <a:chOff x="1776" y="2448"/>
              <a:chExt cx="188" cy="188"/>
            </a:xfrm>
          </p:grpSpPr>
          <p:sp useBgFill="1">
            <p:nvSpPr>
              <p:cNvPr id="1415196" name="Rectangle 28"/>
              <p:cNvSpPr>
                <a:spLocks noChangeArrowheads="1"/>
              </p:cNvSpPr>
              <p:nvPr/>
            </p:nvSpPr>
            <p:spPr bwMode="auto">
              <a:xfrm>
                <a:off x="1876" y="2548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197" name="Line 29"/>
              <p:cNvSpPr>
                <a:spLocks noChangeShapeType="1"/>
              </p:cNvSpPr>
              <p:nvPr/>
            </p:nvSpPr>
            <p:spPr bwMode="auto">
              <a:xfrm flipV="1">
                <a:off x="1920" y="244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198" name="Line 30"/>
              <p:cNvSpPr>
                <a:spLocks noChangeShapeType="1"/>
              </p:cNvSpPr>
              <p:nvPr/>
            </p:nvSpPr>
            <p:spPr bwMode="auto">
              <a:xfrm flipH="1">
                <a:off x="1776" y="2592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7" name="Group 31"/>
            <p:cNvGrpSpPr>
              <a:grpSpLocks/>
            </p:cNvGrpSpPr>
            <p:nvPr/>
          </p:nvGrpSpPr>
          <p:grpSpPr bwMode="auto">
            <a:xfrm>
              <a:off x="2520" y="1239"/>
              <a:ext cx="156" cy="156"/>
              <a:chOff x="2064" y="1584"/>
              <a:chExt cx="188" cy="188"/>
            </a:xfrm>
          </p:grpSpPr>
          <p:sp useBgFill="1">
            <p:nvSpPr>
              <p:cNvPr id="1415200" name="Rectangle 32"/>
              <p:cNvSpPr>
                <a:spLocks noChangeArrowheads="1"/>
              </p:cNvSpPr>
              <p:nvPr/>
            </p:nvSpPr>
            <p:spPr bwMode="auto">
              <a:xfrm>
                <a:off x="2164" y="1684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01" name="Line 33"/>
              <p:cNvSpPr>
                <a:spLocks noChangeShapeType="1"/>
              </p:cNvSpPr>
              <p:nvPr/>
            </p:nvSpPr>
            <p:spPr bwMode="auto">
              <a:xfrm flipV="1">
                <a:off x="2208" y="158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02" name="Line 34"/>
              <p:cNvSpPr>
                <a:spLocks noChangeShapeType="1"/>
              </p:cNvSpPr>
              <p:nvPr/>
            </p:nvSpPr>
            <p:spPr bwMode="auto">
              <a:xfrm flipH="1">
                <a:off x="2064" y="1728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" name="Group 35"/>
            <p:cNvGrpSpPr>
              <a:grpSpLocks/>
            </p:cNvGrpSpPr>
            <p:nvPr/>
          </p:nvGrpSpPr>
          <p:grpSpPr bwMode="auto">
            <a:xfrm>
              <a:off x="2520" y="1478"/>
              <a:ext cx="156" cy="156"/>
              <a:chOff x="2064" y="1872"/>
              <a:chExt cx="188" cy="188"/>
            </a:xfrm>
          </p:grpSpPr>
          <p:sp useBgFill="1">
            <p:nvSpPr>
              <p:cNvPr id="1415204" name="Rectangle 36"/>
              <p:cNvSpPr>
                <a:spLocks noChangeArrowheads="1"/>
              </p:cNvSpPr>
              <p:nvPr/>
            </p:nvSpPr>
            <p:spPr bwMode="auto">
              <a:xfrm>
                <a:off x="2164" y="1972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05" name="Line 37"/>
              <p:cNvSpPr>
                <a:spLocks noChangeShapeType="1"/>
              </p:cNvSpPr>
              <p:nvPr/>
            </p:nvSpPr>
            <p:spPr bwMode="auto">
              <a:xfrm flipV="1">
                <a:off x="2208" y="1872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06" name="Line 38"/>
              <p:cNvSpPr>
                <a:spLocks noChangeShapeType="1"/>
              </p:cNvSpPr>
              <p:nvPr/>
            </p:nvSpPr>
            <p:spPr bwMode="auto">
              <a:xfrm flipH="1">
                <a:off x="2064" y="2016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9" name="Group 39"/>
            <p:cNvGrpSpPr>
              <a:grpSpLocks/>
            </p:cNvGrpSpPr>
            <p:nvPr/>
          </p:nvGrpSpPr>
          <p:grpSpPr bwMode="auto">
            <a:xfrm>
              <a:off x="2520" y="1717"/>
              <a:ext cx="156" cy="156"/>
              <a:chOff x="2064" y="2160"/>
              <a:chExt cx="188" cy="188"/>
            </a:xfrm>
          </p:grpSpPr>
          <p:sp useBgFill="1">
            <p:nvSpPr>
              <p:cNvPr id="1415208" name="Rectangle 40"/>
              <p:cNvSpPr>
                <a:spLocks noChangeArrowheads="1"/>
              </p:cNvSpPr>
              <p:nvPr/>
            </p:nvSpPr>
            <p:spPr bwMode="auto">
              <a:xfrm>
                <a:off x="2164" y="2260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09" name="Line 41"/>
              <p:cNvSpPr>
                <a:spLocks noChangeShapeType="1"/>
              </p:cNvSpPr>
              <p:nvPr/>
            </p:nvSpPr>
            <p:spPr bwMode="auto">
              <a:xfrm flipV="1">
                <a:off x="2208" y="216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10" name="Line 42"/>
              <p:cNvSpPr>
                <a:spLocks noChangeShapeType="1"/>
              </p:cNvSpPr>
              <p:nvPr/>
            </p:nvSpPr>
            <p:spPr bwMode="auto">
              <a:xfrm flipH="1">
                <a:off x="2064" y="2304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43"/>
            <p:cNvGrpSpPr>
              <a:grpSpLocks/>
            </p:cNvGrpSpPr>
            <p:nvPr/>
          </p:nvGrpSpPr>
          <p:grpSpPr bwMode="auto">
            <a:xfrm>
              <a:off x="2520" y="1955"/>
              <a:ext cx="156" cy="156"/>
              <a:chOff x="2064" y="2448"/>
              <a:chExt cx="188" cy="188"/>
            </a:xfrm>
          </p:grpSpPr>
          <p:sp useBgFill="1">
            <p:nvSpPr>
              <p:cNvPr id="1415212" name="Rectangle 44"/>
              <p:cNvSpPr>
                <a:spLocks noChangeArrowheads="1"/>
              </p:cNvSpPr>
              <p:nvPr/>
            </p:nvSpPr>
            <p:spPr bwMode="auto">
              <a:xfrm>
                <a:off x="2164" y="2548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13" name="Line 45"/>
              <p:cNvSpPr>
                <a:spLocks noChangeShapeType="1"/>
              </p:cNvSpPr>
              <p:nvPr/>
            </p:nvSpPr>
            <p:spPr bwMode="auto">
              <a:xfrm flipV="1">
                <a:off x="2208" y="244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14" name="Line 46"/>
              <p:cNvSpPr>
                <a:spLocks noChangeShapeType="1"/>
              </p:cNvSpPr>
              <p:nvPr/>
            </p:nvSpPr>
            <p:spPr bwMode="auto">
              <a:xfrm flipH="1">
                <a:off x="2064" y="2592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1" name="Group 47"/>
            <p:cNvGrpSpPr>
              <a:grpSpLocks/>
            </p:cNvGrpSpPr>
            <p:nvPr/>
          </p:nvGrpSpPr>
          <p:grpSpPr bwMode="auto">
            <a:xfrm>
              <a:off x="2759" y="1239"/>
              <a:ext cx="156" cy="156"/>
              <a:chOff x="2352" y="1584"/>
              <a:chExt cx="188" cy="188"/>
            </a:xfrm>
          </p:grpSpPr>
          <p:sp useBgFill="1">
            <p:nvSpPr>
              <p:cNvPr id="1415216" name="Rectangle 48"/>
              <p:cNvSpPr>
                <a:spLocks noChangeArrowheads="1"/>
              </p:cNvSpPr>
              <p:nvPr/>
            </p:nvSpPr>
            <p:spPr bwMode="auto">
              <a:xfrm>
                <a:off x="2452" y="1684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17" name="Line 49"/>
              <p:cNvSpPr>
                <a:spLocks noChangeShapeType="1"/>
              </p:cNvSpPr>
              <p:nvPr/>
            </p:nvSpPr>
            <p:spPr bwMode="auto">
              <a:xfrm flipV="1">
                <a:off x="2496" y="158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18" name="Line 50"/>
              <p:cNvSpPr>
                <a:spLocks noChangeShapeType="1"/>
              </p:cNvSpPr>
              <p:nvPr/>
            </p:nvSpPr>
            <p:spPr bwMode="auto">
              <a:xfrm flipH="1">
                <a:off x="2352" y="1728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2" name="Group 51"/>
            <p:cNvGrpSpPr>
              <a:grpSpLocks/>
            </p:cNvGrpSpPr>
            <p:nvPr/>
          </p:nvGrpSpPr>
          <p:grpSpPr bwMode="auto">
            <a:xfrm>
              <a:off x="2759" y="1478"/>
              <a:ext cx="156" cy="156"/>
              <a:chOff x="2352" y="1872"/>
              <a:chExt cx="188" cy="188"/>
            </a:xfrm>
          </p:grpSpPr>
          <p:sp useBgFill="1">
            <p:nvSpPr>
              <p:cNvPr id="1415220" name="Rectangle 52"/>
              <p:cNvSpPr>
                <a:spLocks noChangeArrowheads="1"/>
              </p:cNvSpPr>
              <p:nvPr/>
            </p:nvSpPr>
            <p:spPr bwMode="auto">
              <a:xfrm>
                <a:off x="2452" y="1972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21" name="Line 53"/>
              <p:cNvSpPr>
                <a:spLocks noChangeShapeType="1"/>
              </p:cNvSpPr>
              <p:nvPr/>
            </p:nvSpPr>
            <p:spPr bwMode="auto">
              <a:xfrm flipV="1">
                <a:off x="2496" y="1872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22" name="Line 54"/>
              <p:cNvSpPr>
                <a:spLocks noChangeShapeType="1"/>
              </p:cNvSpPr>
              <p:nvPr/>
            </p:nvSpPr>
            <p:spPr bwMode="auto">
              <a:xfrm flipH="1">
                <a:off x="2352" y="2016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3" name="Group 55"/>
            <p:cNvGrpSpPr>
              <a:grpSpLocks/>
            </p:cNvGrpSpPr>
            <p:nvPr/>
          </p:nvGrpSpPr>
          <p:grpSpPr bwMode="auto">
            <a:xfrm>
              <a:off x="2759" y="1717"/>
              <a:ext cx="156" cy="156"/>
              <a:chOff x="2352" y="2160"/>
              <a:chExt cx="188" cy="188"/>
            </a:xfrm>
          </p:grpSpPr>
          <p:sp useBgFill="1">
            <p:nvSpPr>
              <p:cNvPr id="1415224" name="Rectangle 56"/>
              <p:cNvSpPr>
                <a:spLocks noChangeArrowheads="1"/>
              </p:cNvSpPr>
              <p:nvPr/>
            </p:nvSpPr>
            <p:spPr bwMode="auto">
              <a:xfrm>
                <a:off x="2452" y="2260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25" name="Line 57"/>
              <p:cNvSpPr>
                <a:spLocks noChangeShapeType="1"/>
              </p:cNvSpPr>
              <p:nvPr/>
            </p:nvSpPr>
            <p:spPr bwMode="auto">
              <a:xfrm flipV="1">
                <a:off x="2496" y="216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26" name="Line 58"/>
              <p:cNvSpPr>
                <a:spLocks noChangeShapeType="1"/>
              </p:cNvSpPr>
              <p:nvPr/>
            </p:nvSpPr>
            <p:spPr bwMode="auto">
              <a:xfrm flipH="1">
                <a:off x="2352" y="2304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4" name="Group 59"/>
            <p:cNvGrpSpPr>
              <a:grpSpLocks/>
            </p:cNvGrpSpPr>
            <p:nvPr/>
          </p:nvGrpSpPr>
          <p:grpSpPr bwMode="auto">
            <a:xfrm>
              <a:off x="2759" y="1955"/>
              <a:ext cx="156" cy="156"/>
              <a:chOff x="2352" y="2448"/>
              <a:chExt cx="188" cy="188"/>
            </a:xfrm>
          </p:grpSpPr>
          <p:sp useBgFill="1">
            <p:nvSpPr>
              <p:cNvPr id="1415228" name="Rectangle 60"/>
              <p:cNvSpPr>
                <a:spLocks noChangeArrowheads="1"/>
              </p:cNvSpPr>
              <p:nvPr/>
            </p:nvSpPr>
            <p:spPr bwMode="auto">
              <a:xfrm>
                <a:off x="2452" y="2548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29" name="Line 61"/>
              <p:cNvSpPr>
                <a:spLocks noChangeShapeType="1"/>
              </p:cNvSpPr>
              <p:nvPr/>
            </p:nvSpPr>
            <p:spPr bwMode="auto">
              <a:xfrm flipV="1">
                <a:off x="2496" y="244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30" name="Line 62"/>
              <p:cNvSpPr>
                <a:spLocks noChangeShapeType="1"/>
              </p:cNvSpPr>
              <p:nvPr/>
            </p:nvSpPr>
            <p:spPr bwMode="auto">
              <a:xfrm flipH="1">
                <a:off x="2352" y="2592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5" name="Group 63"/>
            <p:cNvGrpSpPr>
              <a:grpSpLocks/>
            </p:cNvGrpSpPr>
            <p:nvPr/>
          </p:nvGrpSpPr>
          <p:grpSpPr bwMode="auto">
            <a:xfrm>
              <a:off x="2998" y="1239"/>
              <a:ext cx="156" cy="156"/>
              <a:chOff x="2640" y="1584"/>
              <a:chExt cx="188" cy="188"/>
            </a:xfrm>
          </p:grpSpPr>
          <p:sp useBgFill="1">
            <p:nvSpPr>
              <p:cNvPr id="1415232" name="Rectangle 64"/>
              <p:cNvSpPr>
                <a:spLocks noChangeArrowheads="1"/>
              </p:cNvSpPr>
              <p:nvPr/>
            </p:nvSpPr>
            <p:spPr bwMode="auto">
              <a:xfrm>
                <a:off x="2740" y="1684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33" name="Line 65"/>
              <p:cNvSpPr>
                <a:spLocks noChangeShapeType="1"/>
              </p:cNvSpPr>
              <p:nvPr/>
            </p:nvSpPr>
            <p:spPr bwMode="auto">
              <a:xfrm flipV="1">
                <a:off x="2784" y="158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34" name="Line 66"/>
              <p:cNvSpPr>
                <a:spLocks noChangeShapeType="1"/>
              </p:cNvSpPr>
              <p:nvPr/>
            </p:nvSpPr>
            <p:spPr bwMode="auto">
              <a:xfrm flipH="1">
                <a:off x="2640" y="1728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6" name="Group 67"/>
            <p:cNvGrpSpPr>
              <a:grpSpLocks/>
            </p:cNvGrpSpPr>
            <p:nvPr/>
          </p:nvGrpSpPr>
          <p:grpSpPr bwMode="auto">
            <a:xfrm>
              <a:off x="2998" y="1478"/>
              <a:ext cx="156" cy="156"/>
              <a:chOff x="2640" y="1872"/>
              <a:chExt cx="188" cy="188"/>
            </a:xfrm>
          </p:grpSpPr>
          <p:sp useBgFill="1">
            <p:nvSpPr>
              <p:cNvPr id="1415236" name="Rectangle 68"/>
              <p:cNvSpPr>
                <a:spLocks noChangeArrowheads="1"/>
              </p:cNvSpPr>
              <p:nvPr/>
            </p:nvSpPr>
            <p:spPr bwMode="auto">
              <a:xfrm>
                <a:off x="2740" y="1972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37" name="Line 69"/>
              <p:cNvSpPr>
                <a:spLocks noChangeShapeType="1"/>
              </p:cNvSpPr>
              <p:nvPr/>
            </p:nvSpPr>
            <p:spPr bwMode="auto">
              <a:xfrm flipV="1">
                <a:off x="2784" y="1872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38" name="Line 70"/>
              <p:cNvSpPr>
                <a:spLocks noChangeShapeType="1"/>
              </p:cNvSpPr>
              <p:nvPr/>
            </p:nvSpPr>
            <p:spPr bwMode="auto">
              <a:xfrm flipH="1">
                <a:off x="2640" y="2016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7" name="Group 71"/>
            <p:cNvGrpSpPr>
              <a:grpSpLocks/>
            </p:cNvGrpSpPr>
            <p:nvPr/>
          </p:nvGrpSpPr>
          <p:grpSpPr bwMode="auto">
            <a:xfrm>
              <a:off x="2998" y="1717"/>
              <a:ext cx="156" cy="156"/>
              <a:chOff x="2640" y="2160"/>
              <a:chExt cx="188" cy="188"/>
            </a:xfrm>
          </p:grpSpPr>
          <p:sp useBgFill="1">
            <p:nvSpPr>
              <p:cNvPr id="1415240" name="Rectangle 72"/>
              <p:cNvSpPr>
                <a:spLocks noChangeArrowheads="1"/>
              </p:cNvSpPr>
              <p:nvPr/>
            </p:nvSpPr>
            <p:spPr bwMode="auto">
              <a:xfrm>
                <a:off x="2740" y="2260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41" name="Line 73"/>
              <p:cNvSpPr>
                <a:spLocks noChangeShapeType="1"/>
              </p:cNvSpPr>
              <p:nvPr/>
            </p:nvSpPr>
            <p:spPr bwMode="auto">
              <a:xfrm flipV="1">
                <a:off x="2784" y="216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42" name="Line 74"/>
              <p:cNvSpPr>
                <a:spLocks noChangeShapeType="1"/>
              </p:cNvSpPr>
              <p:nvPr/>
            </p:nvSpPr>
            <p:spPr bwMode="auto">
              <a:xfrm flipH="1">
                <a:off x="2640" y="2304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8" name="Group 75"/>
            <p:cNvGrpSpPr>
              <a:grpSpLocks/>
            </p:cNvGrpSpPr>
            <p:nvPr/>
          </p:nvGrpSpPr>
          <p:grpSpPr bwMode="auto">
            <a:xfrm>
              <a:off x="2998" y="1955"/>
              <a:ext cx="156" cy="156"/>
              <a:chOff x="2640" y="2448"/>
              <a:chExt cx="188" cy="188"/>
            </a:xfrm>
          </p:grpSpPr>
          <p:sp useBgFill="1">
            <p:nvSpPr>
              <p:cNvPr id="1415244" name="Rectangle 76"/>
              <p:cNvSpPr>
                <a:spLocks noChangeArrowheads="1"/>
              </p:cNvSpPr>
              <p:nvPr/>
            </p:nvSpPr>
            <p:spPr bwMode="auto">
              <a:xfrm>
                <a:off x="2740" y="2548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45" name="Line 77"/>
              <p:cNvSpPr>
                <a:spLocks noChangeShapeType="1"/>
              </p:cNvSpPr>
              <p:nvPr/>
            </p:nvSpPr>
            <p:spPr bwMode="auto">
              <a:xfrm flipV="1">
                <a:off x="2784" y="244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46" name="Line 78"/>
              <p:cNvSpPr>
                <a:spLocks noChangeShapeType="1"/>
              </p:cNvSpPr>
              <p:nvPr/>
            </p:nvSpPr>
            <p:spPr bwMode="auto">
              <a:xfrm flipH="1">
                <a:off x="2640" y="2592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9" name="Group 79"/>
            <p:cNvGrpSpPr>
              <a:grpSpLocks/>
            </p:cNvGrpSpPr>
            <p:nvPr/>
          </p:nvGrpSpPr>
          <p:grpSpPr bwMode="auto">
            <a:xfrm>
              <a:off x="3237" y="1239"/>
              <a:ext cx="155" cy="156"/>
              <a:chOff x="2928" y="1584"/>
              <a:chExt cx="188" cy="188"/>
            </a:xfrm>
          </p:grpSpPr>
          <p:sp useBgFill="1">
            <p:nvSpPr>
              <p:cNvPr id="1415248" name="Rectangle 80"/>
              <p:cNvSpPr>
                <a:spLocks noChangeArrowheads="1"/>
              </p:cNvSpPr>
              <p:nvPr/>
            </p:nvSpPr>
            <p:spPr bwMode="auto">
              <a:xfrm>
                <a:off x="3028" y="1684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49" name="Line 81"/>
              <p:cNvSpPr>
                <a:spLocks noChangeShapeType="1"/>
              </p:cNvSpPr>
              <p:nvPr/>
            </p:nvSpPr>
            <p:spPr bwMode="auto">
              <a:xfrm flipV="1">
                <a:off x="3072" y="158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50" name="Line 82"/>
              <p:cNvSpPr>
                <a:spLocks noChangeShapeType="1"/>
              </p:cNvSpPr>
              <p:nvPr/>
            </p:nvSpPr>
            <p:spPr bwMode="auto">
              <a:xfrm flipH="1">
                <a:off x="2928" y="1728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0" name="Group 83"/>
            <p:cNvGrpSpPr>
              <a:grpSpLocks/>
            </p:cNvGrpSpPr>
            <p:nvPr/>
          </p:nvGrpSpPr>
          <p:grpSpPr bwMode="auto">
            <a:xfrm>
              <a:off x="3237" y="1478"/>
              <a:ext cx="155" cy="156"/>
              <a:chOff x="2928" y="1872"/>
              <a:chExt cx="188" cy="188"/>
            </a:xfrm>
          </p:grpSpPr>
          <p:sp useBgFill="1">
            <p:nvSpPr>
              <p:cNvPr id="1415252" name="Rectangle 84"/>
              <p:cNvSpPr>
                <a:spLocks noChangeArrowheads="1"/>
              </p:cNvSpPr>
              <p:nvPr/>
            </p:nvSpPr>
            <p:spPr bwMode="auto">
              <a:xfrm>
                <a:off x="3028" y="1972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53" name="Line 85"/>
              <p:cNvSpPr>
                <a:spLocks noChangeShapeType="1"/>
              </p:cNvSpPr>
              <p:nvPr/>
            </p:nvSpPr>
            <p:spPr bwMode="auto">
              <a:xfrm flipV="1">
                <a:off x="3072" y="1872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54" name="Line 86"/>
              <p:cNvSpPr>
                <a:spLocks noChangeShapeType="1"/>
              </p:cNvSpPr>
              <p:nvPr/>
            </p:nvSpPr>
            <p:spPr bwMode="auto">
              <a:xfrm flipH="1">
                <a:off x="2928" y="2016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1" name="Group 87"/>
            <p:cNvGrpSpPr>
              <a:grpSpLocks/>
            </p:cNvGrpSpPr>
            <p:nvPr/>
          </p:nvGrpSpPr>
          <p:grpSpPr bwMode="auto">
            <a:xfrm>
              <a:off x="3237" y="1717"/>
              <a:ext cx="155" cy="156"/>
              <a:chOff x="2928" y="2160"/>
              <a:chExt cx="188" cy="188"/>
            </a:xfrm>
          </p:grpSpPr>
          <p:sp useBgFill="1">
            <p:nvSpPr>
              <p:cNvPr id="1415256" name="Rectangle 88"/>
              <p:cNvSpPr>
                <a:spLocks noChangeArrowheads="1"/>
              </p:cNvSpPr>
              <p:nvPr/>
            </p:nvSpPr>
            <p:spPr bwMode="auto">
              <a:xfrm>
                <a:off x="3028" y="2260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57" name="Line 89"/>
              <p:cNvSpPr>
                <a:spLocks noChangeShapeType="1"/>
              </p:cNvSpPr>
              <p:nvPr/>
            </p:nvSpPr>
            <p:spPr bwMode="auto">
              <a:xfrm flipV="1">
                <a:off x="3072" y="216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58" name="Line 90"/>
              <p:cNvSpPr>
                <a:spLocks noChangeShapeType="1"/>
              </p:cNvSpPr>
              <p:nvPr/>
            </p:nvSpPr>
            <p:spPr bwMode="auto">
              <a:xfrm flipH="1">
                <a:off x="2928" y="2304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2" name="Group 91"/>
            <p:cNvGrpSpPr>
              <a:grpSpLocks/>
            </p:cNvGrpSpPr>
            <p:nvPr/>
          </p:nvGrpSpPr>
          <p:grpSpPr bwMode="auto">
            <a:xfrm>
              <a:off x="3237" y="1955"/>
              <a:ext cx="155" cy="156"/>
              <a:chOff x="2928" y="2448"/>
              <a:chExt cx="188" cy="188"/>
            </a:xfrm>
          </p:grpSpPr>
          <p:sp useBgFill="1">
            <p:nvSpPr>
              <p:cNvPr id="1415260" name="Rectangle 92"/>
              <p:cNvSpPr>
                <a:spLocks noChangeArrowheads="1"/>
              </p:cNvSpPr>
              <p:nvPr/>
            </p:nvSpPr>
            <p:spPr bwMode="auto">
              <a:xfrm>
                <a:off x="3028" y="2548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61" name="Line 93"/>
              <p:cNvSpPr>
                <a:spLocks noChangeShapeType="1"/>
              </p:cNvSpPr>
              <p:nvPr/>
            </p:nvSpPr>
            <p:spPr bwMode="auto">
              <a:xfrm flipV="1">
                <a:off x="3072" y="244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62" name="Line 94"/>
              <p:cNvSpPr>
                <a:spLocks noChangeShapeType="1"/>
              </p:cNvSpPr>
              <p:nvPr/>
            </p:nvSpPr>
            <p:spPr bwMode="auto">
              <a:xfrm flipH="1">
                <a:off x="2928" y="2592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3" name="Group 95"/>
            <p:cNvGrpSpPr>
              <a:grpSpLocks/>
            </p:cNvGrpSpPr>
            <p:nvPr/>
          </p:nvGrpSpPr>
          <p:grpSpPr bwMode="auto">
            <a:xfrm>
              <a:off x="3475" y="1239"/>
              <a:ext cx="156" cy="156"/>
              <a:chOff x="3216" y="1584"/>
              <a:chExt cx="188" cy="188"/>
            </a:xfrm>
          </p:grpSpPr>
          <p:sp useBgFill="1">
            <p:nvSpPr>
              <p:cNvPr id="1415264" name="Rectangle 96"/>
              <p:cNvSpPr>
                <a:spLocks noChangeArrowheads="1"/>
              </p:cNvSpPr>
              <p:nvPr/>
            </p:nvSpPr>
            <p:spPr bwMode="auto">
              <a:xfrm>
                <a:off x="3316" y="1684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65" name="Line 97"/>
              <p:cNvSpPr>
                <a:spLocks noChangeShapeType="1"/>
              </p:cNvSpPr>
              <p:nvPr/>
            </p:nvSpPr>
            <p:spPr bwMode="auto">
              <a:xfrm flipV="1">
                <a:off x="3360" y="158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66" name="Line 98"/>
              <p:cNvSpPr>
                <a:spLocks noChangeShapeType="1"/>
              </p:cNvSpPr>
              <p:nvPr/>
            </p:nvSpPr>
            <p:spPr bwMode="auto">
              <a:xfrm flipH="1">
                <a:off x="3216" y="1728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4" name="Group 99"/>
            <p:cNvGrpSpPr>
              <a:grpSpLocks/>
            </p:cNvGrpSpPr>
            <p:nvPr/>
          </p:nvGrpSpPr>
          <p:grpSpPr bwMode="auto">
            <a:xfrm>
              <a:off x="3475" y="1478"/>
              <a:ext cx="156" cy="156"/>
              <a:chOff x="3216" y="1872"/>
              <a:chExt cx="188" cy="188"/>
            </a:xfrm>
          </p:grpSpPr>
          <p:sp useBgFill="1">
            <p:nvSpPr>
              <p:cNvPr id="1415268" name="Rectangle 100"/>
              <p:cNvSpPr>
                <a:spLocks noChangeArrowheads="1"/>
              </p:cNvSpPr>
              <p:nvPr/>
            </p:nvSpPr>
            <p:spPr bwMode="auto">
              <a:xfrm>
                <a:off x="3316" y="1972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69" name="Line 101"/>
              <p:cNvSpPr>
                <a:spLocks noChangeShapeType="1"/>
              </p:cNvSpPr>
              <p:nvPr/>
            </p:nvSpPr>
            <p:spPr bwMode="auto">
              <a:xfrm flipV="1">
                <a:off x="3360" y="1872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70" name="Line 102"/>
              <p:cNvSpPr>
                <a:spLocks noChangeShapeType="1"/>
              </p:cNvSpPr>
              <p:nvPr/>
            </p:nvSpPr>
            <p:spPr bwMode="auto">
              <a:xfrm flipH="1">
                <a:off x="3216" y="2016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5" name="Group 103"/>
            <p:cNvGrpSpPr>
              <a:grpSpLocks/>
            </p:cNvGrpSpPr>
            <p:nvPr/>
          </p:nvGrpSpPr>
          <p:grpSpPr bwMode="auto">
            <a:xfrm>
              <a:off x="3475" y="1717"/>
              <a:ext cx="156" cy="156"/>
              <a:chOff x="3216" y="2160"/>
              <a:chExt cx="188" cy="188"/>
            </a:xfrm>
          </p:grpSpPr>
          <p:sp useBgFill="1">
            <p:nvSpPr>
              <p:cNvPr id="1415272" name="Rectangle 104"/>
              <p:cNvSpPr>
                <a:spLocks noChangeArrowheads="1"/>
              </p:cNvSpPr>
              <p:nvPr/>
            </p:nvSpPr>
            <p:spPr bwMode="auto">
              <a:xfrm>
                <a:off x="3316" y="2260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73" name="Line 105"/>
              <p:cNvSpPr>
                <a:spLocks noChangeShapeType="1"/>
              </p:cNvSpPr>
              <p:nvPr/>
            </p:nvSpPr>
            <p:spPr bwMode="auto">
              <a:xfrm flipV="1">
                <a:off x="3360" y="216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74" name="Line 106"/>
              <p:cNvSpPr>
                <a:spLocks noChangeShapeType="1"/>
              </p:cNvSpPr>
              <p:nvPr/>
            </p:nvSpPr>
            <p:spPr bwMode="auto">
              <a:xfrm flipH="1">
                <a:off x="3216" y="2304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6" name="Group 107"/>
            <p:cNvGrpSpPr>
              <a:grpSpLocks/>
            </p:cNvGrpSpPr>
            <p:nvPr/>
          </p:nvGrpSpPr>
          <p:grpSpPr bwMode="auto">
            <a:xfrm>
              <a:off x="3475" y="1955"/>
              <a:ext cx="156" cy="156"/>
              <a:chOff x="3216" y="2448"/>
              <a:chExt cx="188" cy="188"/>
            </a:xfrm>
          </p:grpSpPr>
          <p:sp useBgFill="1">
            <p:nvSpPr>
              <p:cNvPr id="1415276" name="Rectangle 108"/>
              <p:cNvSpPr>
                <a:spLocks noChangeArrowheads="1"/>
              </p:cNvSpPr>
              <p:nvPr/>
            </p:nvSpPr>
            <p:spPr bwMode="auto">
              <a:xfrm>
                <a:off x="3316" y="2548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77" name="Line 109"/>
              <p:cNvSpPr>
                <a:spLocks noChangeShapeType="1"/>
              </p:cNvSpPr>
              <p:nvPr/>
            </p:nvSpPr>
            <p:spPr bwMode="auto">
              <a:xfrm flipV="1">
                <a:off x="3360" y="244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78" name="Line 110"/>
              <p:cNvSpPr>
                <a:spLocks noChangeShapeType="1"/>
              </p:cNvSpPr>
              <p:nvPr/>
            </p:nvSpPr>
            <p:spPr bwMode="auto">
              <a:xfrm flipH="1">
                <a:off x="3216" y="2592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415279" name="Line 111"/>
            <p:cNvSpPr>
              <a:spLocks noChangeShapeType="1"/>
            </p:cNvSpPr>
            <p:nvPr/>
          </p:nvSpPr>
          <p:spPr bwMode="auto">
            <a:xfrm>
              <a:off x="2123" y="1955"/>
              <a:ext cx="163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280" name="Rectangle 112"/>
            <p:cNvSpPr>
              <a:spLocks noChangeArrowheads="1"/>
            </p:cNvSpPr>
            <p:nvPr/>
          </p:nvSpPr>
          <p:spPr bwMode="auto">
            <a:xfrm>
              <a:off x="2084" y="760"/>
              <a:ext cx="396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Col.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1</a:t>
              </a:r>
            </a:p>
          </p:txBody>
        </p:sp>
        <p:sp>
          <p:nvSpPr>
            <p:cNvPr id="1415281" name="Rectangle 113"/>
            <p:cNvSpPr>
              <a:spLocks noChangeArrowheads="1"/>
            </p:cNvSpPr>
            <p:nvPr/>
          </p:nvSpPr>
          <p:spPr bwMode="auto">
            <a:xfrm>
              <a:off x="3316" y="760"/>
              <a:ext cx="396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Col.</a:t>
              </a:r>
              <a:br>
                <a:rPr lang="en-US" sz="1800">
                  <a:solidFill>
                    <a:schemeClr val="tx1"/>
                  </a:solidFill>
                  <a:latin typeface="Verdana" charset="0"/>
                </a:rPr>
              </a:b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2</a:t>
              </a:r>
              <a:r>
                <a:rPr lang="en-US" sz="1800" baseline="30000">
                  <a:solidFill>
                    <a:schemeClr val="tx1"/>
                  </a:solidFill>
                  <a:latin typeface="Verdana" charset="0"/>
                </a:rPr>
                <a:t>M</a:t>
              </a:r>
            </a:p>
          </p:txBody>
        </p:sp>
        <p:sp>
          <p:nvSpPr>
            <p:cNvPr id="1415282" name="Rectangle 114"/>
            <p:cNvSpPr>
              <a:spLocks noChangeArrowheads="1"/>
            </p:cNvSpPr>
            <p:nvPr/>
          </p:nvSpPr>
          <p:spPr bwMode="auto">
            <a:xfrm>
              <a:off x="3784" y="1129"/>
              <a:ext cx="564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Row 1</a:t>
              </a:r>
            </a:p>
          </p:txBody>
        </p:sp>
        <p:sp>
          <p:nvSpPr>
            <p:cNvPr id="1415283" name="Rectangle 115"/>
            <p:cNvSpPr>
              <a:spLocks noChangeArrowheads="1"/>
            </p:cNvSpPr>
            <p:nvPr/>
          </p:nvSpPr>
          <p:spPr bwMode="auto">
            <a:xfrm>
              <a:off x="3784" y="1837"/>
              <a:ext cx="635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Row 2</a:t>
              </a:r>
              <a:r>
                <a:rPr lang="en-US" sz="1800" baseline="30000">
                  <a:solidFill>
                    <a:schemeClr val="tx1"/>
                  </a:solidFill>
                  <a:latin typeface="Verdana" charset="0"/>
                </a:rPr>
                <a:t>N</a:t>
              </a:r>
            </a:p>
          </p:txBody>
        </p:sp>
        <p:sp useBgFill="1">
          <p:nvSpPr>
            <p:cNvPr id="1415284" name="Rectangle 116"/>
            <p:cNvSpPr>
              <a:spLocks noChangeArrowheads="1"/>
            </p:cNvSpPr>
            <p:nvPr/>
          </p:nvSpPr>
          <p:spPr bwMode="auto">
            <a:xfrm>
              <a:off x="2144" y="2436"/>
              <a:ext cx="1487" cy="340"/>
            </a:xfrm>
            <a:prstGeom prst="rect">
              <a:avLst/>
            </a:prstGeom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285" name="Rectangle 117"/>
            <p:cNvSpPr>
              <a:spLocks noChangeArrowheads="1"/>
            </p:cNvSpPr>
            <p:nvPr/>
          </p:nvSpPr>
          <p:spPr bwMode="auto">
            <a:xfrm>
              <a:off x="2096" y="2424"/>
              <a:ext cx="1584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Column Decoder &amp; Sense Amplifiers</a:t>
              </a:r>
            </a:p>
          </p:txBody>
        </p:sp>
        <p:sp>
          <p:nvSpPr>
            <p:cNvPr id="1415286" name="Line 118"/>
            <p:cNvSpPr>
              <a:spLocks noChangeShapeType="1"/>
            </p:cNvSpPr>
            <p:nvPr/>
          </p:nvSpPr>
          <p:spPr bwMode="auto">
            <a:xfrm>
              <a:off x="1225" y="2571"/>
              <a:ext cx="91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287" name="Freeform 119"/>
            <p:cNvSpPr>
              <a:spLocks/>
            </p:cNvSpPr>
            <p:nvPr/>
          </p:nvSpPr>
          <p:spPr bwMode="auto">
            <a:xfrm>
              <a:off x="1424" y="1576"/>
              <a:ext cx="279" cy="996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0" y="0"/>
                </a:cxn>
                <a:cxn ang="0">
                  <a:pos x="336" y="0"/>
                </a:cxn>
              </a:cxnLst>
              <a:rect l="0" t="0" r="r" b="b"/>
              <a:pathLst>
                <a:path w="337" h="1201">
                  <a:moveTo>
                    <a:pt x="0" y="1200"/>
                  </a:moveTo>
                  <a:lnTo>
                    <a:pt x="0" y="0"/>
                  </a:lnTo>
                  <a:lnTo>
                    <a:pt x="336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stealth" w="med" len="lg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288" name="Rectangle 120"/>
            <p:cNvSpPr>
              <a:spLocks noChangeArrowheads="1"/>
            </p:cNvSpPr>
            <p:nvPr/>
          </p:nvSpPr>
          <p:spPr bwMode="auto">
            <a:xfrm>
              <a:off x="1520" y="2344"/>
              <a:ext cx="237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M</a:t>
              </a:r>
            </a:p>
          </p:txBody>
        </p:sp>
        <p:sp>
          <p:nvSpPr>
            <p:cNvPr id="1415289" name="Rectangle 121"/>
            <p:cNvSpPr>
              <a:spLocks noChangeArrowheads="1"/>
            </p:cNvSpPr>
            <p:nvPr/>
          </p:nvSpPr>
          <p:spPr bwMode="auto">
            <a:xfrm>
              <a:off x="1328" y="1384"/>
              <a:ext cx="224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N</a:t>
              </a:r>
            </a:p>
          </p:txBody>
        </p:sp>
        <p:sp>
          <p:nvSpPr>
            <p:cNvPr id="1415290" name="Rectangle 122"/>
            <p:cNvSpPr>
              <a:spLocks noChangeArrowheads="1"/>
            </p:cNvSpPr>
            <p:nvPr/>
          </p:nvSpPr>
          <p:spPr bwMode="auto">
            <a:xfrm>
              <a:off x="896" y="2392"/>
              <a:ext cx="463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N+M</a:t>
              </a:r>
            </a:p>
          </p:txBody>
        </p:sp>
        <p:sp>
          <p:nvSpPr>
            <p:cNvPr id="1415291" name="Line 123"/>
            <p:cNvSpPr>
              <a:spLocks noChangeShapeType="1"/>
            </p:cNvSpPr>
            <p:nvPr/>
          </p:nvSpPr>
          <p:spPr bwMode="auto">
            <a:xfrm flipH="1">
              <a:off x="1702" y="2527"/>
              <a:ext cx="40" cy="9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292" name="Line 124"/>
            <p:cNvSpPr>
              <a:spLocks noChangeShapeType="1"/>
            </p:cNvSpPr>
            <p:nvPr/>
          </p:nvSpPr>
          <p:spPr bwMode="auto">
            <a:xfrm flipH="1">
              <a:off x="1503" y="1532"/>
              <a:ext cx="40" cy="9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293" name="Rectangle 125"/>
            <p:cNvSpPr>
              <a:spLocks noChangeArrowheads="1"/>
            </p:cNvSpPr>
            <p:nvPr/>
          </p:nvSpPr>
          <p:spPr bwMode="auto">
            <a:xfrm>
              <a:off x="2768" y="624"/>
              <a:ext cx="763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009900"/>
                  </a:solidFill>
                  <a:latin typeface="Verdana" charset="0"/>
                </a:rPr>
                <a:t>bit lines</a:t>
              </a:r>
            </a:p>
          </p:txBody>
        </p:sp>
        <p:sp>
          <p:nvSpPr>
            <p:cNvPr id="1415294" name="Line 126"/>
            <p:cNvSpPr>
              <a:spLocks noChangeShapeType="1"/>
            </p:cNvSpPr>
            <p:nvPr/>
          </p:nvSpPr>
          <p:spPr bwMode="auto">
            <a:xfrm flipH="1">
              <a:off x="2534" y="762"/>
              <a:ext cx="232" cy="302"/>
            </a:xfrm>
            <a:prstGeom prst="line">
              <a:avLst/>
            </a:prstGeom>
            <a:noFill/>
            <a:ln w="12700">
              <a:solidFill>
                <a:srgbClr val="0099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295" name="Rectangle 127"/>
            <p:cNvSpPr>
              <a:spLocks noChangeArrowheads="1"/>
            </p:cNvSpPr>
            <p:nvPr/>
          </p:nvSpPr>
          <p:spPr bwMode="auto">
            <a:xfrm>
              <a:off x="3971" y="748"/>
              <a:ext cx="959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FF0000"/>
                  </a:solidFill>
                  <a:latin typeface="Verdana" charset="0"/>
                </a:rPr>
                <a:t>word lines</a:t>
              </a:r>
            </a:p>
          </p:txBody>
        </p:sp>
        <p:sp>
          <p:nvSpPr>
            <p:cNvPr id="1415296" name="Line 128"/>
            <p:cNvSpPr>
              <a:spLocks noChangeShapeType="1"/>
            </p:cNvSpPr>
            <p:nvPr/>
          </p:nvSpPr>
          <p:spPr bwMode="auto">
            <a:xfrm flipH="1">
              <a:off x="3674" y="898"/>
              <a:ext cx="335" cy="34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297" name="Rectangle 129"/>
            <p:cNvSpPr>
              <a:spLocks noChangeArrowheads="1"/>
            </p:cNvSpPr>
            <p:nvPr/>
          </p:nvSpPr>
          <p:spPr bwMode="auto">
            <a:xfrm>
              <a:off x="3696" y="2152"/>
              <a:ext cx="1020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Memory cell</a:t>
              </a:r>
              <a:br>
                <a:rPr lang="en-US" sz="1800">
                  <a:solidFill>
                    <a:schemeClr val="tx1"/>
                  </a:solidFill>
                  <a:latin typeface="Verdana" charset="0"/>
                </a:rPr>
              </a:b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(one bit)</a:t>
              </a:r>
            </a:p>
          </p:txBody>
        </p:sp>
        <p:sp>
          <p:nvSpPr>
            <p:cNvPr id="1415298" name="Line 130"/>
            <p:cNvSpPr>
              <a:spLocks noChangeShapeType="1"/>
            </p:cNvSpPr>
            <p:nvPr/>
          </p:nvSpPr>
          <p:spPr bwMode="auto">
            <a:xfrm flipH="1" flipV="1">
              <a:off x="3634" y="2115"/>
              <a:ext cx="120" cy="19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299" name="Line 131"/>
            <p:cNvSpPr>
              <a:spLocks noChangeShapeType="1"/>
            </p:cNvSpPr>
            <p:nvPr/>
          </p:nvSpPr>
          <p:spPr bwMode="auto">
            <a:xfrm>
              <a:off x="2878" y="2751"/>
              <a:ext cx="0" cy="3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300" name="Line 132"/>
            <p:cNvSpPr>
              <a:spLocks noChangeShapeType="1"/>
            </p:cNvSpPr>
            <p:nvPr/>
          </p:nvSpPr>
          <p:spPr bwMode="auto">
            <a:xfrm flipH="1" flipV="1">
              <a:off x="2831" y="2895"/>
              <a:ext cx="99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301" name="Rectangle 133"/>
            <p:cNvSpPr>
              <a:spLocks noChangeArrowheads="1"/>
            </p:cNvSpPr>
            <p:nvPr/>
          </p:nvSpPr>
          <p:spPr bwMode="auto">
            <a:xfrm>
              <a:off x="2910" y="2865"/>
              <a:ext cx="227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D</a:t>
              </a:r>
            </a:p>
          </p:txBody>
        </p:sp>
        <p:sp>
          <p:nvSpPr>
            <p:cNvPr id="1415302" name="Rectangle 134"/>
            <p:cNvSpPr>
              <a:spLocks noChangeArrowheads="1"/>
            </p:cNvSpPr>
            <p:nvPr/>
          </p:nvSpPr>
          <p:spPr bwMode="auto">
            <a:xfrm>
              <a:off x="2423" y="2927"/>
              <a:ext cx="457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Data</a:t>
              </a:r>
            </a:p>
          </p:txBody>
        </p:sp>
      </p:grpSp>
      <p:sp>
        <p:nvSpPr>
          <p:cNvPr id="1415303" name="Text Box 135"/>
          <p:cNvSpPr txBox="1">
            <a:spLocks noChangeArrowheads="1"/>
          </p:cNvSpPr>
          <p:nvPr/>
        </p:nvSpPr>
        <p:spPr bwMode="auto">
          <a:xfrm>
            <a:off x="381000" y="5562600"/>
            <a:ext cx="84582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US" sz="2400">
              <a:solidFill>
                <a:schemeClr val="tx1"/>
              </a:solidFill>
              <a:latin typeface="Verdana" charset="0"/>
            </a:endParaRPr>
          </a:p>
        </p:txBody>
      </p:sp>
      <p:sp>
        <p:nvSpPr>
          <p:cNvPr id="1415304" name="Text Box 136"/>
          <p:cNvSpPr txBox="1">
            <a:spLocks noChangeArrowheads="1"/>
          </p:cNvSpPr>
          <p:nvPr/>
        </p:nvSpPr>
        <p:spPr bwMode="auto">
          <a:xfrm>
            <a:off x="381000" y="5029200"/>
            <a:ext cx="8521700" cy="12668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buFontTx/>
              <a:buChar char="•"/>
            </a:pPr>
            <a:r>
              <a:rPr lang="en-US" sz="2000" dirty="0">
                <a:solidFill>
                  <a:schemeClr val="tx1"/>
                </a:solidFill>
                <a:latin typeface="Verdana" charset="0"/>
              </a:rPr>
              <a:t> Bits stored in 2-dimensional arrays on chip</a:t>
            </a:r>
          </a:p>
          <a:p>
            <a:pPr>
              <a:buFontTx/>
              <a:buChar char="•"/>
            </a:pPr>
            <a:r>
              <a:rPr lang="en-US" sz="2000" dirty="0">
                <a:solidFill>
                  <a:schemeClr val="tx1"/>
                </a:solidFill>
                <a:latin typeface="Verdana" charset="0"/>
              </a:rPr>
              <a:t> Modern chips have around 4-8 logical banks on each chip</a:t>
            </a:r>
          </a:p>
          <a:p>
            <a:pPr lvl="1">
              <a:buFontTx/>
              <a:buChar char="–"/>
            </a:pP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 each logical bank physically implemented as many smaller arrays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16139-1FDB-6047-8FDA-22ED39B0BA1A}" type="slidenum">
              <a:rPr lang="en-US"/>
              <a:pPr/>
              <a:t>7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1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" y="76200"/>
            <a:ext cx="7162800" cy="838200"/>
          </a:xfrm>
        </p:spPr>
        <p:txBody>
          <a:bodyPr/>
          <a:lstStyle/>
          <a:p>
            <a:r>
              <a:rPr lang="en-US"/>
              <a:t>DRAM Operation</a:t>
            </a:r>
          </a:p>
        </p:txBody>
      </p:sp>
      <p:sp>
        <p:nvSpPr>
          <p:cNvPr id="141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685800"/>
            <a:ext cx="8216900" cy="5638800"/>
          </a:xfrm>
          <a:noFill/>
          <a:ln/>
        </p:spPr>
        <p:txBody>
          <a:bodyPr/>
          <a:lstStyle/>
          <a:p>
            <a:pPr marL="342900" indent="-342900">
              <a:spcBef>
                <a:spcPct val="0"/>
              </a:spcBef>
              <a:buFontTx/>
              <a:buNone/>
            </a:pPr>
            <a:r>
              <a:rPr lang="en-US" sz="2000" dirty="0"/>
              <a:t>Three steps in read/write access to a given bank</a:t>
            </a:r>
          </a:p>
          <a:p>
            <a:pPr marL="342900" indent="-342900">
              <a:spcBef>
                <a:spcPct val="0"/>
              </a:spcBef>
            </a:pPr>
            <a:r>
              <a:rPr lang="en-US" sz="2000" dirty="0"/>
              <a:t>Row access (RAS)</a:t>
            </a:r>
          </a:p>
          <a:p>
            <a:pPr marL="742950" lvl="1" indent="-285750">
              <a:spcBef>
                <a:spcPct val="0"/>
              </a:spcBef>
            </a:pPr>
            <a:r>
              <a:rPr lang="en-US" sz="1800" dirty="0"/>
              <a:t>Decode row address, enable addressed row (often multiple Kbytes in a row)</a:t>
            </a:r>
          </a:p>
          <a:p>
            <a:pPr marL="742950" lvl="1" indent="-285750">
              <a:spcBef>
                <a:spcPct val="0"/>
              </a:spcBef>
            </a:pPr>
            <a:r>
              <a:rPr lang="en-US" sz="1800" dirty="0"/>
              <a:t>Bit-lines share charge with storage cell</a:t>
            </a:r>
          </a:p>
          <a:p>
            <a:pPr marL="742950" lvl="1" indent="-285750">
              <a:spcBef>
                <a:spcPct val="0"/>
              </a:spcBef>
            </a:pPr>
            <a:r>
              <a:rPr lang="en-US" sz="1800" dirty="0"/>
              <a:t>Small change in voltage detected by sense amplifiers which latch whole row of bits</a:t>
            </a:r>
          </a:p>
          <a:p>
            <a:pPr marL="742950" lvl="1" indent="-285750">
              <a:spcBef>
                <a:spcPct val="0"/>
              </a:spcBef>
            </a:pPr>
            <a:r>
              <a:rPr lang="en-US" sz="1800" dirty="0"/>
              <a:t>Sense amplifiers drive bit-lines full rail to recharge storage cells</a:t>
            </a:r>
          </a:p>
          <a:p>
            <a:pPr marL="342900" indent="-342900">
              <a:spcBef>
                <a:spcPct val="0"/>
              </a:spcBef>
            </a:pPr>
            <a:r>
              <a:rPr lang="en-US" sz="2000" dirty="0"/>
              <a:t>Column access (CAS)</a:t>
            </a:r>
          </a:p>
          <a:p>
            <a:pPr marL="742950" lvl="1" indent="-285750">
              <a:spcBef>
                <a:spcPct val="0"/>
              </a:spcBef>
            </a:pPr>
            <a:r>
              <a:rPr lang="en-US" sz="1800" dirty="0"/>
              <a:t>Decode column address to select small number of sense amplifier latches (4, 8, 16, or 32 bits depending on DRAM package)</a:t>
            </a:r>
          </a:p>
          <a:p>
            <a:pPr marL="742950" lvl="1" indent="-285750">
              <a:spcBef>
                <a:spcPct val="0"/>
              </a:spcBef>
            </a:pPr>
            <a:r>
              <a:rPr lang="en-US" sz="1800" dirty="0"/>
              <a:t>On read, send latched bits out to chip pins</a:t>
            </a:r>
          </a:p>
          <a:p>
            <a:pPr marL="742950" lvl="1" indent="-285750">
              <a:spcBef>
                <a:spcPct val="0"/>
              </a:spcBef>
            </a:pPr>
            <a:r>
              <a:rPr lang="en-US" sz="1800" dirty="0"/>
              <a:t>On write, charge sense amplifier latches which then charge storage cells to required value</a:t>
            </a:r>
          </a:p>
          <a:p>
            <a:pPr marL="742950" lvl="1" indent="-285750">
              <a:spcBef>
                <a:spcPct val="0"/>
              </a:spcBef>
            </a:pPr>
            <a:r>
              <a:rPr lang="en-US" sz="1800" dirty="0"/>
              <a:t>Can perform multiple column accesses on same row without another row access (burst mode)</a:t>
            </a:r>
          </a:p>
          <a:p>
            <a:pPr marL="342900" indent="-342900">
              <a:spcBef>
                <a:spcPct val="0"/>
              </a:spcBef>
            </a:pPr>
            <a:r>
              <a:rPr lang="en-US" sz="2000" dirty="0"/>
              <a:t>Pre-charge</a:t>
            </a:r>
          </a:p>
          <a:p>
            <a:pPr marL="742950" lvl="1" indent="-285750">
              <a:spcBef>
                <a:spcPct val="0"/>
              </a:spcBef>
            </a:pPr>
            <a:r>
              <a:rPr lang="en-US" sz="1800" dirty="0"/>
              <a:t>Charges bit lines to known value, required before next row access</a:t>
            </a:r>
          </a:p>
          <a:p>
            <a:pPr marL="742950" lvl="1" indent="-285750">
              <a:spcBef>
                <a:spcPct val="0"/>
              </a:spcBef>
            </a:pPr>
            <a:endParaRPr lang="en-US" sz="1800" dirty="0"/>
          </a:p>
          <a:p>
            <a:pPr marL="342900" indent="-342900">
              <a:spcBef>
                <a:spcPct val="0"/>
              </a:spcBef>
              <a:buFontTx/>
              <a:buNone/>
            </a:pPr>
            <a:r>
              <a:rPr lang="en-US" sz="1200" dirty="0"/>
              <a:t>Each step has a latency of around 15-20ns in modern DRAMs</a:t>
            </a:r>
          </a:p>
          <a:p>
            <a:pPr marL="342900" indent="-342900">
              <a:spcBef>
                <a:spcPct val="0"/>
              </a:spcBef>
              <a:buFontTx/>
              <a:buNone/>
            </a:pPr>
            <a:r>
              <a:rPr lang="en-US" sz="1200" dirty="0"/>
              <a:t>Various DRAM standards (DDR, RDRAM) have different ways of encoding the signals for transmission to the DRAM, but all share same core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8AC73-7CE5-1548-894B-249BA76F2AA0}" type="slidenum">
              <a:rPr lang="en-US"/>
              <a:pPr/>
              <a:t>8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1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-152400"/>
            <a:ext cx="7162800" cy="1143000"/>
          </a:xfrm>
        </p:spPr>
        <p:txBody>
          <a:bodyPr/>
          <a:lstStyle/>
          <a:p>
            <a:r>
              <a:rPr lang="en-US" sz="2800"/>
              <a:t>Double-Data Rate (DDR2) DRAM</a:t>
            </a:r>
            <a:endParaRPr lang="en-US"/>
          </a:p>
        </p:txBody>
      </p:sp>
      <p:sp>
        <p:nvSpPr>
          <p:cNvPr id="141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172200"/>
            <a:ext cx="7772400" cy="533400"/>
          </a:xfrm>
          <a:noFill/>
          <a:ln/>
        </p:spPr>
        <p:txBody>
          <a:bodyPr wrap="none" anchor="ctr"/>
          <a:lstStyle/>
          <a:p>
            <a:pPr>
              <a:buFontTx/>
              <a:buNone/>
            </a:pPr>
            <a:r>
              <a:rPr lang="en-US" sz="1600" i="1"/>
              <a:t>[ Micron, 256Mb DDR2 SDRAM datasheet ]</a:t>
            </a:r>
          </a:p>
        </p:txBody>
      </p:sp>
      <p:pic>
        <p:nvPicPr>
          <p:cNvPr id="14192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838200"/>
            <a:ext cx="8153400" cy="52466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</p:pic>
      <p:sp>
        <p:nvSpPr>
          <p:cNvPr id="1419269" name="Text Box 5"/>
          <p:cNvSpPr txBox="1">
            <a:spLocks noChangeArrowheads="1"/>
          </p:cNvSpPr>
          <p:nvPr/>
        </p:nvSpPr>
        <p:spPr bwMode="auto">
          <a:xfrm>
            <a:off x="1728788" y="2011363"/>
            <a:ext cx="720725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b="1">
                <a:solidFill>
                  <a:schemeClr val="tx1"/>
                </a:solidFill>
              </a:rPr>
              <a:t>Row</a:t>
            </a:r>
          </a:p>
        </p:txBody>
      </p:sp>
      <p:sp>
        <p:nvSpPr>
          <p:cNvPr id="1419270" name="Text Box 6"/>
          <p:cNvSpPr txBox="1">
            <a:spLocks noChangeArrowheads="1"/>
          </p:cNvSpPr>
          <p:nvPr/>
        </p:nvSpPr>
        <p:spPr bwMode="auto">
          <a:xfrm>
            <a:off x="3525838" y="2011363"/>
            <a:ext cx="1128712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b="1">
                <a:solidFill>
                  <a:schemeClr val="tx1"/>
                </a:solidFill>
              </a:rPr>
              <a:t>Column</a:t>
            </a:r>
          </a:p>
        </p:txBody>
      </p:sp>
      <p:sp>
        <p:nvSpPr>
          <p:cNvPr id="1419271" name="Text Box 7"/>
          <p:cNvSpPr txBox="1">
            <a:spLocks noChangeArrowheads="1"/>
          </p:cNvSpPr>
          <p:nvPr/>
        </p:nvSpPr>
        <p:spPr bwMode="auto">
          <a:xfrm>
            <a:off x="5076825" y="2011363"/>
            <a:ext cx="1427163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b="1">
                <a:solidFill>
                  <a:schemeClr val="tx1"/>
                </a:solidFill>
              </a:rPr>
              <a:t>Precharge</a:t>
            </a:r>
          </a:p>
        </p:txBody>
      </p:sp>
      <p:sp>
        <p:nvSpPr>
          <p:cNvPr id="1419272" name="Freeform 8"/>
          <p:cNvSpPr>
            <a:spLocks/>
          </p:cNvSpPr>
          <p:nvPr/>
        </p:nvSpPr>
        <p:spPr bwMode="auto">
          <a:xfrm>
            <a:off x="2209800" y="1371600"/>
            <a:ext cx="2174875" cy="558800"/>
          </a:xfrm>
          <a:custGeom>
            <a:avLst/>
            <a:gdLst/>
            <a:ahLst/>
            <a:cxnLst>
              <a:cxn ang="0">
                <a:pos x="0" y="352"/>
              </a:cxn>
              <a:cxn ang="0">
                <a:pos x="82" y="270"/>
              </a:cxn>
              <a:cxn ang="0">
                <a:pos x="250" y="131"/>
              </a:cxn>
              <a:cxn ang="0">
                <a:pos x="693" y="0"/>
              </a:cxn>
              <a:cxn ang="0">
                <a:pos x="861" y="4"/>
              </a:cxn>
              <a:cxn ang="0">
                <a:pos x="910" y="20"/>
              </a:cxn>
              <a:cxn ang="0">
                <a:pos x="1083" y="98"/>
              </a:cxn>
              <a:cxn ang="0">
                <a:pos x="1243" y="221"/>
              </a:cxn>
              <a:cxn ang="0">
                <a:pos x="1271" y="233"/>
              </a:cxn>
              <a:cxn ang="0">
                <a:pos x="1280" y="246"/>
              </a:cxn>
              <a:cxn ang="0">
                <a:pos x="1329" y="287"/>
              </a:cxn>
              <a:cxn ang="0">
                <a:pos x="1354" y="328"/>
              </a:cxn>
              <a:cxn ang="0">
                <a:pos x="1370" y="336"/>
              </a:cxn>
            </a:cxnLst>
            <a:rect l="0" t="0" r="r" b="b"/>
            <a:pathLst>
              <a:path w="1370" h="352">
                <a:moveTo>
                  <a:pt x="0" y="352"/>
                </a:moveTo>
                <a:cubicBezTo>
                  <a:pt x="21" y="319"/>
                  <a:pt x="52" y="294"/>
                  <a:pt x="82" y="270"/>
                </a:cubicBezTo>
                <a:cubicBezTo>
                  <a:pt x="134" y="225"/>
                  <a:pt x="189" y="168"/>
                  <a:pt x="250" y="131"/>
                </a:cubicBezTo>
                <a:cubicBezTo>
                  <a:pt x="379" y="51"/>
                  <a:pt x="543" y="12"/>
                  <a:pt x="693" y="0"/>
                </a:cubicBezTo>
                <a:cubicBezTo>
                  <a:pt x="749" y="1"/>
                  <a:pt x="805" y="0"/>
                  <a:pt x="861" y="4"/>
                </a:cubicBezTo>
                <a:cubicBezTo>
                  <a:pt x="900" y="6"/>
                  <a:pt x="883" y="10"/>
                  <a:pt x="910" y="20"/>
                </a:cubicBezTo>
                <a:cubicBezTo>
                  <a:pt x="972" y="41"/>
                  <a:pt x="1026" y="65"/>
                  <a:pt x="1083" y="98"/>
                </a:cubicBezTo>
                <a:cubicBezTo>
                  <a:pt x="1125" y="122"/>
                  <a:pt x="1201" y="211"/>
                  <a:pt x="1243" y="221"/>
                </a:cubicBezTo>
                <a:cubicBezTo>
                  <a:pt x="1252" y="225"/>
                  <a:pt x="1263" y="226"/>
                  <a:pt x="1271" y="233"/>
                </a:cubicBezTo>
                <a:cubicBezTo>
                  <a:pt x="1275" y="236"/>
                  <a:pt x="1276" y="242"/>
                  <a:pt x="1280" y="246"/>
                </a:cubicBezTo>
                <a:cubicBezTo>
                  <a:pt x="1294" y="259"/>
                  <a:pt x="1313" y="275"/>
                  <a:pt x="1329" y="287"/>
                </a:cubicBezTo>
                <a:cubicBezTo>
                  <a:pt x="1331" y="297"/>
                  <a:pt x="1346" y="320"/>
                  <a:pt x="1354" y="328"/>
                </a:cubicBezTo>
                <a:cubicBezTo>
                  <a:pt x="1358" y="332"/>
                  <a:pt x="1365" y="331"/>
                  <a:pt x="1370" y="336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19273" name="Freeform 9"/>
          <p:cNvSpPr>
            <a:spLocks/>
          </p:cNvSpPr>
          <p:nvPr/>
        </p:nvSpPr>
        <p:spPr bwMode="auto">
          <a:xfrm>
            <a:off x="4402138" y="1347788"/>
            <a:ext cx="1465262" cy="557212"/>
          </a:xfrm>
          <a:custGeom>
            <a:avLst/>
            <a:gdLst/>
            <a:ahLst/>
            <a:cxnLst>
              <a:cxn ang="0">
                <a:pos x="0" y="316"/>
              </a:cxn>
              <a:cxn ang="0">
                <a:pos x="119" y="173"/>
              </a:cxn>
              <a:cxn ang="0">
                <a:pos x="493" y="0"/>
              </a:cxn>
              <a:cxn ang="0">
                <a:pos x="763" y="78"/>
              </a:cxn>
              <a:cxn ang="0">
                <a:pos x="841" y="148"/>
              </a:cxn>
              <a:cxn ang="0">
                <a:pos x="854" y="189"/>
              </a:cxn>
              <a:cxn ang="0">
                <a:pos x="870" y="222"/>
              </a:cxn>
              <a:cxn ang="0">
                <a:pos x="895" y="316"/>
              </a:cxn>
              <a:cxn ang="0">
                <a:pos x="875" y="303"/>
              </a:cxn>
            </a:cxnLst>
            <a:rect l="0" t="0" r="r" b="b"/>
            <a:pathLst>
              <a:path w="895" h="316">
                <a:moveTo>
                  <a:pt x="0" y="316"/>
                </a:moveTo>
                <a:cubicBezTo>
                  <a:pt x="13" y="260"/>
                  <a:pt x="77" y="211"/>
                  <a:pt x="119" y="173"/>
                </a:cubicBezTo>
                <a:cubicBezTo>
                  <a:pt x="229" y="71"/>
                  <a:pt x="341" y="9"/>
                  <a:pt x="493" y="0"/>
                </a:cubicBezTo>
                <a:cubicBezTo>
                  <a:pt x="566" y="5"/>
                  <a:pt x="702" y="17"/>
                  <a:pt x="763" y="78"/>
                </a:cubicBezTo>
                <a:cubicBezTo>
                  <a:pt x="787" y="102"/>
                  <a:pt x="824" y="115"/>
                  <a:pt x="841" y="148"/>
                </a:cubicBezTo>
                <a:cubicBezTo>
                  <a:pt x="847" y="160"/>
                  <a:pt x="848" y="175"/>
                  <a:pt x="854" y="189"/>
                </a:cubicBezTo>
                <a:cubicBezTo>
                  <a:pt x="858" y="200"/>
                  <a:pt x="870" y="222"/>
                  <a:pt x="870" y="222"/>
                </a:cubicBezTo>
                <a:cubicBezTo>
                  <a:pt x="874" y="247"/>
                  <a:pt x="895" y="292"/>
                  <a:pt x="895" y="316"/>
                </a:cubicBezTo>
                <a:lnTo>
                  <a:pt x="875" y="303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19274" name="Text Box 10"/>
          <p:cNvSpPr txBox="1">
            <a:spLocks noChangeArrowheads="1"/>
          </p:cNvSpPr>
          <p:nvPr/>
        </p:nvSpPr>
        <p:spPr bwMode="auto">
          <a:xfrm>
            <a:off x="7562850" y="2011363"/>
            <a:ext cx="790575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b="1">
                <a:solidFill>
                  <a:schemeClr val="tx1"/>
                </a:solidFill>
              </a:rPr>
              <a:t>Row’</a:t>
            </a:r>
          </a:p>
        </p:txBody>
      </p:sp>
      <p:sp>
        <p:nvSpPr>
          <p:cNvPr id="1419275" name="Freeform 11"/>
          <p:cNvSpPr>
            <a:spLocks/>
          </p:cNvSpPr>
          <p:nvPr/>
        </p:nvSpPr>
        <p:spPr bwMode="auto">
          <a:xfrm>
            <a:off x="5867400" y="1371600"/>
            <a:ext cx="2174875" cy="558800"/>
          </a:xfrm>
          <a:custGeom>
            <a:avLst/>
            <a:gdLst/>
            <a:ahLst/>
            <a:cxnLst>
              <a:cxn ang="0">
                <a:pos x="0" y="352"/>
              </a:cxn>
              <a:cxn ang="0">
                <a:pos x="82" y="270"/>
              </a:cxn>
              <a:cxn ang="0">
                <a:pos x="250" y="131"/>
              </a:cxn>
              <a:cxn ang="0">
                <a:pos x="693" y="0"/>
              </a:cxn>
              <a:cxn ang="0">
                <a:pos x="861" y="4"/>
              </a:cxn>
              <a:cxn ang="0">
                <a:pos x="910" y="20"/>
              </a:cxn>
              <a:cxn ang="0">
                <a:pos x="1083" y="98"/>
              </a:cxn>
              <a:cxn ang="0">
                <a:pos x="1243" y="221"/>
              </a:cxn>
              <a:cxn ang="0">
                <a:pos x="1271" y="233"/>
              </a:cxn>
              <a:cxn ang="0">
                <a:pos x="1280" y="246"/>
              </a:cxn>
              <a:cxn ang="0">
                <a:pos x="1329" y="287"/>
              </a:cxn>
              <a:cxn ang="0">
                <a:pos x="1354" y="328"/>
              </a:cxn>
              <a:cxn ang="0">
                <a:pos x="1370" y="336"/>
              </a:cxn>
            </a:cxnLst>
            <a:rect l="0" t="0" r="r" b="b"/>
            <a:pathLst>
              <a:path w="1370" h="352">
                <a:moveTo>
                  <a:pt x="0" y="352"/>
                </a:moveTo>
                <a:cubicBezTo>
                  <a:pt x="21" y="319"/>
                  <a:pt x="52" y="294"/>
                  <a:pt x="82" y="270"/>
                </a:cubicBezTo>
                <a:cubicBezTo>
                  <a:pt x="134" y="225"/>
                  <a:pt x="189" y="168"/>
                  <a:pt x="250" y="131"/>
                </a:cubicBezTo>
                <a:cubicBezTo>
                  <a:pt x="379" y="51"/>
                  <a:pt x="543" y="12"/>
                  <a:pt x="693" y="0"/>
                </a:cubicBezTo>
                <a:cubicBezTo>
                  <a:pt x="749" y="1"/>
                  <a:pt x="805" y="0"/>
                  <a:pt x="861" y="4"/>
                </a:cubicBezTo>
                <a:cubicBezTo>
                  <a:pt x="900" y="6"/>
                  <a:pt x="883" y="10"/>
                  <a:pt x="910" y="20"/>
                </a:cubicBezTo>
                <a:cubicBezTo>
                  <a:pt x="972" y="41"/>
                  <a:pt x="1026" y="65"/>
                  <a:pt x="1083" y="98"/>
                </a:cubicBezTo>
                <a:cubicBezTo>
                  <a:pt x="1125" y="122"/>
                  <a:pt x="1201" y="211"/>
                  <a:pt x="1243" y="221"/>
                </a:cubicBezTo>
                <a:cubicBezTo>
                  <a:pt x="1252" y="225"/>
                  <a:pt x="1263" y="226"/>
                  <a:pt x="1271" y="233"/>
                </a:cubicBezTo>
                <a:cubicBezTo>
                  <a:pt x="1275" y="236"/>
                  <a:pt x="1276" y="242"/>
                  <a:pt x="1280" y="246"/>
                </a:cubicBezTo>
                <a:cubicBezTo>
                  <a:pt x="1294" y="259"/>
                  <a:pt x="1313" y="275"/>
                  <a:pt x="1329" y="287"/>
                </a:cubicBezTo>
                <a:cubicBezTo>
                  <a:pt x="1331" y="297"/>
                  <a:pt x="1346" y="320"/>
                  <a:pt x="1354" y="328"/>
                </a:cubicBezTo>
                <a:cubicBezTo>
                  <a:pt x="1358" y="332"/>
                  <a:pt x="1365" y="331"/>
                  <a:pt x="1370" y="336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19276" name="Line 12"/>
          <p:cNvSpPr>
            <a:spLocks noChangeShapeType="1"/>
          </p:cNvSpPr>
          <p:nvPr/>
        </p:nvSpPr>
        <p:spPr bwMode="auto">
          <a:xfrm>
            <a:off x="4343400" y="2514600"/>
            <a:ext cx="2133600" cy="320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19277" name="Text Box 13"/>
          <p:cNvSpPr txBox="1">
            <a:spLocks noChangeArrowheads="1"/>
          </p:cNvSpPr>
          <p:nvPr/>
        </p:nvSpPr>
        <p:spPr bwMode="auto">
          <a:xfrm>
            <a:off x="5638800" y="5334000"/>
            <a:ext cx="735013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b="1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1419278" name="Text Box 14"/>
          <p:cNvSpPr txBox="1">
            <a:spLocks noChangeArrowheads="1"/>
          </p:cNvSpPr>
          <p:nvPr/>
        </p:nvSpPr>
        <p:spPr bwMode="auto">
          <a:xfrm>
            <a:off x="274320" y="392906"/>
            <a:ext cx="1295400" cy="641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800" b="1" dirty="0">
                <a:solidFill>
                  <a:schemeClr val="tx1"/>
                </a:solidFill>
              </a:rPr>
              <a:t>200MHz Clock</a:t>
            </a:r>
          </a:p>
        </p:txBody>
      </p:sp>
      <p:sp>
        <p:nvSpPr>
          <p:cNvPr id="1419279" name="Text Box 15"/>
          <p:cNvSpPr txBox="1">
            <a:spLocks noChangeArrowheads="1"/>
          </p:cNvSpPr>
          <p:nvPr/>
        </p:nvSpPr>
        <p:spPr bwMode="auto">
          <a:xfrm>
            <a:off x="6972300" y="6118225"/>
            <a:ext cx="1295400" cy="641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800" b="1" dirty="0">
                <a:solidFill>
                  <a:schemeClr val="tx1"/>
                </a:solidFill>
              </a:rPr>
              <a:t>400Mb/s Data 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FA12D-79FC-41FF-9427-F4F601A670B0}" type="datetime1">
              <a:rPr lang="sv-SE"/>
              <a:pPr/>
              <a:t>2025-09-08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7DFFF-F7C6-49BD-89D4-7F742826B448}" type="slidenum">
              <a:rPr lang="en-US"/>
              <a:pPr/>
              <a:t>9</a:t>
            </a:fld>
            <a:endParaRPr lang="en-US" b="0" dirty="0">
              <a:solidFill>
                <a:srgbClr val="FBBA03"/>
              </a:solidFill>
            </a:endParaRPr>
          </a:p>
        </p:txBody>
      </p:sp>
      <p:sp>
        <p:nvSpPr>
          <p:cNvPr id="1079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33389"/>
            <a:ext cx="8229600" cy="1143000"/>
          </a:xfrm>
        </p:spPr>
        <p:txBody>
          <a:bodyPr/>
          <a:lstStyle/>
          <a:p>
            <a:r>
              <a:rPr lang="en-US" sz="3200" dirty="0"/>
              <a:t>Addressing the Processor-Memory Performance GAP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1079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r>
              <a:rPr lang="en-US" dirty="0">
                <a:solidFill>
                  <a:srgbClr val="053DE8"/>
                </a:solidFill>
              </a:rPr>
              <a:t>Goal: </a:t>
            </a:r>
            <a:r>
              <a:rPr lang="en-US" dirty="0"/>
              <a:t>Illusion of large, fast, cheap memory</a:t>
            </a:r>
          </a:p>
          <a:p>
            <a:pPr lvl="1"/>
            <a:r>
              <a:rPr lang="en-US" dirty="0"/>
              <a:t>Let programs address a memory space that scales to the disk size, at a speed that is usually as fast as register access</a:t>
            </a:r>
          </a:p>
          <a:p>
            <a:r>
              <a:rPr lang="en-US" dirty="0">
                <a:solidFill>
                  <a:srgbClr val="114FFB"/>
                </a:solidFill>
              </a:rPr>
              <a:t>Solution:  </a:t>
            </a:r>
            <a:r>
              <a:rPr lang="en-US" dirty="0"/>
              <a:t>Put smaller, faster “cache” memories between CPU and DRAM</a:t>
            </a:r>
          </a:p>
          <a:p>
            <a:pPr lvl="1"/>
            <a:r>
              <a:rPr lang="en-US" dirty="0"/>
              <a:t>Create a “memory hierarchy”</a:t>
            </a:r>
          </a:p>
          <a:p>
            <a:pPr algn="ctr" eaLnBrk="1" hangingPunct="1">
              <a:lnSpc>
                <a:spcPts val="2700"/>
              </a:lnSpc>
              <a:spcBef>
                <a:spcPct val="0"/>
              </a:spcBef>
              <a:buSzTx/>
              <a:buFontTx/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28174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ABFDA-7E8B-46DB-A960-93D8D1CAD7EA}" type="datetime1">
              <a:rPr lang="sv-SE"/>
              <a:pPr/>
              <a:t>2025-09-08</a:t>
            </a:fld>
            <a:endParaRPr lang="en-US"/>
          </a:p>
        </p:txBody>
      </p:sp>
      <p:sp>
        <p:nvSpPr>
          <p:cNvPr id="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8211-4A2B-4DFA-9B88-3232AC585E8E}" type="slidenum">
              <a:rPr lang="en-US"/>
              <a:pPr/>
              <a:t>10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80322" name="Rectangle 2"/>
          <p:cNvSpPr>
            <a:spLocks noGrp="1" noChangeArrowheads="1"/>
          </p:cNvSpPr>
          <p:nvPr>
            <p:ph type="title"/>
          </p:nvPr>
        </p:nvSpPr>
        <p:spPr>
          <a:xfrm>
            <a:off x="247650" y="169863"/>
            <a:ext cx="8883650" cy="409575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Levels of the Memory Hierarchy</a:t>
            </a:r>
          </a:p>
        </p:txBody>
      </p:sp>
      <p:sp>
        <p:nvSpPr>
          <p:cNvPr id="1080323" name="Rectangle 3"/>
          <p:cNvSpPr>
            <a:spLocks noChangeArrowheads="1"/>
          </p:cNvSpPr>
          <p:nvPr/>
        </p:nvSpPr>
        <p:spPr bwMode="auto">
          <a:xfrm>
            <a:off x="419100" y="1460500"/>
            <a:ext cx="1360488" cy="6270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i="1">
                <a:solidFill>
                  <a:schemeClr val="tx1"/>
                </a:solidFill>
                <a:latin typeface="Comic Sans MS" pitchFamily="66" charset="0"/>
              </a:rPr>
              <a:t>CPU Registers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100s Bytes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&lt;10s ns</a:t>
            </a:r>
          </a:p>
        </p:txBody>
      </p:sp>
      <p:sp>
        <p:nvSpPr>
          <p:cNvPr id="1080324" name="Rectangle 4"/>
          <p:cNvSpPr>
            <a:spLocks noChangeArrowheads="1"/>
          </p:cNvSpPr>
          <p:nvPr/>
        </p:nvSpPr>
        <p:spPr bwMode="auto">
          <a:xfrm>
            <a:off x="419100" y="2286000"/>
            <a:ext cx="1306513" cy="819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i="1">
                <a:solidFill>
                  <a:schemeClr val="tx1"/>
                </a:solidFill>
                <a:latin typeface="Comic Sans MS" pitchFamily="66" charset="0"/>
              </a:rPr>
              <a:t>Cache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K Bytes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10-100 ns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1-0.1 cents/bit</a:t>
            </a:r>
          </a:p>
        </p:txBody>
      </p:sp>
      <p:sp>
        <p:nvSpPr>
          <p:cNvPr id="1080325" name="Rectangle 5"/>
          <p:cNvSpPr>
            <a:spLocks noChangeArrowheads="1"/>
          </p:cNvSpPr>
          <p:nvPr/>
        </p:nvSpPr>
        <p:spPr bwMode="auto">
          <a:xfrm>
            <a:off x="419100" y="3429000"/>
            <a:ext cx="2093913" cy="819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i="1">
                <a:solidFill>
                  <a:schemeClr val="tx1"/>
                </a:solidFill>
                <a:latin typeface="Comic Sans MS" pitchFamily="66" charset="0"/>
              </a:rPr>
              <a:t>Main Memory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M Bytes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200ns- 500ns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$.0001-.00001 cents /bit</a:t>
            </a:r>
          </a:p>
        </p:txBody>
      </p:sp>
      <p:sp>
        <p:nvSpPr>
          <p:cNvPr id="1080326" name="Rectangle 6"/>
          <p:cNvSpPr>
            <a:spLocks noChangeArrowheads="1"/>
          </p:cNvSpPr>
          <p:nvPr/>
        </p:nvSpPr>
        <p:spPr bwMode="auto">
          <a:xfrm>
            <a:off x="419100" y="4267200"/>
            <a:ext cx="1601788" cy="10112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i="1">
                <a:solidFill>
                  <a:schemeClr val="tx1"/>
                </a:solidFill>
                <a:latin typeface="Comic Sans MS" pitchFamily="66" charset="0"/>
              </a:rPr>
              <a:t>Disk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G Bytes, 10 ms </a:t>
            </a:r>
            <a:br>
              <a:rPr lang="en-US" sz="1400" b="1">
                <a:solidFill>
                  <a:schemeClr val="tx1"/>
                </a:solidFill>
                <a:latin typeface="Comic Sans MS" pitchFamily="66" charset="0"/>
              </a:rPr>
            </a:b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(10,000,000 ns)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US" sz="1400" b="1">
              <a:solidFill>
                <a:schemeClr val="tx1"/>
              </a:solidFill>
              <a:latin typeface="Comic Sans MS" pitchFamily="66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10   - 10  cents/bit</a:t>
            </a:r>
          </a:p>
        </p:txBody>
      </p:sp>
      <p:sp>
        <p:nvSpPr>
          <p:cNvPr id="1080327" name="Rectangle 7"/>
          <p:cNvSpPr>
            <a:spLocks noChangeArrowheads="1"/>
          </p:cNvSpPr>
          <p:nvPr/>
        </p:nvSpPr>
        <p:spPr bwMode="auto">
          <a:xfrm>
            <a:off x="609600" y="4940300"/>
            <a:ext cx="284163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-5</a:t>
            </a:r>
          </a:p>
        </p:txBody>
      </p:sp>
      <p:sp>
        <p:nvSpPr>
          <p:cNvPr id="1080328" name="Rectangle 8"/>
          <p:cNvSpPr>
            <a:spLocks noChangeArrowheads="1"/>
          </p:cNvSpPr>
          <p:nvPr/>
        </p:nvSpPr>
        <p:spPr bwMode="auto">
          <a:xfrm>
            <a:off x="1016000" y="4914900"/>
            <a:ext cx="284163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-6</a:t>
            </a:r>
          </a:p>
        </p:txBody>
      </p:sp>
      <p:sp>
        <p:nvSpPr>
          <p:cNvPr id="1080329" name="Rectangle 9"/>
          <p:cNvSpPr>
            <a:spLocks noChangeArrowheads="1"/>
          </p:cNvSpPr>
          <p:nvPr/>
        </p:nvSpPr>
        <p:spPr bwMode="auto">
          <a:xfrm>
            <a:off x="419100" y="711200"/>
            <a:ext cx="1211263" cy="6270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i="1">
                <a:solidFill>
                  <a:schemeClr val="tx1"/>
                </a:solidFill>
                <a:latin typeface="Comic Sans MS" pitchFamily="66" charset="0"/>
              </a:rPr>
              <a:t>Capacity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i="1">
                <a:solidFill>
                  <a:schemeClr val="tx1"/>
                </a:solidFill>
                <a:latin typeface="Comic Sans MS" pitchFamily="66" charset="0"/>
              </a:rPr>
              <a:t>Access Time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i="1">
                <a:solidFill>
                  <a:schemeClr val="tx1"/>
                </a:solidFill>
                <a:latin typeface="Comic Sans MS" pitchFamily="66" charset="0"/>
              </a:rPr>
              <a:t>Cost</a:t>
            </a:r>
          </a:p>
        </p:txBody>
      </p:sp>
      <p:sp>
        <p:nvSpPr>
          <p:cNvPr id="1080330" name="Rectangle 10"/>
          <p:cNvSpPr>
            <a:spLocks noChangeArrowheads="1"/>
          </p:cNvSpPr>
          <p:nvPr/>
        </p:nvSpPr>
        <p:spPr bwMode="auto">
          <a:xfrm>
            <a:off x="419100" y="5473700"/>
            <a:ext cx="796925" cy="819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i="1">
                <a:solidFill>
                  <a:schemeClr val="tx1"/>
                </a:solidFill>
                <a:latin typeface="Comic Sans MS" pitchFamily="66" charset="0"/>
              </a:rPr>
              <a:t>Tape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infinite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sec-min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10</a:t>
            </a:r>
          </a:p>
        </p:txBody>
      </p:sp>
      <p:sp>
        <p:nvSpPr>
          <p:cNvPr id="1080331" name="Rectangle 11"/>
          <p:cNvSpPr>
            <a:spLocks noChangeArrowheads="1"/>
          </p:cNvSpPr>
          <p:nvPr/>
        </p:nvSpPr>
        <p:spPr bwMode="auto">
          <a:xfrm>
            <a:off x="679450" y="5988050"/>
            <a:ext cx="284163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-8</a:t>
            </a:r>
          </a:p>
        </p:txBody>
      </p:sp>
      <p:sp>
        <p:nvSpPr>
          <p:cNvPr id="1080332" name="Rectangle 12"/>
          <p:cNvSpPr>
            <a:spLocks noChangeArrowheads="1"/>
          </p:cNvSpPr>
          <p:nvPr/>
        </p:nvSpPr>
        <p:spPr bwMode="auto">
          <a:xfrm>
            <a:off x="3289300" y="1460500"/>
            <a:ext cx="1193800" cy="431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0333" name="Rectangle 13"/>
          <p:cNvSpPr>
            <a:spLocks noChangeArrowheads="1"/>
          </p:cNvSpPr>
          <p:nvPr/>
        </p:nvSpPr>
        <p:spPr bwMode="auto">
          <a:xfrm>
            <a:off x="3365500" y="1549400"/>
            <a:ext cx="11684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 b="1">
                <a:solidFill>
                  <a:schemeClr val="tx1"/>
                </a:solidFill>
                <a:latin typeface="Comic Sans MS" pitchFamily="66" charset="0"/>
              </a:rPr>
              <a:t>Registers</a:t>
            </a:r>
          </a:p>
        </p:txBody>
      </p:sp>
      <p:sp>
        <p:nvSpPr>
          <p:cNvPr id="1080334" name="Rectangle 14"/>
          <p:cNvSpPr>
            <a:spLocks noChangeArrowheads="1"/>
          </p:cNvSpPr>
          <p:nvPr/>
        </p:nvSpPr>
        <p:spPr bwMode="auto">
          <a:xfrm>
            <a:off x="3365500" y="2540000"/>
            <a:ext cx="8128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 b="1">
                <a:solidFill>
                  <a:schemeClr val="tx1"/>
                </a:solidFill>
                <a:latin typeface="Comic Sans MS" pitchFamily="66" charset="0"/>
              </a:rPr>
              <a:t>Cache</a:t>
            </a:r>
          </a:p>
        </p:txBody>
      </p:sp>
      <p:sp>
        <p:nvSpPr>
          <p:cNvPr id="1080335" name="Rectangle 15"/>
          <p:cNvSpPr>
            <a:spLocks noChangeArrowheads="1"/>
          </p:cNvSpPr>
          <p:nvPr/>
        </p:nvSpPr>
        <p:spPr bwMode="auto">
          <a:xfrm>
            <a:off x="3441700" y="3606800"/>
            <a:ext cx="10033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 b="1">
                <a:solidFill>
                  <a:schemeClr val="tx1"/>
                </a:solidFill>
                <a:latin typeface="Comic Sans MS" pitchFamily="66" charset="0"/>
              </a:rPr>
              <a:t>Memory</a:t>
            </a:r>
          </a:p>
        </p:txBody>
      </p:sp>
      <p:sp>
        <p:nvSpPr>
          <p:cNvPr id="1080336" name="Rectangle 16"/>
          <p:cNvSpPr>
            <a:spLocks noChangeArrowheads="1"/>
          </p:cNvSpPr>
          <p:nvPr/>
        </p:nvSpPr>
        <p:spPr bwMode="auto">
          <a:xfrm>
            <a:off x="3441700" y="4673600"/>
            <a:ext cx="6096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 b="1">
                <a:solidFill>
                  <a:schemeClr val="tx1"/>
                </a:solidFill>
                <a:latin typeface="Comic Sans MS" pitchFamily="66" charset="0"/>
              </a:rPr>
              <a:t>Disk</a:t>
            </a:r>
          </a:p>
        </p:txBody>
      </p:sp>
      <p:sp>
        <p:nvSpPr>
          <p:cNvPr id="1080337" name="Rectangle 17"/>
          <p:cNvSpPr>
            <a:spLocks noChangeArrowheads="1"/>
          </p:cNvSpPr>
          <p:nvPr/>
        </p:nvSpPr>
        <p:spPr bwMode="auto">
          <a:xfrm>
            <a:off x="3517900" y="5816600"/>
            <a:ext cx="6604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 b="1">
                <a:solidFill>
                  <a:schemeClr val="tx1"/>
                </a:solidFill>
                <a:latin typeface="Comic Sans MS" pitchFamily="66" charset="0"/>
              </a:rPr>
              <a:t>Tape</a:t>
            </a:r>
          </a:p>
        </p:txBody>
      </p:sp>
      <p:sp>
        <p:nvSpPr>
          <p:cNvPr id="1080338" name="Rectangle 18"/>
          <p:cNvSpPr>
            <a:spLocks noChangeArrowheads="1"/>
          </p:cNvSpPr>
          <p:nvPr/>
        </p:nvSpPr>
        <p:spPr bwMode="auto">
          <a:xfrm>
            <a:off x="2908300" y="2451100"/>
            <a:ext cx="1955800" cy="5080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0339" name="Rectangle 19"/>
          <p:cNvSpPr>
            <a:spLocks noChangeArrowheads="1"/>
          </p:cNvSpPr>
          <p:nvPr/>
        </p:nvSpPr>
        <p:spPr bwMode="auto">
          <a:xfrm>
            <a:off x="2603500" y="3517900"/>
            <a:ext cx="28702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0340" name="Rectangle 20"/>
          <p:cNvSpPr>
            <a:spLocks noChangeArrowheads="1"/>
          </p:cNvSpPr>
          <p:nvPr/>
        </p:nvSpPr>
        <p:spPr bwMode="auto">
          <a:xfrm>
            <a:off x="2070100" y="4584700"/>
            <a:ext cx="39370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0341" name="Rectangle 21"/>
          <p:cNvSpPr>
            <a:spLocks noChangeArrowheads="1"/>
          </p:cNvSpPr>
          <p:nvPr/>
        </p:nvSpPr>
        <p:spPr bwMode="auto">
          <a:xfrm>
            <a:off x="1765300" y="5651500"/>
            <a:ext cx="46990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0342" name="Line 22"/>
          <p:cNvSpPr>
            <a:spLocks noChangeShapeType="1"/>
          </p:cNvSpPr>
          <p:nvPr/>
        </p:nvSpPr>
        <p:spPr bwMode="auto">
          <a:xfrm>
            <a:off x="3886200" y="1911350"/>
            <a:ext cx="0" cy="520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0343" name="Line 23"/>
          <p:cNvSpPr>
            <a:spLocks noChangeShapeType="1"/>
          </p:cNvSpPr>
          <p:nvPr/>
        </p:nvSpPr>
        <p:spPr bwMode="auto">
          <a:xfrm>
            <a:off x="3886200" y="2978150"/>
            <a:ext cx="0" cy="52070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0344" name="Line 24"/>
          <p:cNvSpPr>
            <a:spLocks noChangeShapeType="1"/>
          </p:cNvSpPr>
          <p:nvPr/>
        </p:nvSpPr>
        <p:spPr bwMode="auto">
          <a:xfrm>
            <a:off x="3886200" y="4044950"/>
            <a:ext cx="0" cy="520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0345" name="Line 25"/>
          <p:cNvSpPr>
            <a:spLocks noChangeShapeType="1"/>
          </p:cNvSpPr>
          <p:nvPr/>
        </p:nvSpPr>
        <p:spPr bwMode="auto">
          <a:xfrm>
            <a:off x="3886200" y="5111750"/>
            <a:ext cx="0" cy="520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0346" name="Rectangle 26"/>
          <p:cNvSpPr>
            <a:spLocks noChangeArrowheads="1"/>
          </p:cNvSpPr>
          <p:nvPr/>
        </p:nvSpPr>
        <p:spPr bwMode="auto">
          <a:xfrm>
            <a:off x="3975100" y="2006600"/>
            <a:ext cx="17018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>
                <a:solidFill>
                  <a:schemeClr val="tx1"/>
                </a:solidFill>
                <a:latin typeface="Comic Sans MS" pitchFamily="66" charset="0"/>
              </a:rPr>
              <a:t>Instr. Operands</a:t>
            </a:r>
          </a:p>
        </p:txBody>
      </p:sp>
      <p:sp>
        <p:nvSpPr>
          <p:cNvPr id="1080347" name="Rectangle 27"/>
          <p:cNvSpPr>
            <a:spLocks noChangeArrowheads="1"/>
          </p:cNvSpPr>
          <p:nvPr/>
        </p:nvSpPr>
        <p:spPr bwMode="auto">
          <a:xfrm>
            <a:off x="3975100" y="3073400"/>
            <a:ext cx="8001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 dirty="0">
                <a:solidFill>
                  <a:schemeClr val="tx1"/>
                </a:solidFill>
                <a:latin typeface="Comic Sans MS" pitchFamily="66" charset="0"/>
              </a:rPr>
              <a:t>Blocks</a:t>
            </a:r>
          </a:p>
        </p:txBody>
      </p:sp>
      <p:sp>
        <p:nvSpPr>
          <p:cNvPr id="1080348" name="Rectangle 28"/>
          <p:cNvSpPr>
            <a:spLocks noChangeArrowheads="1"/>
          </p:cNvSpPr>
          <p:nvPr/>
        </p:nvSpPr>
        <p:spPr bwMode="auto">
          <a:xfrm>
            <a:off x="3975100" y="4140200"/>
            <a:ext cx="7747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>
                <a:solidFill>
                  <a:schemeClr val="tx1"/>
                </a:solidFill>
                <a:latin typeface="Comic Sans MS" pitchFamily="66" charset="0"/>
              </a:rPr>
              <a:t>Pages</a:t>
            </a:r>
          </a:p>
        </p:txBody>
      </p:sp>
      <p:sp>
        <p:nvSpPr>
          <p:cNvPr id="1080349" name="Rectangle 29"/>
          <p:cNvSpPr>
            <a:spLocks noChangeArrowheads="1"/>
          </p:cNvSpPr>
          <p:nvPr/>
        </p:nvSpPr>
        <p:spPr bwMode="auto">
          <a:xfrm>
            <a:off x="3975100" y="5207000"/>
            <a:ext cx="6096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>
                <a:solidFill>
                  <a:schemeClr val="tx1"/>
                </a:solidFill>
                <a:latin typeface="Comic Sans MS" pitchFamily="66" charset="0"/>
              </a:rPr>
              <a:t>Files</a:t>
            </a:r>
          </a:p>
        </p:txBody>
      </p:sp>
      <p:sp>
        <p:nvSpPr>
          <p:cNvPr id="1080351" name="Rectangle 31"/>
          <p:cNvSpPr>
            <a:spLocks noChangeArrowheads="1"/>
          </p:cNvSpPr>
          <p:nvPr/>
        </p:nvSpPr>
        <p:spPr bwMode="auto">
          <a:xfrm>
            <a:off x="6159500" y="1955800"/>
            <a:ext cx="1358900" cy="434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prog./compiler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1-8 bytes</a:t>
            </a:r>
          </a:p>
        </p:txBody>
      </p:sp>
      <p:sp>
        <p:nvSpPr>
          <p:cNvPr id="1080352" name="Rectangle 32"/>
          <p:cNvSpPr>
            <a:spLocks noChangeArrowheads="1"/>
          </p:cNvSpPr>
          <p:nvPr/>
        </p:nvSpPr>
        <p:spPr bwMode="auto">
          <a:xfrm>
            <a:off x="6235700" y="2946400"/>
            <a:ext cx="1090613" cy="434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cache cntl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8-128 bytes</a:t>
            </a:r>
          </a:p>
        </p:txBody>
      </p:sp>
      <p:sp>
        <p:nvSpPr>
          <p:cNvPr id="1080353" name="Rectangle 33"/>
          <p:cNvSpPr>
            <a:spLocks noChangeArrowheads="1"/>
          </p:cNvSpPr>
          <p:nvPr/>
        </p:nvSpPr>
        <p:spPr bwMode="auto">
          <a:xfrm>
            <a:off x="6324600" y="4013200"/>
            <a:ext cx="1219200" cy="434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OS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512-4K bytes</a:t>
            </a:r>
          </a:p>
        </p:txBody>
      </p:sp>
      <p:sp>
        <p:nvSpPr>
          <p:cNvPr id="1080354" name="Rectangle 34"/>
          <p:cNvSpPr>
            <a:spLocks noChangeArrowheads="1"/>
          </p:cNvSpPr>
          <p:nvPr/>
        </p:nvSpPr>
        <p:spPr bwMode="auto">
          <a:xfrm>
            <a:off x="6286500" y="5080000"/>
            <a:ext cx="1270000" cy="434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user/operator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Mbytes</a:t>
            </a:r>
          </a:p>
        </p:txBody>
      </p:sp>
      <p:sp>
        <p:nvSpPr>
          <p:cNvPr id="1080355" name="Rectangle 35"/>
          <p:cNvSpPr>
            <a:spLocks noChangeArrowheads="1"/>
          </p:cNvSpPr>
          <p:nvPr/>
        </p:nvSpPr>
        <p:spPr bwMode="auto">
          <a:xfrm>
            <a:off x="7480300" y="635000"/>
            <a:ext cx="14351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 b="1">
                <a:latin typeface="Comic Sans MS" pitchFamily="66" charset="0"/>
              </a:rPr>
              <a:t>Upper Level</a:t>
            </a:r>
          </a:p>
        </p:txBody>
      </p:sp>
      <p:sp>
        <p:nvSpPr>
          <p:cNvPr id="1080356" name="Rectangle 36"/>
          <p:cNvSpPr>
            <a:spLocks noChangeArrowheads="1"/>
          </p:cNvSpPr>
          <p:nvPr/>
        </p:nvSpPr>
        <p:spPr bwMode="auto">
          <a:xfrm>
            <a:off x="7327900" y="5816600"/>
            <a:ext cx="14478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 b="1">
                <a:latin typeface="Comic Sans MS" pitchFamily="66" charset="0"/>
              </a:rPr>
              <a:t>Lower Level</a:t>
            </a:r>
          </a:p>
        </p:txBody>
      </p:sp>
      <p:sp>
        <p:nvSpPr>
          <p:cNvPr id="1080357" name="Line 37"/>
          <p:cNvSpPr>
            <a:spLocks noChangeShapeType="1"/>
          </p:cNvSpPr>
          <p:nvPr/>
        </p:nvSpPr>
        <p:spPr bwMode="auto">
          <a:xfrm flipV="1">
            <a:off x="7848600" y="1212850"/>
            <a:ext cx="0" cy="4432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0358" name="Rectangle 38"/>
          <p:cNvSpPr>
            <a:spLocks noChangeArrowheads="1"/>
          </p:cNvSpPr>
          <p:nvPr/>
        </p:nvSpPr>
        <p:spPr bwMode="auto">
          <a:xfrm>
            <a:off x="7937500" y="1168400"/>
            <a:ext cx="6985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>
                <a:solidFill>
                  <a:schemeClr val="tx1"/>
                </a:solidFill>
                <a:latin typeface="Comic Sans MS" pitchFamily="66" charset="0"/>
              </a:rPr>
              <a:t>faster</a:t>
            </a:r>
          </a:p>
        </p:txBody>
      </p:sp>
      <p:sp>
        <p:nvSpPr>
          <p:cNvPr id="1080359" name="Line 39"/>
          <p:cNvSpPr>
            <a:spLocks noChangeShapeType="1"/>
          </p:cNvSpPr>
          <p:nvPr/>
        </p:nvSpPr>
        <p:spPr bwMode="auto">
          <a:xfrm>
            <a:off x="8458200" y="1606550"/>
            <a:ext cx="0" cy="3721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0360" name="Rectangle 40"/>
          <p:cNvSpPr>
            <a:spLocks noChangeArrowheads="1"/>
          </p:cNvSpPr>
          <p:nvPr/>
        </p:nvSpPr>
        <p:spPr bwMode="auto">
          <a:xfrm>
            <a:off x="8089900" y="5435600"/>
            <a:ext cx="7874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>
                <a:solidFill>
                  <a:schemeClr val="tx1"/>
                </a:solidFill>
                <a:latin typeface="Comic Sans MS" pitchFamily="66" charset="0"/>
              </a:rPr>
              <a:t>Larger</a:t>
            </a:r>
          </a:p>
        </p:txBody>
      </p:sp>
      <p:sp>
        <p:nvSpPr>
          <p:cNvPr id="1080361" name="Text Box 41"/>
          <p:cNvSpPr txBox="1">
            <a:spLocks noChangeArrowheads="1"/>
          </p:cNvSpPr>
          <p:nvPr/>
        </p:nvSpPr>
        <p:spPr bwMode="auto">
          <a:xfrm>
            <a:off x="1798638" y="1116013"/>
            <a:ext cx="1214437" cy="854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>
                <a:latin typeface="Comic Sans MS" pitchFamily="66" charset="0"/>
              </a:rPr>
              <a:t>Today’s </a:t>
            </a:r>
          </a:p>
          <a:p>
            <a:r>
              <a:rPr lang="en-US" sz="2000" b="1">
                <a:latin typeface="Comic Sans MS" pitchFamily="66" charset="0"/>
              </a:rPr>
              <a:t>Focus</a:t>
            </a:r>
          </a:p>
        </p:txBody>
      </p:sp>
      <p:sp>
        <p:nvSpPr>
          <p:cNvPr id="1080362" name="Line 42"/>
          <p:cNvSpPr>
            <a:spLocks noChangeShapeType="1"/>
          </p:cNvSpPr>
          <p:nvPr/>
        </p:nvSpPr>
        <p:spPr bwMode="auto">
          <a:xfrm>
            <a:off x="2270125" y="1935163"/>
            <a:ext cx="549275" cy="7620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1464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CB18D-00D8-C66F-4327-35C1701CF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Typical Memory Hierarchy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97F93-87F6-5634-1E91-8B1A3C565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DBF8AB-43AE-6196-F503-6178303FA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A0596A-05D3-3255-DF2F-FB5A56234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72" y="1909550"/>
            <a:ext cx="8229599" cy="309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392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2B84F-AB60-1647-838C-D0ADC2C558DE}" type="slidenum">
              <a:rPr lang="en-US"/>
              <a:pPr/>
              <a:t>12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0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8300" y="76200"/>
            <a:ext cx="7162800" cy="838200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CPU-Memory Bottleneck</a:t>
            </a:r>
          </a:p>
        </p:txBody>
      </p:sp>
      <p:sp>
        <p:nvSpPr>
          <p:cNvPr id="1409027" name="Rectangle 3"/>
          <p:cNvSpPr>
            <a:spLocks noChangeArrowheads="1"/>
          </p:cNvSpPr>
          <p:nvPr/>
        </p:nvSpPr>
        <p:spPr bwMode="auto">
          <a:xfrm>
            <a:off x="5105400" y="785813"/>
            <a:ext cx="1473200" cy="139858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</a:pPr>
            <a:r>
              <a:rPr lang="en-US" sz="2400">
                <a:solidFill>
                  <a:srgbClr val="56127A"/>
                </a:solidFill>
                <a:latin typeface="Verdana" charset="0"/>
              </a:rPr>
              <a:t>Memory</a:t>
            </a:r>
          </a:p>
        </p:txBody>
      </p:sp>
      <p:sp>
        <p:nvSpPr>
          <p:cNvPr id="1409028" name="Rectangle 4"/>
          <p:cNvSpPr>
            <a:spLocks noChangeArrowheads="1"/>
          </p:cNvSpPr>
          <p:nvPr/>
        </p:nvSpPr>
        <p:spPr bwMode="auto">
          <a:xfrm>
            <a:off x="2590800" y="938213"/>
            <a:ext cx="1168400" cy="10795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</a:pPr>
            <a:r>
              <a:rPr lang="en-US" sz="2400">
                <a:solidFill>
                  <a:srgbClr val="56127A"/>
                </a:solidFill>
                <a:latin typeface="Verdana" charset="0"/>
              </a:rPr>
              <a:t>CPU</a:t>
            </a:r>
          </a:p>
        </p:txBody>
      </p:sp>
      <p:sp>
        <p:nvSpPr>
          <p:cNvPr id="1409029" name="Line 5"/>
          <p:cNvSpPr>
            <a:spLocks noChangeShapeType="1"/>
          </p:cNvSpPr>
          <p:nvPr/>
        </p:nvSpPr>
        <p:spPr bwMode="auto">
          <a:xfrm flipV="1">
            <a:off x="3733800" y="1471613"/>
            <a:ext cx="1371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09030" name="Rectangle 6"/>
          <p:cNvSpPr>
            <a:spLocks noChangeArrowheads="1"/>
          </p:cNvSpPr>
          <p:nvPr/>
        </p:nvSpPr>
        <p:spPr bwMode="auto">
          <a:xfrm>
            <a:off x="685800" y="2383709"/>
            <a:ext cx="8131175" cy="373999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400" dirty="0">
                <a:solidFill>
                  <a:schemeClr val="tx1"/>
                </a:solidFill>
                <a:latin typeface="Verdana" charset="0"/>
              </a:rPr>
              <a:t>Performance of high-speed computers is usually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400" dirty="0">
                <a:solidFill>
                  <a:schemeClr val="tx1"/>
                </a:solidFill>
                <a:latin typeface="Verdana" charset="0"/>
              </a:rPr>
              <a:t>limited by memory </a:t>
            </a:r>
            <a:r>
              <a:rPr lang="en-US" sz="2400" i="1" dirty="0">
                <a:solidFill>
                  <a:schemeClr val="tx1"/>
                </a:solidFill>
                <a:latin typeface="Verdana" charset="0"/>
              </a:rPr>
              <a:t>bandwidth </a:t>
            </a:r>
            <a:r>
              <a:rPr lang="en-US" sz="2400" dirty="0">
                <a:solidFill>
                  <a:schemeClr val="tx1"/>
                </a:solidFill>
                <a:latin typeface="Verdana" charset="0"/>
              </a:rPr>
              <a:t>&amp;</a:t>
            </a:r>
            <a:r>
              <a:rPr lang="en-US" sz="2400" i="1" dirty="0">
                <a:solidFill>
                  <a:schemeClr val="tx1"/>
                </a:solidFill>
                <a:latin typeface="Verdana" charset="0"/>
              </a:rPr>
              <a:t> latency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1200" dirty="0">
              <a:solidFill>
                <a:schemeClr val="tx1"/>
              </a:solidFill>
              <a:latin typeface="Verdana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solidFill>
                  <a:srgbClr val="56127A"/>
                </a:solidFill>
                <a:latin typeface="Verdana" charset="0"/>
              </a:rPr>
              <a:t> Latency (time for a single access)</a:t>
            </a:r>
          </a:p>
          <a:p>
            <a:pPr lvl="2"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rgbClr val="56127A"/>
                </a:solidFill>
                <a:latin typeface="Verdana" charset="0"/>
              </a:rPr>
              <a:t>Memory access time &gt;&gt; Processor cycle time</a:t>
            </a:r>
          </a:p>
          <a:p>
            <a:pPr lvl="3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000" i="1" dirty="0">
              <a:solidFill>
                <a:srgbClr val="56127A"/>
              </a:solidFill>
              <a:latin typeface="Verdana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solidFill>
                  <a:srgbClr val="56127A"/>
                </a:solidFill>
                <a:latin typeface="Verdana" charset="0"/>
              </a:rPr>
              <a:t> Bandwidth (number of accesses per unit time)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solidFill>
                  <a:srgbClr val="56127A"/>
                </a:solidFill>
                <a:latin typeface="Verdana" charset="0"/>
              </a:rPr>
              <a:t>Number of data channels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solidFill>
                  <a:srgbClr val="56127A"/>
                </a:solidFill>
                <a:latin typeface="Verdana" charset="0"/>
              </a:rPr>
              <a:t>Clock speed of memory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solidFill>
                  <a:srgbClr val="56127A"/>
                </a:solidFill>
                <a:latin typeface="Verdana" charset="0"/>
              </a:rPr>
              <a:t>Width of one channel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292975" cy="736600"/>
          </a:xfrm>
        </p:spPr>
        <p:txBody>
          <a:bodyPr/>
          <a:lstStyle/>
          <a:p>
            <a:r>
              <a:rPr lang="en-US"/>
              <a:t>Physical Size Affects Latency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660D-4C45-964F-A040-C0D4146A75F8}" type="slidenum">
              <a:rPr lang="en-US" smtClean="0"/>
              <a:pPr/>
              <a:t>13</a:t>
            </a:fld>
            <a:endParaRPr lang="en-US" b="0">
              <a:solidFill>
                <a:srgbClr val="FBBA03"/>
              </a:solidFill>
            </a:endParaRPr>
          </a:p>
        </p:txBody>
      </p:sp>
      <p:grpSp>
        <p:nvGrpSpPr>
          <p:cNvPr id="6" name="Group 16"/>
          <p:cNvGrpSpPr/>
          <p:nvPr/>
        </p:nvGrpSpPr>
        <p:grpSpPr>
          <a:xfrm>
            <a:off x="609600" y="2209800"/>
            <a:ext cx="1295400" cy="2209800"/>
            <a:chOff x="609600" y="2209800"/>
            <a:chExt cx="1295400" cy="2209800"/>
          </a:xfrm>
        </p:grpSpPr>
        <p:sp>
          <p:nvSpPr>
            <p:cNvPr id="4" name="Rectangle 3"/>
            <p:cNvSpPr/>
            <p:nvPr/>
          </p:nvSpPr>
          <p:spPr bwMode="auto">
            <a:xfrm>
              <a:off x="609600" y="3124200"/>
              <a:ext cx="1295400" cy="1295400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rPr>
                <a:t>Small Memory</a:t>
              </a:r>
            </a:p>
          </p:txBody>
        </p:sp>
        <p:cxnSp>
          <p:nvCxnSpPr>
            <p:cNvPr id="10" name="Straight Arrow Connector 9"/>
            <p:cNvCxnSpPr>
              <a:endCxn id="4" idx="0"/>
            </p:cNvCxnSpPr>
            <p:nvPr/>
          </p:nvCxnSpPr>
          <p:spPr bwMode="auto">
            <a:xfrm rot="5400000" flipH="1" flipV="1">
              <a:off x="285750" y="3448050"/>
              <a:ext cx="1295400" cy="647700"/>
            </a:xfrm>
            <a:prstGeom prst="straightConnector1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12" name="Rectangle 11"/>
            <p:cNvSpPr/>
            <p:nvPr/>
          </p:nvSpPr>
          <p:spPr bwMode="auto">
            <a:xfrm>
              <a:off x="762000" y="2209800"/>
              <a:ext cx="990600" cy="914400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rPr>
                <a:t>CPU</a:t>
              </a:r>
            </a:p>
          </p:txBody>
        </p:sp>
      </p:grpSp>
      <p:grpSp>
        <p:nvGrpSpPr>
          <p:cNvPr id="7" name="Group 17"/>
          <p:cNvGrpSpPr/>
          <p:nvPr/>
        </p:nvGrpSpPr>
        <p:grpSpPr>
          <a:xfrm>
            <a:off x="2743200" y="990600"/>
            <a:ext cx="4876800" cy="5181600"/>
            <a:chOff x="2743200" y="990600"/>
            <a:chExt cx="4876800" cy="5181600"/>
          </a:xfrm>
        </p:grpSpPr>
        <p:sp>
          <p:nvSpPr>
            <p:cNvPr id="5" name="Rectangle 4"/>
            <p:cNvSpPr/>
            <p:nvPr/>
          </p:nvSpPr>
          <p:spPr bwMode="auto">
            <a:xfrm>
              <a:off x="2743200" y="1905000"/>
              <a:ext cx="4876800" cy="4267200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rPr>
                <a:t>Big Memory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 bwMode="auto">
            <a:xfrm rot="5400000" flipH="1" flipV="1">
              <a:off x="1790700" y="2857500"/>
              <a:ext cx="4267200" cy="2362200"/>
            </a:xfrm>
            <a:prstGeom prst="straightConnector1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14" name="Rectangle 13"/>
            <p:cNvSpPr/>
            <p:nvPr/>
          </p:nvSpPr>
          <p:spPr bwMode="auto">
            <a:xfrm>
              <a:off x="4572000" y="990600"/>
              <a:ext cx="990600" cy="914400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rPr>
                <a:t>CPU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52400" y="4800600"/>
            <a:ext cx="23621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 Signals have further to travel</a:t>
            </a:r>
          </a:p>
          <a:p>
            <a:pPr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 Fan out to more locations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DEAB6-7160-8540-A030-3876E6A4E7DB}" type="slidenum">
              <a:rPr lang="en-US"/>
              <a:pPr/>
              <a:t>14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2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203200"/>
            <a:ext cx="7162800" cy="912813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Memory Hierarchy</a:t>
            </a:r>
          </a:p>
        </p:txBody>
      </p:sp>
      <p:sp>
        <p:nvSpPr>
          <p:cNvPr id="1426435" name="Rectangle 3"/>
          <p:cNvSpPr>
            <a:spLocks noChangeArrowheads="1"/>
          </p:cNvSpPr>
          <p:nvPr/>
        </p:nvSpPr>
        <p:spPr bwMode="auto">
          <a:xfrm>
            <a:off x="2971800" y="1219200"/>
            <a:ext cx="1981200" cy="1524000"/>
          </a:xfrm>
          <a:prstGeom prst="rect">
            <a:avLst/>
          </a:prstGeom>
          <a:solidFill>
            <a:srgbClr val="CFBDC8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Small,</a:t>
            </a:r>
          </a:p>
          <a:p>
            <a:pPr algn="ctr"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Fast Memory</a:t>
            </a:r>
          </a:p>
          <a:p>
            <a:pPr algn="ctr"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(RF, SRAM)</a:t>
            </a:r>
          </a:p>
        </p:txBody>
      </p:sp>
      <p:sp>
        <p:nvSpPr>
          <p:cNvPr id="1426436" name="Rectangle 4"/>
          <p:cNvSpPr>
            <a:spLocks noChangeArrowheads="1"/>
          </p:cNvSpPr>
          <p:nvPr/>
        </p:nvSpPr>
        <p:spPr bwMode="auto">
          <a:xfrm>
            <a:off x="228600" y="3429000"/>
            <a:ext cx="8763000" cy="252120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  <a:buFontTx/>
              <a:buChar char="•"/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 </a:t>
            </a:r>
            <a:r>
              <a:rPr lang="en-US" sz="2400" i="1">
                <a:solidFill>
                  <a:schemeClr val="tx1"/>
                </a:solidFill>
                <a:latin typeface="Verdana" charset="0"/>
              </a:rPr>
              <a:t>capacity</a:t>
            </a:r>
            <a:r>
              <a:rPr lang="en-US" sz="2400">
                <a:solidFill>
                  <a:schemeClr val="tx1"/>
                </a:solidFill>
                <a:latin typeface="Verdana" charset="0"/>
              </a:rPr>
              <a:t>:  Register &lt;&lt; SRAM &lt;&lt; DRAM</a:t>
            </a:r>
            <a:endParaRPr lang="en-US" sz="2400" i="1">
              <a:solidFill>
                <a:schemeClr val="tx1"/>
              </a:solidFill>
              <a:latin typeface="Verdana" charset="0"/>
            </a:endParaRP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sz="2400" i="1">
                <a:solidFill>
                  <a:schemeClr val="tx1"/>
                </a:solidFill>
                <a:latin typeface="Verdana" charset="0"/>
              </a:rPr>
              <a:t> latency</a:t>
            </a:r>
            <a:r>
              <a:rPr lang="en-US" sz="2400">
                <a:solidFill>
                  <a:schemeClr val="tx1"/>
                </a:solidFill>
                <a:latin typeface="Verdana" charset="0"/>
              </a:rPr>
              <a:t>:   Register &lt;&lt; SRAM &lt;&lt; DRAM</a:t>
            </a:r>
            <a:endParaRPr lang="en-US" sz="2400" i="1">
              <a:solidFill>
                <a:schemeClr val="tx1"/>
              </a:solidFill>
              <a:latin typeface="Verdana" charset="0"/>
            </a:endParaRP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 </a:t>
            </a:r>
            <a:r>
              <a:rPr lang="en-US" sz="2400" i="1">
                <a:solidFill>
                  <a:schemeClr val="tx1"/>
                </a:solidFill>
                <a:latin typeface="Verdana" charset="0"/>
              </a:rPr>
              <a:t>bandwidth: </a:t>
            </a:r>
            <a:r>
              <a:rPr lang="en-US" sz="2400">
                <a:solidFill>
                  <a:schemeClr val="tx1"/>
                </a:solidFill>
                <a:latin typeface="Verdana" charset="0"/>
              </a:rPr>
              <a:t>on-chip &gt;&gt; off-chip</a:t>
            </a:r>
            <a:endParaRPr lang="en-US" sz="2400" i="1">
              <a:solidFill>
                <a:schemeClr val="tx1"/>
              </a:solidFill>
              <a:latin typeface="Verdana" charset="0"/>
            </a:endParaRPr>
          </a:p>
          <a:p>
            <a:pPr lvl="1">
              <a:spcBef>
                <a:spcPct val="0"/>
              </a:spcBef>
            </a:pPr>
            <a:endParaRPr lang="en-US" sz="1400" i="1">
              <a:solidFill>
                <a:schemeClr val="tx1"/>
              </a:solidFill>
              <a:latin typeface="Verdana" charset="0"/>
            </a:endParaRPr>
          </a:p>
          <a:p>
            <a:pPr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On a data access:</a:t>
            </a:r>
          </a:p>
          <a:p>
            <a:pPr lvl="1">
              <a:spcBef>
                <a:spcPct val="0"/>
              </a:spcBef>
            </a:pPr>
            <a:r>
              <a:rPr lang="en-US" sz="2400" i="1">
                <a:solidFill>
                  <a:srgbClr val="56127A"/>
                </a:solidFill>
                <a:latin typeface="Verdana" charset="0"/>
              </a:rPr>
              <a:t>if 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data </a:t>
            </a:r>
            <a:r>
              <a:rPr lang="en-US" sz="2400">
                <a:solidFill>
                  <a:srgbClr val="56127A"/>
                </a:solidFill>
                <a:latin typeface="Symbol" charset="2"/>
              </a:rPr>
              <a:t>Î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 fast memory </a:t>
            </a:r>
            <a:r>
              <a:rPr lang="en-US" sz="2400" err="1">
                <a:solidFill>
                  <a:srgbClr val="56127A"/>
                </a:solidFill>
                <a:latin typeface="Symbol" charset="2"/>
              </a:rPr>
              <a:t>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 low latency access </a:t>
            </a:r>
            <a:r>
              <a:rPr lang="en-US" sz="2400" i="1">
                <a:solidFill>
                  <a:srgbClr val="56127A"/>
                </a:solidFill>
                <a:latin typeface="Verdana" charset="0"/>
              </a:rPr>
              <a:t>(SRAM)</a:t>
            </a:r>
          </a:p>
          <a:p>
            <a:pPr lvl="1">
              <a:spcBef>
                <a:spcPct val="0"/>
              </a:spcBef>
            </a:pPr>
            <a:r>
              <a:rPr lang="en-US" sz="2400" i="1">
                <a:solidFill>
                  <a:srgbClr val="56127A"/>
                </a:solidFill>
                <a:latin typeface="Verdana" charset="0"/>
              </a:rPr>
              <a:t>if 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data </a:t>
            </a:r>
            <a:r>
              <a:rPr lang="en-US" sz="2400">
                <a:solidFill>
                  <a:srgbClr val="56127A"/>
                </a:solidFill>
                <a:latin typeface="Symbol" charset="2"/>
              </a:rPr>
              <a:t>Ï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 fast memory </a:t>
            </a:r>
            <a:r>
              <a:rPr lang="en-US" sz="2400" err="1">
                <a:solidFill>
                  <a:srgbClr val="56127A"/>
                </a:solidFill>
                <a:latin typeface="Symbol" charset="2"/>
              </a:rPr>
              <a:t>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 long latency access </a:t>
            </a:r>
            <a:r>
              <a:rPr lang="en-US" sz="2400" i="1">
                <a:solidFill>
                  <a:srgbClr val="56127A"/>
                </a:solidFill>
                <a:latin typeface="Verdana" charset="0"/>
              </a:rPr>
              <a:t>(DRAM)</a:t>
            </a:r>
            <a:endParaRPr lang="en-US" sz="2400" i="1">
              <a:solidFill>
                <a:schemeClr val="tx1"/>
              </a:solidFill>
              <a:latin typeface="Verdana" charset="0"/>
            </a:endParaRPr>
          </a:p>
        </p:txBody>
      </p:sp>
      <p:sp>
        <p:nvSpPr>
          <p:cNvPr id="1426437" name="Rectangle 5"/>
          <p:cNvSpPr>
            <a:spLocks noChangeArrowheads="1"/>
          </p:cNvSpPr>
          <p:nvPr/>
        </p:nvSpPr>
        <p:spPr bwMode="auto">
          <a:xfrm>
            <a:off x="838200" y="1600200"/>
            <a:ext cx="1016000" cy="83502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CPU</a:t>
            </a:r>
          </a:p>
        </p:txBody>
      </p:sp>
      <p:sp>
        <p:nvSpPr>
          <p:cNvPr id="1426438" name="Rectangle 6"/>
          <p:cNvSpPr>
            <a:spLocks noChangeArrowheads="1"/>
          </p:cNvSpPr>
          <p:nvPr/>
        </p:nvSpPr>
        <p:spPr bwMode="auto">
          <a:xfrm>
            <a:off x="5943600" y="762000"/>
            <a:ext cx="2819400" cy="2514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Big, Slow Memory</a:t>
            </a:r>
          </a:p>
          <a:p>
            <a:pPr algn="ctr"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(DRAM)</a:t>
            </a:r>
          </a:p>
        </p:txBody>
      </p:sp>
      <p:sp>
        <p:nvSpPr>
          <p:cNvPr id="1426439" name="Oval 7"/>
          <p:cNvSpPr>
            <a:spLocks noChangeArrowheads="1"/>
          </p:cNvSpPr>
          <p:nvPr/>
        </p:nvSpPr>
        <p:spPr bwMode="auto">
          <a:xfrm>
            <a:off x="2209800" y="1295400"/>
            <a:ext cx="355600" cy="3111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A</a:t>
            </a:r>
          </a:p>
        </p:txBody>
      </p:sp>
      <p:sp>
        <p:nvSpPr>
          <p:cNvPr id="1426440" name="Oval 8"/>
          <p:cNvSpPr>
            <a:spLocks noChangeArrowheads="1"/>
          </p:cNvSpPr>
          <p:nvPr/>
        </p:nvSpPr>
        <p:spPr bwMode="auto">
          <a:xfrm>
            <a:off x="5257800" y="1295400"/>
            <a:ext cx="355600" cy="3111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B</a:t>
            </a:r>
          </a:p>
        </p:txBody>
      </p:sp>
      <p:sp>
        <p:nvSpPr>
          <p:cNvPr id="1426441" name="Rectangle 9"/>
          <p:cNvSpPr>
            <a:spLocks noChangeArrowheads="1"/>
          </p:cNvSpPr>
          <p:nvPr/>
        </p:nvSpPr>
        <p:spPr bwMode="auto">
          <a:xfrm>
            <a:off x="1752600" y="2743200"/>
            <a:ext cx="419100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i="1">
                <a:solidFill>
                  <a:schemeClr val="tx1"/>
                </a:solidFill>
                <a:latin typeface="Verdana" charset="0"/>
              </a:rPr>
              <a:t>holds frequently used data</a:t>
            </a:r>
          </a:p>
        </p:txBody>
      </p:sp>
      <p:sp>
        <p:nvSpPr>
          <p:cNvPr id="1426442" name="AutoShape 10"/>
          <p:cNvSpPr>
            <a:spLocks noChangeArrowheads="1"/>
          </p:cNvSpPr>
          <p:nvPr/>
        </p:nvSpPr>
        <p:spPr bwMode="auto">
          <a:xfrm>
            <a:off x="4953000" y="1981200"/>
            <a:ext cx="990600" cy="152400"/>
          </a:xfrm>
          <a:prstGeom prst="leftRightArrow">
            <a:avLst>
              <a:gd name="adj1" fmla="val 50000"/>
              <a:gd name="adj2" fmla="val 130000"/>
            </a:avLst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26443" name="AutoShape 11"/>
          <p:cNvSpPr>
            <a:spLocks noChangeArrowheads="1"/>
          </p:cNvSpPr>
          <p:nvPr/>
        </p:nvSpPr>
        <p:spPr bwMode="auto">
          <a:xfrm>
            <a:off x="1828800" y="1600200"/>
            <a:ext cx="1143000" cy="838200"/>
          </a:xfrm>
          <a:prstGeom prst="leftRightArrow">
            <a:avLst>
              <a:gd name="adj1" fmla="val 50000"/>
              <a:gd name="adj2" fmla="val 27273"/>
            </a:avLst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57848-939E-7E43-907B-1F30974904B2}" type="slidenum">
              <a:rPr lang="en-US"/>
              <a:pPr/>
              <a:t>15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27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 summary</a:t>
            </a:r>
          </a:p>
        </p:txBody>
      </p:sp>
      <p:sp>
        <p:nvSpPr>
          <p:cNvPr id="1277965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698500" y="1193800"/>
            <a:ext cx="7683500" cy="5207000"/>
          </a:xfrm>
        </p:spPr>
        <p:txBody>
          <a:bodyPr/>
          <a:lstStyle/>
          <a:p>
            <a:r>
              <a:rPr lang="en-US" sz="2000"/>
              <a:t>Dynamic RAM (DRAM) is main form of main memory storage in use today</a:t>
            </a:r>
          </a:p>
          <a:p>
            <a:pPr lvl="1"/>
            <a:r>
              <a:rPr lang="en-US" sz="1800"/>
              <a:t>Holds values on small capacitors, need refreshing (hence dynamic)</a:t>
            </a:r>
          </a:p>
          <a:p>
            <a:pPr lvl="1"/>
            <a:r>
              <a:rPr lang="en-US" sz="1800"/>
              <a:t>Slow multi-step access: pre-charge, read row, read column</a:t>
            </a:r>
          </a:p>
          <a:p>
            <a:r>
              <a:rPr lang="en-US" sz="2000"/>
              <a:t>Static RAM (SRAM) is faster but more expensive</a:t>
            </a:r>
          </a:p>
          <a:p>
            <a:pPr lvl="1"/>
            <a:r>
              <a:rPr lang="en-US" sz="1800"/>
              <a:t>Used to build on-chip memory for caches</a:t>
            </a:r>
          </a:p>
          <a:p>
            <a:r>
              <a:rPr lang="en-US" sz="2000"/>
              <a:t>Cache holds small set of values in fast memory (SRAM) close to processor</a:t>
            </a:r>
          </a:p>
          <a:p>
            <a:pPr lvl="1"/>
            <a:r>
              <a:rPr lang="en-US" sz="1800"/>
              <a:t>Need to develop search scheme to find values in cache, and replacement policy to make space for newly accessed locations</a:t>
            </a:r>
          </a:p>
          <a:p>
            <a:r>
              <a:rPr lang="en-US" sz="2000"/>
              <a:t>Caches exploit two forms of predictability in memory reference streams</a:t>
            </a:r>
          </a:p>
          <a:p>
            <a:pPr lvl="1"/>
            <a:r>
              <a:rPr lang="en-US" sz="1800"/>
              <a:t>Temporal locality, same location likely to be accessed again soon</a:t>
            </a:r>
          </a:p>
          <a:p>
            <a:pPr lvl="1"/>
            <a:r>
              <a:rPr lang="en-US" sz="1800"/>
              <a:t>Spatial locality, neighboring location likely to be accessed soon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FAEFF-2CA2-06F2-BD72-B6FDDFDF3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4C713-AFFA-C1DC-FF58-4D835F7F9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3A6BD-C8D7-C598-8644-38B6D13FA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Memory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DRAM</a:t>
            </a:r>
          </a:p>
          <a:p>
            <a:r>
              <a:rPr lang="en-US" dirty="0"/>
              <a:t>Caches</a:t>
            </a:r>
          </a:p>
          <a:p>
            <a:r>
              <a:rPr lang="en-US" dirty="0"/>
              <a:t>Memory Management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3A42E-55EF-AD86-6B41-95A9E8C80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3A9CC3-C0C5-49F5-88AB-58977EE0B2C7}" type="datetime1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2025-09-08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8EDD2-6483-F1EF-320C-BA3ACE502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E58DA-F00E-43DF-8114-C98C33C3E26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4088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1F37F-FFA8-47F6-8494-77BDAA12B027}" type="datetime1">
              <a:rPr lang="sv-SE"/>
              <a:pPr/>
              <a:t>2025-09-08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6870B-A649-4985-ADD2-1707CDE2DF50}" type="slidenum">
              <a:rPr lang="en-US"/>
              <a:pPr/>
              <a:t>17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8237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"/>
            <a:ext cx="7572375" cy="409575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Common Predictable Patterns</a:t>
            </a:r>
          </a:p>
        </p:txBody>
      </p:sp>
      <p:sp>
        <p:nvSpPr>
          <p:cNvPr id="1082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1338" y="1216025"/>
            <a:ext cx="8248650" cy="4908550"/>
          </a:xfrm>
          <a:noFill/>
          <a:ln/>
        </p:spPr>
        <p:txBody>
          <a:bodyPr lIns="90488" tIns="44450" rIns="90488" bIns="44450"/>
          <a:lstStyle/>
          <a:p>
            <a:pPr marL="228600" indent="-228600">
              <a:buFontTx/>
              <a:buNone/>
            </a:pPr>
            <a:r>
              <a:rPr lang="en-US" sz="2800" dirty="0"/>
              <a:t>Two predictable properties of memory references:</a:t>
            </a:r>
          </a:p>
          <a:p>
            <a:pPr lvl="1">
              <a:buFontTx/>
              <a:buNone/>
            </a:pPr>
            <a:endParaRPr lang="en-US" sz="2000" dirty="0"/>
          </a:p>
          <a:p>
            <a:pPr marL="228600" indent="-228600"/>
            <a:r>
              <a:rPr lang="en-US" sz="2800" u="sng" dirty="0">
                <a:solidFill>
                  <a:schemeClr val="hlink"/>
                </a:solidFill>
              </a:rPr>
              <a:t>Temporal Locality:</a:t>
            </a:r>
            <a:r>
              <a:rPr lang="en-US" sz="2800" dirty="0"/>
              <a:t> If a location is referenced, it is likely to be referenced again soon</a:t>
            </a:r>
          </a:p>
          <a:p>
            <a:pPr marL="228600" indent="-228600"/>
            <a:r>
              <a:rPr lang="en-US" sz="2800" u="sng" dirty="0">
                <a:solidFill>
                  <a:schemeClr val="hlink"/>
                </a:solidFill>
              </a:rPr>
              <a:t>Spatial Locality:</a:t>
            </a:r>
            <a:r>
              <a:rPr lang="en-US" sz="2800" dirty="0"/>
              <a:t> If a location is referenced it is likely that locations near it will be referenced soon (e.g., array access)</a:t>
            </a:r>
          </a:p>
        </p:txBody>
      </p:sp>
    </p:spTree>
    <p:extLst>
      <p:ext uri="{BB962C8B-B14F-4D97-AF65-F5344CB8AC3E}">
        <p14:creationId xmlns:p14="http://schemas.microsoft.com/office/powerpoint/2010/main" val="91448742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607-7346-430A-BE29-911B3379D1F6}" type="datetime1">
              <a:rPr lang="sv-SE"/>
              <a:pPr/>
              <a:t>2025-09-08</a:t>
            </a:fld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FBAC1-89E1-4170-88D8-0B7FC641702A}" type="slidenum">
              <a:rPr lang="en-US"/>
              <a:pPr/>
              <a:t>18</a:t>
            </a:fld>
            <a:endParaRPr lang="en-US" b="0">
              <a:solidFill>
                <a:srgbClr val="FBBA03"/>
              </a:solidFill>
            </a:endParaRPr>
          </a:p>
        </p:txBody>
      </p:sp>
      <p:pic>
        <p:nvPicPr>
          <p:cNvPr id="10844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4500" y="850900"/>
            <a:ext cx="8442325" cy="51800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</p:pic>
      <p:sp>
        <p:nvSpPr>
          <p:cNvPr id="1084419" name="Rectangle 3"/>
          <p:cNvSpPr>
            <a:spLocks noGrp="1" noChangeArrowheads="1"/>
          </p:cNvSpPr>
          <p:nvPr>
            <p:ph type="title"/>
          </p:nvPr>
        </p:nvSpPr>
        <p:spPr>
          <a:xfrm>
            <a:off x="546100" y="38100"/>
            <a:ext cx="8064500" cy="812800"/>
          </a:xfrm>
          <a:noFill/>
        </p:spPr>
        <p:txBody>
          <a:bodyPr/>
          <a:lstStyle/>
          <a:p>
            <a:pPr marL="25400">
              <a:tabLst>
                <a:tab pos="317500" algn="l"/>
                <a:tab pos="1231900" algn="l"/>
                <a:tab pos="2146300" algn="l"/>
                <a:tab pos="3060700" algn="l"/>
                <a:tab pos="3975100" algn="l"/>
                <a:tab pos="4889500" algn="l"/>
                <a:tab pos="5803900" algn="l"/>
              </a:tabLst>
            </a:pPr>
            <a:r>
              <a:rPr lang="en-US"/>
              <a:t>Memory Reference Patterns</a:t>
            </a:r>
          </a:p>
        </p:txBody>
      </p:sp>
      <p:sp>
        <p:nvSpPr>
          <p:cNvPr id="1084420" name="Text Box 4"/>
          <p:cNvSpPr txBox="1">
            <a:spLocks noChangeArrowheads="1"/>
          </p:cNvSpPr>
          <p:nvPr/>
        </p:nvSpPr>
        <p:spPr bwMode="auto">
          <a:xfrm>
            <a:off x="1316736" y="6102350"/>
            <a:ext cx="773836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eaLnBrk="1" hangingPunct="1"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Source: Donald J. Hatfield, Jeanette Gerald: Program Restructuring for Virtual Memory. IBM Systems Journal 10(3): 168-192 (1971)</a:t>
            </a:r>
          </a:p>
        </p:txBody>
      </p:sp>
      <p:sp>
        <p:nvSpPr>
          <p:cNvPr id="1084421" name="Text Box 5"/>
          <p:cNvSpPr txBox="1">
            <a:spLocks noChangeArrowheads="1"/>
          </p:cNvSpPr>
          <p:nvPr/>
        </p:nvSpPr>
        <p:spPr bwMode="auto">
          <a:xfrm>
            <a:off x="8189913" y="6045200"/>
            <a:ext cx="533400" cy="16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 eaLnBrk="1" hangingPunct="1">
              <a:lnSpc>
                <a:spcPts val="1300"/>
              </a:lnSpc>
              <a:spcBef>
                <a:spcPct val="0"/>
              </a:spcBef>
              <a:tabLst>
                <a:tab pos="596900" algn="l"/>
                <a:tab pos="1511300" algn="l"/>
                <a:tab pos="2425700" algn="l"/>
                <a:tab pos="3340100" algn="l"/>
                <a:tab pos="4254500" algn="l"/>
                <a:tab pos="5168900" algn="l"/>
                <a:tab pos="6083300" algn="l"/>
                <a:tab pos="6997700" algn="l"/>
              </a:tabLst>
            </a:pPr>
            <a:r>
              <a:rPr lang="en-US" sz="1800" b="1">
                <a:solidFill>
                  <a:srgbClr val="053DE8"/>
                </a:solidFill>
                <a:latin typeface="Helvetica" pitchFamily="2" charset="0"/>
              </a:rPr>
              <a:t>Time</a:t>
            </a:r>
          </a:p>
        </p:txBody>
      </p:sp>
      <p:sp>
        <p:nvSpPr>
          <p:cNvPr id="1084422" name="Text Box 6"/>
          <p:cNvSpPr txBox="1">
            <a:spLocks noChangeArrowheads="1"/>
          </p:cNvSpPr>
          <p:nvPr/>
        </p:nvSpPr>
        <p:spPr bwMode="auto">
          <a:xfrm rot="16200000">
            <a:off x="-2032000" y="3106738"/>
            <a:ext cx="4460875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ts val="1300"/>
              </a:lnSpc>
              <a:spcBef>
                <a:spcPct val="0"/>
              </a:spcBef>
              <a:tabLst>
                <a:tab pos="596900" algn="l"/>
                <a:tab pos="1511300" algn="l"/>
                <a:tab pos="2425700" algn="l"/>
                <a:tab pos="3340100" algn="l"/>
                <a:tab pos="4254500" algn="l"/>
                <a:tab pos="5168900" algn="l"/>
                <a:tab pos="6083300" algn="l"/>
                <a:tab pos="6997700" algn="l"/>
              </a:tabLst>
            </a:pPr>
            <a:r>
              <a:rPr lang="en-US" sz="1800" b="1">
                <a:solidFill>
                  <a:srgbClr val="053DE8"/>
                </a:solidFill>
                <a:latin typeface="Helvetica" pitchFamily="2" charset="0"/>
              </a:rPr>
              <a:t>Memory Address (one dot per access)</a:t>
            </a:r>
          </a:p>
        </p:txBody>
      </p:sp>
      <p:grpSp>
        <p:nvGrpSpPr>
          <p:cNvPr id="1084424" name="Group 8"/>
          <p:cNvGrpSpPr>
            <a:grpSpLocks/>
          </p:cNvGrpSpPr>
          <p:nvPr/>
        </p:nvGrpSpPr>
        <p:grpSpPr bwMode="auto">
          <a:xfrm>
            <a:off x="3987800" y="4635500"/>
            <a:ext cx="5014913" cy="1282700"/>
            <a:chOff x="2198" y="2555"/>
            <a:chExt cx="3159" cy="808"/>
          </a:xfrm>
        </p:grpSpPr>
        <p:sp>
          <p:nvSpPr>
            <p:cNvPr id="1084425" name="Freeform 9"/>
            <p:cNvSpPr>
              <a:spLocks/>
            </p:cNvSpPr>
            <p:nvPr/>
          </p:nvSpPr>
          <p:spPr bwMode="auto">
            <a:xfrm>
              <a:off x="2198" y="2555"/>
              <a:ext cx="639" cy="440"/>
            </a:xfrm>
            <a:custGeom>
              <a:avLst/>
              <a:gdLst/>
              <a:ahLst/>
              <a:cxnLst>
                <a:cxn ang="0">
                  <a:pos x="7777" y="1334"/>
                </a:cxn>
                <a:cxn ang="0">
                  <a:pos x="7777" y="7777"/>
                </a:cxn>
                <a:cxn ang="0">
                  <a:pos x="1334" y="7777"/>
                </a:cxn>
                <a:cxn ang="0">
                  <a:pos x="1334" y="1334"/>
                </a:cxn>
                <a:cxn ang="0">
                  <a:pos x="7777" y="1334"/>
                </a:cxn>
                <a:cxn ang="0">
                  <a:pos x="7777" y="1334"/>
                </a:cxn>
              </a:cxnLst>
              <a:rect l="0" t="0" r="r" b="b"/>
              <a:pathLst>
                <a:path w="9111" h="9111">
                  <a:moveTo>
                    <a:pt x="7777" y="1334"/>
                  </a:moveTo>
                  <a:cubicBezTo>
                    <a:pt x="9556" y="3113"/>
                    <a:pt x="9556" y="5998"/>
                    <a:pt x="7777" y="7777"/>
                  </a:cubicBezTo>
                  <a:cubicBezTo>
                    <a:pt x="5998" y="9556"/>
                    <a:pt x="3113" y="9556"/>
                    <a:pt x="1334" y="7777"/>
                  </a:cubicBezTo>
                  <a:cubicBezTo>
                    <a:pt x="-445" y="5998"/>
                    <a:pt x="-445" y="3113"/>
                    <a:pt x="1334" y="1334"/>
                  </a:cubicBezTo>
                  <a:cubicBezTo>
                    <a:pt x="3113" y="-445"/>
                    <a:pt x="5998" y="-445"/>
                    <a:pt x="7777" y="1334"/>
                  </a:cubicBezTo>
                  <a:close/>
                  <a:moveTo>
                    <a:pt x="7777" y="1334"/>
                  </a:moveTo>
                </a:path>
              </a:pathLst>
            </a:custGeom>
            <a:noFill/>
            <a:ln w="25400">
              <a:solidFill>
                <a:srgbClr val="053DE8"/>
              </a:solidFill>
              <a:prstDash val="solid"/>
              <a:round/>
              <a:headEnd/>
              <a:tailEnd/>
            </a:ln>
            <a:effectLst>
              <a:outerShdw dist="63499" dir="2339991" algn="ctr" rotWithShape="0">
                <a:srgbClr val="0D0D0D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426" name="Line 10"/>
            <p:cNvSpPr>
              <a:spLocks noChangeShapeType="1"/>
            </p:cNvSpPr>
            <p:nvPr/>
          </p:nvSpPr>
          <p:spPr bwMode="auto">
            <a:xfrm rot="10800000">
              <a:off x="2846" y="2923"/>
              <a:ext cx="576" cy="120"/>
            </a:xfrm>
            <a:prstGeom prst="line">
              <a:avLst/>
            </a:prstGeom>
            <a:noFill/>
            <a:ln w="25400">
              <a:solidFill>
                <a:srgbClr val="053DE8"/>
              </a:solidFill>
              <a:round/>
              <a:headEnd/>
              <a:tailEnd type="stealth" w="med" len="med"/>
            </a:ln>
            <a:effectLst>
              <a:outerShdw dist="76199" dir="3420002" algn="ctr" rotWithShape="0">
                <a:srgbClr val="053DE8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427" name="Line 11"/>
            <p:cNvSpPr>
              <a:spLocks noChangeShapeType="1"/>
            </p:cNvSpPr>
            <p:nvPr/>
          </p:nvSpPr>
          <p:spPr bwMode="auto">
            <a:xfrm>
              <a:off x="4222" y="3019"/>
              <a:ext cx="448" cy="104"/>
            </a:xfrm>
            <a:prstGeom prst="line">
              <a:avLst/>
            </a:prstGeom>
            <a:noFill/>
            <a:ln w="25400">
              <a:solidFill>
                <a:srgbClr val="053DE8"/>
              </a:solidFill>
              <a:round/>
              <a:headEnd/>
              <a:tailEnd type="stealth" w="med" len="med"/>
            </a:ln>
            <a:effectLst>
              <a:outerShdw dist="76199" dir="3420002" algn="ctr" rotWithShape="0">
                <a:srgbClr val="053DE8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428" name="Freeform 12"/>
            <p:cNvSpPr>
              <a:spLocks/>
            </p:cNvSpPr>
            <p:nvPr/>
          </p:nvSpPr>
          <p:spPr bwMode="auto">
            <a:xfrm>
              <a:off x="4718" y="2763"/>
              <a:ext cx="639" cy="600"/>
            </a:xfrm>
            <a:custGeom>
              <a:avLst/>
              <a:gdLst/>
              <a:ahLst/>
              <a:cxnLst>
                <a:cxn ang="0">
                  <a:pos x="7777" y="1334"/>
                </a:cxn>
                <a:cxn ang="0">
                  <a:pos x="7777" y="7777"/>
                </a:cxn>
                <a:cxn ang="0">
                  <a:pos x="1334" y="7777"/>
                </a:cxn>
                <a:cxn ang="0">
                  <a:pos x="1334" y="1334"/>
                </a:cxn>
                <a:cxn ang="0">
                  <a:pos x="7777" y="1334"/>
                </a:cxn>
                <a:cxn ang="0">
                  <a:pos x="7777" y="1334"/>
                </a:cxn>
              </a:cxnLst>
              <a:rect l="0" t="0" r="r" b="b"/>
              <a:pathLst>
                <a:path w="9111" h="9111">
                  <a:moveTo>
                    <a:pt x="7777" y="1334"/>
                  </a:moveTo>
                  <a:cubicBezTo>
                    <a:pt x="9556" y="3113"/>
                    <a:pt x="9556" y="5998"/>
                    <a:pt x="7777" y="7777"/>
                  </a:cubicBezTo>
                  <a:cubicBezTo>
                    <a:pt x="5998" y="9556"/>
                    <a:pt x="3113" y="9556"/>
                    <a:pt x="1334" y="7777"/>
                  </a:cubicBezTo>
                  <a:cubicBezTo>
                    <a:pt x="-445" y="5998"/>
                    <a:pt x="-445" y="3113"/>
                    <a:pt x="1334" y="1334"/>
                  </a:cubicBezTo>
                  <a:cubicBezTo>
                    <a:pt x="3113" y="-445"/>
                    <a:pt x="5998" y="-445"/>
                    <a:pt x="7777" y="1334"/>
                  </a:cubicBezTo>
                  <a:close/>
                  <a:moveTo>
                    <a:pt x="7777" y="1334"/>
                  </a:moveTo>
                </a:path>
              </a:pathLst>
            </a:custGeom>
            <a:noFill/>
            <a:ln w="25400">
              <a:solidFill>
                <a:srgbClr val="053DE8"/>
              </a:solidFill>
              <a:prstDash val="solid"/>
              <a:round/>
              <a:headEnd/>
              <a:tailEnd/>
            </a:ln>
            <a:effectLst>
              <a:outerShdw dist="63499" dir="2339991" algn="ctr" rotWithShape="0">
                <a:srgbClr val="0D0D0D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429" name="Text Box 13"/>
            <p:cNvSpPr txBox="1">
              <a:spLocks noChangeArrowheads="1"/>
            </p:cNvSpPr>
            <p:nvPr/>
          </p:nvSpPr>
          <p:spPr bwMode="auto">
            <a:xfrm>
              <a:off x="3242" y="2817"/>
              <a:ext cx="1172" cy="48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 eaLnBrk="1" hangingPunct="1"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</a:pPr>
              <a:r>
                <a:rPr lang="en-US" sz="2600" b="1">
                  <a:solidFill>
                    <a:srgbClr val="053DE8"/>
                  </a:solidFill>
                  <a:latin typeface="Marker Felt" pitchFamily="32" charset="0"/>
                </a:rPr>
                <a:t>Spatial</a:t>
              </a:r>
            </a:p>
            <a:p>
              <a:pPr algn="ctr" eaLnBrk="1" hangingPunct="1"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</a:pPr>
              <a:r>
                <a:rPr lang="en-US" sz="2600" b="1">
                  <a:solidFill>
                    <a:srgbClr val="053DE8"/>
                  </a:solidFill>
                  <a:latin typeface="Marker Felt" pitchFamily="32" charset="0"/>
                </a:rPr>
                <a:t>Locality</a:t>
              </a:r>
            </a:p>
          </p:txBody>
        </p:sp>
      </p:grpSp>
      <p:grpSp>
        <p:nvGrpSpPr>
          <p:cNvPr id="1084431" name="Group 15"/>
          <p:cNvGrpSpPr>
            <a:grpSpLocks/>
          </p:cNvGrpSpPr>
          <p:nvPr/>
        </p:nvGrpSpPr>
        <p:grpSpPr bwMode="auto">
          <a:xfrm>
            <a:off x="4203700" y="2536825"/>
            <a:ext cx="4762500" cy="762000"/>
            <a:chOff x="2317" y="1398"/>
            <a:chExt cx="3000" cy="480"/>
          </a:xfrm>
        </p:grpSpPr>
        <p:sp>
          <p:nvSpPr>
            <p:cNvPr id="1084432" name="Freeform 16"/>
            <p:cNvSpPr>
              <a:spLocks/>
            </p:cNvSpPr>
            <p:nvPr/>
          </p:nvSpPr>
          <p:spPr bwMode="auto">
            <a:xfrm>
              <a:off x="2317" y="1552"/>
              <a:ext cx="1735" cy="216"/>
            </a:xfrm>
            <a:custGeom>
              <a:avLst/>
              <a:gdLst/>
              <a:ahLst/>
              <a:cxnLst>
                <a:cxn ang="0">
                  <a:pos x="7777" y="1334"/>
                </a:cxn>
                <a:cxn ang="0">
                  <a:pos x="7777" y="7777"/>
                </a:cxn>
                <a:cxn ang="0">
                  <a:pos x="1334" y="7777"/>
                </a:cxn>
                <a:cxn ang="0">
                  <a:pos x="1334" y="1334"/>
                </a:cxn>
                <a:cxn ang="0">
                  <a:pos x="7777" y="1334"/>
                </a:cxn>
                <a:cxn ang="0">
                  <a:pos x="7777" y="1334"/>
                </a:cxn>
              </a:cxnLst>
              <a:rect l="0" t="0" r="r" b="b"/>
              <a:pathLst>
                <a:path w="9111" h="9111">
                  <a:moveTo>
                    <a:pt x="7777" y="1334"/>
                  </a:moveTo>
                  <a:cubicBezTo>
                    <a:pt x="9556" y="3113"/>
                    <a:pt x="9556" y="5998"/>
                    <a:pt x="7777" y="7777"/>
                  </a:cubicBezTo>
                  <a:cubicBezTo>
                    <a:pt x="5998" y="9556"/>
                    <a:pt x="3113" y="9556"/>
                    <a:pt x="1334" y="7777"/>
                  </a:cubicBezTo>
                  <a:cubicBezTo>
                    <a:pt x="-445" y="5998"/>
                    <a:pt x="-445" y="3113"/>
                    <a:pt x="1334" y="1334"/>
                  </a:cubicBezTo>
                  <a:cubicBezTo>
                    <a:pt x="3113" y="-445"/>
                    <a:pt x="5998" y="-445"/>
                    <a:pt x="7777" y="1334"/>
                  </a:cubicBezTo>
                  <a:close/>
                  <a:moveTo>
                    <a:pt x="7777" y="1334"/>
                  </a:moveTo>
                </a:path>
              </a:pathLst>
            </a:custGeom>
            <a:noFill/>
            <a:ln w="25400">
              <a:solidFill>
                <a:srgbClr val="053DE8"/>
              </a:solidFill>
              <a:prstDash val="solid"/>
              <a:round/>
              <a:headEnd/>
              <a:tailEnd/>
            </a:ln>
            <a:effectLst>
              <a:outerShdw dist="63499" dir="2339991" algn="ctr" rotWithShape="0">
                <a:srgbClr val="0D0D0D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433" name="Line 17"/>
            <p:cNvSpPr>
              <a:spLocks noChangeShapeType="1"/>
            </p:cNvSpPr>
            <p:nvPr/>
          </p:nvSpPr>
          <p:spPr bwMode="auto">
            <a:xfrm flipH="1">
              <a:off x="4077" y="1488"/>
              <a:ext cx="208" cy="152"/>
            </a:xfrm>
            <a:prstGeom prst="line">
              <a:avLst/>
            </a:prstGeom>
            <a:noFill/>
            <a:ln w="25400">
              <a:solidFill>
                <a:srgbClr val="053DE8"/>
              </a:solidFill>
              <a:round/>
              <a:headEnd/>
              <a:tailEnd type="stealth" w="med" len="med"/>
            </a:ln>
            <a:effectLst>
              <a:outerShdw dist="76199" dir="3420002" algn="ctr" rotWithShape="0">
                <a:srgbClr val="053DE8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434" name="Text Box 18"/>
            <p:cNvSpPr txBox="1">
              <a:spLocks noChangeArrowheads="1"/>
            </p:cNvSpPr>
            <p:nvPr/>
          </p:nvSpPr>
          <p:spPr bwMode="auto">
            <a:xfrm>
              <a:off x="4145" y="1398"/>
              <a:ext cx="1172" cy="48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 eaLnBrk="1" hangingPunct="1"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</a:pPr>
              <a:r>
                <a:rPr lang="en-US" sz="2600" b="1">
                  <a:solidFill>
                    <a:srgbClr val="053DE8"/>
                  </a:solidFill>
                  <a:latin typeface="Marker Felt" pitchFamily="32" charset="0"/>
                </a:rPr>
                <a:t>Temporal</a:t>
              </a:r>
            </a:p>
            <a:p>
              <a:pPr algn="ctr" eaLnBrk="1" hangingPunct="1"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</a:pPr>
              <a:r>
                <a:rPr lang="en-US" sz="2600" b="1">
                  <a:solidFill>
                    <a:srgbClr val="053DE8"/>
                  </a:solidFill>
                  <a:latin typeface="Marker Felt" pitchFamily="32" charset="0"/>
                </a:rPr>
                <a:t> Locality</a:t>
              </a:r>
            </a:p>
          </p:txBody>
        </p:sp>
      </p:grpSp>
      <p:grpSp>
        <p:nvGrpSpPr>
          <p:cNvPr id="1084435" name="Group 19"/>
          <p:cNvGrpSpPr>
            <a:grpSpLocks/>
          </p:cNvGrpSpPr>
          <p:nvPr/>
        </p:nvGrpSpPr>
        <p:grpSpPr bwMode="auto">
          <a:xfrm>
            <a:off x="723900" y="841375"/>
            <a:ext cx="7392988" cy="949325"/>
            <a:chOff x="456" y="530"/>
            <a:chExt cx="4657" cy="598"/>
          </a:xfrm>
        </p:grpSpPr>
        <p:sp>
          <p:nvSpPr>
            <p:cNvPr id="1084436" name="Freeform 20"/>
            <p:cNvSpPr>
              <a:spLocks/>
            </p:cNvSpPr>
            <p:nvPr/>
          </p:nvSpPr>
          <p:spPr bwMode="auto">
            <a:xfrm>
              <a:off x="456" y="720"/>
              <a:ext cx="2351" cy="408"/>
            </a:xfrm>
            <a:custGeom>
              <a:avLst/>
              <a:gdLst/>
              <a:ahLst/>
              <a:cxnLst>
                <a:cxn ang="0">
                  <a:pos x="7777" y="1334"/>
                </a:cxn>
                <a:cxn ang="0">
                  <a:pos x="7777" y="7777"/>
                </a:cxn>
                <a:cxn ang="0">
                  <a:pos x="1334" y="7777"/>
                </a:cxn>
                <a:cxn ang="0">
                  <a:pos x="1334" y="1334"/>
                </a:cxn>
                <a:cxn ang="0">
                  <a:pos x="7777" y="1334"/>
                </a:cxn>
                <a:cxn ang="0">
                  <a:pos x="7777" y="1334"/>
                </a:cxn>
              </a:cxnLst>
              <a:rect l="0" t="0" r="r" b="b"/>
              <a:pathLst>
                <a:path w="9111" h="9111">
                  <a:moveTo>
                    <a:pt x="7777" y="1334"/>
                  </a:moveTo>
                  <a:cubicBezTo>
                    <a:pt x="9556" y="3113"/>
                    <a:pt x="9556" y="5998"/>
                    <a:pt x="7777" y="7777"/>
                  </a:cubicBezTo>
                  <a:cubicBezTo>
                    <a:pt x="5998" y="9556"/>
                    <a:pt x="3113" y="9556"/>
                    <a:pt x="1334" y="7777"/>
                  </a:cubicBezTo>
                  <a:cubicBezTo>
                    <a:pt x="-445" y="5998"/>
                    <a:pt x="-445" y="3113"/>
                    <a:pt x="1334" y="1334"/>
                  </a:cubicBezTo>
                  <a:cubicBezTo>
                    <a:pt x="3113" y="-445"/>
                    <a:pt x="5998" y="-445"/>
                    <a:pt x="7777" y="1334"/>
                  </a:cubicBezTo>
                  <a:close/>
                  <a:moveTo>
                    <a:pt x="7777" y="1334"/>
                  </a:moveTo>
                </a:path>
              </a:pathLst>
            </a:custGeom>
            <a:noFill/>
            <a:ln w="25400">
              <a:solidFill>
                <a:srgbClr val="053DE8"/>
              </a:solidFill>
              <a:prstDash val="solid"/>
              <a:round/>
              <a:headEnd/>
              <a:tailEnd/>
            </a:ln>
            <a:effectLst>
              <a:outerShdw dist="63499" dir="2339991" algn="ctr" rotWithShape="0">
                <a:srgbClr val="0D0D0D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437" name="Line 21"/>
            <p:cNvSpPr>
              <a:spLocks noChangeShapeType="1"/>
            </p:cNvSpPr>
            <p:nvPr/>
          </p:nvSpPr>
          <p:spPr bwMode="auto">
            <a:xfrm flipH="1">
              <a:off x="2712" y="632"/>
              <a:ext cx="208" cy="152"/>
            </a:xfrm>
            <a:prstGeom prst="line">
              <a:avLst/>
            </a:prstGeom>
            <a:noFill/>
            <a:ln w="25400">
              <a:solidFill>
                <a:srgbClr val="053DE8"/>
              </a:solidFill>
              <a:round/>
              <a:headEnd/>
              <a:tailEnd type="stealth" w="med" len="med"/>
            </a:ln>
            <a:effectLst>
              <a:outerShdw dist="76199" dir="3420002" algn="ctr" rotWithShape="0">
                <a:srgbClr val="053DE8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438" name="Text Box 22"/>
            <p:cNvSpPr txBox="1">
              <a:spLocks noChangeArrowheads="1"/>
            </p:cNvSpPr>
            <p:nvPr/>
          </p:nvSpPr>
          <p:spPr bwMode="auto">
            <a:xfrm>
              <a:off x="2902" y="530"/>
              <a:ext cx="22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 eaLnBrk="1" hangingPunct="1"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</a:pPr>
              <a:r>
                <a:rPr lang="en-US" sz="2600" b="1">
                  <a:solidFill>
                    <a:srgbClr val="053DE8"/>
                  </a:solidFill>
                  <a:latin typeface="Marker Felt" pitchFamily="32" charset="0"/>
                </a:rPr>
                <a:t>Bad </a:t>
              </a:r>
              <a:r>
                <a:rPr lang="en-US" sz="2400" b="1">
                  <a:solidFill>
                    <a:srgbClr val="053DE8"/>
                  </a:solidFill>
                </a:rPr>
                <a:t>locality behavior</a:t>
              </a:r>
              <a:r>
                <a:rPr lang="en-US" b="1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20468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4E507-EEB3-41B4-839B-F5F9A85EAAE8}" type="datetime1">
              <a:rPr lang="sv-SE"/>
              <a:pPr/>
              <a:t>2025-09-08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2759A-BAF7-47A8-8A96-BDEE033B0763}" type="slidenum">
              <a:rPr lang="en-US"/>
              <a:pPr/>
              <a:t>19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85442" name="Rectangle 2"/>
          <p:cNvSpPr>
            <a:spLocks noChangeArrowheads="1"/>
          </p:cNvSpPr>
          <p:nvPr/>
        </p:nvSpPr>
        <p:spPr bwMode="auto">
          <a:xfrm>
            <a:off x="746125" y="209550"/>
            <a:ext cx="7292975" cy="73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200" b="1">
                <a:solidFill>
                  <a:srgbClr val="0332B7"/>
                </a:solidFill>
              </a:rPr>
              <a:t>Caches</a:t>
            </a:r>
          </a:p>
        </p:txBody>
      </p:sp>
      <p:sp>
        <p:nvSpPr>
          <p:cNvPr id="1085443" name="Rectangle 3"/>
          <p:cNvSpPr>
            <a:spLocks noChangeArrowheads="1"/>
          </p:cNvSpPr>
          <p:nvPr/>
        </p:nvSpPr>
        <p:spPr bwMode="auto">
          <a:xfrm>
            <a:off x="457200" y="946150"/>
            <a:ext cx="78692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sz="2400" dirty="0">
                <a:solidFill>
                  <a:schemeClr val="tx1"/>
                </a:solidFill>
              </a:rPr>
              <a:t>Caches exploit both types of predictability:</a:t>
            </a:r>
          </a:p>
          <a:p>
            <a:pPr marL="342900" indent="-342900">
              <a:lnSpc>
                <a:spcPct val="90000"/>
              </a:lnSpc>
              <a:spcBef>
                <a:spcPct val="30000"/>
              </a:spcBef>
              <a:buSzPct val="100000"/>
            </a:pPr>
            <a:endParaRPr lang="en-US" sz="2400" dirty="0">
              <a:solidFill>
                <a:schemeClr val="tx1"/>
              </a:solidFill>
            </a:endParaRPr>
          </a:p>
          <a:p>
            <a:pPr marL="742950" lvl="1" indent="-285750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sz="2400" dirty="0">
                <a:solidFill>
                  <a:schemeClr val="tx1"/>
                </a:solidFill>
              </a:rPr>
              <a:t>Exploit </a:t>
            </a:r>
            <a:r>
              <a:rPr lang="en-US" sz="2400" dirty="0"/>
              <a:t>temporal locality</a:t>
            </a:r>
            <a:r>
              <a:rPr lang="en-US" sz="2400" dirty="0">
                <a:solidFill>
                  <a:schemeClr val="tx1"/>
                </a:solidFill>
              </a:rPr>
              <a:t> by remembering the contents of recently accessed locations</a:t>
            </a:r>
            <a:br>
              <a:rPr lang="en-US" sz="2400" dirty="0">
                <a:solidFill>
                  <a:schemeClr val="tx1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  <a:p>
            <a:pPr marL="742950" lvl="1" indent="-285750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sz="2400" dirty="0">
                <a:solidFill>
                  <a:schemeClr val="tx1"/>
                </a:solidFill>
              </a:rPr>
              <a:t>Exploit </a:t>
            </a:r>
            <a:r>
              <a:rPr lang="en-US" sz="2400" dirty="0"/>
              <a:t>spatial locality</a:t>
            </a:r>
            <a:r>
              <a:rPr lang="en-US" sz="2400" dirty="0">
                <a:solidFill>
                  <a:schemeClr val="tx1"/>
                </a:solidFill>
              </a:rPr>
              <a:t> by fetching blocks of data around recently accessed locations</a:t>
            </a:r>
          </a:p>
        </p:txBody>
      </p:sp>
    </p:spTree>
    <p:extLst>
      <p:ext uri="{BB962C8B-B14F-4D97-AF65-F5344CB8AC3E}">
        <p14:creationId xmlns:p14="http://schemas.microsoft.com/office/powerpoint/2010/main" val="2632765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69A94-69D5-459A-BC36-3B042A46FAA9}" type="datetime1">
              <a:rPr lang="sv-SE"/>
              <a:pPr/>
              <a:t>2025-09-08</a:t>
            </a:fld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69FF6-5354-4E38-946C-BB1EB79C18D1}" type="slidenum">
              <a:rPr lang="en-US"/>
              <a:pPr/>
              <a:t>20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86466" name="Rectangle 2"/>
          <p:cNvSpPr>
            <a:spLocks noGrp="1" noChangeArrowheads="1"/>
          </p:cNvSpPr>
          <p:nvPr>
            <p:ph type="title"/>
          </p:nvPr>
        </p:nvSpPr>
        <p:spPr>
          <a:xfrm>
            <a:off x="733425" y="341313"/>
            <a:ext cx="7610475" cy="409575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Cache Algorithm (Read)</a:t>
            </a:r>
          </a:p>
        </p:txBody>
      </p:sp>
      <p:grpSp>
        <p:nvGrpSpPr>
          <p:cNvPr id="1086467" name="Group 3"/>
          <p:cNvGrpSpPr>
            <a:grpSpLocks/>
          </p:cNvGrpSpPr>
          <p:nvPr/>
        </p:nvGrpSpPr>
        <p:grpSpPr bwMode="auto">
          <a:xfrm>
            <a:off x="715963" y="2057400"/>
            <a:ext cx="3779837" cy="1798638"/>
            <a:chOff x="451" y="1296"/>
            <a:chExt cx="2381" cy="1133"/>
          </a:xfrm>
        </p:grpSpPr>
        <p:sp>
          <p:nvSpPr>
            <p:cNvPr id="1086468" name="Line 4"/>
            <p:cNvSpPr>
              <a:spLocks noChangeShapeType="1"/>
            </p:cNvSpPr>
            <p:nvPr/>
          </p:nvSpPr>
          <p:spPr bwMode="auto">
            <a:xfrm flipH="1">
              <a:off x="1776" y="1296"/>
              <a:ext cx="1056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6469" name="Rectangle 5"/>
            <p:cNvSpPr>
              <a:spLocks noChangeArrowheads="1"/>
            </p:cNvSpPr>
            <p:nvPr/>
          </p:nvSpPr>
          <p:spPr bwMode="auto">
            <a:xfrm>
              <a:off x="451" y="1468"/>
              <a:ext cx="1822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000">
                  <a:latin typeface="Verdana" pitchFamily="32" charset="0"/>
                </a:rPr>
                <a:t>HIT</a:t>
              </a:r>
              <a:r>
                <a:rPr lang="en-US" sz="2000">
                  <a:solidFill>
                    <a:schemeClr val="tx1"/>
                  </a:solidFill>
                  <a:latin typeface="Verdana" pitchFamily="32" charset="0"/>
                </a:rPr>
                <a:t> - Found in Cache</a:t>
              </a:r>
            </a:p>
            <a:p>
              <a:pPr>
                <a:spcBef>
                  <a:spcPct val="0"/>
                </a:spcBef>
              </a:pPr>
              <a:endParaRPr lang="en-US" sz="2000">
                <a:solidFill>
                  <a:schemeClr val="tx1"/>
                </a:solidFill>
                <a:latin typeface="Verdana" pitchFamily="32" charset="0"/>
              </a:endParaRPr>
            </a:p>
          </p:txBody>
        </p:sp>
        <p:sp>
          <p:nvSpPr>
            <p:cNvPr id="1086470" name="Rectangle 6"/>
            <p:cNvSpPr>
              <a:spLocks noChangeArrowheads="1"/>
            </p:cNvSpPr>
            <p:nvPr/>
          </p:nvSpPr>
          <p:spPr bwMode="auto">
            <a:xfrm>
              <a:off x="575" y="1795"/>
              <a:ext cx="1113" cy="6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000">
                  <a:solidFill>
                    <a:schemeClr val="tx1"/>
                  </a:solidFill>
                  <a:latin typeface="Verdana" pitchFamily="32" charset="0"/>
                </a:rPr>
                <a:t>Return copy</a:t>
              </a:r>
            </a:p>
            <a:p>
              <a:pPr>
                <a:spcBef>
                  <a:spcPct val="0"/>
                </a:spcBef>
              </a:pPr>
              <a:r>
                <a:rPr lang="en-US" sz="2000">
                  <a:solidFill>
                    <a:schemeClr val="tx1"/>
                  </a:solidFill>
                  <a:latin typeface="Verdana" pitchFamily="32" charset="0"/>
                </a:rPr>
                <a:t>of data from</a:t>
              </a:r>
            </a:p>
            <a:p>
              <a:pPr>
                <a:spcBef>
                  <a:spcPct val="0"/>
                </a:spcBef>
              </a:pPr>
              <a:r>
                <a:rPr lang="en-US" sz="2000">
                  <a:solidFill>
                    <a:schemeClr val="tx1"/>
                  </a:solidFill>
                  <a:latin typeface="Verdana" pitchFamily="32" charset="0"/>
                </a:rPr>
                <a:t>cache</a:t>
              </a:r>
            </a:p>
          </p:txBody>
        </p:sp>
      </p:grpSp>
      <p:grpSp>
        <p:nvGrpSpPr>
          <p:cNvPr id="1086471" name="Group 7"/>
          <p:cNvGrpSpPr>
            <a:grpSpLocks/>
          </p:cNvGrpSpPr>
          <p:nvPr/>
        </p:nvGrpSpPr>
        <p:grpSpPr bwMode="auto">
          <a:xfrm>
            <a:off x="4586288" y="2071688"/>
            <a:ext cx="4327525" cy="3611562"/>
            <a:chOff x="2889" y="1305"/>
            <a:chExt cx="2726" cy="2275"/>
          </a:xfrm>
        </p:grpSpPr>
        <p:sp>
          <p:nvSpPr>
            <p:cNvPr id="1086472" name="Line 8"/>
            <p:cNvSpPr>
              <a:spLocks noChangeShapeType="1"/>
            </p:cNvSpPr>
            <p:nvPr/>
          </p:nvSpPr>
          <p:spPr bwMode="auto">
            <a:xfrm>
              <a:off x="2889" y="1305"/>
              <a:ext cx="1056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6473" name="Rectangle 9"/>
            <p:cNvSpPr>
              <a:spLocks noChangeArrowheads="1"/>
            </p:cNvSpPr>
            <p:nvPr/>
          </p:nvSpPr>
          <p:spPr bwMode="auto">
            <a:xfrm>
              <a:off x="3436" y="1458"/>
              <a:ext cx="1716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000">
                  <a:latin typeface="Verdana" pitchFamily="32" charset="0"/>
                </a:rPr>
                <a:t>MISS</a:t>
              </a:r>
              <a:r>
                <a:rPr lang="en-US" sz="2000">
                  <a:solidFill>
                    <a:schemeClr val="tx1"/>
                  </a:solidFill>
                  <a:latin typeface="Verdana" pitchFamily="32" charset="0"/>
                </a:rPr>
                <a:t> - Not in cache</a:t>
              </a:r>
            </a:p>
            <a:p>
              <a:pPr>
                <a:spcBef>
                  <a:spcPct val="0"/>
                </a:spcBef>
              </a:pPr>
              <a:endParaRPr lang="en-US" sz="2000" u="sng">
                <a:solidFill>
                  <a:schemeClr val="tx1"/>
                </a:solidFill>
                <a:latin typeface="Verdana" pitchFamily="32" charset="0"/>
              </a:endParaRPr>
            </a:p>
          </p:txBody>
        </p:sp>
        <p:sp>
          <p:nvSpPr>
            <p:cNvPr id="1086474" name="Rectangle 10"/>
            <p:cNvSpPr>
              <a:spLocks noChangeArrowheads="1"/>
            </p:cNvSpPr>
            <p:nvPr/>
          </p:nvSpPr>
          <p:spPr bwMode="auto">
            <a:xfrm>
              <a:off x="3964" y="1986"/>
              <a:ext cx="1651" cy="15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000" dirty="0">
                  <a:solidFill>
                    <a:schemeClr val="tx1"/>
                  </a:solidFill>
                  <a:latin typeface="Verdana" pitchFamily="32" charset="0"/>
                </a:rPr>
                <a:t>Read block of data from Main Memory</a:t>
              </a:r>
            </a:p>
            <a:p>
              <a:pPr>
                <a:spcBef>
                  <a:spcPct val="0"/>
                </a:spcBef>
              </a:pPr>
              <a:endParaRPr lang="en-US" sz="2000" dirty="0">
                <a:solidFill>
                  <a:schemeClr val="tx1"/>
                </a:solidFill>
                <a:latin typeface="Verdana" pitchFamily="32" charset="0"/>
              </a:endParaRPr>
            </a:p>
            <a:p>
              <a:pPr>
                <a:spcBef>
                  <a:spcPct val="0"/>
                </a:spcBef>
              </a:pPr>
              <a:r>
                <a:rPr lang="en-US" sz="2000" dirty="0">
                  <a:solidFill>
                    <a:schemeClr val="tx1"/>
                  </a:solidFill>
                  <a:latin typeface="Verdana" pitchFamily="32" charset="0"/>
                </a:rPr>
                <a:t>Wait … </a:t>
              </a:r>
            </a:p>
            <a:p>
              <a:pPr>
                <a:spcBef>
                  <a:spcPct val="0"/>
                </a:spcBef>
              </a:pPr>
              <a:endParaRPr lang="en-US" sz="2000" dirty="0">
                <a:solidFill>
                  <a:schemeClr val="tx1"/>
                </a:solidFill>
                <a:latin typeface="Verdana" pitchFamily="32" charset="0"/>
              </a:endParaRPr>
            </a:p>
            <a:p>
              <a:pPr>
                <a:spcBef>
                  <a:spcPct val="0"/>
                </a:spcBef>
              </a:pPr>
              <a:r>
                <a:rPr lang="en-US" sz="2000" dirty="0">
                  <a:solidFill>
                    <a:schemeClr val="tx1"/>
                  </a:solidFill>
                  <a:latin typeface="Verdana" pitchFamily="32" charset="0"/>
                </a:rPr>
                <a:t>Return data to processor</a:t>
              </a:r>
            </a:p>
            <a:p>
              <a:pPr>
                <a:spcBef>
                  <a:spcPct val="0"/>
                </a:spcBef>
              </a:pPr>
              <a:r>
                <a:rPr lang="en-US" sz="2000" dirty="0">
                  <a:solidFill>
                    <a:schemeClr val="tx1"/>
                  </a:solidFill>
                  <a:latin typeface="Verdana" pitchFamily="32" charset="0"/>
                </a:rPr>
                <a:t>and update cache</a:t>
              </a:r>
              <a:endParaRPr lang="en-US" sz="2000" u="sng" dirty="0">
                <a:solidFill>
                  <a:schemeClr val="tx1"/>
                </a:solidFill>
                <a:latin typeface="Verdana" pitchFamily="32" charset="0"/>
              </a:endParaRPr>
            </a:p>
          </p:txBody>
        </p:sp>
      </p:grpSp>
      <p:sp>
        <p:nvSpPr>
          <p:cNvPr id="1086475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457200" y="1493837"/>
            <a:ext cx="8229600" cy="4525963"/>
          </a:xfrm>
          <a:noFill/>
          <a:ln/>
        </p:spPr>
        <p:txBody>
          <a:bodyPr/>
          <a:lstStyle/>
          <a:p>
            <a:pPr marL="342900" indent="-342900">
              <a:buFontTx/>
              <a:buNone/>
            </a:pPr>
            <a:r>
              <a:rPr lang="en-US" sz="2800" dirty="0"/>
              <a:t>   </a:t>
            </a:r>
            <a:r>
              <a:rPr lang="en-US" sz="2400" dirty="0"/>
              <a:t>Look at Processor Address, search cache tags to find match then either,</a:t>
            </a:r>
            <a:endParaRPr lang="en-US" sz="2800" dirty="0"/>
          </a:p>
        </p:txBody>
      </p:sp>
      <p:sp>
        <p:nvSpPr>
          <p:cNvPr id="1086476" name="Text Box 12"/>
          <p:cNvSpPr txBox="1">
            <a:spLocks noChangeArrowheads="1"/>
          </p:cNvSpPr>
          <p:nvPr/>
        </p:nvSpPr>
        <p:spPr bwMode="auto">
          <a:xfrm>
            <a:off x="625475" y="4014788"/>
            <a:ext cx="5250155" cy="175432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114FFB"/>
                </a:solidFill>
              </a:rPr>
              <a:t>Hit Rate </a:t>
            </a:r>
            <a:r>
              <a:rPr lang="en-US" sz="1800" b="1" dirty="0">
                <a:solidFill>
                  <a:schemeClr val="tx1"/>
                </a:solidFill>
              </a:rPr>
              <a:t>= fraction of accesses found in cache</a:t>
            </a:r>
          </a:p>
          <a:p>
            <a:r>
              <a:rPr lang="en-US" sz="1800" b="1" dirty="0">
                <a:solidFill>
                  <a:srgbClr val="114FFB"/>
                </a:solidFill>
              </a:rPr>
              <a:t>Miss Rate</a:t>
            </a:r>
            <a:r>
              <a:rPr lang="en-US" sz="1800" b="1" dirty="0">
                <a:solidFill>
                  <a:schemeClr val="tx1"/>
                </a:solidFill>
              </a:rPr>
              <a:t> = 1 – Hit rate</a:t>
            </a:r>
          </a:p>
          <a:p>
            <a:r>
              <a:rPr lang="en-US" sz="1800" b="1" dirty="0">
                <a:solidFill>
                  <a:srgbClr val="114FFB"/>
                </a:solidFill>
              </a:rPr>
              <a:t>Hit Time</a:t>
            </a:r>
            <a:r>
              <a:rPr lang="en-US" sz="1800" dirty="0">
                <a:solidFill>
                  <a:srgbClr val="114FFB"/>
                </a:solidFill>
              </a:rPr>
              <a:t> </a:t>
            </a:r>
            <a:r>
              <a:rPr lang="en-US" sz="1800" b="1" dirty="0">
                <a:solidFill>
                  <a:schemeClr val="tx1"/>
                </a:solidFill>
              </a:rPr>
              <a:t>= Cache access time + 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	   time to determine HIT/MISS</a:t>
            </a:r>
          </a:p>
          <a:p>
            <a:r>
              <a:rPr lang="en-US" sz="1800" b="1" dirty="0">
                <a:solidFill>
                  <a:srgbClr val="114FFB"/>
                </a:solidFill>
              </a:rPr>
              <a:t>Miss Time</a:t>
            </a:r>
            <a:r>
              <a:rPr lang="en-US" sz="1800" b="1" dirty="0">
                <a:solidFill>
                  <a:schemeClr val="tx1"/>
                </a:solidFill>
              </a:rPr>
              <a:t> = time to replace block in cache + 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	       time to deliver block to processor</a:t>
            </a:r>
          </a:p>
        </p:txBody>
      </p:sp>
    </p:spTree>
    <p:extLst>
      <p:ext uri="{BB962C8B-B14F-4D97-AF65-F5344CB8AC3E}">
        <p14:creationId xmlns:p14="http://schemas.microsoft.com/office/powerpoint/2010/main" val="25603841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647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7814-45BB-4441-8645-F335393E0ED5}" type="datetime1">
              <a:rPr lang="sv-SE"/>
              <a:pPr/>
              <a:t>2025-09-08</a:t>
            </a:fld>
            <a:endParaRPr lang="en-US"/>
          </a:p>
        </p:txBody>
      </p:sp>
      <p:sp>
        <p:nvSpPr>
          <p:cNvPr id="5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49EA-3AF7-4C91-91B1-76CF8562F021}" type="slidenum">
              <a:rPr lang="en-US"/>
              <a:pPr/>
              <a:t>21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88514" name="AutoShape 2"/>
          <p:cNvSpPr>
            <a:spLocks noChangeArrowheads="1"/>
          </p:cNvSpPr>
          <p:nvPr/>
        </p:nvSpPr>
        <p:spPr bwMode="auto">
          <a:xfrm>
            <a:off x="6184900" y="1612900"/>
            <a:ext cx="1346200" cy="889000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15" name="AutoShape 3"/>
          <p:cNvSpPr>
            <a:spLocks noChangeArrowheads="1"/>
          </p:cNvSpPr>
          <p:nvPr/>
        </p:nvSpPr>
        <p:spPr bwMode="auto">
          <a:xfrm>
            <a:off x="1308100" y="1536700"/>
            <a:ext cx="1346200" cy="889000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16" name="Line 4"/>
          <p:cNvSpPr>
            <a:spLocks noChangeShapeType="1"/>
          </p:cNvSpPr>
          <p:nvPr/>
        </p:nvSpPr>
        <p:spPr bwMode="auto">
          <a:xfrm flipH="1">
            <a:off x="1447800" y="4419600"/>
            <a:ext cx="1066800" cy="3048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17" name="Line 5"/>
          <p:cNvSpPr>
            <a:spLocks noChangeShapeType="1"/>
          </p:cNvSpPr>
          <p:nvPr/>
        </p:nvSpPr>
        <p:spPr bwMode="auto">
          <a:xfrm>
            <a:off x="3276600" y="3429000"/>
            <a:ext cx="228600" cy="3810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18" name="Line 6"/>
          <p:cNvSpPr>
            <a:spLocks noChangeShapeType="1"/>
          </p:cNvSpPr>
          <p:nvPr/>
        </p:nvSpPr>
        <p:spPr bwMode="auto">
          <a:xfrm flipH="1">
            <a:off x="3962400" y="3581400"/>
            <a:ext cx="457200" cy="2286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19" name="Rectangle 7"/>
          <p:cNvSpPr>
            <a:spLocks noChangeArrowheads="1"/>
          </p:cNvSpPr>
          <p:nvPr/>
        </p:nvSpPr>
        <p:spPr bwMode="auto">
          <a:xfrm>
            <a:off x="3746500" y="1612900"/>
            <a:ext cx="1346200" cy="812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20" name="Rectangle 8"/>
          <p:cNvSpPr>
            <a:spLocks noChangeArrowheads="1"/>
          </p:cNvSpPr>
          <p:nvPr/>
        </p:nvSpPr>
        <p:spPr bwMode="auto">
          <a:xfrm>
            <a:off x="292100" y="152400"/>
            <a:ext cx="716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200" b="1">
                <a:solidFill>
                  <a:srgbClr val="0332B7"/>
                </a:solidFill>
              </a:rPr>
              <a:t>Inside a Cache</a:t>
            </a:r>
          </a:p>
        </p:txBody>
      </p:sp>
      <p:sp>
        <p:nvSpPr>
          <p:cNvPr id="1088521" name="Rectangle 9"/>
          <p:cNvSpPr>
            <a:spLocks noChangeArrowheads="1"/>
          </p:cNvSpPr>
          <p:nvPr/>
        </p:nvSpPr>
        <p:spPr bwMode="auto">
          <a:xfrm>
            <a:off x="3794125" y="1812925"/>
            <a:ext cx="12382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pitchFamily="32" charset="0"/>
              </a:rPr>
              <a:t>CACHE</a:t>
            </a:r>
          </a:p>
        </p:txBody>
      </p:sp>
      <p:sp>
        <p:nvSpPr>
          <p:cNvPr id="1088522" name="Rectangle 10"/>
          <p:cNvSpPr>
            <a:spLocks noChangeArrowheads="1"/>
          </p:cNvSpPr>
          <p:nvPr/>
        </p:nvSpPr>
        <p:spPr bwMode="auto">
          <a:xfrm>
            <a:off x="1279525" y="1782763"/>
            <a:ext cx="149542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Processor </a:t>
            </a:r>
          </a:p>
        </p:txBody>
      </p:sp>
      <p:sp>
        <p:nvSpPr>
          <p:cNvPr id="1088523" name="Rectangle 11"/>
          <p:cNvSpPr>
            <a:spLocks noChangeArrowheads="1"/>
          </p:cNvSpPr>
          <p:nvPr/>
        </p:nvSpPr>
        <p:spPr bwMode="auto">
          <a:xfrm>
            <a:off x="6308725" y="1706563"/>
            <a:ext cx="1298575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Main</a:t>
            </a:r>
          </a:p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Memory </a:t>
            </a:r>
          </a:p>
        </p:txBody>
      </p:sp>
      <p:sp>
        <p:nvSpPr>
          <p:cNvPr id="1088524" name="Line 12"/>
          <p:cNvSpPr>
            <a:spLocks noChangeShapeType="1"/>
          </p:cNvSpPr>
          <p:nvPr/>
        </p:nvSpPr>
        <p:spPr bwMode="auto">
          <a:xfrm>
            <a:off x="2667000" y="17526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25" name="Line 13"/>
          <p:cNvSpPr>
            <a:spLocks noChangeShapeType="1"/>
          </p:cNvSpPr>
          <p:nvPr/>
        </p:nvSpPr>
        <p:spPr bwMode="auto">
          <a:xfrm>
            <a:off x="2667000" y="22860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26" name="Line 14"/>
          <p:cNvSpPr>
            <a:spLocks noChangeShapeType="1"/>
          </p:cNvSpPr>
          <p:nvPr/>
        </p:nvSpPr>
        <p:spPr bwMode="auto">
          <a:xfrm>
            <a:off x="5105400" y="17526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27" name="Line 15"/>
          <p:cNvSpPr>
            <a:spLocks noChangeShapeType="1"/>
          </p:cNvSpPr>
          <p:nvPr/>
        </p:nvSpPr>
        <p:spPr bwMode="auto">
          <a:xfrm>
            <a:off x="5105400" y="22860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28" name="Rectangle 16"/>
          <p:cNvSpPr>
            <a:spLocks noChangeArrowheads="1"/>
          </p:cNvSpPr>
          <p:nvPr/>
        </p:nvSpPr>
        <p:spPr bwMode="auto">
          <a:xfrm>
            <a:off x="2727325" y="1370013"/>
            <a:ext cx="998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Address</a:t>
            </a:r>
          </a:p>
        </p:txBody>
      </p:sp>
      <p:sp>
        <p:nvSpPr>
          <p:cNvPr id="1088529" name="Rectangle 17"/>
          <p:cNvSpPr>
            <a:spLocks noChangeArrowheads="1"/>
          </p:cNvSpPr>
          <p:nvPr/>
        </p:nvSpPr>
        <p:spPr bwMode="auto">
          <a:xfrm>
            <a:off x="5089525" y="1370013"/>
            <a:ext cx="998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Address</a:t>
            </a:r>
          </a:p>
        </p:txBody>
      </p:sp>
      <p:sp>
        <p:nvSpPr>
          <p:cNvPr id="1088530" name="Rectangle 18"/>
          <p:cNvSpPr>
            <a:spLocks noChangeArrowheads="1"/>
          </p:cNvSpPr>
          <p:nvPr/>
        </p:nvSpPr>
        <p:spPr bwMode="auto">
          <a:xfrm>
            <a:off x="5318125" y="2284413"/>
            <a:ext cx="6651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Data</a:t>
            </a:r>
          </a:p>
        </p:txBody>
      </p:sp>
      <p:sp>
        <p:nvSpPr>
          <p:cNvPr id="1088531" name="Rectangle 19"/>
          <p:cNvSpPr>
            <a:spLocks noChangeArrowheads="1"/>
          </p:cNvSpPr>
          <p:nvPr/>
        </p:nvSpPr>
        <p:spPr bwMode="auto">
          <a:xfrm>
            <a:off x="2879725" y="2284413"/>
            <a:ext cx="6651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Data</a:t>
            </a:r>
          </a:p>
        </p:txBody>
      </p:sp>
      <p:sp>
        <p:nvSpPr>
          <p:cNvPr id="1088532" name="Rectangle 20"/>
          <p:cNvSpPr>
            <a:spLocks noChangeArrowheads="1"/>
          </p:cNvSpPr>
          <p:nvPr/>
        </p:nvSpPr>
        <p:spPr bwMode="auto">
          <a:xfrm>
            <a:off x="2298700" y="3822700"/>
            <a:ext cx="4165600" cy="2260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33" name="Line 21"/>
          <p:cNvSpPr>
            <a:spLocks noChangeShapeType="1"/>
          </p:cNvSpPr>
          <p:nvPr/>
        </p:nvSpPr>
        <p:spPr bwMode="auto">
          <a:xfrm>
            <a:off x="2286000" y="4191000"/>
            <a:ext cx="274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34" name="Line 22"/>
          <p:cNvSpPr>
            <a:spLocks noChangeShapeType="1"/>
          </p:cNvSpPr>
          <p:nvPr/>
        </p:nvSpPr>
        <p:spPr bwMode="auto">
          <a:xfrm>
            <a:off x="2286000" y="4572000"/>
            <a:ext cx="274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35" name="Line 23"/>
          <p:cNvSpPr>
            <a:spLocks noChangeShapeType="1"/>
          </p:cNvSpPr>
          <p:nvPr/>
        </p:nvSpPr>
        <p:spPr bwMode="auto">
          <a:xfrm>
            <a:off x="2286000" y="4953000"/>
            <a:ext cx="274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36" name="Line 24"/>
          <p:cNvSpPr>
            <a:spLocks noChangeShapeType="1"/>
          </p:cNvSpPr>
          <p:nvPr/>
        </p:nvSpPr>
        <p:spPr bwMode="auto">
          <a:xfrm>
            <a:off x="2286000" y="5334000"/>
            <a:ext cx="274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37" name="Line 25"/>
          <p:cNvSpPr>
            <a:spLocks noChangeShapeType="1"/>
          </p:cNvSpPr>
          <p:nvPr/>
        </p:nvSpPr>
        <p:spPr bwMode="auto">
          <a:xfrm>
            <a:off x="2286000" y="5715000"/>
            <a:ext cx="274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38" name="Line 26"/>
          <p:cNvSpPr>
            <a:spLocks noChangeShapeType="1"/>
          </p:cNvSpPr>
          <p:nvPr/>
        </p:nvSpPr>
        <p:spPr bwMode="auto">
          <a:xfrm>
            <a:off x="5029200" y="3810000"/>
            <a:ext cx="0" cy="2286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39" name="Line 27"/>
          <p:cNvSpPr>
            <a:spLocks noChangeShapeType="1"/>
          </p:cNvSpPr>
          <p:nvPr/>
        </p:nvSpPr>
        <p:spPr bwMode="auto">
          <a:xfrm>
            <a:off x="3200400" y="3810000"/>
            <a:ext cx="0" cy="2286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0" name="Line 28"/>
          <p:cNvSpPr>
            <a:spLocks noChangeShapeType="1"/>
          </p:cNvSpPr>
          <p:nvPr/>
        </p:nvSpPr>
        <p:spPr bwMode="auto">
          <a:xfrm>
            <a:off x="3657600" y="3810000"/>
            <a:ext cx="0" cy="2286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1" name="Line 29"/>
          <p:cNvSpPr>
            <a:spLocks noChangeShapeType="1"/>
          </p:cNvSpPr>
          <p:nvPr/>
        </p:nvSpPr>
        <p:spPr bwMode="auto">
          <a:xfrm>
            <a:off x="4114800" y="3810000"/>
            <a:ext cx="0" cy="2286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2" name="Line 30"/>
          <p:cNvSpPr>
            <a:spLocks noChangeShapeType="1"/>
          </p:cNvSpPr>
          <p:nvPr/>
        </p:nvSpPr>
        <p:spPr bwMode="auto">
          <a:xfrm>
            <a:off x="4572000" y="3810000"/>
            <a:ext cx="0" cy="2286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3" name="Line 31"/>
          <p:cNvSpPr>
            <a:spLocks noChangeShapeType="1"/>
          </p:cNvSpPr>
          <p:nvPr/>
        </p:nvSpPr>
        <p:spPr bwMode="auto">
          <a:xfrm>
            <a:off x="6019800" y="3810000"/>
            <a:ext cx="0" cy="2286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4" name="Line 32"/>
          <p:cNvSpPr>
            <a:spLocks noChangeShapeType="1"/>
          </p:cNvSpPr>
          <p:nvPr/>
        </p:nvSpPr>
        <p:spPr bwMode="auto">
          <a:xfrm>
            <a:off x="6019800" y="41910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5" name="Line 33"/>
          <p:cNvSpPr>
            <a:spLocks noChangeShapeType="1"/>
          </p:cNvSpPr>
          <p:nvPr/>
        </p:nvSpPr>
        <p:spPr bwMode="auto">
          <a:xfrm>
            <a:off x="6019800" y="45720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6" name="Line 34"/>
          <p:cNvSpPr>
            <a:spLocks noChangeShapeType="1"/>
          </p:cNvSpPr>
          <p:nvPr/>
        </p:nvSpPr>
        <p:spPr bwMode="auto">
          <a:xfrm>
            <a:off x="6019800" y="49530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7" name="Line 35"/>
          <p:cNvSpPr>
            <a:spLocks noChangeShapeType="1"/>
          </p:cNvSpPr>
          <p:nvPr/>
        </p:nvSpPr>
        <p:spPr bwMode="auto">
          <a:xfrm>
            <a:off x="6019800" y="53340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8" name="Line 36"/>
          <p:cNvSpPr>
            <a:spLocks noChangeShapeType="1"/>
          </p:cNvSpPr>
          <p:nvPr/>
        </p:nvSpPr>
        <p:spPr bwMode="auto">
          <a:xfrm>
            <a:off x="6019800" y="57150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9" name="Line 37"/>
          <p:cNvSpPr>
            <a:spLocks noChangeShapeType="1"/>
          </p:cNvSpPr>
          <p:nvPr/>
        </p:nvSpPr>
        <p:spPr bwMode="auto">
          <a:xfrm>
            <a:off x="5181600" y="40386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50" name="Line 38"/>
          <p:cNvSpPr>
            <a:spLocks noChangeShapeType="1"/>
          </p:cNvSpPr>
          <p:nvPr/>
        </p:nvSpPr>
        <p:spPr bwMode="auto">
          <a:xfrm>
            <a:off x="5181600" y="43434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51" name="Line 39"/>
          <p:cNvSpPr>
            <a:spLocks noChangeShapeType="1"/>
          </p:cNvSpPr>
          <p:nvPr/>
        </p:nvSpPr>
        <p:spPr bwMode="auto">
          <a:xfrm>
            <a:off x="5181600" y="5943600"/>
            <a:ext cx="609600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52" name="Oval 40"/>
          <p:cNvSpPr>
            <a:spLocks noChangeArrowheads="1"/>
          </p:cNvSpPr>
          <p:nvPr/>
        </p:nvSpPr>
        <p:spPr bwMode="auto">
          <a:xfrm>
            <a:off x="2824163" y="5503863"/>
            <a:ext cx="4025900" cy="749300"/>
          </a:xfrm>
          <a:prstGeom prst="ellips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53" name="Rectangle 41"/>
          <p:cNvSpPr>
            <a:spLocks noChangeArrowheads="1"/>
          </p:cNvSpPr>
          <p:nvPr/>
        </p:nvSpPr>
        <p:spPr bwMode="auto">
          <a:xfrm>
            <a:off x="669925" y="4678363"/>
            <a:ext cx="1374775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Address</a:t>
            </a:r>
          </a:p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   Tag</a:t>
            </a:r>
          </a:p>
        </p:txBody>
      </p:sp>
      <p:sp>
        <p:nvSpPr>
          <p:cNvPr id="1088554" name="Line 42"/>
          <p:cNvSpPr>
            <a:spLocks noChangeShapeType="1"/>
          </p:cNvSpPr>
          <p:nvPr/>
        </p:nvSpPr>
        <p:spPr bwMode="auto">
          <a:xfrm flipH="1">
            <a:off x="2286000" y="2438400"/>
            <a:ext cx="1447800" cy="137160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55" name="Line 43"/>
          <p:cNvSpPr>
            <a:spLocks noChangeShapeType="1"/>
          </p:cNvSpPr>
          <p:nvPr/>
        </p:nvSpPr>
        <p:spPr bwMode="auto">
          <a:xfrm>
            <a:off x="5105400" y="2438400"/>
            <a:ext cx="1371600" cy="137160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56" name="Rectangle 44"/>
          <p:cNvSpPr>
            <a:spLocks noChangeArrowheads="1"/>
          </p:cNvSpPr>
          <p:nvPr/>
        </p:nvSpPr>
        <p:spPr bwMode="auto">
          <a:xfrm>
            <a:off x="6842125" y="5745163"/>
            <a:ext cx="15541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Data Block</a:t>
            </a:r>
          </a:p>
        </p:txBody>
      </p:sp>
      <p:sp>
        <p:nvSpPr>
          <p:cNvPr id="1088557" name="Rectangle 45"/>
          <p:cNvSpPr>
            <a:spLocks noChangeArrowheads="1"/>
          </p:cNvSpPr>
          <p:nvPr/>
        </p:nvSpPr>
        <p:spPr bwMode="auto">
          <a:xfrm>
            <a:off x="3184525" y="3819525"/>
            <a:ext cx="54610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70000"/>
              </a:lnSpc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Data</a:t>
            </a:r>
          </a:p>
          <a:p>
            <a:pPr>
              <a:lnSpc>
                <a:spcPct val="70000"/>
              </a:lnSpc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Byte</a:t>
            </a:r>
          </a:p>
        </p:txBody>
      </p:sp>
      <p:sp>
        <p:nvSpPr>
          <p:cNvPr id="1088558" name="Rectangle 46"/>
          <p:cNvSpPr>
            <a:spLocks noChangeArrowheads="1"/>
          </p:cNvSpPr>
          <p:nvPr/>
        </p:nvSpPr>
        <p:spPr bwMode="auto">
          <a:xfrm>
            <a:off x="3641725" y="3819525"/>
            <a:ext cx="54610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70000"/>
              </a:lnSpc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Data</a:t>
            </a:r>
          </a:p>
          <a:p>
            <a:pPr>
              <a:lnSpc>
                <a:spcPct val="70000"/>
              </a:lnSpc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Byte</a:t>
            </a:r>
          </a:p>
        </p:txBody>
      </p:sp>
      <p:sp>
        <p:nvSpPr>
          <p:cNvPr id="1088559" name="Rectangle 47"/>
          <p:cNvSpPr>
            <a:spLocks noChangeArrowheads="1"/>
          </p:cNvSpPr>
          <p:nvPr/>
        </p:nvSpPr>
        <p:spPr bwMode="auto">
          <a:xfrm>
            <a:off x="3184525" y="4200525"/>
            <a:ext cx="54610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70000"/>
              </a:lnSpc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Data</a:t>
            </a:r>
          </a:p>
          <a:p>
            <a:pPr>
              <a:lnSpc>
                <a:spcPct val="70000"/>
              </a:lnSpc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Byte</a:t>
            </a:r>
          </a:p>
        </p:txBody>
      </p:sp>
      <p:sp>
        <p:nvSpPr>
          <p:cNvPr id="1088560" name="Rectangle 48"/>
          <p:cNvSpPr>
            <a:spLocks noChangeArrowheads="1"/>
          </p:cNvSpPr>
          <p:nvPr/>
        </p:nvSpPr>
        <p:spPr bwMode="auto">
          <a:xfrm>
            <a:off x="7223125" y="3840163"/>
            <a:ext cx="706438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Line</a:t>
            </a:r>
          </a:p>
        </p:txBody>
      </p:sp>
      <p:sp>
        <p:nvSpPr>
          <p:cNvPr id="1088561" name="Rectangle 49"/>
          <p:cNvSpPr>
            <a:spLocks noChangeArrowheads="1"/>
          </p:cNvSpPr>
          <p:nvPr/>
        </p:nvSpPr>
        <p:spPr bwMode="auto">
          <a:xfrm>
            <a:off x="2498725" y="3884613"/>
            <a:ext cx="5699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100</a:t>
            </a:r>
          </a:p>
        </p:txBody>
      </p:sp>
      <p:sp>
        <p:nvSpPr>
          <p:cNvPr id="1088562" name="Rectangle 50"/>
          <p:cNvSpPr>
            <a:spLocks noChangeArrowheads="1"/>
          </p:cNvSpPr>
          <p:nvPr/>
        </p:nvSpPr>
        <p:spPr bwMode="auto">
          <a:xfrm>
            <a:off x="2498725" y="4265613"/>
            <a:ext cx="5699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304</a:t>
            </a:r>
          </a:p>
        </p:txBody>
      </p:sp>
      <p:sp>
        <p:nvSpPr>
          <p:cNvPr id="1088563" name="Rectangle 51"/>
          <p:cNvSpPr>
            <a:spLocks noChangeArrowheads="1"/>
          </p:cNvSpPr>
          <p:nvPr/>
        </p:nvSpPr>
        <p:spPr bwMode="auto">
          <a:xfrm>
            <a:off x="2438400" y="4648200"/>
            <a:ext cx="698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6848</a:t>
            </a:r>
          </a:p>
        </p:txBody>
      </p:sp>
      <p:sp>
        <p:nvSpPr>
          <p:cNvPr id="1088564" name="Line 52"/>
          <p:cNvSpPr>
            <a:spLocks noChangeShapeType="1"/>
          </p:cNvSpPr>
          <p:nvPr/>
        </p:nvSpPr>
        <p:spPr bwMode="auto">
          <a:xfrm flipH="1">
            <a:off x="6705600" y="4038600"/>
            <a:ext cx="5334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65" name="Arc 53"/>
          <p:cNvSpPr>
            <a:spLocks/>
          </p:cNvSpPr>
          <p:nvPr/>
        </p:nvSpPr>
        <p:spPr bwMode="auto">
          <a:xfrm>
            <a:off x="6553200" y="3810000"/>
            <a:ext cx="153988" cy="381000"/>
          </a:xfrm>
          <a:custGeom>
            <a:avLst/>
            <a:gdLst>
              <a:gd name="G0" fmla="+- 224 0 0"/>
              <a:gd name="G1" fmla="+- 21600 0 0"/>
              <a:gd name="G2" fmla="+- 21600 0 0"/>
              <a:gd name="T0" fmla="*/ 0 w 21824"/>
              <a:gd name="T1" fmla="*/ 1 h 43103"/>
              <a:gd name="T2" fmla="*/ 2265 w 21824"/>
              <a:gd name="T3" fmla="*/ 43103 h 43103"/>
              <a:gd name="T4" fmla="*/ 224 w 21824"/>
              <a:gd name="T5" fmla="*/ 21600 h 43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824" h="43103" fill="none" extrusionOk="0">
                <a:moveTo>
                  <a:pt x="0" y="1"/>
                </a:moveTo>
                <a:cubicBezTo>
                  <a:pt x="74" y="0"/>
                  <a:pt x="149" y="-1"/>
                  <a:pt x="224" y="0"/>
                </a:cubicBezTo>
                <a:cubicBezTo>
                  <a:pt x="12153" y="0"/>
                  <a:pt x="21824" y="9670"/>
                  <a:pt x="21824" y="21600"/>
                </a:cubicBezTo>
                <a:cubicBezTo>
                  <a:pt x="21824" y="32738"/>
                  <a:pt x="13353" y="42050"/>
                  <a:pt x="2265" y="43103"/>
                </a:cubicBezTo>
              </a:path>
              <a:path w="21824" h="43103" stroke="0" extrusionOk="0">
                <a:moveTo>
                  <a:pt x="0" y="1"/>
                </a:moveTo>
                <a:cubicBezTo>
                  <a:pt x="74" y="0"/>
                  <a:pt x="149" y="-1"/>
                  <a:pt x="224" y="0"/>
                </a:cubicBezTo>
                <a:cubicBezTo>
                  <a:pt x="12153" y="0"/>
                  <a:pt x="21824" y="9670"/>
                  <a:pt x="21824" y="21600"/>
                </a:cubicBezTo>
                <a:cubicBezTo>
                  <a:pt x="21824" y="32738"/>
                  <a:pt x="13353" y="42050"/>
                  <a:pt x="2265" y="43103"/>
                </a:cubicBezTo>
                <a:lnTo>
                  <a:pt x="224" y="21600"/>
                </a:lnTo>
                <a:close/>
              </a:path>
            </a:pathLst>
          </a:custGeom>
          <a:noFill/>
          <a:ln w="12700" cap="rnd">
            <a:solidFill>
              <a:schemeClr val="hlink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66" name="Rectangle 54"/>
          <p:cNvSpPr>
            <a:spLocks noChangeArrowheads="1"/>
          </p:cNvSpPr>
          <p:nvPr/>
        </p:nvSpPr>
        <p:spPr bwMode="auto">
          <a:xfrm>
            <a:off x="1790700" y="2736724"/>
            <a:ext cx="1666875" cy="84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chemeClr val="tx1"/>
                </a:solidFill>
                <a:latin typeface="Verdana" pitchFamily="32" charset="0"/>
              </a:rPr>
              <a:t>copy of main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chemeClr val="tx1"/>
                </a:solidFill>
                <a:latin typeface="Verdana" pitchFamily="32" charset="0"/>
              </a:rPr>
              <a:t>memory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chemeClr val="tx1"/>
                </a:solidFill>
                <a:latin typeface="Verdana" pitchFamily="32" charset="0"/>
              </a:rPr>
              <a:t>location 100</a:t>
            </a:r>
          </a:p>
        </p:txBody>
      </p:sp>
      <p:sp>
        <p:nvSpPr>
          <p:cNvPr id="1088567" name="Rectangle 55"/>
          <p:cNvSpPr>
            <a:spLocks noChangeArrowheads="1"/>
          </p:cNvSpPr>
          <p:nvPr/>
        </p:nvSpPr>
        <p:spPr bwMode="auto">
          <a:xfrm>
            <a:off x="3952874" y="2782094"/>
            <a:ext cx="1666875" cy="84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chemeClr val="tx1"/>
                </a:solidFill>
                <a:latin typeface="Verdana" pitchFamily="32" charset="0"/>
              </a:rPr>
              <a:t>copy of main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chemeClr val="tx1"/>
                </a:solidFill>
                <a:latin typeface="Verdana" pitchFamily="32" charset="0"/>
              </a:rPr>
              <a:t>memory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chemeClr val="tx1"/>
                </a:solidFill>
                <a:latin typeface="Verdana" pitchFamily="32" charset="0"/>
              </a:rPr>
              <a:t>location 101</a:t>
            </a:r>
          </a:p>
        </p:txBody>
      </p:sp>
      <p:sp>
        <p:nvSpPr>
          <p:cNvPr id="1088568" name="Rectangle 56"/>
          <p:cNvSpPr>
            <a:spLocks noChangeArrowheads="1"/>
          </p:cNvSpPr>
          <p:nvPr/>
        </p:nvSpPr>
        <p:spPr bwMode="auto">
          <a:xfrm>
            <a:off x="2438400" y="4994275"/>
            <a:ext cx="6413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 416</a:t>
            </a:r>
          </a:p>
        </p:txBody>
      </p:sp>
    </p:spTree>
    <p:extLst>
      <p:ext uri="{BB962C8B-B14F-4D97-AF65-F5344CB8AC3E}">
        <p14:creationId xmlns:p14="http://schemas.microsoft.com/office/powerpoint/2010/main" val="1594106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E384-A83C-453E-88FE-7C41F8FE9894}" type="datetime1">
              <a:rPr lang="sv-SE"/>
              <a:pPr/>
              <a:t>2025-09-08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2E6E9-3D7C-4204-AE6F-0389DC24DD70}" type="slidenum">
              <a:rPr lang="en-US"/>
              <a:pPr/>
              <a:t>22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895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4 Questions for Memory Hierarchy</a:t>
            </a:r>
          </a:p>
        </p:txBody>
      </p:sp>
      <p:sp>
        <p:nvSpPr>
          <p:cNvPr id="1089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1488" y="1428750"/>
            <a:ext cx="8458200" cy="4114800"/>
          </a:xfrm>
          <a:noFill/>
          <a:ln/>
        </p:spPr>
        <p:txBody>
          <a:bodyPr lIns="90488" tIns="44450" rIns="90488" bIns="44450"/>
          <a:lstStyle/>
          <a:p>
            <a:r>
              <a:rPr lang="en-US" dirty="0"/>
              <a:t>Q1: Where can a block be placed in the cache? 	</a:t>
            </a:r>
          </a:p>
          <a:p>
            <a:pPr>
              <a:buFontTx/>
              <a:buNone/>
            </a:pPr>
            <a:r>
              <a:rPr lang="en-US" i="1" dirty="0">
                <a:solidFill>
                  <a:schemeClr val="hlink"/>
                </a:solidFill>
              </a:rPr>
              <a:t>		(Block placement)</a:t>
            </a:r>
            <a:endParaRPr lang="en-US" dirty="0"/>
          </a:p>
          <a:p>
            <a:r>
              <a:rPr lang="en-US" dirty="0"/>
              <a:t>Q2: How is a block found if it is in the cache?</a:t>
            </a:r>
            <a:br>
              <a:rPr lang="en-US" dirty="0"/>
            </a:br>
            <a:r>
              <a:rPr lang="en-US" i="1" dirty="0">
                <a:solidFill>
                  <a:schemeClr val="hlink"/>
                </a:solidFill>
              </a:rPr>
              <a:t> 	(Block identification)</a:t>
            </a:r>
            <a:endParaRPr lang="en-US" dirty="0"/>
          </a:p>
          <a:p>
            <a:r>
              <a:rPr lang="en-US" dirty="0"/>
              <a:t>Q3: Which block should be replaced on a miss? </a:t>
            </a:r>
            <a:br>
              <a:rPr lang="en-US" dirty="0"/>
            </a:br>
            <a:r>
              <a:rPr lang="en-US" dirty="0"/>
              <a:t>	</a:t>
            </a:r>
            <a:r>
              <a:rPr lang="en-US" i="1" dirty="0">
                <a:solidFill>
                  <a:schemeClr val="hlink"/>
                </a:solidFill>
              </a:rPr>
              <a:t>(Block replacement)</a:t>
            </a:r>
            <a:endParaRPr lang="en-US" dirty="0"/>
          </a:p>
          <a:p>
            <a:r>
              <a:rPr lang="en-US" dirty="0"/>
              <a:t>Q4: What happens on a write? </a:t>
            </a:r>
            <a:br>
              <a:rPr lang="en-US" dirty="0"/>
            </a:br>
            <a:r>
              <a:rPr lang="en-US" dirty="0"/>
              <a:t>	</a:t>
            </a:r>
            <a:r>
              <a:rPr lang="en-US" i="1" dirty="0">
                <a:solidFill>
                  <a:schemeClr val="hlink"/>
                </a:solidFill>
              </a:rPr>
              <a:t>(Write strategy)</a:t>
            </a:r>
          </a:p>
        </p:txBody>
      </p:sp>
    </p:spTree>
    <p:extLst>
      <p:ext uri="{BB962C8B-B14F-4D97-AF65-F5344CB8AC3E}">
        <p14:creationId xmlns:p14="http://schemas.microsoft.com/office/powerpoint/2010/main" val="358039341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4D86E-4BC6-49A6-A32E-05EEDBB76358}" type="datetime1">
              <a:rPr lang="sv-SE"/>
              <a:pPr/>
              <a:t>2025-09-08</a:t>
            </a:fld>
            <a:endParaRPr lang="en-US"/>
          </a:p>
        </p:txBody>
      </p:sp>
      <p:sp>
        <p:nvSpPr>
          <p:cNvPr id="7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13F4-08FB-4F83-AA8F-8AA9FE3E980B}" type="slidenum">
              <a:rPr lang="en-US"/>
              <a:pPr/>
              <a:t>23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90562" name="Rectangle 2"/>
          <p:cNvSpPr>
            <a:spLocks noChangeArrowheads="1"/>
          </p:cNvSpPr>
          <p:nvPr/>
        </p:nvSpPr>
        <p:spPr bwMode="auto">
          <a:xfrm>
            <a:off x="2763838" y="3657600"/>
            <a:ext cx="1219200" cy="1066800"/>
          </a:xfrm>
          <a:prstGeom prst="rect">
            <a:avLst/>
          </a:prstGeom>
          <a:solidFill>
            <a:srgbClr val="3366FF"/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90563" name="Group 3"/>
          <p:cNvGrpSpPr>
            <a:grpSpLocks/>
          </p:cNvGrpSpPr>
          <p:nvPr/>
        </p:nvGrpSpPr>
        <p:grpSpPr bwMode="auto">
          <a:xfrm>
            <a:off x="2776538" y="3663950"/>
            <a:ext cx="1193800" cy="1054100"/>
            <a:chOff x="1749" y="2308"/>
            <a:chExt cx="752" cy="664"/>
          </a:xfrm>
        </p:grpSpPr>
        <p:sp>
          <p:nvSpPr>
            <p:cNvPr id="1090564" name="Rectangle 4"/>
            <p:cNvSpPr>
              <a:spLocks noChangeArrowheads="1"/>
            </p:cNvSpPr>
            <p:nvPr/>
          </p:nvSpPr>
          <p:spPr bwMode="auto">
            <a:xfrm>
              <a:off x="1749" y="2312"/>
              <a:ext cx="752" cy="65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65" name="Line 5"/>
            <p:cNvSpPr>
              <a:spLocks noChangeShapeType="1"/>
            </p:cNvSpPr>
            <p:nvPr/>
          </p:nvSpPr>
          <p:spPr bwMode="auto">
            <a:xfrm>
              <a:off x="1837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66" name="Line 6"/>
            <p:cNvSpPr>
              <a:spLocks noChangeShapeType="1"/>
            </p:cNvSpPr>
            <p:nvPr/>
          </p:nvSpPr>
          <p:spPr bwMode="auto">
            <a:xfrm>
              <a:off x="1933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67" name="Line 7"/>
            <p:cNvSpPr>
              <a:spLocks noChangeShapeType="1"/>
            </p:cNvSpPr>
            <p:nvPr/>
          </p:nvSpPr>
          <p:spPr bwMode="auto">
            <a:xfrm>
              <a:off x="2029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68" name="Line 8"/>
            <p:cNvSpPr>
              <a:spLocks noChangeShapeType="1"/>
            </p:cNvSpPr>
            <p:nvPr/>
          </p:nvSpPr>
          <p:spPr bwMode="auto">
            <a:xfrm>
              <a:off x="2125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69" name="Line 9"/>
            <p:cNvSpPr>
              <a:spLocks noChangeShapeType="1"/>
            </p:cNvSpPr>
            <p:nvPr/>
          </p:nvSpPr>
          <p:spPr bwMode="auto">
            <a:xfrm>
              <a:off x="2221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70" name="Line 10"/>
            <p:cNvSpPr>
              <a:spLocks noChangeShapeType="1"/>
            </p:cNvSpPr>
            <p:nvPr/>
          </p:nvSpPr>
          <p:spPr bwMode="auto">
            <a:xfrm>
              <a:off x="2317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71" name="Line 11"/>
            <p:cNvSpPr>
              <a:spLocks noChangeShapeType="1"/>
            </p:cNvSpPr>
            <p:nvPr/>
          </p:nvSpPr>
          <p:spPr bwMode="auto">
            <a:xfrm>
              <a:off x="2413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0572" name="Rectangle 12"/>
          <p:cNvSpPr>
            <a:spLocks noChangeArrowheads="1"/>
          </p:cNvSpPr>
          <p:nvPr/>
        </p:nvSpPr>
        <p:spPr bwMode="auto">
          <a:xfrm>
            <a:off x="7183438" y="3657600"/>
            <a:ext cx="152400" cy="1066800"/>
          </a:xfrm>
          <a:prstGeom prst="rect">
            <a:avLst/>
          </a:prstGeom>
          <a:solidFill>
            <a:srgbClr val="114FFB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90573" name="Group 13"/>
          <p:cNvGrpSpPr>
            <a:grpSpLocks/>
          </p:cNvGrpSpPr>
          <p:nvPr/>
        </p:nvGrpSpPr>
        <p:grpSpPr bwMode="auto">
          <a:xfrm>
            <a:off x="6586538" y="3663950"/>
            <a:ext cx="1193800" cy="1054100"/>
            <a:chOff x="4149" y="2308"/>
            <a:chExt cx="752" cy="664"/>
          </a:xfrm>
        </p:grpSpPr>
        <p:sp>
          <p:nvSpPr>
            <p:cNvPr id="1090574" name="Rectangle 14"/>
            <p:cNvSpPr>
              <a:spLocks noChangeArrowheads="1"/>
            </p:cNvSpPr>
            <p:nvPr/>
          </p:nvSpPr>
          <p:spPr bwMode="auto">
            <a:xfrm>
              <a:off x="4149" y="2312"/>
              <a:ext cx="752" cy="65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75" name="Line 15"/>
            <p:cNvSpPr>
              <a:spLocks noChangeShapeType="1"/>
            </p:cNvSpPr>
            <p:nvPr/>
          </p:nvSpPr>
          <p:spPr bwMode="auto">
            <a:xfrm>
              <a:off x="4237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76" name="Line 16"/>
            <p:cNvSpPr>
              <a:spLocks noChangeShapeType="1"/>
            </p:cNvSpPr>
            <p:nvPr/>
          </p:nvSpPr>
          <p:spPr bwMode="auto">
            <a:xfrm>
              <a:off x="4333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77" name="Line 17"/>
            <p:cNvSpPr>
              <a:spLocks noChangeShapeType="1"/>
            </p:cNvSpPr>
            <p:nvPr/>
          </p:nvSpPr>
          <p:spPr bwMode="auto">
            <a:xfrm>
              <a:off x="4429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78" name="Line 18"/>
            <p:cNvSpPr>
              <a:spLocks noChangeShapeType="1"/>
            </p:cNvSpPr>
            <p:nvPr/>
          </p:nvSpPr>
          <p:spPr bwMode="auto">
            <a:xfrm>
              <a:off x="4525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79" name="Line 19"/>
            <p:cNvSpPr>
              <a:spLocks noChangeShapeType="1"/>
            </p:cNvSpPr>
            <p:nvPr/>
          </p:nvSpPr>
          <p:spPr bwMode="auto">
            <a:xfrm>
              <a:off x="4621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80" name="Line 20"/>
            <p:cNvSpPr>
              <a:spLocks noChangeShapeType="1"/>
            </p:cNvSpPr>
            <p:nvPr/>
          </p:nvSpPr>
          <p:spPr bwMode="auto">
            <a:xfrm>
              <a:off x="4717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81" name="Line 21"/>
            <p:cNvSpPr>
              <a:spLocks noChangeShapeType="1"/>
            </p:cNvSpPr>
            <p:nvPr/>
          </p:nvSpPr>
          <p:spPr bwMode="auto">
            <a:xfrm>
              <a:off x="4813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0582" name="Rectangle 22"/>
          <p:cNvSpPr>
            <a:spLocks noChangeArrowheads="1"/>
          </p:cNvSpPr>
          <p:nvPr/>
        </p:nvSpPr>
        <p:spPr bwMode="auto">
          <a:xfrm>
            <a:off x="6510338" y="3392488"/>
            <a:ext cx="1520825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defTabSz="911225"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0 1 2 3 4 5 6 7</a:t>
            </a:r>
          </a:p>
        </p:txBody>
      </p:sp>
      <p:sp>
        <p:nvSpPr>
          <p:cNvPr id="1090583" name="Rectangle 23"/>
          <p:cNvSpPr>
            <a:spLocks noChangeArrowheads="1"/>
          </p:cNvSpPr>
          <p:nvPr/>
        </p:nvSpPr>
        <p:spPr bwMode="auto">
          <a:xfrm>
            <a:off x="4529138" y="3405188"/>
            <a:ext cx="1458912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defTabSz="911225"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0     1      2     3</a:t>
            </a:r>
          </a:p>
        </p:txBody>
      </p:sp>
      <p:sp>
        <p:nvSpPr>
          <p:cNvPr id="1090584" name="Rectangle 24"/>
          <p:cNvSpPr>
            <a:spLocks noChangeArrowheads="1"/>
          </p:cNvSpPr>
          <p:nvPr/>
        </p:nvSpPr>
        <p:spPr bwMode="auto">
          <a:xfrm>
            <a:off x="4516438" y="3657600"/>
            <a:ext cx="304800" cy="1066800"/>
          </a:xfrm>
          <a:prstGeom prst="rect">
            <a:avLst/>
          </a:prstGeom>
          <a:solidFill>
            <a:srgbClr val="3366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585" name="Rectangle 25"/>
          <p:cNvSpPr>
            <a:spLocks noChangeArrowheads="1"/>
          </p:cNvSpPr>
          <p:nvPr/>
        </p:nvSpPr>
        <p:spPr bwMode="auto">
          <a:xfrm>
            <a:off x="4529138" y="3670300"/>
            <a:ext cx="279400" cy="1041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586" name="Line 26"/>
          <p:cNvSpPr>
            <a:spLocks noChangeShapeType="1"/>
          </p:cNvSpPr>
          <p:nvPr/>
        </p:nvSpPr>
        <p:spPr bwMode="auto">
          <a:xfrm>
            <a:off x="4668838" y="36639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587" name="Rectangle 27"/>
          <p:cNvSpPr>
            <a:spLocks noChangeArrowheads="1"/>
          </p:cNvSpPr>
          <p:nvPr/>
        </p:nvSpPr>
        <p:spPr bwMode="auto">
          <a:xfrm>
            <a:off x="4910138" y="3670300"/>
            <a:ext cx="279400" cy="1041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588" name="Line 28"/>
          <p:cNvSpPr>
            <a:spLocks noChangeShapeType="1"/>
          </p:cNvSpPr>
          <p:nvPr/>
        </p:nvSpPr>
        <p:spPr bwMode="auto">
          <a:xfrm>
            <a:off x="5049838" y="36639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589" name="Rectangle 29"/>
          <p:cNvSpPr>
            <a:spLocks noChangeArrowheads="1"/>
          </p:cNvSpPr>
          <p:nvPr/>
        </p:nvSpPr>
        <p:spPr bwMode="auto">
          <a:xfrm>
            <a:off x="5291138" y="3670300"/>
            <a:ext cx="279400" cy="1041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590" name="Line 30"/>
          <p:cNvSpPr>
            <a:spLocks noChangeShapeType="1"/>
          </p:cNvSpPr>
          <p:nvPr/>
        </p:nvSpPr>
        <p:spPr bwMode="auto">
          <a:xfrm>
            <a:off x="5430838" y="36639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591" name="Rectangle 31"/>
          <p:cNvSpPr>
            <a:spLocks noChangeArrowheads="1"/>
          </p:cNvSpPr>
          <p:nvPr/>
        </p:nvSpPr>
        <p:spPr bwMode="auto">
          <a:xfrm>
            <a:off x="5672138" y="3670300"/>
            <a:ext cx="279400" cy="1041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592" name="Line 32"/>
          <p:cNvSpPr>
            <a:spLocks noChangeShapeType="1"/>
          </p:cNvSpPr>
          <p:nvPr/>
        </p:nvSpPr>
        <p:spPr bwMode="auto">
          <a:xfrm>
            <a:off x="5811838" y="36639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593" name="Rectangle 33"/>
          <p:cNvSpPr>
            <a:spLocks noChangeArrowheads="1"/>
          </p:cNvSpPr>
          <p:nvPr/>
        </p:nvSpPr>
        <p:spPr bwMode="auto">
          <a:xfrm>
            <a:off x="1174750" y="3392488"/>
            <a:ext cx="1406525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Set Number</a:t>
            </a:r>
          </a:p>
        </p:txBody>
      </p:sp>
      <p:sp>
        <p:nvSpPr>
          <p:cNvPr id="1090594" name="Rectangle 34"/>
          <p:cNvSpPr>
            <a:spLocks noChangeArrowheads="1"/>
          </p:cNvSpPr>
          <p:nvPr/>
        </p:nvSpPr>
        <p:spPr bwMode="auto">
          <a:xfrm>
            <a:off x="1149350" y="3948113"/>
            <a:ext cx="1109663" cy="45878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pitchFamily="32" charset="0"/>
              </a:rPr>
              <a:t>Cache</a:t>
            </a:r>
          </a:p>
        </p:txBody>
      </p:sp>
      <p:sp>
        <p:nvSpPr>
          <p:cNvPr id="1090595" name="Rectangle 35"/>
          <p:cNvSpPr>
            <a:spLocks noChangeArrowheads="1"/>
          </p:cNvSpPr>
          <p:nvPr/>
        </p:nvSpPr>
        <p:spPr bwMode="auto">
          <a:xfrm>
            <a:off x="2678113" y="4795838"/>
            <a:ext cx="5667375" cy="16129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     Fully	 (2-way) Set        Direct</a:t>
            </a:r>
          </a:p>
          <a:p>
            <a:pPr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Associative	Associative         Mapped</a:t>
            </a:r>
          </a:p>
          <a:p>
            <a:pPr>
              <a:spcBef>
                <a:spcPct val="0"/>
              </a:spcBef>
            </a:pPr>
            <a:r>
              <a:rPr lang="en-US" sz="2000" dirty="0">
                <a:latin typeface="Verdana" pitchFamily="32" charset="0"/>
              </a:rPr>
              <a:t>anywhere</a:t>
            </a:r>
            <a:r>
              <a:rPr lang="en-US" sz="2000" dirty="0">
                <a:solidFill>
                  <a:srgbClr val="56127A"/>
                </a:solidFill>
                <a:latin typeface="Verdana" pitchFamily="32" charset="0"/>
              </a:rPr>
              <a:t>	</a:t>
            </a:r>
            <a:r>
              <a:rPr lang="en-US" sz="2000" dirty="0">
                <a:latin typeface="Verdana" pitchFamily="32" charset="0"/>
              </a:rPr>
              <a:t>anywhere in          only into</a:t>
            </a:r>
          </a:p>
          <a:p>
            <a:pPr>
              <a:spcBef>
                <a:spcPct val="0"/>
              </a:spcBef>
            </a:pPr>
            <a:r>
              <a:rPr lang="en-US" sz="2000" dirty="0">
                <a:latin typeface="Verdana" pitchFamily="32" charset="0"/>
              </a:rPr>
              <a:t>		      set 0                block 4</a:t>
            </a:r>
            <a:r>
              <a:rPr lang="en-US" sz="2000" dirty="0">
                <a:solidFill>
                  <a:srgbClr val="56127A"/>
                </a:solidFill>
                <a:latin typeface="Verdana" pitchFamily="32" charset="0"/>
              </a:rPr>
              <a:t>	</a:t>
            </a:r>
          </a:p>
          <a:p>
            <a:pPr>
              <a:spcBef>
                <a:spcPct val="0"/>
              </a:spcBef>
            </a:pPr>
            <a:r>
              <a:rPr lang="en-US" sz="2000" dirty="0">
                <a:solidFill>
                  <a:srgbClr val="56127A"/>
                </a:solidFill>
                <a:latin typeface="Verdana" pitchFamily="32" charset="0"/>
              </a:rPr>
              <a:t>        		 </a:t>
            </a:r>
            <a:r>
              <a:rPr lang="en-US" sz="2000" i="1" dirty="0">
                <a:latin typeface="Verdana" pitchFamily="32" charset="0"/>
              </a:rPr>
              <a:t>(12 mod 4)	   (12 mod 8)</a:t>
            </a:r>
          </a:p>
        </p:txBody>
      </p:sp>
      <p:sp>
        <p:nvSpPr>
          <p:cNvPr id="1090596" name="Rectangle 36"/>
          <p:cNvSpPr>
            <a:spLocks noChangeArrowheads="1"/>
          </p:cNvSpPr>
          <p:nvPr/>
        </p:nvSpPr>
        <p:spPr bwMode="auto">
          <a:xfrm>
            <a:off x="4600575" y="1790700"/>
            <a:ext cx="152400" cy="1066800"/>
          </a:xfrm>
          <a:prstGeom prst="rect">
            <a:avLst/>
          </a:prstGeom>
          <a:solidFill>
            <a:srgbClr val="3366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597" name="Rectangle 37"/>
          <p:cNvSpPr>
            <a:spLocks noChangeArrowheads="1"/>
          </p:cNvSpPr>
          <p:nvPr/>
        </p:nvSpPr>
        <p:spPr bwMode="auto">
          <a:xfrm>
            <a:off x="2784475" y="1803400"/>
            <a:ext cx="4851400" cy="1041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598" name="Line 38"/>
          <p:cNvSpPr>
            <a:spLocks noChangeShapeType="1"/>
          </p:cNvSpPr>
          <p:nvPr/>
        </p:nvSpPr>
        <p:spPr bwMode="auto">
          <a:xfrm>
            <a:off x="29241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599" name="Line 39"/>
          <p:cNvSpPr>
            <a:spLocks noChangeShapeType="1"/>
          </p:cNvSpPr>
          <p:nvPr/>
        </p:nvSpPr>
        <p:spPr bwMode="auto">
          <a:xfrm>
            <a:off x="30765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00" name="Line 40"/>
          <p:cNvSpPr>
            <a:spLocks noChangeShapeType="1"/>
          </p:cNvSpPr>
          <p:nvPr/>
        </p:nvSpPr>
        <p:spPr bwMode="auto">
          <a:xfrm>
            <a:off x="32289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01" name="Line 41"/>
          <p:cNvSpPr>
            <a:spLocks noChangeShapeType="1"/>
          </p:cNvSpPr>
          <p:nvPr/>
        </p:nvSpPr>
        <p:spPr bwMode="auto">
          <a:xfrm>
            <a:off x="33813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02" name="Line 42"/>
          <p:cNvSpPr>
            <a:spLocks noChangeShapeType="1"/>
          </p:cNvSpPr>
          <p:nvPr/>
        </p:nvSpPr>
        <p:spPr bwMode="auto">
          <a:xfrm>
            <a:off x="35337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03" name="Line 43"/>
          <p:cNvSpPr>
            <a:spLocks noChangeShapeType="1"/>
          </p:cNvSpPr>
          <p:nvPr/>
        </p:nvSpPr>
        <p:spPr bwMode="auto">
          <a:xfrm>
            <a:off x="36861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04" name="Line 44"/>
          <p:cNvSpPr>
            <a:spLocks noChangeShapeType="1"/>
          </p:cNvSpPr>
          <p:nvPr/>
        </p:nvSpPr>
        <p:spPr bwMode="auto">
          <a:xfrm>
            <a:off x="38385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05" name="Line 45"/>
          <p:cNvSpPr>
            <a:spLocks noChangeShapeType="1"/>
          </p:cNvSpPr>
          <p:nvPr/>
        </p:nvSpPr>
        <p:spPr bwMode="auto">
          <a:xfrm>
            <a:off x="39909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06" name="Line 46"/>
          <p:cNvSpPr>
            <a:spLocks noChangeShapeType="1"/>
          </p:cNvSpPr>
          <p:nvPr/>
        </p:nvSpPr>
        <p:spPr bwMode="auto">
          <a:xfrm>
            <a:off x="41433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07" name="Line 47"/>
          <p:cNvSpPr>
            <a:spLocks noChangeShapeType="1"/>
          </p:cNvSpPr>
          <p:nvPr/>
        </p:nvSpPr>
        <p:spPr bwMode="auto">
          <a:xfrm>
            <a:off x="42957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08" name="Line 48"/>
          <p:cNvSpPr>
            <a:spLocks noChangeShapeType="1"/>
          </p:cNvSpPr>
          <p:nvPr/>
        </p:nvSpPr>
        <p:spPr bwMode="auto">
          <a:xfrm>
            <a:off x="44481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09" name="Line 49"/>
          <p:cNvSpPr>
            <a:spLocks noChangeShapeType="1"/>
          </p:cNvSpPr>
          <p:nvPr/>
        </p:nvSpPr>
        <p:spPr bwMode="auto">
          <a:xfrm>
            <a:off x="46005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10" name="Line 50"/>
          <p:cNvSpPr>
            <a:spLocks noChangeShapeType="1"/>
          </p:cNvSpPr>
          <p:nvPr/>
        </p:nvSpPr>
        <p:spPr bwMode="auto">
          <a:xfrm>
            <a:off x="47529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11" name="Line 51"/>
          <p:cNvSpPr>
            <a:spLocks noChangeShapeType="1"/>
          </p:cNvSpPr>
          <p:nvPr/>
        </p:nvSpPr>
        <p:spPr bwMode="auto">
          <a:xfrm>
            <a:off x="49053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12" name="Line 52"/>
          <p:cNvSpPr>
            <a:spLocks noChangeShapeType="1"/>
          </p:cNvSpPr>
          <p:nvPr/>
        </p:nvSpPr>
        <p:spPr bwMode="auto">
          <a:xfrm>
            <a:off x="50577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13" name="Line 53"/>
          <p:cNvSpPr>
            <a:spLocks noChangeShapeType="1"/>
          </p:cNvSpPr>
          <p:nvPr/>
        </p:nvSpPr>
        <p:spPr bwMode="auto">
          <a:xfrm>
            <a:off x="52101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14" name="Line 54"/>
          <p:cNvSpPr>
            <a:spLocks noChangeShapeType="1"/>
          </p:cNvSpPr>
          <p:nvPr/>
        </p:nvSpPr>
        <p:spPr bwMode="auto">
          <a:xfrm>
            <a:off x="53625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15" name="Line 55"/>
          <p:cNvSpPr>
            <a:spLocks noChangeShapeType="1"/>
          </p:cNvSpPr>
          <p:nvPr/>
        </p:nvSpPr>
        <p:spPr bwMode="auto">
          <a:xfrm>
            <a:off x="55149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16" name="Line 56"/>
          <p:cNvSpPr>
            <a:spLocks noChangeShapeType="1"/>
          </p:cNvSpPr>
          <p:nvPr/>
        </p:nvSpPr>
        <p:spPr bwMode="auto">
          <a:xfrm>
            <a:off x="56673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17" name="Line 57"/>
          <p:cNvSpPr>
            <a:spLocks noChangeShapeType="1"/>
          </p:cNvSpPr>
          <p:nvPr/>
        </p:nvSpPr>
        <p:spPr bwMode="auto">
          <a:xfrm>
            <a:off x="58197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18" name="Line 58"/>
          <p:cNvSpPr>
            <a:spLocks noChangeShapeType="1"/>
          </p:cNvSpPr>
          <p:nvPr/>
        </p:nvSpPr>
        <p:spPr bwMode="auto">
          <a:xfrm>
            <a:off x="59721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19" name="Line 59"/>
          <p:cNvSpPr>
            <a:spLocks noChangeShapeType="1"/>
          </p:cNvSpPr>
          <p:nvPr/>
        </p:nvSpPr>
        <p:spPr bwMode="auto">
          <a:xfrm>
            <a:off x="61245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20" name="Line 60"/>
          <p:cNvSpPr>
            <a:spLocks noChangeShapeType="1"/>
          </p:cNvSpPr>
          <p:nvPr/>
        </p:nvSpPr>
        <p:spPr bwMode="auto">
          <a:xfrm>
            <a:off x="62769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21" name="Line 61"/>
          <p:cNvSpPr>
            <a:spLocks noChangeShapeType="1"/>
          </p:cNvSpPr>
          <p:nvPr/>
        </p:nvSpPr>
        <p:spPr bwMode="auto">
          <a:xfrm>
            <a:off x="64293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22" name="Line 62"/>
          <p:cNvSpPr>
            <a:spLocks noChangeShapeType="1"/>
          </p:cNvSpPr>
          <p:nvPr/>
        </p:nvSpPr>
        <p:spPr bwMode="auto">
          <a:xfrm>
            <a:off x="65817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23" name="Line 63"/>
          <p:cNvSpPr>
            <a:spLocks noChangeShapeType="1"/>
          </p:cNvSpPr>
          <p:nvPr/>
        </p:nvSpPr>
        <p:spPr bwMode="auto">
          <a:xfrm>
            <a:off x="67341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24" name="Line 64"/>
          <p:cNvSpPr>
            <a:spLocks noChangeShapeType="1"/>
          </p:cNvSpPr>
          <p:nvPr/>
        </p:nvSpPr>
        <p:spPr bwMode="auto">
          <a:xfrm>
            <a:off x="68865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25" name="Line 65"/>
          <p:cNvSpPr>
            <a:spLocks noChangeShapeType="1"/>
          </p:cNvSpPr>
          <p:nvPr/>
        </p:nvSpPr>
        <p:spPr bwMode="auto">
          <a:xfrm>
            <a:off x="70389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26" name="Line 66"/>
          <p:cNvSpPr>
            <a:spLocks noChangeShapeType="1"/>
          </p:cNvSpPr>
          <p:nvPr/>
        </p:nvSpPr>
        <p:spPr bwMode="auto">
          <a:xfrm>
            <a:off x="71913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27" name="Line 67"/>
          <p:cNvSpPr>
            <a:spLocks noChangeShapeType="1"/>
          </p:cNvSpPr>
          <p:nvPr/>
        </p:nvSpPr>
        <p:spPr bwMode="auto">
          <a:xfrm>
            <a:off x="73437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28" name="Line 68"/>
          <p:cNvSpPr>
            <a:spLocks noChangeShapeType="1"/>
          </p:cNvSpPr>
          <p:nvPr/>
        </p:nvSpPr>
        <p:spPr bwMode="auto">
          <a:xfrm>
            <a:off x="74961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29" name="Rectangle 69"/>
          <p:cNvSpPr>
            <a:spLocks noChangeArrowheads="1"/>
          </p:cNvSpPr>
          <p:nvPr/>
        </p:nvSpPr>
        <p:spPr bwMode="auto">
          <a:xfrm>
            <a:off x="2733675" y="1538288"/>
            <a:ext cx="1712913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defTabSz="911225"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0 1 2 3 4 5 6 7 8 9</a:t>
            </a:r>
          </a:p>
        </p:txBody>
      </p:sp>
      <p:sp>
        <p:nvSpPr>
          <p:cNvPr id="1090630" name="Rectangle 70"/>
          <p:cNvSpPr>
            <a:spLocks noChangeArrowheads="1"/>
          </p:cNvSpPr>
          <p:nvPr/>
        </p:nvSpPr>
        <p:spPr bwMode="auto">
          <a:xfrm>
            <a:off x="4257675" y="1325563"/>
            <a:ext cx="1712913" cy="4603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defTabSz="911225"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1 1 1 1 1 1 1 1 1 1 0 1 2 3 4 5 6 7 8 9</a:t>
            </a:r>
          </a:p>
        </p:txBody>
      </p:sp>
      <p:sp>
        <p:nvSpPr>
          <p:cNvPr id="1090631" name="Rectangle 71"/>
          <p:cNvSpPr>
            <a:spLocks noChangeArrowheads="1"/>
          </p:cNvSpPr>
          <p:nvPr/>
        </p:nvSpPr>
        <p:spPr bwMode="auto">
          <a:xfrm>
            <a:off x="5756275" y="1325563"/>
            <a:ext cx="1712913" cy="4603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defTabSz="911225"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2 2 2 2 2 2 2 2 2 2 0 1 2 3 4 5 6 7 8 9</a:t>
            </a:r>
          </a:p>
        </p:txBody>
      </p:sp>
      <p:sp>
        <p:nvSpPr>
          <p:cNvPr id="1090632" name="Rectangle 72"/>
          <p:cNvSpPr>
            <a:spLocks noChangeArrowheads="1"/>
          </p:cNvSpPr>
          <p:nvPr/>
        </p:nvSpPr>
        <p:spPr bwMode="auto">
          <a:xfrm>
            <a:off x="7127875" y="1325563"/>
            <a:ext cx="811213" cy="4603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defTabSz="911225"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3 3</a:t>
            </a:r>
          </a:p>
          <a:p>
            <a:pPr algn="ctr" defTabSz="911225"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0 1</a:t>
            </a:r>
          </a:p>
        </p:txBody>
      </p:sp>
      <p:sp>
        <p:nvSpPr>
          <p:cNvPr id="1090633" name="Rectangle 73"/>
          <p:cNvSpPr>
            <a:spLocks noChangeArrowheads="1"/>
          </p:cNvSpPr>
          <p:nvPr/>
        </p:nvSpPr>
        <p:spPr bwMode="auto">
          <a:xfrm>
            <a:off x="1098550" y="2005013"/>
            <a:ext cx="1412875" cy="45878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pitchFamily="32" charset="0"/>
              </a:rPr>
              <a:t>Memory</a:t>
            </a:r>
          </a:p>
        </p:txBody>
      </p:sp>
      <p:sp>
        <p:nvSpPr>
          <p:cNvPr id="1090634" name="Rectangle 74"/>
          <p:cNvSpPr>
            <a:spLocks noChangeArrowheads="1"/>
          </p:cNvSpPr>
          <p:nvPr/>
        </p:nvSpPr>
        <p:spPr bwMode="auto">
          <a:xfrm>
            <a:off x="1098550" y="1409700"/>
            <a:ext cx="16129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Verdana" pitchFamily="32" charset="0"/>
              </a:rPr>
              <a:t>Block Number</a:t>
            </a:r>
          </a:p>
        </p:txBody>
      </p:sp>
      <p:sp>
        <p:nvSpPr>
          <p:cNvPr id="1090635" name="Rectangle 75"/>
          <p:cNvSpPr>
            <a:spLocks noChangeArrowheads="1"/>
          </p:cNvSpPr>
          <p:nvPr/>
        </p:nvSpPr>
        <p:spPr bwMode="auto">
          <a:xfrm>
            <a:off x="609600" y="5562600"/>
            <a:ext cx="1938338" cy="6381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 b="1" dirty="0">
                <a:latin typeface="Verdana" pitchFamily="32" charset="0"/>
              </a:rPr>
              <a:t>Block 12 </a:t>
            </a:r>
          </a:p>
          <a:p>
            <a:pPr>
              <a:spcBef>
                <a:spcPct val="0"/>
              </a:spcBef>
            </a:pPr>
            <a:r>
              <a:rPr lang="en-US" sz="1800" b="1" dirty="0">
                <a:latin typeface="Verdana" pitchFamily="32" charset="0"/>
              </a:rPr>
              <a:t>can be placed</a:t>
            </a:r>
          </a:p>
        </p:txBody>
      </p:sp>
      <p:sp>
        <p:nvSpPr>
          <p:cNvPr id="1090636" name="Rectangle 76"/>
          <p:cNvSpPr>
            <a:spLocks noGrp="1" noChangeArrowheads="1"/>
          </p:cNvSpPr>
          <p:nvPr>
            <p:ph type="title"/>
          </p:nvPr>
        </p:nvSpPr>
        <p:spPr>
          <a:xfrm>
            <a:off x="1028700" y="247650"/>
            <a:ext cx="7162800" cy="1143000"/>
          </a:xfrm>
          <a:noFill/>
          <a:ln/>
        </p:spPr>
        <p:txBody>
          <a:bodyPr lIns="90488" tIns="44450" rIns="90488" bIns="44450"/>
          <a:lstStyle/>
          <a:p>
            <a:r>
              <a:rPr lang="en-US" sz="3600" dirty="0"/>
              <a:t>Q1: Where can a block be placed? 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1090637" name="Text Box 77"/>
          <p:cNvSpPr txBox="1">
            <a:spLocks noChangeArrowheads="1"/>
          </p:cNvSpPr>
          <p:nvPr/>
        </p:nvSpPr>
        <p:spPr bwMode="auto">
          <a:xfrm>
            <a:off x="3246438" y="3384550"/>
            <a:ext cx="2682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843283411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CDE8-8AE2-4DAB-85D1-F730A6E69C30}" type="datetime1">
              <a:rPr lang="sv-SE"/>
              <a:pPr/>
              <a:t>2025-09-08</a:t>
            </a:fld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E8017-6B4B-423B-B786-518F580BAE6D}" type="slidenum">
              <a:rPr lang="en-US"/>
              <a:pPr/>
              <a:t>24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92610" name="Rectangle 2"/>
          <p:cNvSpPr>
            <a:spLocks noGrp="1" noChangeArrowheads="1"/>
          </p:cNvSpPr>
          <p:nvPr>
            <p:ph type="title"/>
          </p:nvPr>
        </p:nvSpPr>
        <p:spPr>
          <a:xfrm>
            <a:off x="849313" y="415925"/>
            <a:ext cx="7543800" cy="381000"/>
          </a:xfrm>
          <a:noFill/>
          <a:ln/>
        </p:spPr>
        <p:txBody>
          <a:bodyPr lIns="90488" tIns="44450" rIns="90488" bIns="44450"/>
          <a:lstStyle/>
          <a:p>
            <a:r>
              <a:rPr lang="en-US" dirty="0"/>
              <a:t>Q2: How is a block found?</a:t>
            </a:r>
          </a:p>
        </p:txBody>
      </p:sp>
      <p:sp>
        <p:nvSpPr>
          <p:cNvPr id="1092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 dirty="0"/>
              <a:t>Index selects which set to look in</a:t>
            </a:r>
          </a:p>
          <a:p>
            <a:r>
              <a:rPr lang="en-US" dirty="0"/>
              <a:t>Tag on each block</a:t>
            </a:r>
          </a:p>
          <a:p>
            <a:pPr lvl="1"/>
            <a:r>
              <a:rPr lang="en-US" dirty="0"/>
              <a:t>No need to check index or block offset</a:t>
            </a:r>
          </a:p>
          <a:p>
            <a:r>
              <a:rPr lang="en-US" dirty="0"/>
              <a:t>Increasing associativity shrinks index, expands tag.  Fully Associative caches have no index field.</a:t>
            </a:r>
          </a:p>
        </p:txBody>
      </p:sp>
      <p:grpSp>
        <p:nvGrpSpPr>
          <p:cNvPr id="1092612" name="Group 4"/>
          <p:cNvGrpSpPr>
            <a:grpSpLocks/>
          </p:cNvGrpSpPr>
          <p:nvPr/>
        </p:nvGrpSpPr>
        <p:grpSpPr bwMode="auto">
          <a:xfrm>
            <a:off x="1763713" y="4869657"/>
            <a:ext cx="5715000" cy="914400"/>
            <a:chOff x="1392" y="2688"/>
            <a:chExt cx="3600" cy="576"/>
          </a:xfrm>
        </p:grpSpPr>
        <p:sp>
          <p:nvSpPr>
            <p:cNvPr id="1092613" name="Rectangle 5"/>
            <p:cNvSpPr>
              <a:spLocks noChangeArrowheads="1"/>
            </p:cNvSpPr>
            <p:nvPr/>
          </p:nvSpPr>
          <p:spPr bwMode="auto">
            <a:xfrm>
              <a:off x="4128" y="2688"/>
              <a:ext cx="864" cy="57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sz="1800" b="1" dirty="0">
                  <a:solidFill>
                    <a:schemeClr val="tx1"/>
                  </a:solidFill>
                  <a:latin typeface="Comic Sans MS" pitchFamily="66" charset="0"/>
                </a:rPr>
                <a:t>Block</a:t>
              </a:r>
            </a:p>
            <a:p>
              <a:pPr algn="ctr">
                <a:spcBef>
                  <a:spcPct val="0"/>
                </a:spcBef>
              </a:pPr>
              <a:r>
                <a:rPr lang="en-US" sz="1800" b="1" dirty="0">
                  <a:solidFill>
                    <a:schemeClr val="tx1"/>
                  </a:solidFill>
                  <a:latin typeface="Comic Sans MS" pitchFamily="66" charset="0"/>
                </a:rPr>
                <a:t>Offset</a:t>
              </a:r>
            </a:p>
          </p:txBody>
        </p:sp>
        <p:sp>
          <p:nvSpPr>
            <p:cNvPr id="1092614" name="Rectangle 6"/>
            <p:cNvSpPr>
              <a:spLocks noChangeArrowheads="1"/>
            </p:cNvSpPr>
            <p:nvPr/>
          </p:nvSpPr>
          <p:spPr bwMode="auto">
            <a:xfrm>
              <a:off x="1392" y="2688"/>
              <a:ext cx="2736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sz="1800" b="1" dirty="0">
                  <a:solidFill>
                    <a:schemeClr val="tx1"/>
                  </a:solidFill>
                  <a:latin typeface="Comic Sans MS" pitchFamily="66" charset="0"/>
                </a:rPr>
                <a:t>Block Address</a:t>
              </a:r>
            </a:p>
          </p:txBody>
        </p:sp>
        <p:sp>
          <p:nvSpPr>
            <p:cNvPr id="1092615" name="Rectangle 7"/>
            <p:cNvSpPr>
              <a:spLocks noChangeArrowheads="1"/>
            </p:cNvSpPr>
            <p:nvPr/>
          </p:nvSpPr>
          <p:spPr bwMode="auto">
            <a:xfrm>
              <a:off x="3264" y="2976"/>
              <a:ext cx="86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sz="1800" b="1">
                  <a:solidFill>
                    <a:schemeClr val="tx1"/>
                  </a:solidFill>
                  <a:latin typeface="Comic Sans MS" pitchFamily="66" charset="0"/>
                </a:rPr>
                <a:t>Index</a:t>
              </a:r>
            </a:p>
          </p:txBody>
        </p:sp>
        <p:sp>
          <p:nvSpPr>
            <p:cNvPr id="1092616" name="Rectangle 8"/>
            <p:cNvSpPr>
              <a:spLocks noChangeArrowheads="1"/>
            </p:cNvSpPr>
            <p:nvPr/>
          </p:nvSpPr>
          <p:spPr bwMode="auto">
            <a:xfrm>
              <a:off x="1392" y="2976"/>
              <a:ext cx="1872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sz="1800" b="1">
                  <a:solidFill>
                    <a:schemeClr val="tx1"/>
                  </a:solidFill>
                  <a:latin typeface="Comic Sans MS" pitchFamily="66" charset="0"/>
                </a:rPr>
                <a:t>Tag</a:t>
              </a:r>
            </a:p>
          </p:txBody>
        </p:sp>
      </p:grpSp>
      <p:sp>
        <p:nvSpPr>
          <p:cNvPr id="1092617" name="Text Box 9"/>
          <p:cNvSpPr txBox="1">
            <a:spLocks noChangeArrowheads="1"/>
          </p:cNvSpPr>
          <p:nvPr/>
        </p:nvSpPr>
        <p:spPr bwMode="auto">
          <a:xfrm>
            <a:off x="3449637" y="4412457"/>
            <a:ext cx="2244725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/>
              <a:t>Memory Address</a:t>
            </a:r>
          </a:p>
        </p:txBody>
      </p:sp>
    </p:spTree>
    <p:extLst>
      <p:ext uri="{BB962C8B-B14F-4D97-AF65-F5344CB8AC3E}">
        <p14:creationId xmlns:p14="http://schemas.microsoft.com/office/powerpoint/2010/main" val="374276826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BCA3E-9C13-4E6D-AA0B-4582AD695F2D}" type="datetime1">
              <a:rPr lang="sv-SE"/>
              <a:pPr/>
              <a:t>2025-09-08</a:t>
            </a:fld>
            <a:endParaRPr lang="en-US"/>
          </a:p>
        </p:txBody>
      </p:sp>
      <p:sp>
        <p:nvSpPr>
          <p:cNvPr id="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86759-6B46-4F08-9AC2-9ECD1D828849}" type="slidenum">
              <a:rPr lang="en-US"/>
              <a:pPr/>
              <a:t>25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93634" name="Line 2"/>
          <p:cNvSpPr>
            <a:spLocks noChangeShapeType="1"/>
          </p:cNvSpPr>
          <p:nvPr/>
        </p:nvSpPr>
        <p:spPr bwMode="auto">
          <a:xfrm>
            <a:off x="2438400" y="51054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35" name="Rectangle 3" descr="Large confetti"/>
          <p:cNvSpPr>
            <a:spLocks noChangeArrowheads="1"/>
          </p:cNvSpPr>
          <p:nvPr/>
        </p:nvSpPr>
        <p:spPr bwMode="auto">
          <a:xfrm>
            <a:off x="1758950" y="3511550"/>
            <a:ext cx="4864100" cy="368300"/>
          </a:xfrm>
          <a:prstGeom prst="rect">
            <a:avLst/>
          </a:prstGeom>
          <a:pattFill prst="lgConfetti">
            <a:fgClr>
              <a:schemeClr val="hlink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36" name="Rectangle 4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162800" cy="1143000"/>
          </a:xfrm>
          <a:noFill/>
          <a:ln/>
        </p:spPr>
        <p:txBody>
          <a:bodyPr/>
          <a:lstStyle/>
          <a:p>
            <a:r>
              <a:rPr lang="en-US"/>
              <a:t>Direct-Mapped Cache</a:t>
            </a:r>
          </a:p>
        </p:txBody>
      </p:sp>
      <p:sp>
        <p:nvSpPr>
          <p:cNvPr id="1093637" name="Rectangle 5"/>
          <p:cNvSpPr>
            <a:spLocks noChangeArrowheads="1"/>
          </p:cNvSpPr>
          <p:nvPr/>
        </p:nvSpPr>
        <p:spPr bwMode="auto">
          <a:xfrm>
            <a:off x="1765300" y="2755900"/>
            <a:ext cx="4851400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38" name="Line 6"/>
          <p:cNvSpPr>
            <a:spLocks noChangeShapeType="1"/>
          </p:cNvSpPr>
          <p:nvPr/>
        </p:nvSpPr>
        <p:spPr bwMode="auto">
          <a:xfrm>
            <a:off x="1752600" y="3124200"/>
            <a:ext cx="487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39" name="Line 7"/>
          <p:cNvSpPr>
            <a:spLocks noChangeShapeType="1"/>
          </p:cNvSpPr>
          <p:nvPr/>
        </p:nvSpPr>
        <p:spPr bwMode="auto">
          <a:xfrm>
            <a:off x="1752600" y="3505200"/>
            <a:ext cx="487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40" name="Line 8"/>
          <p:cNvSpPr>
            <a:spLocks noChangeShapeType="1"/>
          </p:cNvSpPr>
          <p:nvPr/>
        </p:nvSpPr>
        <p:spPr bwMode="auto">
          <a:xfrm>
            <a:off x="1752600" y="3886200"/>
            <a:ext cx="487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41" name="Line 9"/>
          <p:cNvSpPr>
            <a:spLocks noChangeShapeType="1"/>
          </p:cNvSpPr>
          <p:nvPr/>
        </p:nvSpPr>
        <p:spPr bwMode="auto">
          <a:xfrm>
            <a:off x="2971800" y="2590800"/>
            <a:ext cx="0" cy="167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42" name="Line 10"/>
          <p:cNvSpPr>
            <a:spLocks noChangeShapeType="1"/>
          </p:cNvSpPr>
          <p:nvPr/>
        </p:nvSpPr>
        <p:spPr bwMode="auto">
          <a:xfrm>
            <a:off x="3886200" y="274320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43" name="Line 11"/>
          <p:cNvSpPr>
            <a:spLocks noChangeShapeType="1"/>
          </p:cNvSpPr>
          <p:nvPr/>
        </p:nvSpPr>
        <p:spPr bwMode="auto">
          <a:xfrm>
            <a:off x="2057400" y="2590800"/>
            <a:ext cx="0" cy="167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44" name="Rectangle 12"/>
          <p:cNvSpPr>
            <a:spLocks noChangeArrowheads="1"/>
          </p:cNvSpPr>
          <p:nvPr/>
        </p:nvSpPr>
        <p:spPr bwMode="auto">
          <a:xfrm>
            <a:off x="2041525" y="2392363"/>
            <a:ext cx="8302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Tag</a:t>
            </a:r>
          </a:p>
        </p:txBody>
      </p:sp>
      <p:sp>
        <p:nvSpPr>
          <p:cNvPr id="1093645" name="Rectangle 13"/>
          <p:cNvSpPr>
            <a:spLocks noChangeArrowheads="1"/>
          </p:cNvSpPr>
          <p:nvPr/>
        </p:nvSpPr>
        <p:spPr bwMode="auto">
          <a:xfrm>
            <a:off x="4098925" y="2392363"/>
            <a:ext cx="15541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Data Block</a:t>
            </a:r>
          </a:p>
        </p:txBody>
      </p:sp>
      <p:sp>
        <p:nvSpPr>
          <p:cNvPr id="1093646" name="Rectangle 14"/>
          <p:cNvSpPr>
            <a:spLocks noChangeArrowheads="1"/>
          </p:cNvSpPr>
          <p:nvPr/>
        </p:nvSpPr>
        <p:spPr bwMode="auto">
          <a:xfrm>
            <a:off x="1584325" y="2392363"/>
            <a:ext cx="534988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V</a:t>
            </a:r>
          </a:p>
        </p:txBody>
      </p:sp>
      <p:sp>
        <p:nvSpPr>
          <p:cNvPr id="1093647" name="Line 15"/>
          <p:cNvSpPr>
            <a:spLocks noChangeShapeType="1"/>
          </p:cNvSpPr>
          <p:nvPr/>
        </p:nvSpPr>
        <p:spPr bwMode="auto">
          <a:xfrm>
            <a:off x="4800600" y="274320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48" name="Line 16"/>
          <p:cNvSpPr>
            <a:spLocks noChangeShapeType="1"/>
          </p:cNvSpPr>
          <p:nvPr/>
        </p:nvSpPr>
        <p:spPr bwMode="auto">
          <a:xfrm>
            <a:off x="5715000" y="274320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49" name="Rectangle 17"/>
          <p:cNvSpPr>
            <a:spLocks noChangeArrowheads="1"/>
          </p:cNvSpPr>
          <p:nvPr/>
        </p:nvSpPr>
        <p:spPr bwMode="auto">
          <a:xfrm>
            <a:off x="1079500" y="1308100"/>
            <a:ext cx="43180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93650" name="Group 18"/>
          <p:cNvGrpSpPr>
            <a:grpSpLocks/>
          </p:cNvGrpSpPr>
          <p:nvPr/>
        </p:nvGrpSpPr>
        <p:grpSpPr bwMode="auto">
          <a:xfrm>
            <a:off x="1827213" y="5419725"/>
            <a:ext cx="325437" cy="473075"/>
            <a:chOff x="1151" y="3414"/>
            <a:chExt cx="205" cy="298"/>
          </a:xfrm>
        </p:grpSpPr>
        <p:sp>
          <p:nvSpPr>
            <p:cNvPr id="1093651" name="Line 19"/>
            <p:cNvSpPr>
              <a:spLocks noChangeShapeType="1"/>
            </p:cNvSpPr>
            <p:nvPr/>
          </p:nvSpPr>
          <p:spPr bwMode="auto">
            <a:xfrm>
              <a:off x="1354" y="3414"/>
              <a:ext cx="0" cy="2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3652" name="Line 20"/>
            <p:cNvSpPr>
              <a:spLocks noChangeShapeType="1"/>
            </p:cNvSpPr>
            <p:nvPr/>
          </p:nvSpPr>
          <p:spPr bwMode="auto">
            <a:xfrm>
              <a:off x="1152" y="3414"/>
              <a:ext cx="0" cy="2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3653" name="Line 21"/>
            <p:cNvSpPr>
              <a:spLocks noChangeShapeType="1"/>
            </p:cNvSpPr>
            <p:nvPr/>
          </p:nvSpPr>
          <p:spPr bwMode="auto">
            <a:xfrm flipH="1">
              <a:off x="1153" y="3416"/>
              <a:ext cx="2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3654" name="Arc 22"/>
            <p:cNvSpPr>
              <a:spLocks/>
            </p:cNvSpPr>
            <p:nvPr/>
          </p:nvSpPr>
          <p:spPr bwMode="auto">
            <a:xfrm>
              <a:off x="1249" y="3617"/>
              <a:ext cx="107" cy="94"/>
            </a:xfrm>
            <a:custGeom>
              <a:avLst/>
              <a:gdLst>
                <a:gd name="G0" fmla="+- 205 0 0"/>
                <a:gd name="G1" fmla="+- 0 0 0"/>
                <a:gd name="G2" fmla="+- 21600 0 0"/>
                <a:gd name="T0" fmla="*/ 21805 w 21805"/>
                <a:gd name="T1" fmla="*/ 0 h 21600"/>
                <a:gd name="T2" fmla="*/ 0 w 21805"/>
                <a:gd name="T3" fmla="*/ 21599 h 21600"/>
                <a:gd name="T4" fmla="*/ 205 w 21805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805" h="21600" fill="none" extrusionOk="0">
                  <a:moveTo>
                    <a:pt x="21805" y="0"/>
                  </a:moveTo>
                  <a:cubicBezTo>
                    <a:pt x="21805" y="11929"/>
                    <a:pt x="12134" y="21600"/>
                    <a:pt x="205" y="21600"/>
                  </a:cubicBezTo>
                  <a:cubicBezTo>
                    <a:pt x="136" y="21600"/>
                    <a:pt x="68" y="21599"/>
                    <a:pt x="-1" y="21599"/>
                  </a:cubicBezTo>
                </a:path>
                <a:path w="21805" h="21600" stroke="0" extrusionOk="0">
                  <a:moveTo>
                    <a:pt x="21805" y="0"/>
                  </a:moveTo>
                  <a:cubicBezTo>
                    <a:pt x="21805" y="11929"/>
                    <a:pt x="12134" y="21600"/>
                    <a:pt x="205" y="21600"/>
                  </a:cubicBezTo>
                  <a:cubicBezTo>
                    <a:pt x="136" y="21600"/>
                    <a:pt x="68" y="21599"/>
                    <a:pt x="-1" y="21599"/>
                  </a:cubicBezTo>
                  <a:lnTo>
                    <a:pt x="205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3655" name="Arc 23"/>
            <p:cNvSpPr>
              <a:spLocks/>
            </p:cNvSpPr>
            <p:nvPr/>
          </p:nvSpPr>
          <p:spPr bwMode="auto">
            <a:xfrm>
              <a:off x="1151" y="3618"/>
              <a:ext cx="106" cy="94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395 w 21600"/>
                <a:gd name="T1" fmla="*/ 21599 h 21599"/>
                <a:gd name="T2" fmla="*/ 0 w 21600"/>
                <a:gd name="T3" fmla="*/ 0 h 21599"/>
                <a:gd name="T4" fmla="*/ 21600 w 21600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21394" y="21599"/>
                  </a:moveTo>
                  <a:cubicBezTo>
                    <a:pt x="9546" y="21486"/>
                    <a:pt x="0" y="11849"/>
                    <a:pt x="0" y="0"/>
                  </a:cubicBezTo>
                </a:path>
                <a:path w="21600" h="21599" stroke="0" extrusionOk="0">
                  <a:moveTo>
                    <a:pt x="21394" y="21599"/>
                  </a:moveTo>
                  <a:cubicBezTo>
                    <a:pt x="9546" y="21486"/>
                    <a:pt x="0" y="1184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3656" name="AutoShape 24"/>
          <p:cNvSpPr>
            <a:spLocks noChangeArrowheads="1"/>
          </p:cNvSpPr>
          <p:nvPr/>
        </p:nvSpPr>
        <p:spPr bwMode="auto">
          <a:xfrm rot="-10800000" flipH="1" flipV="1">
            <a:off x="4279900" y="5576888"/>
            <a:ext cx="1117600" cy="277812"/>
          </a:xfrm>
          <a:custGeom>
            <a:avLst/>
            <a:gdLst>
              <a:gd name="G0" fmla="+- 5399 0 0"/>
              <a:gd name="G1" fmla="+- 21600 0 5399"/>
              <a:gd name="G2" fmla="*/ 5399 1 2"/>
              <a:gd name="G3" fmla="+- 21600 0 G2"/>
              <a:gd name="G4" fmla="+/ 5399 21600 2"/>
              <a:gd name="G5" fmla="+/ G1 0 2"/>
              <a:gd name="G6" fmla="*/ 21600 21600 5399"/>
              <a:gd name="G7" fmla="*/ G6 1 2"/>
              <a:gd name="G8" fmla="+- 21600 0 G7"/>
              <a:gd name="G9" fmla="*/ 21600 1 2"/>
              <a:gd name="G10" fmla="+- 5399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399" y="21600"/>
                </a:lnTo>
                <a:lnTo>
                  <a:pt x="1620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57" name="Oval 25"/>
          <p:cNvSpPr>
            <a:spLocks noChangeArrowheads="1"/>
          </p:cNvSpPr>
          <p:nvPr/>
        </p:nvSpPr>
        <p:spPr bwMode="auto">
          <a:xfrm>
            <a:off x="2173288" y="4660900"/>
            <a:ext cx="508000" cy="5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58" name="Rectangle 26"/>
          <p:cNvSpPr>
            <a:spLocks noChangeArrowheads="1"/>
          </p:cNvSpPr>
          <p:nvPr/>
        </p:nvSpPr>
        <p:spPr bwMode="auto">
          <a:xfrm>
            <a:off x="2206625" y="4716463"/>
            <a:ext cx="48101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=</a:t>
            </a:r>
          </a:p>
        </p:txBody>
      </p:sp>
      <p:sp>
        <p:nvSpPr>
          <p:cNvPr id="1093659" name="Rectangle 27"/>
          <p:cNvSpPr>
            <a:spLocks noChangeArrowheads="1"/>
          </p:cNvSpPr>
          <p:nvPr/>
        </p:nvSpPr>
        <p:spPr bwMode="auto">
          <a:xfrm>
            <a:off x="4632325" y="1293813"/>
            <a:ext cx="7937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Verdana" pitchFamily="32" charset="0"/>
              </a:rPr>
              <a:t>Block</a:t>
            </a:r>
          </a:p>
          <a:p>
            <a:pPr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Verdana" pitchFamily="32" charset="0"/>
              </a:rPr>
              <a:t>Offset</a:t>
            </a:r>
          </a:p>
        </p:txBody>
      </p:sp>
      <p:sp>
        <p:nvSpPr>
          <p:cNvPr id="1093660" name="Line 28"/>
          <p:cNvSpPr>
            <a:spLocks noChangeShapeType="1"/>
          </p:cNvSpPr>
          <p:nvPr/>
        </p:nvSpPr>
        <p:spPr bwMode="auto">
          <a:xfrm>
            <a:off x="4648200" y="129540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61" name="Line 29"/>
          <p:cNvSpPr>
            <a:spLocks noChangeShapeType="1"/>
          </p:cNvSpPr>
          <p:nvPr/>
        </p:nvSpPr>
        <p:spPr bwMode="auto">
          <a:xfrm>
            <a:off x="2514600" y="129540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62" name="Rectangle 30"/>
          <p:cNvSpPr>
            <a:spLocks noChangeArrowheads="1"/>
          </p:cNvSpPr>
          <p:nvPr/>
        </p:nvSpPr>
        <p:spPr bwMode="auto">
          <a:xfrm>
            <a:off x="1355725" y="1338263"/>
            <a:ext cx="8302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Tag</a:t>
            </a:r>
          </a:p>
        </p:txBody>
      </p:sp>
      <p:sp>
        <p:nvSpPr>
          <p:cNvPr id="1093663" name="Rectangle 31"/>
          <p:cNvSpPr>
            <a:spLocks noChangeArrowheads="1"/>
          </p:cNvSpPr>
          <p:nvPr/>
        </p:nvSpPr>
        <p:spPr bwMode="auto">
          <a:xfrm>
            <a:off x="3057525" y="1338263"/>
            <a:ext cx="9112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pitchFamily="32" charset="0"/>
              </a:rPr>
              <a:t>Index</a:t>
            </a:r>
          </a:p>
        </p:txBody>
      </p:sp>
      <p:sp>
        <p:nvSpPr>
          <p:cNvPr id="1093664" name="Line 32"/>
          <p:cNvSpPr>
            <a:spLocks noChangeShapeType="1"/>
          </p:cNvSpPr>
          <p:nvPr/>
        </p:nvSpPr>
        <p:spPr bwMode="auto">
          <a:xfrm>
            <a:off x="1905000" y="3733800"/>
            <a:ext cx="0" cy="106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65" name="Line 33"/>
          <p:cNvSpPr>
            <a:spLocks noChangeShapeType="1"/>
          </p:cNvSpPr>
          <p:nvPr/>
        </p:nvSpPr>
        <p:spPr bwMode="auto">
          <a:xfrm>
            <a:off x="2438400" y="3733800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66" name="Line 34"/>
          <p:cNvSpPr>
            <a:spLocks noChangeShapeType="1"/>
          </p:cNvSpPr>
          <p:nvPr/>
        </p:nvSpPr>
        <p:spPr bwMode="auto">
          <a:xfrm>
            <a:off x="1981200" y="58674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67" name="Line 35"/>
          <p:cNvSpPr>
            <a:spLocks noChangeShapeType="1"/>
          </p:cNvSpPr>
          <p:nvPr/>
        </p:nvSpPr>
        <p:spPr bwMode="auto">
          <a:xfrm flipH="1">
            <a:off x="1447800" y="601980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68" name="Line 36"/>
          <p:cNvSpPr>
            <a:spLocks noChangeShapeType="1"/>
          </p:cNvSpPr>
          <p:nvPr/>
        </p:nvSpPr>
        <p:spPr bwMode="auto">
          <a:xfrm flipH="1">
            <a:off x="2057400" y="52578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69" name="Line 37"/>
          <p:cNvSpPr>
            <a:spLocks noChangeShapeType="1"/>
          </p:cNvSpPr>
          <p:nvPr/>
        </p:nvSpPr>
        <p:spPr bwMode="auto">
          <a:xfrm>
            <a:off x="2057400" y="52578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70" name="Line 38"/>
          <p:cNvSpPr>
            <a:spLocks noChangeShapeType="1"/>
          </p:cNvSpPr>
          <p:nvPr/>
        </p:nvSpPr>
        <p:spPr bwMode="auto">
          <a:xfrm>
            <a:off x="3440113" y="3733800"/>
            <a:ext cx="0" cy="137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71" name="Line 39"/>
          <p:cNvSpPr>
            <a:spLocks noChangeShapeType="1"/>
          </p:cNvSpPr>
          <p:nvPr/>
        </p:nvSpPr>
        <p:spPr bwMode="auto">
          <a:xfrm flipH="1">
            <a:off x="3429000" y="51054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72" name="Line 40"/>
          <p:cNvSpPr>
            <a:spLocks noChangeShapeType="1"/>
          </p:cNvSpPr>
          <p:nvPr/>
        </p:nvSpPr>
        <p:spPr bwMode="auto">
          <a:xfrm>
            <a:off x="4343400" y="51054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73" name="Line 41"/>
          <p:cNvSpPr>
            <a:spLocks noChangeShapeType="1"/>
          </p:cNvSpPr>
          <p:nvPr/>
        </p:nvSpPr>
        <p:spPr bwMode="auto">
          <a:xfrm>
            <a:off x="4327525" y="3733800"/>
            <a:ext cx="0" cy="1143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74" name="Line 42"/>
          <p:cNvSpPr>
            <a:spLocks noChangeShapeType="1"/>
          </p:cNvSpPr>
          <p:nvPr/>
        </p:nvSpPr>
        <p:spPr bwMode="auto">
          <a:xfrm flipH="1">
            <a:off x="4343400" y="487680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75" name="Line 43"/>
          <p:cNvSpPr>
            <a:spLocks noChangeShapeType="1"/>
          </p:cNvSpPr>
          <p:nvPr/>
        </p:nvSpPr>
        <p:spPr bwMode="auto">
          <a:xfrm>
            <a:off x="4648200" y="487680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76" name="Line 44"/>
          <p:cNvSpPr>
            <a:spLocks noChangeShapeType="1"/>
          </p:cNvSpPr>
          <p:nvPr/>
        </p:nvSpPr>
        <p:spPr bwMode="auto">
          <a:xfrm>
            <a:off x="5029200" y="487680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77" name="Line 45"/>
          <p:cNvSpPr>
            <a:spLocks noChangeShapeType="1"/>
          </p:cNvSpPr>
          <p:nvPr/>
        </p:nvSpPr>
        <p:spPr bwMode="auto">
          <a:xfrm>
            <a:off x="5334000" y="51054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78" name="Line 46"/>
          <p:cNvSpPr>
            <a:spLocks noChangeShapeType="1"/>
          </p:cNvSpPr>
          <p:nvPr/>
        </p:nvSpPr>
        <p:spPr bwMode="auto">
          <a:xfrm flipH="1">
            <a:off x="5029200" y="487680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79" name="Line 47"/>
          <p:cNvSpPr>
            <a:spLocks noChangeShapeType="1"/>
          </p:cNvSpPr>
          <p:nvPr/>
        </p:nvSpPr>
        <p:spPr bwMode="auto">
          <a:xfrm flipH="1">
            <a:off x="5334000" y="5105400"/>
            <a:ext cx="83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80" name="Line 48"/>
          <p:cNvSpPr>
            <a:spLocks noChangeShapeType="1"/>
          </p:cNvSpPr>
          <p:nvPr/>
        </p:nvSpPr>
        <p:spPr bwMode="auto">
          <a:xfrm>
            <a:off x="5357813" y="3733800"/>
            <a:ext cx="0" cy="1143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81" name="Line 49"/>
          <p:cNvSpPr>
            <a:spLocks noChangeShapeType="1"/>
          </p:cNvSpPr>
          <p:nvPr/>
        </p:nvSpPr>
        <p:spPr bwMode="auto">
          <a:xfrm>
            <a:off x="6178550" y="3733800"/>
            <a:ext cx="0" cy="137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82" name="Line 50"/>
          <p:cNvSpPr>
            <a:spLocks noChangeShapeType="1"/>
          </p:cNvSpPr>
          <p:nvPr/>
        </p:nvSpPr>
        <p:spPr bwMode="auto">
          <a:xfrm>
            <a:off x="4876800" y="58674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83" name="Line 51"/>
          <p:cNvSpPr>
            <a:spLocks noChangeShapeType="1"/>
          </p:cNvSpPr>
          <p:nvPr/>
        </p:nvSpPr>
        <p:spPr bwMode="auto">
          <a:xfrm flipH="1">
            <a:off x="4876800" y="6096000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84" name="Line 52"/>
          <p:cNvSpPr>
            <a:spLocks noChangeShapeType="1"/>
          </p:cNvSpPr>
          <p:nvPr/>
        </p:nvSpPr>
        <p:spPr bwMode="auto">
          <a:xfrm>
            <a:off x="3581400" y="18288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85" name="Line 53"/>
          <p:cNvSpPr>
            <a:spLocks noChangeShapeType="1"/>
          </p:cNvSpPr>
          <p:nvPr/>
        </p:nvSpPr>
        <p:spPr bwMode="auto">
          <a:xfrm flipH="1">
            <a:off x="1524000" y="2133600"/>
            <a:ext cx="205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86" name="Line 54"/>
          <p:cNvSpPr>
            <a:spLocks noChangeShapeType="1"/>
          </p:cNvSpPr>
          <p:nvPr/>
        </p:nvSpPr>
        <p:spPr bwMode="auto">
          <a:xfrm>
            <a:off x="1752600" y="18288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87" name="Line 55"/>
          <p:cNvSpPr>
            <a:spLocks noChangeShapeType="1"/>
          </p:cNvSpPr>
          <p:nvPr/>
        </p:nvSpPr>
        <p:spPr bwMode="auto">
          <a:xfrm>
            <a:off x="1524000" y="213360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88" name="Line 56"/>
          <p:cNvSpPr>
            <a:spLocks noChangeShapeType="1"/>
          </p:cNvSpPr>
          <p:nvPr/>
        </p:nvSpPr>
        <p:spPr bwMode="auto">
          <a:xfrm flipH="1">
            <a:off x="1524000" y="36576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89" name="Line 57"/>
          <p:cNvSpPr>
            <a:spLocks noChangeShapeType="1"/>
          </p:cNvSpPr>
          <p:nvPr/>
        </p:nvSpPr>
        <p:spPr bwMode="auto">
          <a:xfrm flipH="1">
            <a:off x="1066800" y="198120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90" name="Line 58"/>
          <p:cNvSpPr>
            <a:spLocks noChangeShapeType="1"/>
          </p:cNvSpPr>
          <p:nvPr/>
        </p:nvSpPr>
        <p:spPr bwMode="auto">
          <a:xfrm>
            <a:off x="1066800" y="1981200"/>
            <a:ext cx="0" cy="289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91" name="Line 59"/>
          <p:cNvSpPr>
            <a:spLocks noChangeShapeType="1"/>
          </p:cNvSpPr>
          <p:nvPr/>
        </p:nvSpPr>
        <p:spPr bwMode="auto">
          <a:xfrm flipH="1">
            <a:off x="1066800" y="48768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92" name="Line 60"/>
          <p:cNvSpPr>
            <a:spLocks noChangeShapeType="1"/>
          </p:cNvSpPr>
          <p:nvPr/>
        </p:nvSpPr>
        <p:spPr bwMode="auto">
          <a:xfrm flipH="1">
            <a:off x="1752600" y="48768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93" name="Oval 61"/>
          <p:cNvSpPr>
            <a:spLocks noChangeArrowheads="1"/>
          </p:cNvSpPr>
          <p:nvPr/>
        </p:nvSpPr>
        <p:spPr bwMode="auto">
          <a:xfrm>
            <a:off x="1874838" y="367030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94" name="Oval 62"/>
          <p:cNvSpPr>
            <a:spLocks noChangeArrowheads="1"/>
          </p:cNvSpPr>
          <p:nvPr/>
        </p:nvSpPr>
        <p:spPr bwMode="auto">
          <a:xfrm>
            <a:off x="2403475" y="367030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95" name="Oval 63"/>
          <p:cNvSpPr>
            <a:spLocks noChangeArrowheads="1"/>
          </p:cNvSpPr>
          <p:nvPr/>
        </p:nvSpPr>
        <p:spPr bwMode="auto">
          <a:xfrm>
            <a:off x="3408363" y="367030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96" name="Oval 64"/>
          <p:cNvSpPr>
            <a:spLocks noChangeArrowheads="1"/>
          </p:cNvSpPr>
          <p:nvPr/>
        </p:nvSpPr>
        <p:spPr bwMode="auto">
          <a:xfrm>
            <a:off x="4295775" y="367030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97" name="Oval 65"/>
          <p:cNvSpPr>
            <a:spLocks noChangeArrowheads="1"/>
          </p:cNvSpPr>
          <p:nvPr/>
        </p:nvSpPr>
        <p:spPr bwMode="auto">
          <a:xfrm>
            <a:off x="5326063" y="367030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98" name="Oval 66"/>
          <p:cNvSpPr>
            <a:spLocks noChangeArrowheads="1"/>
          </p:cNvSpPr>
          <p:nvPr/>
        </p:nvSpPr>
        <p:spPr bwMode="auto">
          <a:xfrm>
            <a:off x="6146800" y="367030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99" name="Line 67"/>
          <p:cNvSpPr>
            <a:spLocks noChangeShapeType="1"/>
          </p:cNvSpPr>
          <p:nvPr/>
        </p:nvSpPr>
        <p:spPr bwMode="auto">
          <a:xfrm>
            <a:off x="1905000" y="49530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700" name="Line 68"/>
          <p:cNvSpPr>
            <a:spLocks noChangeShapeType="1"/>
          </p:cNvSpPr>
          <p:nvPr/>
        </p:nvSpPr>
        <p:spPr bwMode="auto">
          <a:xfrm>
            <a:off x="5029200" y="18288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701" name="Line 69"/>
          <p:cNvSpPr>
            <a:spLocks noChangeShapeType="1"/>
          </p:cNvSpPr>
          <p:nvPr/>
        </p:nvSpPr>
        <p:spPr bwMode="auto">
          <a:xfrm flipH="1">
            <a:off x="5029200" y="2133600"/>
            <a:ext cx="259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702" name="Line 70"/>
          <p:cNvSpPr>
            <a:spLocks noChangeShapeType="1"/>
          </p:cNvSpPr>
          <p:nvPr/>
        </p:nvSpPr>
        <p:spPr bwMode="auto">
          <a:xfrm>
            <a:off x="7620000" y="2133600"/>
            <a:ext cx="0" cy="3581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703" name="Line 71"/>
          <p:cNvSpPr>
            <a:spLocks noChangeShapeType="1"/>
          </p:cNvSpPr>
          <p:nvPr/>
        </p:nvSpPr>
        <p:spPr bwMode="auto">
          <a:xfrm flipH="1">
            <a:off x="5257800" y="5715000"/>
            <a:ext cx="236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704" name="Line 72"/>
          <p:cNvSpPr>
            <a:spLocks noChangeShapeType="1"/>
          </p:cNvSpPr>
          <p:nvPr/>
        </p:nvSpPr>
        <p:spPr bwMode="auto">
          <a:xfrm flipH="1">
            <a:off x="1143000" y="19050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705" name="Line 73"/>
          <p:cNvSpPr>
            <a:spLocks noChangeShapeType="1"/>
          </p:cNvSpPr>
          <p:nvPr/>
        </p:nvSpPr>
        <p:spPr bwMode="auto">
          <a:xfrm flipH="1">
            <a:off x="3200400" y="20574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706" name="Line 74"/>
          <p:cNvSpPr>
            <a:spLocks noChangeShapeType="1"/>
          </p:cNvSpPr>
          <p:nvPr/>
        </p:nvSpPr>
        <p:spPr bwMode="auto">
          <a:xfrm flipH="1">
            <a:off x="5715000" y="20574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707" name="Line 75"/>
          <p:cNvSpPr>
            <a:spLocks noChangeShapeType="1"/>
          </p:cNvSpPr>
          <p:nvPr/>
        </p:nvSpPr>
        <p:spPr bwMode="auto">
          <a:xfrm flipH="1">
            <a:off x="2362200" y="43434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708" name="Rectangle 76"/>
          <p:cNvSpPr>
            <a:spLocks noChangeArrowheads="1"/>
          </p:cNvSpPr>
          <p:nvPr/>
        </p:nvSpPr>
        <p:spPr bwMode="auto">
          <a:xfrm>
            <a:off x="1050925" y="2011363"/>
            <a:ext cx="3730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t</a:t>
            </a:r>
          </a:p>
        </p:txBody>
      </p:sp>
      <p:sp>
        <p:nvSpPr>
          <p:cNvPr id="1093709" name="Rectangle 77"/>
          <p:cNvSpPr>
            <a:spLocks noChangeArrowheads="1"/>
          </p:cNvSpPr>
          <p:nvPr/>
        </p:nvSpPr>
        <p:spPr bwMode="auto">
          <a:xfrm>
            <a:off x="3108325" y="2163763"/>
            <a:ext cx="423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</a:t>
            </a:r>
            <a:r>
              <a:rPr lang="en-US" sz="2000">
                <a:latin typeface="Verdana" pitchFamily="32" charset="0"/>
              </a:rPr>
              <a:t>k</a:t>
            </a:r>
          </a:p>
        </p:txBody>
      </p:sp>
      <p:sp>
        <p:nvSpPr>
          <p:cNvPr id="1093710" name="Rectangle 78"/>
          <p:cNvSpPr>
            <a:spLocks noChangeArrowheads="1"/>
          </p:cNvSpPr>
          <p:nvPr/>
        </p:nvSpPr>
        <p:spPr bwMode="auto">
          <a:xfrm>
            <a:off x="5622925" y="2163763"/>
            <a:ext cx="43180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b</a:t>
            </a:r>
          </a:p>
        </p:txBody>
      </p:sp>
      <p:sp>
        <p:nvSpPr>
          <p:cNvPr id="1093711" name="Rectangle 79"/>
          <p:cNvSpPr>
            <a:spLocks noChangeArrowheads="1"/>
          </p:cNvSpPr>
          <p:nvPr/>
        </p:nvSpPr>
        <p:spPr bwMode="auto">
          <a:xfrm>
            <a:off x="2498725" y="4297363"/>
            <a:ext cx="3730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t</a:t>
            </a:r>
          </a:p>
        </p:txBody>
      </p:sp>
      <p:sp>
        <p:nvSpPr>
          <p:cNvPr id="1093712" name="Rectangle 80"/>
          <p:cNvSpPr>
            <a:spLocks noChangeArrowheads="1"/>
          </p:cNvSpPr>
          <p:nvPr/>
        </p:nvSpPr>
        <p:spPr bwMode="auto">
          <a:xfrm>
            <a:off x="898525" y="5821363"/>
            <a:ext cx="6381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HIT</a:t>
            </a:r>
          </a:p>
        </p:txBody>
      </p:sp>
      <p:sp>
        <p:nvSpPr>
          <p:cNvPr id="1093713" name="Rectangle 81"/>
          <p:cNvSpPr>
            <a:spLocks noChangeArrowheads="1"/>
          </p:cNvSpPr>
          <p:nvPr/>
        </p:nvSpPr>
        <p:spPr bwMode="auto">
          <a:xfrm>
            <a:off x="5851525" y="5897563"/>
            <a:ext cx="2560638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Data Word or Byte</a:t>
            </a:r>
          </a:p>
        </p:txBody>
      </p:sp>
      <p:sp>
        <p:nvSpPr>
          <p:cNvPr id="1093714" name="Line 82"/>
          <p:cNvSpPr>
            <a:spLocks noChangeShapeType="1"/>
          </p:cNvSpPr>
          <p:nvPr/>
        </p:nvSpPr>
        <p:spPr bwMode="auto">
          <a:xfrm>
            <a:off x="6781800" y="27432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715" name="Rectangle 83"/>
          <p:cNvSpPr>
            <a:spLocks noChangeArrowheads="1"/>
          </p:cNvSpPr>
          <p:nvPr/>
        </p:nvSpPr>
        <p:spPr bwMode="auto">
          <a:xfrm>
            <a:off x="6765925" y="3306763"/>
            <a:ext cx="76676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</a:t>
            </a:r>
            <a:r>
              <a:rPr lang="en-US" sz="2000">
                <a:latin typeface="Verdana" pitchFamily="32" charset="0"/>
              </a:rPr>
              <a:t>2</a:t>
            </a:r>
            <a:r>
              <a:rPr lang="en-US" sz="2000" baseline="30000">
                <a:latin typeface="Verdana" pitchFamily="32" charset="0"/>
              </a:rPr>
              <a:t>k</a:t>
            </a:r>
          </a:p>
          <a:p>
            <a:pPr>
              <a:spcBef>
                <a:spcPct val="0"/>
              </a:spcBef>
            </a:pPr>
            <a:r>
              <a:rPr lang="en-US" sz="2000">
                <a:latin typeface="Verdana" pitchFamily="32" charset="0"/>
              </a:rPr>
              <a:t>lines</a:t>
            </a:r>
          </a:p>
        </p:txBody>
      </p:sp>
    </p:spTree>
    <p:extLst>
      <p:ext uri="{BB962C8B-B14F-4D97-AF65-F5344CB8AC3E}">
        <p14:creationId xmlns:p14="http://schemas.microsoft.com/office/powerpoint/2010/main" val="2657506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C821C-EB3E-42EE-AEFF-DF758F1E2DA6}" type="datetime1">
              <a:rPr lang="sv-SE"/>
              <a:pPr/>
              <a:t>2025-09-08</a:t>
            </a:fld>
            <a:endParaRPr lang="en-US"/>
          </a:p>
        </p:txBody>
      </p:sp>
      <p:sp>
        <p:nvSpPr>
          <p:cNvPr id="12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D621A-1F10-4C6F-8023-390C30E9C291}" type="slidenum">
              <a:rPr lang="en-US"/>
              <a:pPr/>
              <a:t>26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946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9563" y="342900"/>
            <a:ext cx="8624887" cy="862013"/>
          </a:xfrm>
          <a:noFill/>
          <a:ln/>
        </p:spPr>
        <p:txBody>
          <a:bodyPr/>
          <a:lstStyle/>
          <a:p>
            <a:r>
              <a:rPr lang="en-US"/>
              <a:t>2-Way Set-Associative Cache</a:t>
            </a:r>
          </a:p>
        </p:txBody>
      </p:sp>
      <p:sp>
        <p:nvSpPr>
          <p:cNvPr id="1094659" name="Line 3"/>
          <p:cNvSpPr>
            <a:spLocks noChangeShapeType="1"/>
          </p:cNvSpPr>
          <p:nvPr/>
        </p:nvSpPr>
        <p:spPr bwMode="auto">
          <a:xfrm>
            <a:off x="6324600" y="48006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60" name="Line 4"/>
          <p:cNvSpPr>
            <a:spLocks noChangeShapeType="1"/>
          </p:cNvSpPr>
          <p:nvPr/>
        </p:nvSpPr>
        <p:spPr bwMode="auto">
          <a:xfrm>
            <a:off x="6324600" y="50292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61" name="Line 5"/>
          <p:cNvSpPr>
            <a:spLocks noChangeShapeType="1"/>
          </p:cNvSpPr>
          <p:nvPr/>
        </p:nvSpPr>
        <p:spPr bwMode="auto">
          <a:xfrm>
            <a:off x="6324600" y="52578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62" name="Line 6"/>
          <p:cNvSpPr>
            <a:spLocks noChangeShapeType="1"/>
          </p:cNvSpPr>
          <p:nvPr/>
        </p:nvSpPr>
        <p:spPr bwMode="auto">
          <a:xfrm>
            <a:off x="6324600" y="54864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63" name="Line 7"/>
          <p:cNvSpPr>
            <a:spLocks noChangeShapeType="1"/>
          </p:cNvSpPr>
          <p:nvPr/>
        </p:nvSpPr>
        <p:spPr bwMode="auto">
          <a:xfrm>
            <a:off x="2286000" y="51816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64" name="Line 8"/>
          <p:cNvSpPr>
            <a:spLocks noChangeShapeType="1"/>
          </p:cNvSpPr>
          <p:nvPr/>
        </p:nvSpPr>
        <p:spPr bwMode="auto">
          <a:xfrm flipH="1">
            <a:off x="6934200" y="51054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65" name="Rectangle 9" descr="Large confetti"/>
          <p:cNvSpPr>
            <a:spLocks noChangeArrowheads="1"/>
          </p:cNvSpPr>
          <p:nvPr/>
        </p:nvSpPr>
        <p:spPr bwMode="auto">
          <a:xfrm>
            <a:off x="1606550" y="3435350"/>
            <a:ext cx="2349500" cy="292100"/>
          </a:xfrm>
          <a:prstGeom prst="rect">
            <a:avLst/>
          </a:prstGeom>
          <a:pattFill prst="lgConfetti">
            <a:fgClr>
              <a:schemeClr val="hlink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66" name="Rectangle 10"/>
          <p:cNvSpPr>
            <a:spLocks noChangeArrowheads="1"/>
          </p:cNvSpPr>
          <p:nvPr/>
        </p:nvSpPr>
        <p:spPr bwMode="auto">
          <a:xfrm>
            <a:off x="1612900" y="2832100"/>
            <a:ext cx="23368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67" name="Line 11"/>
          <p:cNvSpPr>
            <a:spLocks noChangeShapeType="1"/>
          </p:cNvSpPr>
          <p:nvPr/>
        </p:nvSpPr>
        <p:spPr bwMode="auto">
          <a:xfrm>
            <a:off x="1600200" y="3124200"/>
            <a:ext cx="236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68" name="Line 12"/>
          <p:cNvSpPr>
            <a:spLocks noChangeShapeType="1"/>
          </p:cNvSpPr>
          <p:nvPr/>
        </p:nvSpPr>
        <p:spPr bwMode="auto">
          <a:xfrm>
            <a:off x="1600200" y="3429000"/>
            <a:ext cx="236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69" name="Line 13"/>
          <p:cNvSpPr>
            <a:spLocks noChangeShapeType="1"/>
          </p:cNvSpPr>
          <p:nvPr/>
        </p:nvSpPr>
        <p:spPr bwMode="auto">
          <a:xfrm>
            <a:off x="1600200" y="3733800"/>
            <a:ext cx="236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70" name="Line 14"/>
          <p:cNvSpPr>
            <a:spLocks noChangeShapeType="1"/>
          </p:cNvSpPr>
          <p:nvPr/>
        </p:nvSpPr>
        <p:spPr bwMode="auto">
          <a:xfrm>
            <a:off x="2590800" y="2667000"/>
            <a:ext cx="0" cy="137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71" name="Line 15"/>
          <p:cNvSpPr>
            <a:spLocks noChangeShapeType="1"/>
          </p:cNvSpPr>
          <p:nvPr/>
        </p:nvSpPr>
        <p:spPr bwMode="auto">
          <a:xfrm>
            <a:off x="1905000" y="2667000"/>
            <a:ext cx="0" cy="137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72" name="Rectangle 16"/>
          <p:cNvSpPr>
            <a:spLocks noChangeArrowheads="1"/>
          </p:cNvSpPr>
          <p:nvPr/>
        </p:nvSpPr>
        <p:spPr bwMode="auto">
          <a:xfrm>
            <a:off x="1736725" y="2468563"/>
            <a:ext cx="8302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Tag</a:t>
            </a:r>
          </a:p>
        </p:txBody>
      </p:sp>
      <p:sp>
        <p:nvSpPr>
          <p:cNvPr id="1094673" name="Rectangle 17"/>
          <p:cNvSpPr>
            <a:spLocks noChangeArrowheads="1"/>
          </p:cNvSpPr>
          <p:nvPr/>
        </p:nvSpPr>
        <p:spPr bwMode="auto">
          <a:xfrm>
            <a:off x="2574925" y="2468563"/>
            <a:ext cx="15541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Data Block</a:t>
            </a:r>
          </a:p>
        </p:txBody>
      </p:sp>
      <p:sp>
        <p:nvSpPr>
          <p:cNvPr id="1094674" name="Rectangle 18"/>
          <p:cNvSpPr>
            <a:spLocks noChangeArrowheads="1"/>
          </p:cNvSpPr>
          <p:nvPr/>
        </p:nvSpPr>
        <p:spPr bwMode="auto">
          <a:xfrm>
            <a:off x="1431925" y="2468563"/>
            <a:ext cx="534988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V</a:t>
            </a:r>
          </a:p>
        </p:txBody>
      </p:sp>
      <p:sp>
        <p:nvSpPr>
          <p:cNvPr id="1094675" name="Rectangle 19"/>
          <p:cNvSpPr>
            <a:spLocks noChangeArrowheads="1"/>
          </p:cNvSpPr>
          <p:nvPr/>
        </p:nvSpPr>
        <p:spPr bwMode="auto">
          <a:xfrm>
            <a:off x="1003300" y="1308100"/>
            <a:ext cx="42418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94676" name="Group 20"/>
          <p:cNvGrpSpPr>
            <a:grpSpLocks/>
          </p:cNvGrpSpPr>
          <p:nvPr/>
        </p:nvGrpSpPr>
        <p:grpSpPr bwMode="auto">
          <a:xfrm>
            <a:off x="2436813" y="5416550"/>
            <a:ext cx="473075" cy="327025"/>
            <a:chOff x="1535" y="3412"/>
            <a:chExt cx="298" cy="206"/>
          </a:xfrm>
        </p:grpSpPr>
        <p:sp>
          <p:nvSpPr>
            <p:cNvPr id="1094677" name="Line 21"/>
            <p:cNvSpPr>
              <a:spLocks noChangeShapeType="1"/>
            </p:cNvSpPr>
            <p:nvPr/>
          </p:nvSpPr>
          <p:spPr bwMode="auto">
            <a:xfrm>
              <a:off x="1535" y="3413"/>
              <a:ext cx="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678" name="Line 22"/>
            <p:cNvSpPr>
              <a:spLocks noChangeShapeType="1"/>
            </p:cNvSpPr>
            <p:nvPr/>
          </p:nvSpPr>
          <p:spPr bwMode="auto">
            <a:xfrm>
              <a:off x="1535" y="3615"/>
              <a:ext cx="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679" name="Line 23"/>
            <p:cNvSpPr>
              <a:spLocks noChangeShapeType="1"/>
            </p:cNvSpPr>
            <p:nvPr/>
          </p:nvSpPr>
          <p:spPr bwMode="auto">
            <a:xfrm>
              <a:off x="1537" y="3412"/>
              <a:ext cx="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680" name="Arc 24"/>
            <p:cNvSpPr>
              <a:spLocks/>
            </p:cNvSpPr>
            <p:nvPr/>
          </p:nvSpPr>
          <p:spPr bwMode="auto">
            <a:xfrm>
              <a:off x="1738" y="3413"/>
              <a:ext cx="94" cy="10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599"/>
                <a:gd name="T1" fmla="*/ 0 h 21600"/>
                <a:gd name="T2" fmla="*/ 21599 w 21599"/>
                <a:gd name="T3" fmla="*/ 21395 h 21600"/>
                <a:gd name="T4" fmla="*/ 0 w 2159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9" h="21600" fill="none" extrusionOk="0">
                  <a:moveTo>
                    <a:pt x="-1" y="0"/>
                  </a:moveTo>
                  <a:cubicBezTo>
                    <a:pt x="11849" y="0"/>
                    <a:pt x="21486" y="9546"/>
                    <a:pt x="21599" y="21394"/>
                  </a:cubicBezTo>
                </a:path>
                <a:path w="21599" h="21600" stroke="0" extrusionOk="0">
                  <a:moveTo>
                    <a:pt x="-1" y="0"/>
                  </a:moveTo>
                  <a:cubicBezTo>
                    <a:pt x="11849" y="0"/>
                    <a:pt x="21486" y="9546"/>
                    <a:pt x="21599" y="2139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681" name="Arc 25"/>
            <p:cNvSpPr>
              <a:spLocks/>
            </p:cNvSpPr>
            <p:nvPr/>
          </p:nvSpPr>
          <p:spPr bwMode="auto">
            <a:xfrm>
              <a:off x="1739" y="3511"/>
              <a:ext cx="94" cy="107"/>
            </a:xfrm>
            <a:custGeom>
              <a:avLst/>
              <a:gdLst>
                <a:gd name="G0" fmla="+- 0 0 0"/>
                <a:gd name="G1" fmla="+- 205 0 0"/>
                <a:gd name="G2" fmla="+- 21600 0 0"/>
                <a:gd name="T0" fmla="*/ 21599 w 21600"/>
                <a:gd name="T1" fmla="*/ 0 h 21805"/>
                <a:gd name="T2" fmla="*/ 0 w 21600"/>
                <a:gd name="T3" fmla="*/ 21805 h 21805"/>
                <a:gd name="T4" fmla="*/ 0 w 21600"/>
                <a:gd name="T5" fmla="*/ 205 h 218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805" fill="none" extrusionOk="0">
                  <a:moveTo>
                    <a:pt x="21599" y="-1"/>
                  </a:moveTo>
                  <a:cubicBezTo>
                    <a:pt x="21599" y="68"/>
                    <a:pt x="21600" y="136"/>
                    <a:pt x="21600" y="205"/>
                  </a:cubicBezTo>
                  <a:cubicBezTo>
                    <a:pt x="21600" y="12134"/>
                    <a:pt x="11929" y="21804"/>
                    <a:pt x="0" y="21805"/>
                  </a:cubicBezTo>
                </a:path>
                <a:path w="21600" h="21805" stroke="0" extrusionOk="0">
                  <a:moveTo>
                    <a:pt x="21599" y="-1"/>
                  </a:moveTo>
                  <a:cubicBezTo>
                    <a:pt x="21599" y="68"/>
                    <a:pt x="21600" y="136"/>
                    <a:pt x="21600" y="205"/>
                  </a:cubicBezTo>
                  <a:cubicBezTo>
                    <a:pt x="21600" y="12134"/>
                    <a:pt x="11929" y="21804"/>
                    <a:pt x="0" y="21805"/>
                  </a:cubicBezTo>
                  <a:lnTo>
                    <a:pt x="0" y="205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4682" name="Oval 26"/>
          <p:cNvSpPr>
            <a:spLocks noChangeArrowheads="1"/>
          </p:cNvSpPr>
          <p:nvPr/>
        </p:nvSpPr>
        <p:spPr bwMode="auto">
          <a:xfrm>
            <a:off x="2020888" y="4737100"/>
            <a:ext cx="508000" cy="5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83" name="Rectangle 27"/>
          <p:cNvSpPr>
            <a:spLocks noChangeArrowheads="1"/>
          </p:cNvSpPr>
          <p:nvPr/>
        </p:nvSpPr>
        <p:spPr bwMode="auto">
          <a:xfrm>
            <a:off x="2054225" y="4792663"/>
            <a:ext cx="48101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=</a:t>
            </a:r>
          </a:p>
        </p:txBody>
      </p:sp>
      <p:sp>
        <p:nvSpPr>
          <p:cNvPr id="1094684" name="Rectangle 28"/>
          <p:cNvSpPr>
            <a:spLocks noChangeArrowheads="1"/>
          </p:cNvSpPr>
          <p:nvPr/>
        </p:nvSpPr>
        <p:spPr bwMode="auto">
          <a:xfrm>
            <a:off x="4479925" y="1293813"/>
            <a:ext cx="801501" cy="585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chemeClr val="tx1"/>
                </a:solidFill>
                <a:latin typeface="Verdana" pitchFamily="32" charset="0"/>
              </a:rPr>
              <a:t>Block</a:t>
            </a:r>
          </a:p>
          <a:p>
            <a:pPr>
              <a:spcBef>
                <a:spcPct val="0"/>
              </a:spcBef>
            </a:pPr>
            <a:r>
              <a:rPr lang="en-US" sz="1600" dirty="0">
                <a:solidFill>
                  <a:schemeClr val="tx1"/>
                </a:solidFill>
                <a:latin typeface="Verdana" pitchFamily="32" charset="0"/>
              </a:rPr>
              <a:t>Offset</a:t>
            </a:r>
          </a:p>
        </p:txBody>
      </p:sp>
      <p:sp>
        <p:nvSpPr>
          <p:cNvPr id="1094685" name="Line 29"/>
          <p:cNvSpPr>
            <a:spLocks noChangeShapeType="1"/>
          </p:cNvSpPr>
          <p:nvPr/>
        </p:nvSpPr>
        <p:spPr bwMode="auto">
          <a:xfrm>
            <a:off x="4495800" y="129540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86" name="Line 30"/>
          <p:cNvSpPr>
            <a:spLocks noChangeShapeType="1"/>
          </p:cNvSpPr>
          <p:nvPr/>
        </p:nvSpPr>
        <p:spPr bwMode="auto">
          <a:xfrm>
            <a:off x="3108325" y="1311275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87" name="Rectangle 31"/>
          <p:cNvSpPr>
            <a:spLocks noChangeArrowheads="1"/>
          </p:cNvSpPr>
          <p:nvPr/>
        </p:nvSpPr>
        <p:spPr bwMode="auto">
          <a:xfrm>
            <a:off x="1127125" y="1325563"/>
            <a:ext cx="8302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Tag</a:t>
            </a:r>
          </a:p>
        </p:txBody>
      </p:sp>
      <p:sp>
        <p:nvSpPr>
          <p:cNvPr id="1094688" name="Rectangle 32"/>
          <p:cNvSpPr>
            <a:spLocks noChangeArrowheads="1"/>
          </p:cNvSpPr>
          <p:nvPr/>
        </p:nvSpPr>
        <p:spPr bwMode="auto">
          <a:xfrm>
            <a:off x="3352800" y="1341438"/>
            <a:ext cx="9112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pitchFamily="32" charset="0"/>
              </a:rPr>
              <a:t>Index</a:t>
            </a:r>
          </a:p>
        </p:txBody>
      </p:sp>
      <p:sp>
        <p:nvSpPr>
          <p:cNvPr id="1094689" name="Line 33"/>
          <p:cNvSpPr>
            <a:spLocks noChangeShapeType="1"/>
          </p:cNvSpPr>
          <p:nvPr/>
        </p:nvSpPr>
        <p:spPr bwMode="auto">
          <a:xfrm>
            <a:off x="1752600" y="3581400"/>
            <a:ext cx="0" cy="838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90" name="Line 34"/>
          <p:cNvSpPr>
            <a:spLocks noChangeShapeType="1"/>
          </p:cNvSpPr>
          <p:nvPr/>
        </p:nvSpPr>
        <p:spPr bwMode="auto">
          <a:xfrm>
            <a:off x="2286000" y="3581400"/>
            <a:ext cx="0" cy="838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91" name="Line 35"/>
          <p:cNvSpPr>
            <a:spLocks noChangeShapeType="1"/>
          </p:cNvSpPr>
          <p:nvPr/>
        </p:nvSpPr>
        <p:spPr bwMode="auto">
          <a:xfrm>
            <a:off x="3252788" y="5627688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92" name="Line 36"/>
          <p:cNvSpPr>
            <a:spLocks noChangeShapeType="1"/>
          </p:cNvSpPr>
          <p:nvPr/>
        </p:nvSpPr>
        <p:spPr bwMode="auto">
          <a:xfrm flipH="1">
            <a:off x="1752600" y="563880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93" name="Line 37"/>
          <p:cNvSpPr>
            <a:spLocks noChangeShapeType="1"/>
          </p:cNvSpPr>
          <p:nvPr/>
        </p:nvSpPr>
        <p:spPr bwMode="auto">
          <a:xfrm>
            <a:off x="3429000" y="18288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94" name="Line 38"/>
          <p:cNvSpPr>
            <a:spLocks noChangeShapeType="1"/>
          </p:cNvSpPr>
          <p:nvPr/>
        </p:nvSpPr>
        <p:spPr bwMode="auto">
          <a:xfrm flipH="1">
            <a:off x="1371600" y="2133600"/>
            <a:ext cx="205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95" name="Line 39"/>
          <p:cNvSpPr>
            <a:spLocks noChangeShapeType="1"/>
          </p:cNvSpPr>
          <p:nvPr/>
        </p:nvSpPr>
        <p:spPr bwMode="auto">
          <a:xfrm>
            <a:off x="1600200" y="18288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96" name="Line 40"/>
          <p:cNvSpPr>
            <a:spLocks noChangeShapeType="1"/>
          </p:cNvSpPr>
          <p:nvPr/>
        </p:nvSpPr>
        <p:spPr bwMode="auto">
          <a:xfrm>
            <a:off x="1371600" y="2133600"/>
            <a:ext cx="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97" name="Line 41"/>
          <p:cNvSpPr>
            <a:spLocks noChangeShapeType="1"/>
          </p:cNvSpPr>
          <p:nvPr/>
        </p:nvSpPr>
        <p:spPr bwMode="auto">
          <a:xfrm flipH="1">
            <a:off x="1371600" y="35814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98" name="Line 42"/>
          <p:cNvSpPr>
            <a:spLocks noChangeShapeType="1"/>
          </p:cNvSpPr>
          <p:nvPr/>
        </p:nvSpPr>
        <p:spPr bwMode="auto">
          <a:xfrm flipH="1">
            <a:off x="990600" y="19812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99" name="Line 43"/>
          <p:cNvSpPr>
            <a:spLocks noChangeShapeType="1"/>
          </p:cNvSpPr>
          <p:nvPr/>
        </p:nvSpPr>
        <p:spPr bwMode="auto">
          <a:xfrm>
            <a:off x="990600" y="1981200"/>
            <a:ext cx="0" cy="297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00" name="Line 44"/>
          <p:cNvSpPr>
            <a:spLocks noChangeShapeType="1"/>
          </p:cNvSpPr>
          <p:nvPr/>
        </p:nvSpPr>
        <p:spPr bwMode="auto">
          <a:xfrm flipH="1">
            <a:off x="990600" y="495300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01" name="Line 45"/>
          <p:cNvSpPr>
            <a:spLocks noChangeShapeType="1"/>
          </p:cNvSpPr>
          <p:nvPr/>
        </p:nvSpPr>
        <p:spPr bwMode="auto">
          <a:xfrm flipH="1">
            <a:off x="1600200" y="49530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02" name="Oval 46"/>
          <p:cNvSpPr>
            <a:spLocks noChangeArrowheads="1"/>
          </p:cNvSpPr>
          <p:nvPr/>
        </p:nvSpPr>
        <p:spPr bwMode="auto">
          <a:xfrm>
            <a:off x="1722438" y="35480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03" name="Oval 47"/>
          <p:cNvSpPr>
            <a:spLocks noChangeArrowheads="1"/>
          </p:cNvSpPr>
          <p:nvPr/>
        </p:nvSpPr>
        <p:spPr bwMode="auto">
          <a:xfrm>
            <a:off x="2257425" y="35480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04" name="Oval 48"/>
          <p:cNvSpPr>
            <a:spLocks noChangeArrowheads="1"/>
          </p:cNvSpPr>
          <p:nvPr/>
        </p:nvSpPr>
        <p:spPr bwMode="auto">
          <a:xfrm>
            <a:off x="3241675" y="35480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05" name="Line 49"/>
          <p:cNvSpPr>
            <a:spLocks noChangeShapeType="1"/>
          </p:cNvSpPr>
          <p:nvPr/>
        </p:nvSpPr>
        <p:spPr bwMode="auto">
          <a:xfrm>
            <a:off x="1752600" y="50292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06" name="Line 50"/>
          <p:cNvSpPr>
            <a:spLocks noChangeShapeType="1"/>
          </p:cNvSpPr>
          <p:nvPr/>
        </p:nvSpPr>
        <p:spPr bwMode="auto">
          <a:xfrm flipH="1">
            <a:off x="5257800" y="1524000"/>
            <a:ext cx="160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07" name="Line 51"/>
          <p:cNvSpPr>
            <a:spLocks noChangeShapeType="1"/>
          </p:cNvSpPr>
          <p:nvPr/>
        </p:nvSpPr>
        <p:spPr bwMode="auto">
          <a:xfrm flipH="1">
            <a:off x="1066800" y="19050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08" name="Line 52"/>
          <p:cNvSpPr>
            <a:spLocks noChangeShapeType="1"/>
          </p:cNvSpPr>
          <p:nvPr/>
        </p:nvSpPr>
        <p:spPr bwMode="auto">
          <a:xfrm flipH="1">
            <a:off x="2590800" y="20574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09" name="Line 53"/>
          <p:cNvSpPr>
            <a:spLocks noChangeShapeType="1"/>
          </p:cNvSpPr>
          <p:nvPr/>
        </p:nvSpPr>
        <p:spPr bwMode="auto">
          <a:xfrm flipH="1">
            <a:off x="5562600" y="14478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10" name="Rectangle 54"/>
          <p:cNvSpPr>
            <a:spLocks noChangeArrowheads="1"/>
          </p:cNvSpPr>
          <p:nvPr/>
        </p:nvSpPr>
        <p:spPr bwMode="auto">
          <a:xfrm>
            <a:off x="974725" y="2011363"/>
            <a:ext cx="3730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t</a:t>
            </a:r>
          </a:p>
        </p:txBody>
      </p:sp>
      <p:sp>
        <p:nvSpPr>
          <p:cNvPr id="1094711" name="Rectangle 55"/>
          <p:cNvSpPr>
            <a:spLocks noChangeArrowheads="1"/>
          </p:cNvSpPr>
          <p:nvPr/>
        </p:nvSpPr>
        <p:spPr bwMode="auto">
          <a:xfrm>
            <a:off x="2574925" y="2163763"/>
            <a:ext cx="423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</a:t>
            </a:r>
            <a:r>
              <a:rPr lang="en-US" sz="2000">
                <a:latin typeface="Verdana" pitchFamily="32" charset="0"/>
              </a:rPr>
              <a:t>k</a:t>
            </a:r>
          </a:p>
        </p:txBody>
      </p:sp>
      <p:sp>
        <p:nvSpPr>
          <p:cNvPr id="1094712" name="Rectangle 56"/>
          <p:cNvSpPr>
            <a:spLocks noChangeArrowheads="1"/>
          </p:cNvSpPr>
          <p:nvPr/>
        </p:nvSpPr>
        <p:spPr bwMode="auto">
          <a:xfrm>
            <a:off x="5470525" y="1554163"/>
            <a:ext cx="43180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b</a:t>
            </a:r>
          </a:p>
        </p:txBody>
      </p:sp>
      <p:sp>
        <p:nvSpPr>
          <p:cNvPr id="1094713" name="Rectangle 57"/>
          <p:cNvSpPr>
            <a:spLocks noChangeArrowheads="1"/>
          </p:cNvSpPr>
          <p:nvPr/>
        </p:nvSpPr>
        <p:spPr bwMode="auto">
          <a:xfrm>
            <a:off x="7615238" y="6049963"/>
            <a:ext cx="6381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HIT</a:t>
            </a:r>
          </a:p>
        </p:txBody>
      </p:sp>
      <p:sp>
        <p:nvSpPr>
          <p:cNvPr id="1094714" name="Line 58"/>
          <p:cNvSpPr>
            <a:spLocks noChangeShapeType="1"/>
          </p:cNvSpPr>
          <p:nvPr/>
        </p:nvSpPr>
        <p:spPr bwMode="auto">
          <a:xfrm flipH="1">
            <a:off x="990600" y="4495800"/>
            <a:ext cx="312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15" name="Line 59"/>
          <p:cNvSpPr>
            <a:spLocks noChangeShapeType="1"/>
          </p:cNvSpPr>
          <p:nvPr/>
        </p:nvSpPr>
        <p:spPr bwMode="auto">
          <a:xfrm>
            <a:off x="4114800" y="44958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16" name="Rectangle 60" descr="Large confetti"/>
          <p:cNvSpPr>
            <a:spLocks noChangeArrowheads="1"/>
          </p:cNvSpPr>
          <p:nvPr/>
        </p:nvSpPr>
        <p:spPr bwMode="auto">
          <a:xfrm>
            <a:off x="4273550" y="3435350"/>
            <a:ext cx="2349500" cy="292100"/>
          </a:xfrm>
          <a:prstGeom prst="rect">
            <a:avLst/>
          </a:prstGeom>
          <a:pattFill prst="lgConfetti">
            <a:fgClr>
              <a:schemeClr val="hlink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17" name="Rectangle 61"/>
          <p:cNvSpPr>
            <a:spLocks noChangeArrowheads="1"/>
          </p:cNvSpPr>
          <p:nvPr/>
        </p:nvSpPr>
        <p:spPr bwMode="auto">
          <a:xfrm>
            <a:off x="4279900" y="2832100"/>
            <a:ext cx="23368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18" name="Line 62"/>
          <p:cNvSpPr>
            <a:spLocks noChangeShapeType="1"/>
          </p:cNvSpPr>
          <p:nvPr/>
        </p:nvSpPr>
        <p:spPr bwMode="auto">
          <a:xfrm>
            <a:off x="4267200" y="3124200"/>
            <a:ext cx="236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19" name="Line 63"/>
          <p:cNvSpPr>
            <a:spLocks noChangeShapeType="1"/>
          </p:cNvSpPr>
          <p:nvPr/>
        </p:nvSpPr>
        <p:spPr bwMode="auto">
          <a:xfrm>
            <a:off x="4267200" y="3429000"/>
            <a:ext cx="236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20" name="Line 64"/>
          <p:cNvSpPr>
            <a:spLocks noChangeShapeType="1"/>
          </p:cNvSpPr>
          <p:nvPr/>
        </p:nvSpPr>
        <p:spPr bwMode="auto">
          <a:xfrm>
            <a:off x="4267200" y="3733800"/>
            <a:ext cx="236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21" name="Line 65"/>
          <p:cNvSpPr>
            <a:spLocks noChangeShapeType="1"/>
          </p:cNvSpPr>
          <p:nvPr/>
        </p:nvSpPr>
        <p:spPr bwMode="auto">
          <a:xfrm>
            <a:off x="5257800" y="2667000"/>
            <a:ext cx="0" cy="137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22" name="Rectangle 66"/>
          <p:cNvSpPr>
            <a:spLocks noChangeArrowheads="1"/>
          </p:cNvSpPr>
          <p:nvPr/>
        </p:nvSpPr>
        <p:spPr bwMode="auto">
          <a:xfrm>
            <a:off x="4708525" y="3351213"/>
            <a:ext cx="2555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 </a:t>
            </a:r>
          </a:p>
        </p:txBody>
      </p:sp>
      <p:sp>
        <p:nvSpPr>
          <p:cNvPr id="1094723" name="Line 67"/>
          <p:cNvSpPr>
            <a:spLocks noChangeShapeType="1"/>
          </p:cNvSpPr>
          <p:nvPr/>
        </p:nvSpPr>
        <p:spPr bwMode="auto">
          <a:xfrm>
            <a:off x="4572000" y="2667000"/>
            <a:ext cx="0" cy="137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24" name="Rectangle 68"/>
          <p:cNvSpPr>
            <a:spLocks noChangeArrowheads="1"/>
          </p:cNvSpPr>
          <p:nvPr/>
        </p:nvSpPr>
        <p:spPr bwMode="auto">
          <a:xfrm>
            <a:off x="4403725" y="2468563"/>
            <a:ext cx="8302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Tag</a:t>
            </a:r>
          </a:p>
        </p:txBody>
      </p:sp>
      <p:sp>
        <p:nvSpPr>
          <p:cNvPr id="1094725" name="Rectangle 69"/>
          <p:cNvSpPr>
            <a:spLocks noChangeArrowheads="1"/>
          </p:cNvSpPr>
          <p:nvPr/>
        </p:nvSpPr>
        <p:spPr bwMode="auto">
          <a:xfrm>
            <a:off x="5241925" y="2468563"/>
            <a:ext cx="15541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Data Block</a:t>
            </a:r>
          </a:p>
        </p:txBody>
      </p:sp>
      <p:sp>
        <p:nvSpPr>
          <p:cNvPr id="1094726" name="Oval 70"/>
          <p:cNvSpPr>
            <a:spLocks noChangeArrowheads="1"/>
          </p:cNvSpPr>
          <p:nvPr/>
        </p:nvSpPr>
        <p:spPr bwMode="auto">
          <a:xfrm>
            <a:off x="4389438" y="35480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27" name="Oval 71"/>
          <p:cNvSpPr>
            <a:spLocks noChangeArrowheads="1"/>
          </p:cNvSpPr>
          <p:nvPr/>
        </p:nvSpPr>
        <p:spPr bwMode="auto">
          <a:xfrm>
            <a:off x="4911725" y="35480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28" name="Oval 72"/>
          <p:cNvSpPr>
            <a:spLocks noChangeArrowheads="1"/>
          </p:cNvSpPr>
          <p:nvPr/>
        </p:nvSpPr>
        <p:spPr bwMode="auto">
          <a:xfrm>
            <a:off x="5905500" y="35480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29" name="Rectangle 73"/>
          <p:cNvSpPr>
            <a:spLocks noChangeArrowheads="1"/>
          </p:cNvSpPr>
          <p:nvPr/>
        </p:nvSpPr>
        <p:spPr bwMode="auto">
          <a:xfrm>
            <a:off x="4098925" y="2468563"/>
            <a:ext cx="534988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V</a:t>
            </a:r>
          </a:p>
        </p:txBody>
      </p:sp>
      <p:sp>
        <p:nvSpPr>
          <p:cNvPr id="1094730" name="Line 74"/>
          <p:cNvSpPr>
            <a:spLocks noChangeShapeType="1"/>
          </p:cNvSpPr>
          <p:nvPr/>
        </p:nvSpPr>
        <p:spPr bwMode="auto">
          <a:xfrm>
            <a:off x="4419600" y="358140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31" name="Line 75"/>
          <p:cNvSpPr>
            <a:spLocks noChangeShapeType="1"/>
          </p:cNvSpPr>
          <p:nvPr/>
        </p:nvSpPr>
        <p:spPr bwMode="auto">
          <a:xfrm>
            <a:off x="4953000" y="358140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32" name="Line 76"/>
          <p:cNvSpPr>
            <a:spLocks noChangeShapeType="1"/>
          </p:cNvSpPr>
          <p:nvPr/>
        </p:nvSpPr>
        <p:spPr bwMode="auto">
          <a:xfrm>
            <a:off x="3276600" y="3581400"/>
            <a:ext cx="0" cy="182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33" name="Line 77"/>
          <p:cNvSpPr>
            <a:spLocks noChangeShapeType="1"/>
          </p:cNvSpPr>
          <p:nvPr/>
        </p:nvSpPr>
        <p:spPr bwMode="auto">
          <a:xfrm>
            <a:off x="5943600" y="3581400"/>
            <a:ext cx="0" cy="182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34" name="Line 78"/>
          <p:cNvSpPr>
            <a:spLocks noChangeShapeType="1"/>
          </p:cNvSpPr>
          <p:nvPr/>
        </p:nvSpPr>
        <p:spPr bwMode="auto">
          <a:xfrm flipH="1">
            <a:off x="3124200" y="5943600"/>
            <a:ext cx="32004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35" name="AutoShape 79"/>
          <p:cNvSpPr>
            <a:spLocks noChangeArrowheads="1"/>
          </p:cNvSpPr>
          <p:nvPr/>
        </p:nvSpPr>
        <p:spPr bwMode="auto">
          <a:xfrm rot="5400000" flipV="1">
            <a:off x="6261101" y="4967287"/>
            <a:ext cx="1117600" cy="276225"/>
          </a:xfrm>
          <a:custGeom>
            <a:avLst/>
            <a:gdLst>
              <a:gd name="G0" fmla="+- 5399 0 0"/>
              <a:gd name="G1" fmla="+- 21600 0 5399"/>
              <a:gd name="G2" fmla="*/ 5399 1 2"/>
              <a:gd name="G3" fmla="+- 21600 0 G2"/>
              <a:gd name="G4" fmla="+/ 5399 21600 2"/>
              <a:gd name="G5" fmla="+/ G1 0 2"/>
              <a:gd name="G6" fmla="*/ 21600 21600 5399"/>
              <a:gd name="G7" fmla="*/ G6 1 2"/>
              <a:gd name="G8" fmla="+- 21600 0 G7"/>
              <a:gd name="G9" fmla="*/ 21600 1 2"/>
              <a:gd name="G10" fmla="+- 5399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399" y="21600"/>
                </a:lnTo>
                <a:lnTo>
                  <a:pt x="1620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36" name="Line 80"/>
          <p:cNvSpPr>
            <a:spLocks noChangeShapeType="1"/>
          </p:cNvSpPr>
          <p:nvPr/>
        </p:nvSpPr>
        <p:spPr bwMode="auto">
          <a:xfrm>
            <a:off x="6858000" y="1524000"/>
            <a:ext cx="0" cy="320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37" name="Rectangle 81"/>
          <p:cNvSpPr>
            <a:spLocks noChangeArrowheads="1"/>
          </p:cNvSpPr>
          <p:nvPr/>
        </p:nvSpPr>
        <p:spPr bwMode="auto">
          <a:xfrm>
            <a:off x="7299325" y="4678363"/>
            <a:ext cx="1111250" cy="1020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Data</a:t>
            </a:r>
          </a:p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Word</a:t>
            </a:r>
          </a:p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or Byte</a:t>
            </a:r>
          </a:p>
        </p:txBody>
      </p:sp>
      <p:sp>
        <p:nvSpPr>
          <p:cNvPr id="1094738" name="Line 82"/>
          <p:cNvSpPr>
            <a:spLocks noChangeShapeType="1"/>
          </p:cNvSpPr>
          <p:nvPr/>
        </p:nvSpPr>
        <p:spPr bwMode="auto">
          <a:xfrm>
            <a:off x="1752600" y="45720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39" name="Line 83"/>
          <p:cNvSpPr>
            <a:spLocks noChangeShapeType="1"/>
          </p:cNvSpPr>
          <p:nvPr/>
        </p:nvSpPr>
        <p:spPr bwMode="auto">
          <a:xfrm>
            <a:off x="2286000" y="45720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40" name="Line 84"/>
          <p:cNvSpPr>
            <a:spLocks noChangeShapeType="1"/>
          </p:cNvSpPr>
          <p:nvPr/>
        </p:nvSpPr>
        <p:spPr bwMode="auto">
          <a:xfrm>
            <a:off x="4419600" y="419100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41" name="Line 85"/>
          <p:cNvSpPr>
            <a:spLocks noChangeShapeType="1"/>
          </p:cNvSpPr>
          <p:nvPr/>
        </p:nvSpPr>
        <p:spPr bwMode="auto">
          <a:xfrm>
            <a:off x="4953000" y="42672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94742" name="Group 86"/>
          <p:cNvGrpSpPr>
            <a:grpSpLocks/>
          </p:cNvGrpSpPr>
          <p:nvPr/>
        </p:nvGrpSpPr>
        <p:grpSpPr bwMode="auto">
          <a:xfrm>
            <a:off x="3100388" y="5434013"/>
            <a:ext cx="279400" cy="215900"/>
            <a:chOff x="1953" y="3423"/>
            <a:chExt cx="176" cy="136"/>
          </a:xfrm>
        </p:grpSpPr>
        <p:sp>
          <p:nvSpPr>
            <p:cNvPr id="1094743" name="Line 87"/>
            <p:cNvSpPr>
              <a:spLocks noChangeShapeType="1"/>
            </p:cNvSpPr>
            <p:nvPr/>
          </p:nvSpPr>
          <p:spPr bwMode="auto">
            <a:xfrm flipH="1">
              <a:off x="2037" y="3426"/>
              <a:ext cx="92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744" name="Line 88"/>
            <p:cNvSpPr>
              <a:spLocks noChangeShapeType="1"/>
            </p:cNvSpPr>
            <p:nvPr/>
          </p:nvSpPr>
          <p:spPr bwMode="auto">
            <a:xfrm>
              <a:off x="1953" y="3426"/>
              <a:ext cx="92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745" name="Line 89"/>
            <p:cNvSpPr>
              <a:spLocks noChangeShapeType="1"/>
            </p:cNvSpPr>
            <p:nvPr/>
          </p:nvSpPr>
          <p:spPr bwMode="auto">
            <a:xfrm flipH="1">
              <a:off x="1958" y="3423"/>
              <a:ext cx="1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4746" name="Line 90"/>
          <p:cNvSpPr>
            <a:spLocks noChangeShapeType="1"/>
          </p:cNvSpPr>
          <p:nvPr/>
        </p:nvSpPr>
        <p:spPr bwMode="auto">
          <a:xfrm flipH="1">
            <a:off x="2286000" y="5486400"/>
            <a:ext cx="15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47" name="Line 91"/>
          <p:cNvSpPr>
            <a:spLocks noChangeShapeType="1"/>
          </p:cNvSpPr>
          <p:nvPr/>
        </p:nvSpPr>
        <p:spPr bwMode="auto">
          <a:xfrm flipH="1">
            <a:off x="2895600" y="556260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48" name="Line 92"/>
          <p:cNvSpPr>
            <a:spLocks noChangeShapeType="1"/>
          </p:cNvSpPr>
          <p:nvPr/>
        </p:nvSpPr>
        <p:spPr bwMode="auto">
          <a:xfrm>
            <a:off x="4953000" y="51816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94749" name="Group 93"/>
          <p:cNvGrpSpPr>
            <a:grpSpLocks/>
          </p:cNvGrpSpPr>
          <p:nvPr/>
        </p:nvGrpSpPr>
        <p:grpSpPr bwMode="auto">
          <a:xfrm>
            <a:off x="5103813" y="5416550"/>
            <a:ext cx="473075" cy="327025"/>
            <a:chOff x="3215" y="3412"/>
            <a:chExt cx="298" cy="206"/>
          </a:xfrm>
        </p:grpSpPr>
        <p:sp>
          <p:nvSpPr>
            <p:cNvPr id="1094750" name="Line 94"/>
            <p:cNvSpPr>
              <a:spLocks noChangeShapeType="1"/>
            </p:cNvSpPr>
            <p:nvPr/>
          </p:nvSpPr>
          <p:spPr bwMode="auto">
            <a:xfrm>
              <a:off x="3215" y="3413"/>
              <a:ext cx="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751" name="Line 95"/>
            <p:cNvSpPr>
              <a:spLocks noChangeShapeType="1"/>
            </p:cNvSpPr>
            <p:nvPr/>
          </p:nvSpPr>
          <p:spPr bwMode="auto">
            <a:xfrm>
              <a:off x="3215" y="3615"/>
              <a:ext cx="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752" name="Line 96"/>
            <p:cNvSpPr>
              <a:spLocks noChangeShapeType="1"/>
            </p:cNvSpPr>
            <p:nvPr/>
          </p:nvSpPr>
          <p:spPr bwMode="auto">
            <a:xfrm>
              <a:off x="3217" y="3412"/>
              <a:ext cx="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753" name="Arc 97"/>
            <p:cNvSpPr>
              <a:spLocks/>
            </p:cNvSpPr>
            <p:nvPr/>
          </p:nvSpPr>
          <p:spPr bwMode="auto">
            <a:xfrm>
              <a:off x="3418" y="3413"/>
              <a:ext cx="94" cy="10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599"/>
                <a:gd name="T1" fmla="*/ 0 h 21600"/>
                <a:gd name="T2" fmla="*/ 21599 w 21599"/>
                <a:gd name="T3" fmla="*/ 21395 h 21600"/>
                <a:gd name="T4" fmla="*/ 0 w 2159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9" h="21600" fill="none" extrusionOk="0">
                  <a:moveTo>
                    <a:pt x="-1" y="0"/>
                  </a:moveTo>
                  <a:cubicBezTo>
                    <a:pt x="11849" y="0"/>
                    <a:pt x="21486" y="9546"/>
                    <a:pt x="21599" y="21394"/>
                  </a:cubicBezTo>
                </a:path>
                <a:path w="21599" h="21600" stroke="0" extrusionOk="0">
                  <a:moveTo>
                    <a:pt x="-1" y="0"/>
                  </a:moveTo>
                  <a:cubicBezTo>
                    <a:pt x="11849" y="0"/>
                    <a:pt x="21486" y="9546"/>
                    <a:pt x="21599" y="2139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754" name="Arc 98"/>
            <p:cNvSpPr>
              <a:spLocks/>
            </p:cNvSpPr>
            <p:nvPr/>
          </p:nvSpPr>
          <p:spPr bwMode="auto">
            <a:xfrm>
              <a:off x="3419" y="3511"/>
              <a:ext cx="94" cy="107"/>
            </a:xfrm>
            <a:custGeom>
              <a:avLst/>
              <a:gdLst>
                <a:gd name="G0" fmla="+- 0 0 0"/>
                <a:gd name="G1" fmla="+- 205 0 0"/>
                <a:gd name="G2" fmla="+- 21600 0 0"/>
                <a:gd name="T0" fmla="*/ 21599 w 21600"/>
                <a:gd name="T1" fmla="*/ 0 h 21805"/>
                <a:gd name="T2" fmla="*/ 0 w 21600"/>
                <a:gd name="T3" fmla="*/ 21805 h 21805"/>
                <a:gd name="T4" fmla="*/ 0 w 21600"/>
                <a:gd name="T5" fmla="*/ 205 h 218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805" fill="none" extrusionOk="0">
                  <a:moveTo>
                    <a:pt x="21599" y="-1"/>
                  </a:moveTo>
                  <a:cubicBezTo>
                    <a:pt x="21599" y="68"/>
                    <a:pt x="21600" y="136"/>
                    <a:pt x="21600" y="205"/>
                  </a:cubicBezTo>
                  <a:cubicBezTo>
                    <a:pt x="21600" y="12134"/>
                    <a:pt x="11929" y="21804"/>
                    <a:pt x="0" y="21805"/>
                  </a:cubicBezTo>
                </a:path>
                <a:path w="21600" h="21805" stroke="0" extrusionOk="0">
                  <a:moveTo>
                    <a:pt x="21599" y="-1"/>
                  </a:moveTo>
                  <a:cubicBezTo>
                    <a:pt x="21599" y="68"/>
                    <a:pt x="21600" y="136"/>
                    <a:pt x="21600" y="205"/>
                  </a:cubicBezTo>
                  <a:cubicBezTo>
                    <a:pt x="21600" y="12134"/>
                    <a:pt x="11929" y="21804"/>
                    <a:pt x="0" y="21805"/>
                  </a:cubicBezTo>
                  <a:lnTo>
                    <a:pt x="0" y="205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4755" name="Oval 99"/>
          <p:cNvSpPr>
            <a:spLocks noChangeArrowheads="1"/>
          </p:cNvSpPr>
          <p:nvPr/>
        </p:nvSpPr>
        <p:spPr bwMode="auto">
          <a:xfrm>
            <a:off x="4687888" y="4737100"/>
            <a:ext cx="508000" cy="5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56" name="Rectangle 100"/>
          <p:cNvSpPr>
            <a:spLocks noChangeArrowheads="1"/>
          </p:cNvSpPr>
          <p:nvPr/>
        </p:nvSpPr>
        <p:spPr bwMode="auto">
          <a:xfrm>
            <a:off x="4721225" y="4792663"/>
            <a:ext cx="48101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=</a:t>
            </a:r>
          </a:p>
        </p:txBody>
      </p:sp>
      <p:sp>
        <p:nvSpPr>
          <p:cNvPr id="1094757" name="Line 101"/>
          <p:cNvSpPr>
            <a:spLocks noChangeShapeType="1"/>
          </p:cNvSpPr>
          <p:nvPr/>
        </p:nvSpPr>
        <p:spPr bwMode="auto">
          <a:xfrm>
            <a:off x="5919788" y="56388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58" name="Line 102"/>
          <p:cNvSpPr>
            <a:spLocks noChangeShapeType="1"/>
          </p:cNvSpPr>
          <p:nvPr/>
        </p:nvSpPr>
        <p:spPr bwMode="auto">
          <a:xfrm flipH="1">
            <a:off x="4419600" y="563880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59" name="Line 103"/>
          <p:cNvSpPr>
            <a:spLocks noChangeShapeType="1"/>
          </p:cNvSpPr>
          <p:nvPr/>
        </p:nvSpPr>
        <p:spPr bwMode="auto">
          <a:xfrm flipH="1">
            <a:off x="4114800" y="495300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60" name="Line 104"/>
          <p:cNvSpPr>
            <a:spLocks noChangeShapeType="1"/>
          </p:cNvSpPr>
          <p:nvPr/>
        </p:nvSpPr>
        <p:spPr bwMode="auto">
          <a:xfrm>
            <a:off x="4419600" y="50292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94761" name="Group 105"/>
          <p:cNvGrpSpPr>
            <a:grpSpLocks/>
          </p:cNvGrpSpPr>
          <p:nvPr/>
        </p:nvGrpSpPr>
        <p:grpSpPr bwMode="auto">
          <a:xfrm>
            <a:off x="5767388" y="5434013"/>
            <a:ext cx="279400" cy="215900"/>
            <a:chOff x="3633" y="3423"/>
            <a:chExt cx="176" cy="136"/>
          </a:xfrm>
        </p:grpSpPr>
        <p:sp>
          <p:nvSpPr>
            <p:cNvPr id="1094762" name="Line 106"/>
            <p:cNvSpPr>
              <a:spLocks noChangeShapeType="1"/>
            </p:cNvSpPr>
            <p:nvPr/>
          </p:nvSpPr>
          <p:spPr bwMode="auto">
            <a:xfrm flipH="1">
              <a:off x="3717" y="3426"/>
              <a:ext cx="92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763" name="Line 107"/>
            <p:cNvSpPr>
              <a:spLocks noChangeShapeType="1"/>
            </p:cNvSpPr>
            <p:nvPr/>
          </p:nvSpPr>
          <p:spPr bwMode="auto">
            <a:xfrm>
              <a:off x="3633" y="3426"/>
              <a:ext cx="92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764" name="Line 108"/>
            <p:cNvSpPr>
              <a:spLocks noChangeShapeType="1"/>
            </p:cNvSpPr>
            <p:nvPr/>
          </p:nvSpPr>
          <p:spPr bwMode="auto">
            <a:xfrm flipH="1">
              <a:off x="3638" y="3423"/>
              <a:ext cx="1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4765" name="Line 109"/>
          <p:cNvSpPr>
            <a:spLocks noChangeShapeType="1"/>
          </p:cNvSpPr>
          <p:nvPr/>
        </p:nvSpPr>
        <p:spPr bwMode="auto">
          <a:xfrm flipH="1">
            <a:off x="4953000" y="5486400"/>
            <a:ext cx="15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66" name="Line 110"/>
          <p:cNvSpPr>
            <a:spLocks noChangeShapeType="1"/>
          </p:cNvSpPr>
          <p:nvPr/>
        </p:nvSpPr>
        <p:spPr bwMode="auto">
          <a:xfrm flipH="1">
            <a:off x="5562600" y="556260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67" name="Line 111"/>
          <p:cNvSpPr>
            <a:spLocks noChangeShapeType="1"/>
          </p:cNvSpPr>
          <p:nvPr/>
        </p:nvSpPr>
        <p:spPr bwMode="auto">
          <a:xfrm flipV="1">
            <a:off x="6324600" y="4724400"/>
            <a:ext cx="0" cy="1219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68" name="Line 112"/>
          <p:cNvSpPr>
            <a:spLocks noChangeShapeType="1"/>
          </p:cNvSpPr>
          <p:nvPr/>
        </p:nvSpPr>
        <p:spPr bwMode="auto">
          <a:xfrm>
            <a:off x="2971800" y="5562600"/>
            <a:ext cx="0" cy="76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94769" name="Group 113"/>
          <p:cNvGrpSpPr>
            <a:grpSpLocks/>
          </p:cNvGrpSpPr>
          <p:nvPr/>
        </p:nvGrpSpPr>
        <p:grpSpPr bwMode="auto">
          <a:xfrm>
            <a:off x="6535738" y="6027738"/>
            <a:ext cx="758825" cy="476250"/>
            <a:chOff x="4117" y="3797"/>
            <a:chExt cx="478" cy="300"/>
          </a:xfrm>
        </p:grpSpPr>
        <p:sp>
          <p:nvSpPr>
            <p:cNvPr id="1094770" name="Arc 114"/>
            <p:cNvSpPr>
              <a:spLocks/>
            </p:cNvSpPr>
            <p:nvPr/>
          </p:nvSpPr>
          <p:spPr bwMode="auto">
            <a:xfrm>
              <a:off x="4117" y="3797"/>
              <a:ext cx="70" cy="14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771" name="Arc 115"/>
            <p:cNvSpPr>
              <a:spLocks/>
            </p:cNvSpPr>
            <p:nvPr/>
          </p:nvSpPr>
          <p:spPr bwMode="auto">
            <a:xfrm>
              <a:off x="4117" y="3797"/>
              <a:ext cx="478" cy="15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772" name="Arc 116"/>
            <p:cNvSpPr>
              <a:spLocks/>
            </p:cNvSpPr>
            <p:nvPr/>
          </p:nvSpPr>
          <p:spPr bwMode="auto">
            <a:xfrm>
              <a:off x="4141" y="3940"/>
              <a:ext cx="453" cy="157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773" name="Arc 117"/>
            <p:cNvSpPr>
              <a:spLocks/>
            </p:cNvSpPr>
            <p:nvPr/>
          </p:nvSpPr>
          <p:spPr bwMode="auto">
            <a:xfrm>
              <a:off x="4117" y="3940"/>
              <a:ext cx="70" cy="157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4774" name="Line 118"/>
          <p:cNvSpPr>
            <a:spLocks noChangeShapeType="1"/>
          </p:cNvSpPr>
          <p:nvPr/>
        </p:nvSpPr>
        <p:spPr bwMode="auto">
          <a:xfrm flipH="1">
            <a:off x="7273925" y="62484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75" name="Line 119"/>
          <p:cNvSpPr>
            <a:spLocks noChangeShapeType="1"/>
          </p:cNvSpPr>
          <p:nvPr/>
        </p:nvSpPr>
        <p:spPr bwMode="auto">
          <a:xfrm>
            <a:off x="5638800" y="55626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76" name="Line 120"/>
          <p:cNvSpPr>
            <a:spLocks noChangeShapeType="1"/>
          </p:cNvSpPr>
          <p:nvPr/>
        </p:nvSpPr>
        <p:spPr bwMode="auto">
          <a:xfrm>
            <a:off x="5638800" y="60198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77" name="Line 121"/>
          <p:cNvSpPr>
            <a:spLocks noChangeShapeType="1"/>
          </p:cNvSpPr>
          <p:nvPr/>
        </p:nvSpPr>
        <p:spPr bwMode="auto">
          <a:xfrm flipH="1">
            <a:off x="5638800" y="6172200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78" name="Line 122"/>
          <p:cNvSpPr>
            <a:spLocks noChangeShapeType="1"/>
          </p:cNvSpPr>
          <p:nvPr/>
        </p:nvSpPr>
        <p:spPr bwMode="auto">
          <a:xfrm flipH="1">
            <a:off x="2971800" y="6324600"/>
            <a:ext cx="3657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79" name="Line 123"/>
          <p:cNvSpPr>
            <a:spLocks noChangeShapeType="1"/>
          </p:cNvSpPr>
          <p:nvPr/>
        </p:nvSpPr>
        <p:spPr bwMode="auto">
          <a:xfrm flipH="1">
            <a:off x="2197100" y="4154488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80" name="Rectangle 124"/>
          <p:cNvSpPr>
            <a:spLocks noChangeArrowheads="1"/>
          </p:cNvSpPr>
          <p:nvPr/>
        </p:nvSpPr>
        <p:spPr bwMode="auto">
          <a:xfrm>
            <a:off x="2309813" y="4060825"/>
            <a:ext cx="373062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t</a:t>
            </a:r>
          </a:p>
        </p:txBody>
      </p:sp>
      <p:sp>
        <p:nvSpPr>
          <p:cNvPr id="1094781" name="Line 125"/>
          <p:cNvSpPr>
            <a:spLocks noChangeShapeType="1"/>
          </p:cNvSpPr>
          <p:nvPr/>
        </p:nvSpPr>
        <p:spPr bwMode="auto">
          <a:xfrm>
            <a:off x="3962400" y="34290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82" name="Line 126"/>
          <p:cNvSpPr>
            <a:spLocks noChangeShapeType="1"/>
          </p:cNvSpPr>
          <p:nvPr/>
        </p:nvSpPr>
        <p:spPr bwMode="auto">
          <a:xfrm>
            <a:off x="3962400" y="37338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43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84D95-494C-4AEF-9E58-27703241F3EE}" type="datetime1">
              <a:rPr lang="sv-SE"/>
              <a:pPr/>
              <a:t>2025-09-08</a:t>
            </a:fld>
            <a:endParaRPr lang="en-US"/>
          </a:p>
        </p:txBody>
      </p:sp>
      <p:sp>
        <p:nvSpPr>
          <p:cNvPr id="1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F688-CAD0-409E-98FC-64185733DF40}" type="slidenum">
              <a:rPr lang="en-US"/>
              <a:pPr/>
              <a:t>27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95682" name="Line 2"/>
          <p:cNvSpPr>
            <a:spLocks noChangeShapeType="1"/>
          </p:cNvSpPr>
          <p:nvPr/>
        </p:nvSpPr>
        <p:spPr bwMode="auto">
          <a:xfrm flipH="1">
            <a:off x="5410200" y="54864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683" name="Line 3"/>
          <p:cNvSpPr>
            <a:spLocks noChangeShapeType="1"/>
          </p:cNvSpPr>
          <p:nvPr/>
        </p:nvSpPr>
        <p:spPr bwMode="auto">
          <a:xfrm flipH="1">
            <a:off x="5410200" y="48006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684" name="Line 4"/>
          <p:cNvSpPr>
            <a:spLocks noChangeShapeType="1"/>
          </p:cNvSpPr>
          <p:nvPr/>
        </p:nvSpPr>
        <p:spPr bwMode="auto">
          <a:xfrm flipH="1">
            <a:off x="5410200" y="50292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685" name="Line 5"/>
          <p:cNvSpPr>
            <a:spLocks noChangeShapeType="1"/>
          </p:cNvSpPr>
          <p:nvPr/>
        </p:nvSpPr>
        <p:spPr bwMode="auto">
          <a:xfrm flipH="1">
            <a:off x="5410200" y="52578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686" name="Line 6"/>
          <p:cNvSpPr>
            <a:spLocks noChangeShapeType="1"/>
          </p:cNvSpPr>
          <p:nvPr/>
        </p:nvSpPr>
        <p:spPr bwMode="auto">
          <a:xfrm flipH="1">
            <a:off x="6096000" y="518160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687" name="Rectangle 7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162800" cy="1143000"/>
          </a:xfrm>
          <a:noFill/>
          <a:ln/>
        </p:spPr>
        <p:txBody>
          <a:bodyPr/>
          <a:lstStyle/>
          <a:p>
            <a:r>
              <a:rPr lang="en-US"/>
              <a:t>Fully Associative Cache</a:t>
            </a:r>
          </a:p>
        </p:txBody>
      </p:sp>
      <p:sp>
        <p:nvSpPr>
          <p:cNvPr id="1095688" name="Rectangle 8" descr="Large confetti"/>
          <p:cNvSpPr>
            <a:spLocks noChangeArrowheads="1"/>
          </p:cNvSpPr>
          <p:nvPr/>
        </p:nvSpPr>
        <p:spPr bwMode="auto">
          <a:xfrm>
            <a:off x="2298700" y="1612900"/>
            <a:ext cx="2413000" cy="355600"/>
          </a:xfrm>
          <a:prstGeom prst="rect">
            <a:avLst/>
          </a:prstGeom>
          <a:pattFill prst="lgConfetti">
            <a:fgClr>
              <a:schemeClr val="hlink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689" name="Line 9"/>
          <p:cNvSpPr>
            <a:spLocks noChangeShapeType="1"/>
          </p:cNvSpPr>
          <p:nvPr/>
        </p:nvSpPr>
        <p:spPr bwMode="auto">
          <a:xfrm>
            <a:off x="3276600" y="144780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690" name="Rectangle 10"/>
          <p:cNvSpPr>
            <a:spLocks noChangeArrowheads="1"/>
          </p:cNvSpPr>
          <p:nvPr/>
        </p:nvSpPr>
        <p:spPr bwMode="auto">
          <a:xfrm>
            <a:off x="2803525" y="2284413"/>
            <a:ext cx="265113" cy="349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 </a:t>
            </a:r>
          </a:p>
        </p:txBody>
      </p:sp>
      <p:sp>
        <p:nvSpPr>
          <p:cNvPr id="1095691" name="Line 11"/>
          <p:cNvSpPr>
            <a:spLocks noChangeShapeType="1"/>
          </p:cNvSpPr>
          <p:nvPr/>
        </p:nvSpPr>
        <p:spPr bwMode="auto">
          <a:xfrm>
            <a:off x="2590800" y="144780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692" name="Rectangle 12"/>
          <p:cNvSpPr>
            <a:spLocks noChangeArrowheads="1"/>
          </p:cNvSpPr>
          <p:nvPr/>
        </p:nvSpPr>
        <p:spPr bwMode="auto">
          <a:xfrm>
            <a:off x="2422525" y="1249363"/>
            <a:ext cx="8302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Tag</a:t>
            </a:r>
          </a:p>
        </p:txBody>
      </p:sp>
      <p:sp>
        <p:nvSpPr>
          <p:cNvPr id="1095693" name="Rectangle 13"/>
          <p:cNvSpPr>
            <a:spLocks noChangeArrowheads="1"/>
          </p:cNvSpPr>
          <p:nvPr/>
        </p:nvSpPr>
        <p:spPr bwMode="auto">
          <a:xfrm>
            <a:off x="3336925" y="1249363"/>
            <a:ext cx="15541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Data Block</a:t>
            </a:r>
          </a:p>
        </p:txBody>
      </p:sp>
      <p:sp>
        <p:nvSpPr>
          <p:cNvPr id="1095694" name="Rectangle 14"/>
          <p:cNvSpPr>
            <a:spLocks noChangeArrowheads="1"/>
          </p:cNvSpPr>
          <p:nvPr/>
        </p:nvSpPr>
        <p:spPr bwMode="auto">
          <a:xfrm>
            <a:off x="2117725" y="1249363"/>
            <a:ext cx="534988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V</a:t>
            </a:r>
          </a:p>
        </p:txBody>
      </p:sp>
      <p:sp>
        <p:nvSpPr>
          <p:cNvPr id="1095695" name="Rectangle 15"/>
          <p:cNvSpPr>
            <a:spLocks noChangeArrowheads="1"/>
          </p:cNvSpPr>
          <p:nvPr/>
        </p:nvSpPr>
        <p:spPr bwMode="auto">
          <a:xfrm>
            <a:off x="1079500" y="1460500"/>
            <a:ext cx="508000" cy="431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95696" name="Group 16"/>
          <p:cNvGrpSpPr>
            <a:grpSpLocks/>
          </p:cNvGrpSpPr>
          <p:nvPr/>
        </p:nvGrpSpPr>
        <p:grpSpPr bwMode="auto">
          <a:xfrm>
            <a:off x="3744913" y="2493963"/>
            <a:ext cx="473075" cy="327025"/>
            <a:chOff x="2359" y="1571"/>
            <a:chExt cx="298" cy="206"/>
          </a:xfrm>
        </p:grpSpPr>
        <p:sp>
          <p:nvSpPr>
            <p:cNvPr id="1095697" name="Line 17"/>
            <p:cNvSpPr>
              <a:spLocks noChangeShapeType="1"/>
            </p:cNvSpPr>
            <p:nvPr/>
          </p:nvSpPr>
          <p:spPr bwMode="auto">
            <a:xfrm>
              <a:off x="2359" y="1572"/>
              <a:ext cx="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698" name="Line 18"/>
            <p:cNvSpPr>
              <a:spLocks noChangeShapeType="1"/>
            </p:cNvSpPr>
            <p:nvPr/>
          </p:nvSpPr>
          <p:spPr bwMode="auto">
            <a:xfrm>
              <a:off x="2359" y="1774"/>
              <a:ext cx="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699" name="Line 19"/>
            <p:cNvSpPr>
              <a:spLocks noChangeShapeType="1"/>
            </p:cNvSpPr>
            <p:nvPr/>
          </p:nvSpPr>
          <p:spPr bwMode="auto">
            <a:xfrm>
              <a:off x="2361" y="1571"/>
              <a:ext cx="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00" name="Arc 20"/>
            <p:cNvSpPr>
              <a:spLocks/>
            </p:cNvSpPr>
            <p:nvPr/>
          </p:nvSpPr>
          <p:spPr bwMode="auto">
            <a:xfrm>
              <a:off x="2562" y="1572"/>
              <a:ext cx="94" cy="10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599"/>
                <a:gd name="T1" fmla="*/ 0 h 21600"/>
                <a:gd name="T2" fmla="*/ 21599 w 21599"/>
                <a:gd name="T3" fmla="*/ 21395 h 21600"/>
                <a:gd name="T4" fmla="*/ 0 w 2159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9" h="21600" fill="none" extrusionOk="0">
                  <a:moveTo>
                    <a:pt x="-1" y="0"/>
                  </a:moveTo>
                  <a:cubicBezTo>
                    <a:pt x="11849" y="0"/>
                    <a:pt x="21486" y="9546"/>
                    <a:pt x="21599" y="21394"/>
                  </a:cubicBezTo>
                </a:path>
                <a:path w="21599" h="21600" stroke="0" extrusionOk="0">
                  <a:moveTo>
                    <a:pt x="-1" y="0"/>
                  </a:moveTo>
                  <a:cubicBezTo>
                    <a:pt x="11849" y="0"/>
                    <a:pt x="21486" y="9546"/>
                    <a:pt x="21599" y="2139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01" name="Arc 21"/>
            <p:cNvSpPr>
              <a:spLocks/>
            </p:cNvSpPr>
            <p:nvPr/>
          </p:nvSpPr>
          <p:spPr bwMode="auto">
            <a:xfrm>
              <a:off x="2563" y="1670"/>
              <a:ext cx="94" cy="107"/>
            </a:xfrm>
            <a:custGeom>
              <a:avLst/>
              <a:gdLst>
                <a:gd name="G0" fmla="+- 0 0 0"/>
                <a:gd name="G1" fmla="+- 205 0 0"/>
                <a:gd name="G2" fmla="+- 21600 0 0"/>
                <a:gd name="T0" fmla="*/ 21599 w 21600"/>
                <a:gd name="T1" fmla="*/ 0 h 21805"/>
                <a:gd name="T2" fmla="*/ 0 w 21600"/>
                <a:gd name="T3" fmla="*/ 21805 h 21805"/>
                <a:gd name="T4" fmla="*/ 0 w 21600"/>
                <a:gd name="T5" fmla="*/ 205 h 218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805" fill="none" extrusionOk="0">
                  <a:moveTo>
                    <a:pt x="21599" y="-1"/>
                  </a:moveTo>
                  <a:cubicBezTo>
                    <a:pt x="21599" y="68"/>
                    <a:pt x="21600" y="136"/>
                    <a:pt x="21600" y="205"/>
                  </a:cubicBezTo>
                  <a:cubicBezTo>
                    <a:pt x="21600" y="12134"/>
                    <a:pt x="11929" y="21804"/>
                    <a:pt x="0" y="21805"/>
                  </a:cubicBezTo>
                </a:path>
                <a:path w="21600" h="21805" stroke="0" extrusionOk="0">
                  <a:moveTo>
                    <a:pt x="21599" y="-1"/>
                  </a:moveTo>
                  <a:cubicBezTo>
                    <a:pt x="21599" y="68"/>
                    <a:pt x="21600" y="136"/>
                    <a:pt x="21600" y="205"/>
                  </a:cubicBezTo>
                  <a:cubicBezTo>
                    <a:pt x="21600" y="12134"/>
                    <a:pt x="11929" y="21804"/>
                    <a:pt x="0" y="21805"/>
                  </a:cubicBezTo>
                  <a:lnTo>
                    <a:pt x="0" y="205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5702" name="Oval 22"/>
          <p:cNvSpPr>
            <a:spLocks noChangeArrowheads="1"/>
          </p:cNvSpPr>
          <p:nvPr/>
        </p:nvSpPr>
        <p:spPr bwMode="auto">
          <a:xfrm>
            <a:off x="2706688" y="2298700"/>
            <a:ext cx="508000" cy="5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03" name="Rectangle 23"/>
          <p:cNvSpPr>
            <a:spLocks noChangeArrowheads="1"/>
          </p:cNvSpPr>
          <p:nvPr/>
        </p:nvSpPr>
        <p:spPr bwMode="auto">
          <a:xfrm>
            <a:off x="2740025" y="2354263"/>
            <a:ext cx="48101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=</a:t>
            </a:r>
          </a:p>
        </p:txBody>
      </p:sp>
      <p:sp>
        <p:nvSpPr>
          <p:cNvPr id="1095704" name="Rectangle 24"/>
          <p:cNvSpPr>
            <a:spLocks noChangeArrowheads="1"/>
          </p:cNvSpPr>
          <p:nvPr/>
        </p:nvSpPr>
        <p:spPr bwMode="auto">
          <a:xfrm rot="16200000">
            <a:off x="955676" y="5080000"/>
            <a:ext cx="7937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Verdana" pitchFamily="32" charset="0"/>
              </a:rPr>
              <a:t>Block</a:t>
            </a:r>
          </a:p>
          <a:p>
            <a:pPr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Verdana" pitchFamily="32" charset="0"/>
              </a:rPr>
              <a:t>Offset</a:t>
            </a:r>
          </a:p>
        </p:txBody>
      </p:sp>
      <p:sp>
        <p:nvSpPr>
          <p:cNvPr id="1095705" name="Rectangle 25"/>
          <p:cNvSpPr>
            <a:spLocks noChangeArrowheads="1"/>
          </p:cNvSpPr>
          <p:nvPr/>
        </p:nvSpPr>
        <p:spPr bwMode="auto">
          <a:xfrm rot="16200000">
            <a:off x="942976" y="3422650"/>
            <a:ext cx="830262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Tag</a:t>
            </a:r>
          </a:p>
        </p:txBody>
      </p:sp>
      <p:sp>
        <p:nvSpPr>
          <p:cNvPr id="1095706" name="Line 26"/>
          <p:cNvSpPr>
            <a:spLocks noChangeShapeType="1"/>
          </p:cNvSpPr>
          <p:nvPr/>
        </p:nvSpPr>
        <p:spPr bwMode="auto">
          <a:xfrm>
            <a:off x="2438400" y="18288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07" name="Line 27"/>
          <p:cNvSpPr>
            <a:spLocks noChangeShapeType="1"/>
          </p:cNvSpPr>
          <p:nvPr/>
        </p:nvSpPr>
        <p:spPr bwMode="auto">
          <a:xfrm>
            <a:off x="2971800" y="18288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08" name="Line 28"/>
          <p:cNvSpPr>
            <a:spLocks noChangeShapeType="1"/>
          </p:cNvSpPr>
          <p:nvPr/>
        </p:nvSpPr>
        <p:spPr bwMode="auto">
          <a:xfrm>
            <a:off x="2057400" y="2514600"/>
            <a:ext cx="0" cy="320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09" name="Line 29"/>
          <p:cNvSpPr>
            <a:spLocks noChangeShapeType="1"/>
          </p:cNvSpPr>
          <p:nvPr/>
        </p:nvSpPr>
        <p:spPr bwMode="auto">
          <a:xfrm flipH="1">
            <a:off x="2057400" y="25146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10" name="Oval 30"/>
          <p:cNvSpPr>
            <a:spLocks noChangeArrowheads="1"/>
          </p:cNvSpPr>
          <p:nvPr/>
        </p:nvSpPr>
        <p:spPr bwMode="auto">
          <a:xfrm>
            <a:off x="2408238" y="17954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11" name="Oval 31"/>
          <p:cNvSpPr>
            <a:spLocks noChangeArrowheads="1"/>
          </p:cNvSpPr>
          <p:nvPr/>
        </p:nvSpPr>
        <p:spPr bwMode="auto">
          <a:xfrm>
            <a:off x="2943225" y="17954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12" name="Oval 32"/>
          <p:cNvSpPr>
            <a:spLocks noChangeArrowheads="1"/>
          </p:cNvSpPr>
          <p:nvPr/>
        </p:nvSpPr>
        <p:spPr bwMode="auto">
          <a:xfrm>
            <a:off x="3775075" y="17954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13" name="Line 33"/>
          <p:cNvSpPr>
            <a:spLocks noChangeShapeType="1"/>
          </p:cNvSpPr>
          <p:nvPr/>
        </p:nvSpPr>
        <p:spPr bwMode="auto">
          <a:xfrm flipH="1">
            <a:off x="1752600" y="40386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14" name="Line 34"/>
          <p:cNvSpPr>
            <a:spLocks noChangeShapeType="1"/>
          </p:cNvSpPr>
          <p:nvPr/>
        </p:nvSpPr>
        <p:spPr bwMode="auto">
          <a:xfrm flipH="1">
            <a:off x="1219200" y="59436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15" name="Rectangle 35"/>
          <p:cNvSpPr>
            <a:spLocks noChangeArrowheads="1"/>
          </p:cNvSpPr>
          <p:nvPr/>
        </p:nvSpPr>
        <p:spPr bwMode="auto">
          <a:xfrm>
            <a:off x="1660525" y="3687763"/>
            <a:ext cx="3730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t</a:t>
            </a:r>
          </a:p>
        </p:txBody>
      </p:sp>
      <p:sp>
        <p:nvSpPr>
          <p:cNvPr id="1095716" name="Rectangle 36"/>
          <p:cNvSpPr>
            <a:spLocks noChangeArrowheads="1"/>
          </p:cNvSpPr>
          <p:nvPr/>
        </p:nvSpPr>
        <p:spPr bwMode="auto">
          <a:xfrm>
            <a:off x="1279525" y="5821363"/>
            <a:ext cx="43180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b</a:t>
            </a:r>
          </a:p>
        </p:txBody>
      </p:sp>
      <p:sp>
        <p:nvSpPr>
          <p:cNvPr id="1095717" name="Rectangle 37"/>
          <p:cNvSpPr>
            <a:spLocks noChangeArrowheads="1"/>
          </p:cNvSpPr>
          <p:nvPr/>
        </p:nvSpPr>
        <p:spPr bwMode="auto">
          <a:xfrm>
            <a:off x="7756525" y="4449763"/>
            <a:ext cx="6381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HIT</a:t>
            </a:r>
          </a:p>
        </p:txBody>
      </p:sp>
      <p:sp>
        <p:nvSpPr>
          <p:cNvPr id="1095718" name="Line 38"/>
          <p:cNvSpPr>
            <a:spLocks noChangeShapeType="1"/>
          </p:cNvSpPr>
          <p:nvPr/>
        </p:nvSpPr>
        <p:spPr bwMode="auto">
          <a:xfrm flipH="1">
            <a:off x="5486400" y="2667000"/>
            <a:ext cx="160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19" name="Rectangle 39"/>
          <p:cNvSpPr>
            <a:spLocks noChangeArrowheads="1"/>
          </p:cNvSpPr>
          <p:nvPr/>
        </p:nvSpPr>
        <p:spPr bwMode="auto">
          <a:xfrm>
            <a:off x="6240463" y="5211763"/>
            <a:ext cx="1111250" cy="1020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Data</a:t>
            </a:r>
          </a:p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Word</a:t>
            </a:r>
          </a:p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or Byte</a:t>
            </a:r>
          </a:p>
        </p:txBody>
      </p:sp>
      <p:sp>
        <p:nvSpPr>
          <p:cNvPr id="1095720" name="Line 40"/>
          <p:cNvSpPr>
            <a:spLocks noChangeShapeType="1"/>
          </p:cNvSpPr>
          <p:nvPr/>
        </p:nvSpPr>
        <p:spPr bwMode="auto">
          <a:xfrm flipH="1">
            <a:off x="3200400" y="251460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21" name="Line 41"/>
          <p:cNvSpPr>
            <a:spLocks noChangeShapeType="1"/>
          </p:cNvSpPr>
          <p:nvPr/>
        </p:nvSpPr>
        <p:spPr bwMode="auto">
          <a:xfrm flipH="1">
            <a:off x="2438400" y="28956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22" name="Line 42"/>
          <p:cNvSpPr>
            <a:spLocks noChangeShapeType="1"/>
          </p:cNvSpPr>
          <p:nvPr/>
        </p:nvSpPr>
        <p:spPr bwMode="auto">
          <a:xfrm>
            <a:off x="2438400" y="25908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23" name="Line 43"/>
          <p:cNvSpPr>
            <a:spLocks noChangeShapeType="1"/>
          </p:cNvSpPr>
          <p:nvPr/>
        </p:nvSpPr>
        <p:spPr bwMode="auto">
          <a:xfrm>
            <a:off x="3505200" y="25146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24" name="Line 44"/>
          <p:cNvSpPr>
            <a:spLocks noChangeShapeType="1"/>
          </p:cNvSpPr>
          <p:nvPr/>
        </p:nvSpPr>
        <p:spPr bwMode="auto">
          <a:xfrm flipH="1">
            <a:off x="3505200" y="25908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25" name="Line 45"/>
          <p:cNvSpPr>
            <a:spLocks noChangeShapeType="1"/>
          </p:cNvSpPr>
          <p:nvPr/>
        </p:nvSpPr>
        <p:spPr bwMode="auto">
          <a:xfrm flipH="1">
            <a:off x="3505200" y="27432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26" name="Line 46"/>
          <p:cNvSpPr>
            <a:spLocks noChangeShapeType="1"/>
          </p:cNvSpPr>
          <p:nvPr/>
        </p:nvSpPr>
        <p:spPr bwMode="auto">
          <a:xfrm>
            <a:off x="3505200" y="27432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27" name="Rectangle 47" descr="Large confetti"/>
          <p:cNvSpPr>
            <a:spLocks noChangeArrowheads="1"/>
          </p:cNvSpPr>
          <p:nvPr/>
        </p:nvSpPr>
        <p:spPr bwMode="auto">
          <a:xfrm>
            <a:off x="2298700" y="3213100"/>
            <a:ext cx="2413000" cy="355600"/>
          </a:xfrm>
          <a:prstGeom prst="rect">
            <a:avLst/>
          </a:prstGeom>
          <a:pattFill prst="lgConfetti">
            <a:fgClr>
              <a:schemeClr val="hlink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28" name="Rectangle 48"/>
          <p:cNvSpPr>
            <a:spLocks noChangeArrowheads="1"/>
          </p:cNvSpPr>
          <p:nvPr/>
        </p:nvSpPr>
        <p:spPr bwMode="auto">
          <a:xfrm>
            <a:off x="2803525" y="3884613"/>
            <a:ext cx="265113" cy="349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 </a:t>
            </a:r>
          </a:p>
        </p:txBody>
      </p:sp>
      <p:grpSp>
        <p:nvGrpSpPr>
          <p:cNvPr id="1095729" name="Group 49"/>
          <p:cNvGrpSpPr>
            <a:grpSpLocks/>
          </p:cNvGrpSpPr>
          <p:nvPr/>
        </p:nvGrpSpPr>
        <p:grpSpPr bwMode="auto">
          <a:xfrm>
            <a:off x="3744913" y="4094163"/>
            <a:ext cx="473075" cy="327025"/>
            <a:chOff x="2359" y="2579"/>
            <a:chExt cx="298" cy="206"/>
          </a:xfrm>
        </p:grpSpPr>
        <p:sp>
          <p:nvSpPr>
            <p:cNvPr id="1095730" name="Line 50"/>
            <p:cNvSpPr>
              <a:spLocks noChangeShapeType="1"/>
            </p:cNvSpPr>
            <p:nvPr/>
          </p:nvSpPr>
          <p:spPr bwMode="auto">
            <a:xfrm>
              <a:off x="2359" y="2580"/>
              <a:ext cx="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31" name="Line 51"/>
            <p:cNvSpPr>
              <a:spLocks noChangeShapeType="1"/>
            </p:cNvSpPr>
            <p:nvPr/>
          </p:nvSpPr>
          <p:spPr bwMode="auto">
            <a:xfrm>
              <a:off x="2359" y="2782"/>
              <a:ext cx="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32" name="Line 52"/>
            <p:cNvSpPr>
              <a:spLocks noChangeShapeType="1"/>
            </p:cNvSpPr>
            <p:nvPr/>
          </p:nvSpPr>
          <p:spPr bwMode="auto">
            <a:xfrm>
              <a:off x="2361" y="2579"/>
              <a:ext cx="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33" name="Arc 53"/>
            <p:cNvSpPr>
              <a:spLocks/>
            </p:cNvSpPr>
            <p:nvPr/>
          </p:nvSpPr>
          <p:spPr bwMode="auto">
            <a:xfrm>
              <a:off x="2562" y="2580"/>
              <a:ext cx="94" cy="10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599"/>
                <a:gd name="T1" fmla="*/ 0 h 21600"/>
                <a:gd name="T2" fmla="*/ 21599 w 21599"/>
                <a:gd name="T3" fmla="*/ 21395 h 21600"/>
                <a:gd name="T4" fmla="*/ 0 w 2159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9" h="21600" fill="none" extrusionOk="0">
                  <a:moveTo>
                    <a:pt x="-1" y="0"/>
                  </a:moveTo>
                  <a:cubicBezTo>
                    <a:pt x="11849" y="0"/>
                    <a:pt x="21486" y="9546"/>
                    <a:pt x="21599" y="21394"/>
                  </a:cubicBezTo>
                </a:path>
                <a:path w="21599" h="21600" stroke="0" extrusionOk="0">
                  <a:moveTo>
                    <a:pt x="-1" y="0"/>
                  </a:moveTo>
                  <a:cubicBezTo>
                    <a:pt x="11849" y="0"/>
                    <a:pt x="21486" y="9546"/>
                    <a:pt x="21599" y="2139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34" name="Arc 54"/>
            <p:cNvSpPr>
              <a:spLocks/>
            </p:cNvSpPr>
            <p:nvPr/>
          </p:nvSpPr>
          <p:spPr bwMode="auto">
            <a:xfrm>
              <a:off x="2563" y="2678"/>
              <a:ext cx="94" cy="107"/>
            </a:xfrm>
            <a:custGeom>
              <a:avLst/>
              <a:gdLst>
                <a:gd name="G0" fmla="+- 0 0 0"/>
                <a:gd name="G1" fmla="+- 205 0 0"/>
                <a:gd name="G2" fmla="+- 21600 0 0"/>
                <a:gd name="T0" fmla="*/ 21599 w 21600"/>
                <a:gd name="T1" fmla="*/ 0 h 21805"/>
                <a:gd name="T2" fmla="*/ 0 w 21600"/>
                <a:gd name="T3" fmla="*/ 21805 h 21805"/>
                <a:gd name="T4" fmla="*/ 0 w 21600"/>
                <a:gd name="T5" fmla="*/ 205 h 218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805" fill="none" extrusionOk="0">
                  <a:moveTo>
                    <a:pt x="21599" y="-1"/>
                  </a:moveTo>
                  <a:cubicBezTo>
                    <a:pt x="21599" y="68"/>
                    <a:pt x="21600" y="136"/>
                    <a:pt x="21600" y="205"/>
                  </a:cubicBezTo>
                  <a:cubicBezTo>
                    <a:pt x="21600" y="12134"/>
                    <a:pt x="11929" y="21804"/>
                    <a:pt x="0" y="21805"/>
                  </a:cubicBezTo>
                </a:path>
                <a:path w="21600" h="21805" stroke="0" extrusionOk="0">
                  <a:moveTo>
                    <a:pt x="21599" y="-1"/>
                  </a:moveTo>
                  <a:cubicBezTo>
                    <a:pt x="21599" y="68"/>
                    <a:pt x="21600" y="136"/>
                    <a:pt x="21600" y="205"/>
                  </a:cubicBezTo>
                  <a:cubicBezTo>
                    <a:pt x="21600" y="12134"/>
                    <a:pt x="11929" y="21804"/>
                    <a:pt x="0" y="21805"/>
                  </a:cubicBezTo>
                  <a:lnTo>
                    <a:pt x="0" y="205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5735" name="Oval 55"/>
          <p:cNvSpPr>
            <a:spLocks noChangeArrowheads="1"/>
          </p:cNvSpPr>
          <p:nvPr/>
        </p:nvSpPr>
        <p:spPr bwMode="auto">
          <a:xfrm>
            <a:off x="2706688" y="3898900"/>
            <a:ext cx="508000" cy="5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36" name="Rectangle 56"/>
          <p:cNvSpPr>
            <a:spLocks noChangeArrowheads="1"/>
          </p:cNvSpPr>
          <p:nvPr/>
        </p:nvSpPr>
        <p:spPr bwMode="auto">
          <a:xfrm>
            <a:off x="2740025" y="3954463"/>
            <a:ext cx="48101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=</a:t>
            </a:r>
          </a:p>
        </p:txBody>
      </p:sp>
      <p:sp>
        <p:nvSpPr>
          <p:cNvPr id="1095737" name="Line 57"/>
          <p:cNvSpPr>
            <a:spLocks noChangeShapeType="1"/>
          </p:cNvSpPr>
          <p:nvPr/>
        </p:nvSpPr>
        <p:spPr bwMode="auto">
          <a:xfrm>
            <a:off x="2438400" y="34290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38" name="Line 58"/>
          <p:cNvSpPr>
            <a:spLocks noChangeShapeType="1"/>
          </p:cNvSpPr>
          <p:nvPr/>
        </p:nvSpPr>
        <p:spPr bwMode="auto">
          <a:xfrm>
            <a:off x="2971800" y="34290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39" name="Line 59"/>
          <p:cNvSpPr>
            <a:spLocks noChangeShapeType="1"/>
          </p:cNvSpPr>
          <p:nvPr/>
        </p:nvSpPr>
        <p:spPr bwMode="auto">
          <a:xfrm flipH="1">
            <a:off x="1600200" y="41148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40" name="Oval 60"/>
          <p:cNvSpPr>
            <a:spLocks noChangeArrowheads="1"/>
          </p:cNvSpPr>
          <p:nvPr/>
        </p:nvSpPr>
        <p:spPr bwMode="auto">
          <a:xfrm>
            <a:off x="2408238" y="33956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41" name="Oval 61"/>
          <p:cNvSpPr>
            <a:spLocks noChangeArrowheads="1"/>
          </p:cNvSpPr>
          <p:nvPr/>
        </p:nvSpPr>
        <p:spPr bwMode="auto">
          <a:xfrm>
            <a:off x="2943225" y="33956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42" name="Oval 62"/>
          <p:cNvSpPr>
            <a:spLocks noChangeArrowheads="1"/>
          </p:cNvSpPr>
          <p:nvPr/>
        </p:nvSpPr>
        <p:spPr bwMode="auto">
          <a:xfrm>
            <a:off x="3775075" y="33956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43" name="Line 63"/>
          <p:cNvSpPr>
            <a:spLocks noChangeShapeType="1"/>
          </p:cNvSpPr>
          <p:nvPr/>
        </p:nvSpPr>
        <p:spPr bwMode="auto">
          <a:xfrm flipH="1">
            <a:off x="5486400" y="4267200"/>
            <a:ext cx="182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44" name="Line 64"/>
          <p:cNvSpPr>
            <a:spLocks noChangeShapeType="1"/>
          </p:cNvSpPr>
          <p:nvPr/>
        </p:nvSpPr>
        <p:spPr bwMode="auto">
          <a:xfrm flipH="1">
            <a:off x="3200400" y="411480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45" name="Line 65"/>
          <p:cNvSpPr>
            <a:spLocks noChangeShapeType="1"/>
          </p:cNvSpPr>
          <p:nvPr/>
        </p:nvSpPr>
        <p:spPr bwMode="auto">
          <a:xfrm flipH="1">
            <a:off x="2438400" y="44958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46" name="Line 66"/>
          <p:cNvSpPr>
            <a:spLocks noChangeShapeType="1"/>
          </p:cNvSpPr>
          <p:nvPr/>
        </p:nvSpPr>
        <p:spPr bwMode="auto">
          <a:xfrm>
            <a:off x="2438400" y="41910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47" name="Line 67"/>
          <p:cNvSpPr>
            <a:spLocks noChangeShapeType="1"/>
          </p:cNvSpPr>
          <p:nvPr/>
        </p:nvSpPr>
        <p:spPr bwMode="auto">
          <a:xfrm>
            <a:off x="3505200" y="41148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48" name="Line 68"/>
          <p:cNvSpPr>
            <a:spLocks noChangeShapeType="1"/>
          </p:cNvSpPr>
          <p:nvPr/>
        </p:nvSpPr>
        <p:spPr bwMode="auto">
          <a:xfrm flipH="1">
            <a:off x="3505200" y="41910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49" name="Line 69"/>
          <p:cNvSpPr>
            <a:spLocks noChangeShapeType="1"/>
          </p:cNvSpPr>
          <p:nvPr/>
        </p:nvSpPr>
        <p:spPr bwMode="auto">
          <a:xfrm flipH="1">
            <a:off x="3505200" y="43434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50" name="Line 70"/>
          <p:cNvSpPr>
            <a:spLocks noChangeShapeType="1"/>
          </p:cNvSpPr>
          <p:nvPr/>
        </p:nvSpPr>
        <p:spPr bwMode="auto">
          <a:xfrm>
            <a:off x="3505200" y="43434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51" name="Line 71"/>
          <p:cNvSpPr>
            <a:spLocks noChangeShapeType="1"/>
          </p:cNvSpPr>
          <p:nvPr/>
        </p:nvSpPr>
        <p:spPr bwMode="auto">
          <a:xfrm>
            <a:off x="3276600" y="320040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52" name="Line 72"/>
          <p:cNvSpPr>
            <a:spLocks noChangeShapeType="1"/>
          </p:cNvSpPr>
          <p:nvPr/>
        </p:nvSpPr>
        <p:spPr bwMode="auto">
          <a:xfrm>
            <a:off x="2590800" y="320040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53" name="Rectangle 73" descr="Large confetti"/>
          <p:cNvSpPr>
            <a:spLocks noChangeArrowheads="1"/>
          </p:cNvSpPr>
          <p:nvPr/>
        </p:nvSpPr>
        <p:spPr bwMode="auto">
          <a:xfrm>
            <a:off x="2298700" y="4813300"/>
            <a:ext cx="2413000" cy="355600"/>
          </a:xfrm>
          <a:prstGeom prst="rect">
            <a:avLst/>
          </a:prstGeom>
          <a:pattFill prst="lgConfetti">
            <a:fgClr>
              <a:schemeClr val="hlink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54" name="Rectangle 74"/>
          <p:cNvSpPr>
            <a:spLocks noChangeArrowheads="1"/>
          </p:cNvSpPr>
          <p:nvPr/>
        </p:nvSpPr>
        <p:spPr bwMode="auto">
          <a:xfrm>
            <a:off x="2803525" y="5484813"/>
            <a:ext cx="265113" cy="349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 </a:t>
            </a:r>
          </a:p>
        </p:txBody>
      </p:sp>
      <p:grpSp>
        <p:nvGrpSpPr>
          <p:cNvPr id="1095755" name="Group 75"/>
          <p:cNvGrpSpPr>
            <a:grpSpLocks/>
          </p:cNvGrpSpPr>
          <p:nvPr/>
        </p:nvGrpSpPr>
        <p:grpSpPr bwMode="auto">
          <a:xfrm>
            <a:off x="3744913" y="5694363"/>
            <a:ext cx="473075" cy="327025"/>
            <a:chOff x="2359" y="3587"/>
            <a:chExt cx="298" cy="206"/>
          </a:xfrm>
        </p:grpSpPr>
        <p:sp>
          <p:nvSpPr>
            <p:cNvPr id="1095756" name="Line 76"/>
            <p:cNvSpPr>
              <a:spLocks noChangeShapeType="1"/>
            </p:cNvSpPr>
            <p:nvPr/>
          </p:nvSpPr>
          <p:spPr bwMode="auto">
            <a:xfrm>
              <a:off x="2359" y="3588"/>
              <a:ext cx="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57" name="Line 77"/>
            <p:cNvSpPr>
              <a:spLocks noChangeShapeType="1"/>
            </p:cNvSpPr>
            <p:nvPr/>
          </p:nvSpPr>
          <p:spPr bwMode="auto">
            <a:xfrm>
              <a:off x="2359" y="3790"/>
              <a:ext cx="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58" name="Line 78"/>
            <p:cNvSpPr>
              <a:spLocks noChangeShapeType="1"/>
            </p:cNvSpPr>
            <p:nvPr/>
          </p:nvSpPr>
          <p:spPr bwMode="auto">
            <a:xfrm>
              <a:off x="2361" y="3587"/>
              <a:ext cx="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59" name="Arc 79"/>
            <p:cNvSpPr>
              <a:spLocks/>
            </p:cNvSpPr>
            <p:nvPr/>
          </p:nvSpPr>
          <p:spPr bwMode="auto">
            <a:xfrm>
              <a:off x="2562" y="3588"/>
              <a:ext cx="94" cy="10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599"/>
                <a:gd name="T1" fmla="*/ 0 h 21600"/>
                <a:gd name="T2" fmla="*/ 21599 w 21599"/>
                <a:gd name="T3" fmla="*/ 21395 h 21600"/>
                <a:gd name="T4" fmla="*/ 0 w 2159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9" h="21600" fill="none" extrusionOk="0">
                  <a:moveTo>
                    <a:pt x="-1" y="0"/>
                  </a:moveTo>
                  <a:cubicBezTo>
                    <a:pt x="11849" y="0"/>
                    <a:pt x="21486" y="9546"/>
                    <a:pt x="21599" y="21394"/>
                  </a:cubicBezTo>
                </a:path>
                <a:path w="21599" h="21600" stroke="0" extrusionOk="0">
                  <a:moveTo>
                    <a:pt x="-1" y="0"/>
                  </a:moveTo>
                  <a:cubicBezTo>
                    <a:pt x="11849" y="0"/>
                    <a:pt x="21486" y="9546"/>
                    <a:pt x="21599" y="2139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60" name="Arc 80"/>
            <p:cNvSpPr>
              <a:spLocks/>
            </p:cNvSpPr>
            <p:nvPr/>
          </p:nvSpPr>
          <p:spPr bwMode="auto">
            <a:xfrm>
              <a:off x="2563" y="3686"/>
              <a:ext cx="94" cy="107"/>
            </a:xfrm>
            <a:custGeom>
              <a:avLst/>
              <a:gdLst>
                <a:gd name="G0" fmla="+- 0 0 0"/>
                <a:gd name="G1" fmla="+- 205 0 0"/>
                <a:gd name="G2" fmla="+- 21600 0 0"/>
                <a:gd name="T0" fmla="*/ 21599 w 21600"/>
                <a:gd name="T1" fmla="*/ 0 h 21805"/>
                <a:gd name="T2" fmla="*/ 0 w 21600"/>
                <a:gd name="T3" fmla="*/ 21805 h 21805"/>
                <a:gd name="T4" fmla="*/ 0 w 21600"/>
                <a:gd name="T5" fmla="*/ 205 h 218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805" fill="none" extrusionOk="0">
                  <a:moveTo>
                    <a:pt x="21599" y="-1"/>
                  </a:moveTo>
                  <a:cubicBezTo>
                    <a:pt x="21599" y="68"/>
                    <a:pt x="21600" y="136"/>
                    <a:pt x="21600" y="205"/>
                  </a:cubicBezTo>
                  <a:cubicBezTo>
                    <a:pt x="21600" y="12134"/>
                    <a:pt x="11929" y="21804"/>
                    <a:pt x="0" y="21805"/>
                  </a:cubicBezTo>
                </a:path>
                <a:path w="21600" h="21805" stroke="0" extrusionOk="0">
                  <a:moveTo>
                    <a:pt x="21599" y="-1"/>
                  </a:moveTo>
                  <a:cubicBezTo>
                    <a:pt x="21599" y="68"/>
                    <a:pt x="21600" y="136"/>
                    <a:pt x="21600" y="205"/>
                  </a:cubicBezTo>
                  <a:cubicBezTo>
                    <a:pt x="21600" y="12134"/>
                    <a:pt x="11929" y="21804"/>
                    <a:pt x="0" y="21805"/>
                  </a:cubicBezTo>
                  <a:lnTo>
                    <a:pt x="0" y="205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5761" name="Oval 81"/>
          <p:cNvSpPr>
            <a:spLocks noChangeArrowheads="1"/>
          </p:cNvSpPr>
          <p:nvPr/>
        </p:nvSpPr>
        <p:spPr bwMode="auto">
          <a:xfrm>
            <a:off x="2706688" y="5499100"/>
            <a:ext cx="508000" cy="5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62" name="Rectangle 82"/>
          <p:cNvSpPr>
            <a:spLocks noChangeArrowheads="1"/>
          </p:cNvSpPr>
          <p:nvPr/>
        </p:nvSpPr>
        <p:spPr bwMode="auto">
          <a:xfrm>
            <a:off x="2740025" y="5554663"/>
            <a:ext cx="48101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=</a:t>
            </a:r>
          </a:p>
        </p:txBody>
      </p:sp>
      <p:sp>
        <p:nvSpPr>
          <p:cNvPr id="1095763" name="Line 83"/>
          <p:cNvSpPr>
            <a:spLocks noChangeShapeType="1"/>
          </p:cNvSpPr>
          <p:nvPr/>
        </p:nvSpPr>
        <p:spPr bwMode="auto">
          <a:xfrm>
            <a:off x="2438400" y="50292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64" name="Line 84"/>
          <p:cNvSpPr>
            <a:spLocks noChangeShapeType="1"/>
          </p:cNvSpPr>
          <p:nvPr/>
        </p:nvSpPr>
        <p:spPr bwMode="auto">
          <a:xfrm>
            <a:off x="2971800" y="50292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65" name="Line 85"/>
          <p:cNvSpPr>
            <a:spLocks noChangeShapeType="1"/>
          </p:cNvSpPr>
          <p:nvPr/>
        </p:nvSpPr>
        <p:spPr bwMode="auto">
          <a:xfrm flipH="1">
            <a:off x="2057400" y="57150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66" name="Oval 86"/>
          <p:cNvSpPr>
            <a:spLocks noChangeArrowheads="1"/>
          </p:cNvSpPr>
          <p:nvPr/>
        </p:nvSpPr>
        <p:spPr bwMode="auto">
          <a:xfrm>
            <a:off x="2408238" y="49958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67" name="Oval 87"/>
          <p:cNvSpPr>
            <a:spLocks noChangeArrowheads="1"/>
          </p:cNvSpPr>
          <p:nvPr/>
        </p:nvSpPr>
        <p:spPr bwMode="auto">
          <a:xfrm>
            <a:off x="2943225" y="49958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68" name="Oval 88"/>
          <p:cNvSpPr>
            <a:spLocks noChangeArrowheads="1"/>
          </p:cNvSpPr>
          <p:nvPr/>
        </p:nvSpPr>
        <p:spPr bwMode="auto">
          <a:xfrm>
            <a:off x="3775075" y="49958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69" name="Line 89"/>
          <p:cNvSpPr>
            <a:spLocks noChangeShapeType="1"/>
          </p:cNvSpPr>
          <p:nvPr/>
        </p:nvSpPr>
        <p:spPr bwMode="auto">
          <a:xfrm flipH="1">
            <a:off x="6096000" y="5867400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0" name="Line 90"/>
          <p:cNvSpPr>
            <a:spLocks noChangeShapeType="1"/>
          </p:cNvSpPr>
          <p:nvPr/>
        </p:nvSpPr>
        <p:spPr bwMode="auto">
          <a:xfrm flipH="1">
            <a:off x="3200400" y="571500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1" name="Line 91"/>
          <p:cNvSpPr>
            <a:spLocks noChangeShapeType="1"/>
          </p:cNvSpPr>
          <p:nvPr/>
        </p:nvSpPr>
        <p:spPr bwMode="auto">
          <a:xfrm flipH="1">
            <a:off x="2438400" y="60960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2" name="Line 92"/>
          <p:cNvSpPr>
            <a:spLocks noChangeShapeType="1"/>
          </p:cNvSpPr>
          <p:nvPr/>
        </p:nvSpPr>
        <p:spPr bwMode="auto">
          <a:xfrm>
            <a:off x="2438400" y="57912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3" name="Line 93"/>
          <p:cNvSpPr>
            <a:spLocks noChangeShapeType="1"/>
          </p:cNvSpPr>
          <p:nvPr/>
        </p:nvSpPr>
        <p:spPr bwMode="auto">
          <a:xfrm>
            <a:off x="3505200" y="57150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4" name="Line 94"/>
          <p:cNvSpPr>
            <a:spLocks noChangeShapeType="1"/>
          </p:cNvSpPr>
          <p:nvPr/>
        </p:nvSpPr>
        <p:spPr bwMode="auto">
          <a:xfrm flipH="1">
            <a:off x="3505200" y="57912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5" name="Line 95"/>
          <p:cNvSpPr>
            <a:spLocks noChangeShapeType="1"/>
          </p:cNvSpPr>
          <p:nvPr/>
        </p:nvSpPr>
        <p:spPr bwMode="auto">
          <a:xfrm flipH="1">
            <a:off x="3505200" y="59436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6" name="Line 96"/>
          <p:cNvSpPr>
            <a:spLocks noChangeShapeType="1"/>
          </p:cNvSpPr>
          <p:nvPr/>
        </p:nvSpPr>
        <p:spPr bwMode="auto">
          <a:xfrm>
            <a:off x="3505200" y="59436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7" name="Line 97"/>
          <p:cNvSpPr>
            <a:spLocks noChangeShapeType="1"/>
          </p:cNvSpPr>
          <p:nvPr/>
        </p:nvSpPr>
        <p:spPr bwMode="auto">
          <a:xfrm>
            <a:off x="3276600" y="480060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8" name="Line 98"/>
          <p:cNvSpPr>
            <a:spLocks noChangeShapeType="1"/>
          </p:cNvSpPr>
          <p:nvPr/>
        </p:nvSpPr>
        <p:spPr bwMode="auto">
          <a:xfrm>
            <a:off x="2590800" y="480060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9" name="Line 99"/>
          <p:cNvSpPr>
            <a:spLocks noChangeShapeType="1"/>
          </p:cNvSpPr>
          <p:nvPr/>
        </p:nvSpPr>
        <p:spPr bwMode="auto">
          <a:xfrm>
            <a:off x="1066800" y="495300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80" name="Line 100"/>
          <p:cNvSpPr>
            <a:spLocks noChangeShapeType="1"/>
          </p:cNvSpPr>
          <p:nvPr/>
        </p:nvSpPr>
        <p:spPr bwMode="auto">
          <a:xfrm flipH="1">
            <a:off x="3810000" y="3429000"/>
            <a:ext cx="1143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81" name="Line 101"/>
          <p:cNvSpPr>
            <a:spLocks noChangeShapeType="1"/>
          </p:cNvSpPr>
          <p:nvPr/>
        </p:nvSpPr>
        <p:spPr bwMode="auto">
          <a:xfrm flipH="1">
            <a:off x="3810000" y="5029200"/>
            <a:ext cx="1143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82" name="Line 102"/>
          <p:cNvSpPr>
            <a:spLocks noChangeShapeType="1"/>
          </p:cNvSpPr>
          <p:nvPr/>
        </p:nvSpPr>
        <p:spPr bwMode="auto">
          <a:xfrm>
            <a:off x="5410200" y="1676400"/>
            <a:ext cx="0" cy="3886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83" name="AutoShape 103"/>
          <p:cNvSpPr>
            <a:spLocks noChangeArrowheads="1"/>
          </p:cNvSpPr>
          <p:nvPr/>
        </p:nvSpPr>
        <p:spPr bwMode="auto">
          <a:xfrm rot="5400000" flipV="1">
            <a:off x="5422901" y="5043487"/>
            <a:ext cx="1117600" cy="276225"/>
          </a:xfrm>
          <a:custGeom>
            <a:avLst/>
            <a:gdLst>
              <a:gd name="G0" fmla="+- 5399 0 0"/>
              <a:gd name="G1" fmla="+- 21600 0 5399"/>
              <a:gd name="G2" fmla="*/ 5399 1 2"/>
              <a:gd name="G3" fmla="+- 21600 0 G2"/>
              <a:gd name="G4" fmla="+/ 5399 21600 2"/>
              <a:gd name="G5" fmla="+/ G1 0 2"/>
              <a:gd name="G6" fmla="*/ 21600 21600 5399"/>
              <a:gd name="G7" fmla="*/ G6 1 2"/>
              <a:gd name="G8" fmla="+- 21600 0 G7"/>
              <a:gd name="G9" fmla="*/ 21600 1 2"/>
              <a:gd name="G10" fmla="+- 5399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399" y="21600"/>
                </a:lnTo>
                <a:lnTo>
                  <a:pt x="1620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84" name="Line 104"/>
          <p:cNvSpPr>
            <a:spLocks noChangeShapeType="1"/>
          </p:cNvSpPr>
          <p:nvPr/>
        </p:nvSpPr>
        <p:spPr bwMode="auto">
          <a:xfrm>
            <a:off x="1295400" y="579120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85" name="Line 105"/>
          <p:cNvSpPr>
            <a:spLocks noChangeShapeType="1"/>
          </p:cNvSpPr>
          <p:nvPr/>
        </p:nvSpPr>
        <p:spPr bwMode="auto">
          <a:xfrm>
            <a:off x="1295400" y="6324600"/>
            <a:ext cx="472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86" name="Line 106"/>
          <p:cNvSpPr>
            <a:spLocks noChangeShapeType="1"/>
          </p:cNvSpPr>
          <p:nvPr/>
        </p:nvSpPr>
        <p:spPr bwMode="auto">
          <a:xfrm flipV="1">
            <a:off x="6019800" y="5562600"/>
            <a:ext cx="0" cy="76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87" name="Line 107"/>
          <p:cNvSpPr>
            <a:spLocks noChangeShapeType="1"/>
          </p:cNvSpPr>
          <p:nvPr/>
        </p:nvSpPr>
        <p:spPr bwMode="auto">
          <a:xfrm flipH="1">
            <a:off x="3810000" y="1828800"/>
            <a:ext cx="1143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95788" name="Group 108"/>
          <p:cNvGrpSpPr>
            <a:grpSpLocks/>
          </p:cNvGrpSpPr>
          <p:nvPr/>
        </p:nvGrpSpPr>
        <p:grpSpPr bwMode="auto">
          <a:xfrm>
            <a:off x="4960938" y="3268663"/>
            <a:ext cx="215900" cy="279400"/>
            <a:chOff x="3125" y="2059"/>
            <a:chExt cx="136" cy="176"/>
          </a:xfrm>
        </p:grpSpPr>
        <p:sp>
          <p:nvSpPr>
            <p:cNvPr id="1095789" name="Line 109"/>
            <p:cNvSpPr>
              <a:spLocks noChangeShapeType="1"/>
            </p:cNvSpPr>
            <p:nvPr/>
          </p:nvSpPr>
          <p:spPr bwMode="auto">
            <a:xfrm>
              <a:off x="3128" y="2059"/>
              <a:ext cx="133" cy="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90" name="Line 110"/>
            <p:cNvSpPr>
              <a:spLocks noChangeShapeType="1"/>
            </p:cNvSpPr>
            <p:nvPr/>
          </p:nvSpPr>
          <p:spPr bwMode="auto">
            <a:xfrm flipV="1">
              <a:off x="3128" y="2143"/>
              <a:ext cx="133" cy="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91" name="Line 111"/>
            <p:cNvSpPr>
              <a:spLocks noChangeShapeType="1"/>
            </p:cNvSpPr>
            <p:nvPr/>
          </p:nvSpPr>
          <p:spPr bwMode="auto">
            <a:xfrm>
              <a:off x="3125" y="2062"/>
              <a:ext cx="0" cy="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95792" name="Group 112"/>
          <p:cNvGrpSpPr>
            <a:grpSpLocks/>
          </p:cNvGrpSpPr>
          <p:nvPr/>
        </p:nvGrpSpPr>
        <p:grpSpPr bwMode="auto">
          <a:xfrm>
            <a:off x="4960938" y="1668463"/>
            <a:ext cx="215900" cy="279400"/>
            <a:chOff x="3125" y="1051"/>
            <a:chExt cx="136" cy="176"/>
          </a:xfrm>
        </p:grpSpPr>
        <p:sp>
          <p:nvSpPr>
            <p:cNvPr id="1095793" name="Line 113"/>
            <p:cNvSpPr>
              <a:spLocks noChangeShapeType="1"/>
            </p:cNvSpPr>
            <p:nvPr/>
          </p:nvSpPr>
          <p:spPr bwMode="auto">
            <a:xfrm>
              <a:off x="3128" y="1051"/>
              <a:ext cx="133" cy="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94" name="Line 114"/>
            <p:cNvSpPr>
              <a:spLocks noChangeShapeType="1"/>
            </p:cNvSpPr>
            <p:nvPr/>
          </p:nvSpPr>
          <p:spPr bwMode="auto">
            <a:xfrm flipV="1">
              <a:off x="3128" y="1135"/>
              <a:ext cx="133" cy="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95" name="Line 115"/>
            <p:cNvSpPr>
              <a:spLocks noChangeShapeType="1"/>
            </p:cNvSpPr>
            <p:nvPr/>
          </p:nvSpPr>
          <p:spPr bwMode="auto">
            <a:xfrm>
              <a:off x="3125" y="1054"/>
              <a:ext cx="0" cy="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95796" name="Group 116"/>
          <p:cNvGrpSpPr>
            <a:grpSpLocks/>
          </p:cNvGrpSpPr>
          <p:nvPr/>
        </p:nvGrpSpPr>
        <p:grpSpPr bwMode="auto">
          <a:xfrm>
            <a:off x="4960938" y="4868863"/>
            <a:ext cx="215900" cy="279400"/>
            <a:chOff x="3125" y="3067"/>
            <a:chExt cx="136" cy="176"/>
          </a:xfrm>
        </p:grpSpPr>
        <p:sp>
          <p:nvSpPr>
            <p:cNvPr id="1095797" name="Line 117"/>
            <p:cNvSpPr>
              <a:spLocks noChangeShapeType="1"/>
            </p:cNvSpPr>
            <p:nvPr/>
          </p:nvSpPr>
          <p:spPr bwMode="auto">
            <a:xfrm>
              <a:off x="3128" y="3067"/>
              <a:ext cx="133" cy="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98" name="Line 118"/>
            <p:cNvSpPr>
              <a:spLocks noChangeShapeType="1"/>
            </p:cNvSpPr>
            <p:nvPr/>
          </p:nvSpPr>
          <p:spPr bwMode="auto">
            <a:xfrm flipV="1">
              <a:off x="3128" y="3151"/>
              <a:ext cx="133" cy="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99" name="Line 119"/>
            <p:cNvSpPr>
              <a:spLocks noChangeShapeType="1"/>
            </p:cNvSpPr>
            <p:nvPr/>
          </p:nvSpPr>
          <p:spPr bwMode="auto">
            <a:xfrm>
              <a:off x="3125" y="3070"/>
              <a:ext cx="0" cy="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5800" name="Line 120"/>
          <p:cNvSpPr>
            <a:spLocks noChangeShapeType="1"/>
          </p:cNvSpPr>
          <p:nvPr/>
        </p:nvSpPr>
        <p:spPr bwMode="auto">
          <a:xfrm flipH="1">
            <a:off x="5181600" y="1804988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01" name="Line 121"/>
          <p:cNvSpPr>
            <a:spLocks noChangeShapeType="1"/>
          </p:cNvSpPr>
          <p:nvPr/>
        </p:nvSpPr>
        <p:spPr bwMode="auto">
          <a:xfrm flipH="1">
            <a:off x="5168900" y="3405188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02" name="Line 122"/>
          <p:cNvSpPr>
            <a:spLocks noChangeShapeType="1"/>
          </p:cNvSpPr>
          <p:nvPr/>
        </p:nvSpPr>
        <p:spPr bwMode="auto">
          <a:xfrm flipH="1">
            <a:off x="5181600" y="5005388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03" name="Line 123"/>
          <p:cNvSpPr>
            <a:spLocks noChangeShapeType="1"/>
          </p:cNvSpPr>
          <p:nvPr/>
        </p:nvSpPr>
        <p:spPr bwMode="auto">
          <a:xfrm>
            <a:off x="5029200" y="1905000"/>
            <a:ext cx="0" cy="76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04" name="Line 124"/>
          <p:cNvSpPr>
            <a:spLocks noChangeShapeType="1"/>
          </p:cNvSpPr>
          <p:nvPr/>
        </p:nvSpPr>
        <p:spPr bwMode="auto">
          <a:xfrm>
            <a:off x="5029200" y="3505200"/>
            <a:ext cx="0" cy="76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05" name="Line 125"/>
          <p:cNvSpPr>
            <a:spLocks noChangeShapeType="1"/>
          </p:cNvSpPr>
          <p:nvPr/>
        </p:nvSpPr>
        <p:spPr bwMode="auto">
          <a:xfrm>
            <a:off x="5029200" y="5105400"/>
            <a:ext cx="0" cy="76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06" name="Line 126"/>
          <p:cNvSpPr>
            <a:spLocks noChangeShapeType="1"/>
          </p:cNvSpPr>
          <p:nvPr/>
        </p:nvSpPr>
        <p:spPr bwMode="auto">
          <a:xfrm flipH="1">
            <a:off x="4191000" y="4267200"/>
            <a:ext cx="1143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07" name="Line 127"/>
          <p:cNvSpPr>
            <a:spLocks noChangeShapeType="1"/>
          </p:cNvSpPr>
          <p:nvPr/>
        </p:nvSpPr>
        <p:spPr bwMode="auto">
          <a:xfrm flipH="1">
            <a:off x="4191000" y="2667000"/>
            <a:ext cx="1143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08" name="Line 128"/>
          <p:cNvSpPr>
            <a:spLocks noChangeShapeType="1"/>
          </p:cNvSpPr>
          <p:nvPr/>
        </p:nvSpPr>
        <p:spPr bwMode="auto">
          <a:xfrm flipH="1">
            <a:off x="4191000" y="5867400"/>
            <a:ext cx="175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95809" name="Group 129"/>
          <p:cNvGrpSpPr>
            <a:grpSpLocks/>
          </p:cNvGrpSpPr>
          <p:nvPr/>
        </p:nvGrpSpPr>
        <p:grpSpPr bwMode="auto">
          <a:xfrm>
            <a:off x="7221538" y="4046538"/>
            <a:ext cx="758825" cy="476250"/>
            <a:chOff x="4549" y="2549"/>
            <a:chExt cx="478" cy="300"/>
          </a:xfrm>
        </p:grpSpPr>
        <p:sp>
          <p:nvSpPr>
            <p:cNvPr id="1095810" name="Arc 130"/>
            <p:cNvSpPr>
              <a:spLocks/>
            </p:cNvSpPr>
            <p:nvPr/>
          </p:nvSpPr>
          <p:spPr bwMode="auto">
            <a:xfrm>
              <a:off x="4549" y="2549"/>
              <a:ext cx="70" cy="14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811" name="Arc 131"/>
            <p:cNvSpPr>
              <a:spLocks/>
            </p:cNvSpPr>
            <p:nvPr/>
          </p:nvSpPr>
          <p:spPr bwMode="auto">
            <a:xfrm>
              <a:off x="4549" y="2549"/>
              <a:ext cx="478" cy="15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812" name="Arc 132"/>
            <p:cNvSpPr>
              <a:spLocks/>
            </p:cNvSpPr>
            <p:nvPr/>
          </p:nvSpPr>
          <p:spPr bwMode="auto">
            <a:xfrm>
              <a:off x="4573" y="2692"/>
              <a:ext cx="453" cy="157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813" name="Arc 133"/>
            <p:cNvSpPr>
              <a:spLocks/>
            </p:cNvSpPr>
            <p:nvPr/>
          </p:nvSpPr>
          <p:spPr bwMode="auto">
            <a:xfrm>
              <a:off x="4549" y="2692"/>
              <a:ext cx="70" cy="157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5814" name="Line 134"/>
          <p:cNvSpPr>
            <a:spLocks noChangeShapeType="1"/>
          </p:cNvSpPr>
          <p:nvPr/>
        </p:nvSpPr>
        <p:spPr bwMode="auto">
          <a:xfrm>
            <a:off x="7086600" y="4419600"/>
            <a:ext cx="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15" name="Line 135"/>
          <p:cNvSpPr>
            <a:spLocks noChangeShapeType="1"/>
          </p:cNvSpPr>
          <p:nvPr/>
        </p:nvSpPr>
        <p:spPr bwMode="auto">
          <a:xfrm flipH="1">
            <a:off x="7086600" y="4418013"/>
            <a:ext cx="212725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16" name="Line 136"/>
          <p:cNvSpPr>
            <a:spLocks noChangeShapeType="1"/>
          </p:cNvSpPr>
          <p:nvPr/>
        </p:nvSpPr>
        <p:spPr bwMode="auto">
          <a:xfrm flipH="1" flipV="1">
            <a:off x="7086600" y="4114800"/>
            <a:ext cx="188913" cy="6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17" name="Line 137"/>
          <p:cNvSpPr>
            <a:spLocks noChangeShapeType="1"/>
          </p:cNvSpPr>
          <p:nvPr/>
        </p:nvSpPr>
        <p:spPr bwMode="auto">
          <a:xfrm>
            <a:off x="7086600" y="2667000"/>
            <a:ext cx="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18" name="Line 138"/>
          <p:cNvSpPr>
            <a:spLocks noChangeShapeType="1"/>
          </p:cNvSpPr>
          <p:nvPr/>
        </p:nvSpPr>
        <p:spPr bwMode="auto">
          <a:xfrm flipH="1">
            <a:off x="7935913" y="4291013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19" name="Oval 139"/>
          <p:cNvSpPr>
            <a:spLocks noChangeArrowheads="1"/>
          </p:cNvSpPr>
          <p:nvPr/>
        </p:nvSpPr>
        <p:spPr bwMode="auto">
          <a:xfrm>
            <a:off x="2024063" y="408305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20" name="Line 140"/>
          <p:cNvSpPr>
            <a:spLocks noChangeShapeType="1"/>
          </p:cNvSpPr>
          <p:nvPr/>
        </p:nvSpPr>
        <p:spPr bwMode="auto">
          <a:xfrm flipH="1">
            <a:off x="2895600" y="2009775"/>
            <a:ext cx="152400" cy="1238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21" name="Rectangle 141"/>
          <p:cNvSpPr>
            <a:spLocks noChangeArrowheads="1"/>
          </p:cNvSpPr>
          <p:nvPr/>
        </p:nvSpPr>
        <p:spPr bwMode="auto">
          <a:xfrm>
            <a:off x="2955925" y="1935163"/>
            <a:ext cx="3730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t</a:t>
            </a:r>
          </a:p>
        </p:txBody>
      </p:sp>
    </p:spTree>
    <p:extLst>
      <p:ext uri="{BB962C8B-B14F-4D97-AF65-F5344CB8AC3E}">
        <p14:creationId xmlns:p14="http://schemas.microsoft.com/office/powerpoint/2010/main" val="11781698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0F857-F461-4EF1-9ED9-C41F85FD2DBF}" type="datetime1">
              <a:rPr lang="sv-SE"/>
              <a:pPr/>
              <a:t>2025-09-08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1C23-6048-4101-B7AC-C7C9CAE79D12}" type="slidenum">
              <a:rPr lang="en-US"/>
              <a:pPr/>
              <a:t>28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96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causes a MISS?</a:t>
            </a:r>
          </a:p>
        </p:txBody>
      </p:sp>
      <p:sp>
        <p:nvSpPr>
          <p:cNvPr id="1096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Major Categories of Cache Misses:</a:t>
            </a:r>
          </a:p>
          <a:p>
            <a:pPr lvl="1"/>
            <a:r>
              <a:rPr lang="en-US" sz="2400" u="sng" dirty="0">
                <a:solidFill>
                  <a:srgbClr val="0332B7"/>
                </a:solidFill>
              </a:rPr>
              <a:t>Compulsory Misses</a:t>
            </a:r>
            <a:r>
              <a:rPr lang="en-US" sz="2400" dirty="0"/>
              <a:t>: first access to a block</a:t>
            </a:r>
          </a:p>
          <a:p>
            <a:pPr lvl="1"/>
            <a:r>
              <a:rPr lang="en-US" sz="2400" u="sng" dirty="0">
                <a:solidFill>
                  <a:srgbClr val="0332B7"/>
                </a:solidFill>
              </a:rPr>
              <a:t>Capacity Misses</a:t>
            </a:r>
            <a:r>
              <a:rPr lang="en-US" sz="2400" dirty="0"/>
              <a:t>: cache cannot contain all blocks needed to execute the program</a:t>
            </a:r>
          </a:p>
          <a:p>
            <a:pPr lvl="1"/>
            <a:r>
              <a:rPr lang="en-US" sz="2400" u="sng" dirty="0">
                <a:solidFill>
                  <a:srgbClr val="0332B7"/>
                </a:solidFill>
              </a:rPr>
              <a:t>Conflict Misses</a:t>
            </a:r>
            <a:r>
              <a:rPr lang="en-US" sz="2400" dirty="0"/>
              <a:t>:  block replaced by another block and then later retrieved - (affects set assoc. or direct mapped caches) 		</a:t>
            </a:r>
          </a:p>
          <a:p>
            <a:pPr lvl="2"/>
            <a:r>
              <a:rPr lang="en-US" sz="2000" dirty="0"/>
              <a:t>Nightmare Scenario: ping pong effect!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9490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430B-FC20-4560-B0E0-6071C86C3DBB}" type="datetime1">
              <a:rPr lang="sv-SE"/>
              <a:pPr/>
              <a:t>2025-09-08</a:t>
            </a:fld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0F0C8-D20E-4669-91FB-46B678F1C3D1}" type="slidenum">
              <a:rPr lang="en-US"/>
              <a:pPr/>
              <a:t>29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97730" name="Rectangle 2"/>
          <p:cNvSpPr>
            <a:spLocks noChangeArrowheads="1"/>
          </p:cNvSpPr>
          <p:nvPr/>
        </p:nvSpPr>
        <p:spPr bwMode="auto">
          <a:xfrm>
            <a:off x="5889625" y="1897063"/>
            <a:ext cx="1222375" cy="28416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pitchFamily="32" charset="0"/>
              </a:rPr>
              <a:t>Word3</a:t>
            </a:r>
          </a:p>
        </p:txBody>
      </p:sp>
      <p:sp>
        <p:nvSpPr>
          <p:cNvPr id="1097731" name="Rectangle 3"/>
          <p:cNvSpPr>
            <a:spLocks noChangeArrowheads="1"/>
          </p:cNvSpPr>
          <p:nvPr/>
        </p:nvSpPr>
        <p:spPr bwMode="auto">
          <a:xfrm>
            <a:off x="2222500" y="1897063"/>
            <a:ext cx="1222375" cy="28416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pitchFamily="32" charset="0"/>
              </a:rPr>
              <a:t>Word0</a:t>
            </a:r>
          </a:p>
        </p:txBody>
      </p:sp>
      <p:sp>
        <p:nvSpPr>
          <p:cNvPr id="1097732" name="Rectangle 4"/>
          <p:cNvSpPr>
            <a:spLocks noChangeArrowheads="1"/>
          </p:cNvSpPr>
          <p:nvPr/>
        </p:nvSpPr>
        <p:spPr bwMode="auto">
          <a:xfrm>
            <a:off x="3444875" y="1897063"/>
            <a:ext cx="1222375" cy="28416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pitchFamily="32" charset="0"/>
              </a:rPr>
              <a:t>Word1</a:t>
            </a:r>
          </a:p>
        </p:txBody>
      </p:sp>
      <p:sp>
        <p:nvSpPr>
          <p:cNvPr id="1097733" name="Rectangle 5"/>
          <p:cNvSpPr>
            <a:spLocks noChangeArrowheads="1"/>
          </p:cNvSpPr>
          <p:nvPr/>
        </p:nvSpPr>
        <p:spPr bwMode="auto">
          <a:xfrm>
            <a:off x="4667250" y="1897063"/>
            <a:ext cx="1222375" cy="28416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pitchFamily="32" charset="0"/>
              </a:rPr>
              <a:t>Word2</a:t>
            </a:r>
          </a:p>
        </p:txBody>
      </p:sp>
      <p:sp>
        <p:nvSpPr>
          <p:cNvPr id="1097734" name="Rectangle 6"/>
          <p:cNvSpPr>
            <a:spLocks noGrp="1" noChangeArrowheads="1"/>
          </p:cNvSpPr>
          <p:nvPr>
            <p:ph type="title"/>
          </p:nvPr>
        </p:nvSpPr>
        <p:spPr>
          <a:xfrm>
            <a:off x="279400" y="0"/>
            <a:ext cx="8001000" cy="1143000"/>
          </a:xfrm>
          <a:noFill/>
          <a:ln/>
        </p:spPr>
        <p:txBody>
          <a:bodyPr lIns="90488" tIns="44450" rIns="90488" bIns="44450"/>
          <a:lstStyle/>
          <a:p>
            <a:r>
              <a:rPr lang="en-US" dirty="0"/>
              <a:t>Block Size and Spatial Locality</a:t>
            </a:r>
          </a:p>
        </p:txBody>
      </p:sp>
      <p:sp>
        <p:nvSpPr>
          <p:cNvPr id="1097735" name="Rectangle 7"/>
          <p:cNvSpPr>
            <a:spLocks noChangeArrowheads="1"/>
          </p:cNvSpPr>
          <p:nvPr/>
        </p:nvSpPr>
        <p:spPr bwMode="auto">
          <a:xfrm>
            <a:off x="317500" y="4381500"/>
            <a:ext cx="8518525" cy="1819275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Larger block size has distinct hardware advantages</a:t>
            </a:r>
          </a:p>
          <a:p>
            <a:pPr lvl="1">
              <a:spcBef>
                <a:spcPct val="0"/>
              </a:spcBef>
              <a:buFontTx/>
              <a:buChar char="•"/>
            </a:pPr>
            <a:r>
              <a:rPr lang="en-US" sz="1800" dirty="0">
                <a:solidFill>
                  <a:srgbClr val="56127A"/>
                </a:solidFill>
                <a:latin typeface="Verdana" pitchFamily="32" charset="0"/>
              </a:rPr>
              <a:t> less tag overhead</a:t>
            </a:r>
          </a:p>
          <a:p>
            <a:pPr lvl="1">
              <a:spcBef>
                <a:spcPct val="0"/>
              </a:spcBef>
              <a:buFontTx/>
              <a:buChar char="•"/>
            </a:pPr>
            <a:r>
              <a:rPr lang="en-US" sz="1800" dirty="0">
                <a:solidFill>
                  <a:srgbClr val="56127A"/>
                </a:solidFill>
                <a:latin typeface="Verdana" pitchFamily="32" charset="0"/>
              </a:rPr>
              <a:t> exploit fast burst transfers from DRAM</a:t>
            </a:r>
          </a:p>
          <a:p>
            <a:pPr lvl="1">
              <a:spcBef>
                <a:spcPct val="0"/>
              </a:spcBef>
              <a:buFontTx/>
              <a:buChar char="•"/>
            </a:pPr>
            <a:r>
              <a:rPr lang="en-US" sz="1800" dirty="0">
                <a:solidFill>
                  <a:srgbClr val="56127A"/>
                </a:solidFill>
                <a:latin typeface="Verdana" pitchFamily="32" charset="0"/>
              </a:rPr>
              <a:t> exploit fast burst transfers over wide busses</a:t>
            </a:r>
            <a:br>
              <a:rPr lang="en-US" sz="1800" dirty="0">
                <a:solidFill>
                  <a:schemeClr val="accent2"/>
                </a:solidFill>
                <a:latin typeface="Verdana" pitchFamily="32" charset="0"/>
              </a:rPr>
            </a:br>
            <a:endParaRPr lang="en-US" sz="1800" dirty="0">
              <a:solidFill>
                <a:schemeClr val="accent2"/>
              </a:solidFill>
              <a:latin typeface="Verdana" pitchFamily="32" charset="0"/>
            </a:endParaRPr>
          </a:p>
          <a:p>
            <a:pPr>
              <a:spcBef>
                <a:spcPct val="0"/>
              </a:spcBef>
            </a:pPr>
            <a:r>
              <a:rPr lang="en-US" sz="2000" i="1" dirty="0">
                <a:solidFill>
                  <a:schemeClr val="tx2"/>
                </a:solidFill>
                <a:latin typeface="Verdana" pitchFamily="32" charset="0"/>
              </a:rPr>
              <a:t>What are the disadvantages of increasing block size?</a:t>
            </a:r>
          </a:p>
        </p:txBody>
      </p:sp>
      <p:sp>
        <p:nvSpPr>
          <p:cNvPr id="1097736" name="Rectangle 8"/>
          <p:cNvSpPr>
            <a:spLocks noChangeArrowheads="1"/>
          </p:cNvSpPr>
          <p:nvPr/>
        </p:nvSpPr>
        <p:spPr bwMode="auto">
          <a:xfrm>
            <a:off x="2325688" y="2592388"/>
            <a:ext cx="6362700" cy="4953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7737" name="Line 9"/>
          <p:cNvSpPr>
            <a:spLocks noChangeShapeType="1"/>
          </p:cNvSpPr>
          <p:nvPr/>
        </p:nvSpPr>
        <p:spPr bwMode="auto">
          <a:xfrm>
            <a:off x="7037388" y="2605088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7738" name="Rectangle 10"/>
          <p:cNvSpPr>
            <a:spLocks noChangeArrowheads="1"/>
          </p:cNvSpPr>
          <p:nvPr/>
        </p:nvSpPr>
        <p:spPr bwMode="auto">
          <a:xfrm>
            <a:off x="2590800" y="2590800"/>
            <a:ext cx="6015038" cy="4587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dirty="0">
                <a:solidFill>
                  <a:srgbClr val="56127A"/>
                </a:solidFill>
                <a:latin typeface="Verdana" pitchFamily="32" charset="0"/>
              </a:rPr>
              <a:t>block address		           </a:t>
            </a:r>
            <a:r>
              <a:rPr lang="en-US" sz="2400" dirty="0" err="1">
                <a:solidFill>
                  <a:srgbClr val="56127A"/>
                </a:solidFill>
                <a:latin typeface="Verdana" pitchFamily="32" charset="0"/>
              </a:rPr>
              <a:t>offset</a:t>
            </a:r>
            <a:r>
              <a:rPr lang="en-US" sz="2400" baseline="-25000" dirty="0" err="1">
                <a:solidFill>
                  <a:srgbClr val="56127A"/>
                </a:solidFill>
                <a:latin typeface="Verdana" pitchFamily="32" charset="0"/>
              </a:rPr>
              <a:t>b</a:t>
            </a:r>
            <a:endParaRPr lang="en-US" sz="2400" baseline="-25000" dirty="0">
              <a:solidFill>
                <a:srgbClr val="56127A"/>
              </a:solidFill>
              <a:latin typeface="Verdana" pitchFamily="32" charset="0"/>
            </a:endParaRPr>
          </a:p>
        </p:txBody>
      </p:sp>
      <p:sp>
        <p:nvSpPr>
          <p:cNvPr id="1097739" name="Rectangle 11"/>
          <p:cNvSpPr>
            <a:spLocks noChangeArrowheads="1"/>
          </p:cNvSpPr>
          <p:nvPr/>
        </p:nvSpPr>
        <p:spPr bwMode="auto">
          <a:xfrm>
            <a:off x="3457575" y="3759200"/>
            <a:ext cx="5245100" cy="3683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2</a:t>
            </a:r>
            <a:r>
              <a:rPr lang="en-US" sz="2000" baseline="30000" dirty="0">
                <a:solidFill>
                  <a:schemeClr val="tx1"/>
                </a:solidFill>
                <a:latin typeface="Verdana" pitchFamily="32" charset="0"/>
              </a:rPr>
              <a:t>b</a:t>
            </a:r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 = block size </a:t>
            </a:r>
            <a:r>
              <a:rPr lang="en-US" sz="2000" i="1" dirty="0" err="1">
                <a:solidFill>
                  <a:schemeClr val="tx1"/>
                </a:solidFill>
                <a:latin typeface="Verdana" pitchFamily="32" charset="0"/>
              </a:rPr>
              <a:t>a.k.a</a:t>
            </a:r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 line size (in bytes)</a:t>
            </a:r>
          </a:p>
        </p:txBody>
      </p:sp>
      <p:sp>
        <p:nvSpPr>
          <p:cNvPr id="1097740" name="Rectangle 12"/>
          <p:cNvSpPr>
            <a:spLocks noChangeArrowheads="1"/>
          </p:cNvSpPr>
          <p:nvPr/>
        </p:nvSpPr>
        <p:spPr bwMode="auto">
          <a:xfrm>
            <a:off x="409575" y="2692400"/>
            <a:ext cx="2189163" cy="647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Split CPU address</a:t>
            </a:r>
          </a:p>
        </p:txBody>
      </p:sp>
      <p:sp>
        <p:nvSpPr>
          <p:cNvPr id="1097741" name="AutoShape 13"/>
          <p:cNvSpPr>
            <a:spLocks/>
          </p:cNvSpPr>
          <p:nvPr/>
        </p:nvSpPr>
        <p:spPr bwMode="auto">
          <a:xfrm rot="-5400000">
            <a:off x="7727156" y="2501107"/>
            <a:ext cx="271463" cy="1651000"/>
          </a:xfrm>
          <a:prstGeom prst="leftBrace">
            <a:avLst>
              <a:gd name="adj1" fmla="val 50682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7742" name="Text Box 14"/>
          <p:cNvSpPr txBox="1">
            <a:spLocks noChangeArrowheads="1"/>
          </p:cNvSpPr>
          <p:nvPr/>
        </p:nvSpPr>
        <p:spPr bwMode="auto">
          <a:xfrm>
            <a:off x="7402513" y="3375025"/>
            <a:ext cx="892175" cy="4016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b bits</a:t>
            </a:r>
          </a:p>
        </p:txBody>
      </p:sp>
      <p:sp>
        <p:nvSpPr>
          <p:cNvPr id="1097743" name="AutoShape 15"/>
          <p:cNvSpPr>
            <a:spLocks/>
          </p:cNvSpPr>
          <p:nvPr/>
        </p:nvSpPr>
        <p:spPr bwMode="auto">
          <a:xfrm rot="-5400000">
            <a:off x="4468019" y="1064419"/>
            <a:ext cx="271463" cy="4556125"/>
          </a:xfrm>
          <a:prstGeom prst="leftBrace">
            <a:avLst>
              <a:gd name="adj1" fmla="val 139863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7744" name="Text Box 16"/>
          <p:cNvSpPr txBox="1">
            <a:spLocks noChangeArrowheads="1"/>
          </p:cNvSpPr>
          <p:nvPr/>
        </p:nvSpPr>
        <p:spPr bwMode="auto">
          <a:xfrm>
            <a:off x="3898900" y="3390900"/>
            <a:ext cx="1331913" cy="4016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32-b bits</a:t>
            </a:r>
          </a:p>
        </p:txBody>
      </p:sp>
      <p:sp>
        <p:nvSpPr>
          <p:cNvPr id="1097745" name="Rectangle 17"/>
          <p:cNvSpPr>
            <a:spLocks noChangeArrowheads="1"/>
          </p:cNvSpPr>
          <p:nvPr/>
        </p:nvSpPr>
        <p:spPr bwMode="auto">
          <a:xfrm>
            <a:off x="696913" y="1906588"/>
            <a:ext cx="1222375" cy="28416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pitchFamily="32" charset="0"/>
              </a:rPr>
              <a:t>Tag</a:t>
            </a:r>
          </a:p>
        </p:txBody>
      </p:sp>
      <p:sp>
        <p:nvSpPr>
          <p:cNvPr id="1097746" name="Text Box 18"/>
          <p:cNvSpPr txBox="1">
            <a:spLocks noChangeArrowheads="1"/>
          </p:cNvSpPr>
          <p:nvPr/>
        </p:nvSpPr>
        <p:spPr bwMode="auto">
          <a:xfrm>
            <a:off x="417513" y="1211263"/>
            <a:ext cx="8575675" cy="401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Block is unit of transfer between the cache and memory</a:t>
            </a:r>
          </a:p>
        </p:txBody>
      </p:sp>
      <p:sp>
        <p:nvSpPr>
          <p:cNvPr id="1097747" name="Text Box 19"/>
          <p:cNvSpPr txBox="1">
            <a:spLocks noChangeArrowheads="1"/>
          </p:cNvSpPr>
          <p:nvPr/>
        </p:nvSpPr>
        <p:spPr bwMode="auto">
          <a:xfrm>
            <a:off x="7121525" y="1752600"/>
            <a:ext cx="2022475" cy="711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4 words block, b=2</a:t>
            </a:r>
          </a:p>
        </p:txBody>
      </p:sp>
      <p:sp>
        <p:nvSpPr>
          <p:cNvPr id="1097748" name="Text Box 20"/>
          <p:cNvSpPr txBox="1">
            <a:spLocks noChangeArrowheads="1"/>
          </p:cNvSpPr>
          <p:nvPr/>
        </p:nvSpPr>
        <p:spPr bwMode="auto">
          <a:xfrm>
            <a:off x="1131888" y="6096000"/>
            <a:ext cx="7640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2400" i="1" dirty="0">
                <a:solidFill>
                  <a:schemeClr val="tx1"/>
                </a:solidFill>
              </a:rPr>
              <a:t>Fewer blocks =&gt; more conflicts.  Can waste bandwidth.</a:t>
            </a:r>
          </a:p>
        </p:txBody>
      </p:sp>
    </p:spTree>
    <p:extLst>
      <p:ext uri="{BB962C8B-B14F-4D97-AF65-F5344CB8AC3E}">
        <p14:creationId xmlns:p14="http://schemas.microsoft.com/office/powerpoint/2010/main" val="10897163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7748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0F62-AC2D-4AA7-884B-C1D9ABB3AF1E}" type="datetime1">
              <a:rPr lang="sv-SE"/>
              <a:pPr/>
              <a:t>2025-09-08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D7D2E-0406-4C98-8E59-A7327523A8DE}" type="slidenum">
              <a:rPr lang="en-US"/>
              <a:pPr/>
              <a:t>30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997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686800" cy="736600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Q3: Which block should be replaced on a miss?</a:t>
            </a:r>
          </a:p>
        </p:txBody>
      </p:sp>
      <p:sp>
        <p:nvSpPr>
          <p:cNvPr id="1099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678738" cy="4686300"/>
          </a:xfrm>
          <a:noFill/>
          <a:ln/>
        </p:spPr>
        <p:txBody>
          <a:bodyPr lIns="90488" tIns="44450" rIns="90488" bIns="44450"/>
          <a:lstStyle/>
          <a:p>
            <a:pPr>
              <a:tabLst>
                <a:tab pos="2000250" algn="r"/>
                <a:tab pos="3028950" algn="r"/>
                <a:tab pos="3886200" algn="r"/>
                <a:tab pos="4972050" algn="r"/>
                <a:tab pos="5943600" algn="r"/>
                <a:tab pos="7143750" algn="r"/>
              </a:tabLst>
            </a:pPr>
            <a:r>
              <a:rPr lang="en-US" sz="2800" dirty="0"/>
              <a:t>Easy for Direct Mapped</a:t>
            </a:r>
          </a:p>
          <a:p>
            <a:pPr>
              <a:tabLst>
                <a:tab pos="2000250" algn="r"/>
                <a:tab pos="3028950" algn="r"/>
                <a:tab pos="3886200" algn="r"/>
                <a:tab pos="4972050" algn="r"/>
                <a:tab pos="5943600" algn="r"/>
                <a:tab pos="7143750" algn="r"/>
              </a:tabLst>
            </a:pPr>
            <a:r>
              <a:rPr lang="en-US" sz="2800" dirty="0"/>
              <a:t>Set Associative or Fully Associative:</a:t>
            </a:r>
          </a:p>
          <a:p>
            <a:pPr lvl="1">
              <a:tabLst>
                <a:tab pos="2000250" algn="r"/>
                <a:tab pos="3028950" algn="r"/>
                <a:tab pos="3886200" algn="r"/>
                <a:tab pos="4972050" algn="r"/>
                <a:tab pos="5943600" algn="r"/>
                <a:tab pos="7143750" algn="r"/>
              </a:tabLst>
            </a:pPr>
            <a:r>
              <a:rPr lang="en-US" sz="2000" dirty="0"/>
              <a:t>Random</a:t>
            </a:r>
          </a:p>
          <a:p>
            <a:pPr lvl="1">
              <a:tabLst>
                <a:tab pos="2000250" algn="r"/>
                <a:tab pos="3028950" algn="r"/>
                <a:tab pos="3886200" algn="r"/>
                <a:tab pos="4972050" algn="r"/>
                <a:tab pos="5943600" algn="r"/>
                <a:tab pos="7143750" algn="r"/>
              </a:tabLst>
            </a:pPr>
            <a:r>
              <a:rPr lang="en-US" sz="2000" dirty="0"/>
              <a:t>Least Recently Used (LRU)</a:t>
            </a:r>
          </a:p>
          <a:p>
            <a:pPr lvl="2">
              <a:tabLst>
                <a:tab pos="2000250" algn="r"/>
                <a:tab pos="3028950" algn="r"/>
                <a:tab pos="3886200" algn="r"/>
                <a:tab pos="4972050" algn="r"/>
                <a:tab pos="5943600" algn="r"/>
                <a:tab pos="7143750" algn="r"/>
              </a:tabLst>
            </a:pPr>
            <a:r>
              <a:rPr lang="en-US" sz="2000" b="1" dirty="0"/>
              <a:t>LRU cache state must be updated on every access</a:t>
            </a:r>
          </a:p>
          <a:p>
            <a:pPr lvl="2">
              <a:tabLst>
                <a:tab pos="2000250" algn="r"/>
                <a:tab pos="3028950" algn="r"/>
                <a:tab pos="3886200" algn="r"/>
                <a:tab pos="4972050" algn="r"/>
                <a:tab pos="5943600" algn="r"/>
                <a:tab pos="7143750" algn="r"/>
              </a:tabLst>
            </a:pPr>
            <a:r>
              <a:rPr lang="en-US" sz="2000" b="1" dirty="0"/>
              <a:t>true implementation only feasible for small sets (2-way)</a:t>
            </a:r>
          </a:p>
          <a:p>
            <a:pPr lvl="2">
              <a:tabLst>
                <a:tab pos="2000250" algn="r"/>
                <a:tab pos="3028950" algn="r"/>
                <a:tab pos="3886200" algn="r"/>
                <a:tab pos="4972050" algn="r"/>
                <a:tab pos="5943600" algn="r"/>
                <a:tab pos="7143750" algn="r"/>
              </a:tabLst>
            </a:pPr>
            <a:r>
              <a:rPr lang="en-US" sz="2000" b="1" dirty="0"/>
              <a:t>pseudo-LRU binary tree often used for 4-8 way</a:t>
            </a:r>
          </a:p>
          <a:p>
            <a:pPr lvl="1">
              <a:tabLst>
                <a:tab pos="2000250" algn="r"/>
                <a:tab pos="3028950" algn="r"/>
                <a:tab pos="3886200" algn="r"/>
                <a:tab pos="4972050" algn="r"/>
                <a:tab pos="5943600" algn="r"/>
                <a:tab pos="7143750" algn="r"/>
              </a:tabLst>
            </a:pPr>
            <a:r>
              <a:rPr lang="en-US" sz="2000" dirty="0"/>
              <a:t>First In, First Out (FIFO) a.k.a. Round-Robin</a:t>
            </a:r>
          </a:p>
          <a:p>
            <a:pPr lvl="2">
              <a:tabLst>
                <a:tab pos="2000250" algn="r"/>
                <a:tab pos="3028950" algn="r"/>
                <a:tab pos="3886200" algn="r"/>
                <a:tab pos="4972050" algn="r"/>
                <a:tab pos="5943600" algn="r"/>
                <a:tab pos="7143750" algn="r"/>
              </a:tabLst>
            </a:pPr>
            <a:r>
              <a:rPr lang="en-US" sz="2000" b="1" dirty="0"/>
              <a:t>used in highly associative caches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57240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6F7E8-9670-F847-124A-9D772406E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Through and Write Back Topologies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15605-52D9-5908-9AD3-EAB67FDED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6A5509-5172-A87B-9F95-319C424C0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A9AD5-CC4E-4005-24CE-DC8DACB79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123" y="1623978"/>
            <a:ext cx="5771754" cy="455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5846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A78BB-8AE6-417F-AF2A-142CEB6138A9}" type="datetime1">
              <a:rPr lang="sv-SE"/>
              <a:pPr/>
              <a:t>2025-09-08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A602-C702-4403-B955-3BD33741DBA2}" type="slidenum">
              <a:rPr lang="en-US"/>
              <a:pPr/>
              <a:t>32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1008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44893" y="876300"/>
            <a:ext cx="7516812" cy="5480050"/>
          </a:xfrm>
        </p:spPr>
        <p:txBody>
          <a:bodyPr/>
          <a:lstStyle/>
          <a:p>
            <a:pPr marL="342900" indent="-342900"/>
            <a:r>
              <a:rPr lang="en-US" sz="2400" dirty="0"/>
              <a:t>Cache hit:</a:t>
            </a:r>
          </a:p>
          <a:p>
            <a:pPr marL="742950" lvl="1" indent="-285750"/>
            <a:r>
              <a:rPr lang="en-US" sz="2000" i="1" dirty="0">
                <a:solidFill>
                  <a:srgbClr val="114FFB"/>
                </a:solidFill>
              </a:rPr>
              <a:t>write through:</a:t>
            </a:r>
            <a:r>
              <a:rPr lang="en-US" sz="2000" i="1" dirty="0"/>
              <a:t> </a:t>
            </a:r>
            <a:r>
              <a:rPr lang="en-US" sz="2000" dirty="0"/>
              <a:t>write both cache &amp; memory</a:t>
            </a:r>
          </a:p>
          <a:p>
            <a:pPr lvl="2"/>
            <a:r>
              <a:rPr lang="en-US" sz="1400" dirty="0"/>
              <a:t>Generally, higher traffic for main memory, but simplifies cache coherence</a:t>
            </a:r>
          </a:p>
          <a:p>
            <a:pPr lvl="2"/>
            <a:r>
              <a:rPr lang="en-US" sz="1400" dirty="0"/>
              <a:t>A store buffer can retire store without exposing the processor to the access latency of lower-level cache</a:t>
            </a:r>
          </a:p>
          <a:p>
            <a:pPr marL="742950" lvl="1" indent="-285750"/>
            <a:r>
              <a:rPr lang="en-US" sz="2000" i="1" dirty="0">
                <a:solidFill>
                  <a:srgbClr val="114FFB"/>
                </a:solidFill>
              </a:rPr>
              <a:t>write back:</a:t>
            </a:r>
            <a:r>
              <a:rPr lang="en-US" sz="2000" dirty="0"/>
              <a:t>     write cache only </a:t>
            </a:r>
            <a:br>
              <a:rPr lang="en-US" sz="2000" dirty="0"/>
            </a:br>
            <a:r>
              <a:rPr lang="en-US" sz="2000" dirty="0"/>
              <a:t>(Memory is written only when the entry is evicted)</a:t>
            </a:r>
          </a:p>
          <a:p>
            <a:pPr lvl="2"/>
            <a:r>
              <a:rPr lang="en-US" sz="1400" dirty="0"/>
              <a:t>A dirty bit per block can further reduce the traffic</a:t>
            </a:r>
          </a:p>
          <a:p>
            <a:pPr marL="342900" indent="-342900"/>
            <a:r>
              <a:rPr lang="en-US" sz="2400" dirty="0"/>
              <a:t>Cache miss:</a:t>
            </a:r>
          </a:p>
          <a:p>
            <a:pPr marL="742950" lvl="1" indent="-285750"/>
            <a:r>
              <a:rPr lang="en-US" sz="2000" i="1" dirty="0">
                <a:solidFill>
                  <a:srgbClr val="114FFB"/>
                </a:solidFill>
              </a:rPr>
              <a:t>no write allocate:</a:t>
            </a:r>
            <a:r>
              <a:rPr lang="en-US" sz="2000" i="1" dirty="0"/>
              <a:t>  </a:t>
            </a:r>
            <a:r>
              <a:rPr lang="en-US" sz="2000" dirty="0"/>
              <a:t>only write to main memory</a:t>
            </a:r>
          </a:p>
          <a:p>
            <a:pPr marL="742950" lvl="1" indent="-285750"/>
            <a:r>
              <a:rPr lang="en-US" sz="2000" i="1" dirty="0">
                <a:solidFill>
                  <a:srgbClr val="114FFB"/>
                </a:solidFill>
              </a:rPr>
              <a:t>write allocate</a:t>
            </a:r>
            <a:r>
              <a:rPr lang="en-US" sz="2000" dirty="0"/>
              <a:t> </a:t>
            </a:r>
            <a:r>
              <a:rPr lang="en-US" sz="2000" i="1" dirty="0"/>
              <a:t>(aka fetch on write):  </a:t>
            </a:r>
            <a:r>
              <a:rPr lang="en-US" sz="2000" dirty="0"/>
              <a:t>fetch into cache</a:t>
            </a:r>
            <a:br>
              <a:rPr lang="en-US" sz="2000" dirty="0"/>
            </a:br>
            <a:endParaRPr lang="en-US" sz="2000" dirty="0"/>
          </a:p>
          <a:p>
            <a:pPr marL="342900" indent="-342900"/>
            <a:r>
              <a:rPr lang="en-US" sz="2400" dirty="0"/>
              <a:t>Common combinations:</a:t>
            </a:r>
          </a:p>
          <a:p>
            <a:pPr marL="742950" lvl="1" indent="-285750"/>
            <a:r>
              <a:rPr lang="en-US" sz="2000" dirty="0"/>
              <a:t>	write through and no write allocate</a:t>
            </a:r>
          </a:p>
          <a:p>
            <a:pPr marL="742950" lvl="1" indent="-285750"/>
            <a:r>
              <a:rPr lang="en-US" sz="2000" dirty="0"/>
              <a:t>	write back with write allocate</a:t>
            </a:r>
          </a:p>
        </p:txBody>
      </p:sp>
      <p:sp>
        <p:nvSpPr>
          <p:cNvPr id="1100803" name="Rectangle 3"/>
          <p:cNvSpPr>
            <a:spLocks noGrp="1" noChangeArrowheads="1"/>
          </p:cNvSpPr>
          <p:nvPr>
            <p:ph type="title"/>
          </p:nvPr>
        </p:nvSpPr>
        <p:spPr>
          <a:xfrm>
            <a:off x="76200" y="63500"/>
            <a:ext cx="8966200" cy="762000"/>
          </a:xfrm>
          <a:noFill/>
          <a:ln/>
        </p:spPr>
        <p:txBody>
          <a:bodyPr/>
          <a:lstStyle/>
          <a:p>
            <a:pPr marL="25400">
              <a:tabLst>
                <a:tab pos="317500" algn="l"/>
                <a:tab pos="1231900" algn="l"/>
                <a:tab pos="2146300" algn="l"/>
                <a:tab pos="3060700" algn="l"/>
                <a:tab pos="3975100" algn="l"/>
                <a:tab pos="4889500" algn="l"/>
                <a:tab pos="5803900" algn="l"/>
              </a:tabLst>
            </a:pPr>
            <a:r>
              <a:rPr lang="en-US"/>
              <a:t>Q4: What happens on a write?</a:t>
            </a:r>
          </a:p>
        </p:txBody>
      </p:sp>
    </p:spTree>
    <p:extLst>
      <p:ext uri="{BB962C8B-B14F-4D97-AF65-F5344CB8AC3E}">
        <p14:creationId xmlns:p14="http://schemas.microsoft.com/office/powerpoint/2010/main" val="29064009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53A-B97A-7D4D-B2C6-662DBDE74966}" type="slidenum">
              <a:rPr lang="en-US"/>
              <a:pPr/>
              <a:t>33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8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7292975" cy="736600"/>
          </a:xfrm>
        </p:spPr>
        <p:txBody>
          <a:bodyPr/>
          <a:lstStyle/>
          <a:p>
            <a:r>
              <a:rPr lang="en-US"/>
              <a:t>Write Policy Choices </a:t>
            </a:r>
          </a:p>
        </p:txBody>
      </p:sp>
      <p:sp>
        <p:nvSpPr>
          <p:cNvPr id="1488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838200"/>
            <a:ext cx="8382000" cy="5410200"/>
          </a:xfrm>
        </p:spPr>
        <p:txBody>
          <a:bodyPr/>
          <a:lstStyle/>
          <a:p>
            <a:r>
              <a:rPr lang="en-US" sz="2800"/>
              <a:t>Cache hit:</a:t>
            </a:r>
          </a:p>
          <a:p>
            <a:pPr lvl="1"/>
            <a:r>
              <a:rPr lang="en-US" sz="2000" b="1" i="1"/>
              <a:t>write through:</a:t>
            </a:r>
            <a:r>
              <a:rPr lang="en-US" sz="2000" i="1"/>
              <a:t> </a:t>
            </a:r>
            <a:r>
              <a:rPr lang="en-US" sz="2000"/>
              <a:t>write both cache &amp; memory</a:t>
            </a:r>
          </a:p>
          <a:p>
            <a:pPr lvl="2"/>
            <a:r>
              <a:rPr lang="en-US" sz="2000"/>
              <a:t>Generally higher traffic but simpler pipeline &amp; cache design</a:t>
            </a:r>
          </a:p>
          <a:p>
            <a:pPr lvl="1"/>
            <a:r>
              <a:rPr lang="en-US" sz="2000" b="1" i="1"/>
              <a:t>write back:</a:t>
            </a:r>
            <a:r>
              <a:rPr lang="en-US" sz="2000"/>
              <a:t> write cache only, memory is written only when the entry is evicted</a:t>
            </a:r>
          </a:p>
          <a:p>
            <a:pPr lvl="2"/>
            <a:r>
              <a:rPr lang="en-US" sz="2000"/>
              <a:t>A dirty bit per block further reduces write-back traffic</a:t>
            </a:r>
          </a:p>
          <a:p>
            <a:pPr lvl="2"/>
            <a:r>
              <a:rPr lang="en-US" sz="2000"/>
              <a:t>Must handle 0, 1, or 2 accesses to memory for each load/store</a:t>
            </a:r>
          </a:p>
          <a:p>
            <a:r>
              <a:rPr lang="en-US" sz="2800"/>
              <a:t>Cache miss:</a:t>
            </a:r>
          </a:p>
          <a:p>
            <a:pPr lvl="1"/>
            <a:r>
              <a:rPr lang="en-US" sz="2000" b="1" i="1"/>
              <a:t>no write allocate:</a:t>
            </a:r>
            <a:r>
              <a:rPr lang="en-US" sz="2000" i="1"/>
              <a:t>  </a:t>
            </a:r>
            <a:r>
              <a:rPr lang="en-US" sz="2000"/>
              <a:t>only write to main memory</a:t>
            </a:r>
          </a:p>
          <a:p>
            <a:pPr lvl="1"/>
            <a:r>
              <a:rPr lang="en-US" sz="2000" b="1" i="1"/>
              <a:t>write allocate</a:t>
            </a:r>
            <a:r>
              <a:rPr lang="en-US" sz="2000"/>
              <a:t> </a:t>
            </a:r>
            <a:r>
              <a:rPr lang="en-US" sz="2000" i="1"/>
              <a:t>(aka fetch on write):  </a:t>
            </a:r>
            <a:r>
              <a:rPr lang="en-US" sz="2000"/>
              <a:t>fetch into cache</a:t>
            </a:r>
            <a:br>
              <a:rPr lang="en-US" sz="2000"/>
            </a:br>
            <a:endParaRPr lang="en-US" sz="2000"/>
          </a:p>
          <a:p>
            <a:r>
              <a:rPr lang="en-US" sz="2800"/>
              <a:t>Common combinations:</a:t>
            </a:r>
          </a:p>
          <a:p>
            <a:pPr lvl="1"/>
            <a:r>
              <a:rPr lang="en-US" sz="2000"/>
              <a:t>	write through and no write allocate</a:t>
            </a:r>
          </a:p>
          <a:p>
            <a:pPr lvl="1"/>
            <a:r>
              <a:rPr lang="en-US" sz="2000"/>
              <a:t>	write back with write allocate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AA28-CE11-44E7-9BD9-5D2B424FAF9E}" type="datetime1">
              <a:rPr lang="sv-SE"/>
              <a:pPr/>
              <a:t>2025-09-08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D90EF-53D9-40BB-9182-D053B519CDC1}" type="slidenum">
              <a:rPr lang="en-US"/>
              <a:pPr/>
              <a:t>34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10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5 Basic Cache Optimizations</a:t>
            </a:r>
          </a:p>
        </p:txBody>
      </p:sp>
      <p:sp>
        <p:nvSpPr>
          <p:cNvPr id="1101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12004"/>
            <a:ext cx="8229600" cy="5271358"/>
          </a:xfrm>
        </p:spPr>
        <p:txBody>
          <a:bodyPr/>
          <a:lstStyle/>
          <a:p>
            <a:pPr marL="457200" indent="-457200"/>
            <a:r>
              <a:rPr lang="en-US" sz="2400" dirty="0"/>
              <a:t>Reducing Miss Rate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Larger Block size (compulsory misses are reduced but conflict misses are increased)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Larger Cache size (reduces capacity and conflict misses but increases hit time)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Higher Associativity (conflict misses are reduced but requires more comparators)</a:t>
            </a:r>
            <a:br>
              <a:rPr lang="en-US" sz="2000" dirty="0"/>
            </a:br>
            <a:endParaRPr lang="en-US" sz="2000" dirty="0"/>
          </a:p>
          <a:p>
            <a:pPr marL="457200" indent="-457200"/>
            <a:r>
              <a:rPr lang="en-US" sz="2400" dirty="0"/>
              <a:t>Reducing Miss Penalty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Multilevel Caches with inclusion</a:t>
            </a:r>
          </a:p>
          <a:p>
            <a:pPr marL="1257300" lvl="2" indent="-457200"/>
            <a:r>
              <a:rPr lang="en-US" sz="1600" dirty="0"/>
              <a:t>But can reduce available cache size for processor</a:t>
            </a:r>
          </a:p>
          <a:p>
            <a:pPr marL="457200" indent="-457200"/>
            <a:r>
              <a:rPr lang="en-US" sz="2400" dirty="0"/>
              <a:t>Reducing hit time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Giving Reads Priority over the Writes </a:t>
            </a:r>
          </a:p>
          <a:p>
            <a:pPr marL="800100" lvl="1" indent="-342900">
              <a:buFontTx/>
              <a:buChar char="•"/>
            </a:pPr>
            <a:r>
              <a:rPr lang="en-US" sz="2000" dirty="0"/>
              <a:t>E.g., Read complete before earlier writes in write buffer</a:t>
            </a:r>
          </a:p>
          <a:p>
            <a:pPr marL="457200" indent="-457200">
              <a:buFontTx/>
              <a:buAutoNum type="arabicPeriod" startAt="5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072788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64EC8-B90F-E840-AD44-EB1EBCB3AC8B}" type="slidenum">
              <a:rPr lang="en-US"/>
              <a:pPr/>
              <a:t>35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80706" name="Line 2"/>
          <p:cNvSpPr>
            <a:spLocks noChangeShapeType="1"/>
          </p:cNvSpPr>
          <p:nvPr/>
        </p:nvSpPr>
        <p:spPr bwMode="auto">
          <a:xfrm>
            <a:off x="4953000" y="3505200"/>
            <a:ext cx="182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07" name="Line 3"/>
          <p:cNvSpPr>
            <a:spLocks noChangeShapeType="1"/>
          </p:cNvSpPr>
          <p:nvPr/>
        </p:nvSpPr>
        <p:spPr bwMode="auto">
          <a:xfrm>
            <a:off x="5867400" y="266700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08" name="Line 4"/>
          <p:cNvSpPr>
            <a:spLocks noChangeShapeType="1"/>
          </p:cNvSpPr>
          <p:nvPr/>
        </p:nvSpPr>
        <p:spPr bwMode="auto">
          <a:xfrm>
            <a:off x="4800600" y="2462213"/>
            <a:ext cx="695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09" name="Rectangle 5"/>
          <p:cNvSpPr>
            <a:spLocks noGrp="1" noChangeArrowheads="1"/>
          </p:cNvSpPr>
          <p:nvPr>
            <p:ph type="title"/>
          </p:nvPr>
        </p:nvSpPr>
        <p:spPr>
          <a:xfrm>
            <a:off x="279400" y="0"/>
            <a:ext cx="7162800" cy="1143000"/>
          </a:xfrm>
        </p:spPr>
        <p:txBody>
          <a:bodyPr/>
          <a:lstStyle/>
          <a:p>
            <a:r>
              <a:rPr lang="en-US" altLang="ko-KR">
                <a:ea typeface="굴림" charset="-127"/>
                <a:cs typeface="굴림" charset="-127"/>
              </a:rPr>
              <a:t>CPU-Cache Interaction</a:t>
            </a:r>
            <a:br>
              <a:rPr lang="en-US" altLang="ko-KR">
                <a:ea typeface="굴림" charset="-127"/>
                <a:cs typeface="굴림" charset="-127"/>
              </a:rPr>
            </a:br>
            <a:r>
              <a:rPr lang="en-US" altLang="ko-KR" sz="2400">
                <a:ea typeface="굴림" charset="-127"/>
                <a:cs typeface="굴림" charset="-127"/>
              </a:rPr>
              <a:t>(5-stage pipeline)</a:t>
            </a:r>
            <a:endParaRPr lang="en-US" altLang="ko-KR" sz="2800">
              <a:ea typeface="굴림" charset="-127"/>
              <a:cs typeface="굴림" charset="-127"/>
              <a:hlinkClick r:id="" action="ppaction://hlinkpres?slideindex=1&amp;slidetitle="/>
            </a:endParaRPr>
          </a:p>
        </p:txBody>
      </p:sp>
      <p:sp>
        <p:nvSpPr>
          <p:cNvPr id="1480710" name="Freeform 6"/>
          <p:cNvSpPr>
            <a:spLocks/>
          </p:cNvSpPr>
          <p:nvPr/>
        </p:nvSpPr>
        <p:spPr bwMode="auto">
          <a:xfrm>
            <a:off x="1168400" y="2259013"/>
            <a:ext cx="344488" cy="1004887"/>
          </a:xfrm>
          <a:custGeom>
            <a:avLst/>
            <a:gdLst/>
            <a:ahLst/>
            <a:cxnLst>
              <a:cxn ang="0">
                <a:pos x="0" y="632"/>
              </a:cxn>
              <a:cxn ang="0">
                <a:pos x="0" y="56"/>
              </a:cxn>
              <a:cxn ang="0">
                <a:pos x="0" y="0"/>
              </a:cxn>
              <a:cxn ang="0">
                <a:pos x="216" y="0"/>
              </a:cxn>
            </a:cxnLst>
            <a:rect l="0" t="0" r="r" b="b"/>
            <a:pathLst>
              <a:path w="217" h="633">
                <a:moveTo>
                  <a:pt x="0" y="632"/>
                </a:moveTo>
                <a:lnTo>
                  <a:pt x="0" y="56"/>
                </a:lnTo>
                <a:lnTo>
                  <a:pt x="0" y="0"/>
                </a:lnTo>
                <a:lnTo>
                  <a:pt x="216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11" name="Freeform 7"/>
          <p:cNvSpPr>
            <a:spLocks/>
          </p:cNvSpPr>
          <p:nvPr/>
        </p:nvSpPr>
        <p:spPr bwMode="auto">
          <a:xfrm>
            <a:off x="1130300" y="3262313"/>
            <a:ext cx="306388" cy="15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4" y="0"/>
              </a:cxn>
              <a:cxn ang="0">
                <a:pos x="192" y="0"/>
              </a:cxn>
            </a:cxnLst>
            <a:rect l="0" t="0" r="r" b="b"/>
            <a:pathLst>
              <a:path w="193" h="1">
                <a:moveTo>
                  <a:pt x="0" y="0"/>
                </a:moveTo>
                <a:lnTo>
                  <a:pt x="144" y="0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12" name="Rectangle 8"/>
          <p:cNvSpPr>
            <a:spLocks noChangeArrowheads="1"/>
          </p:cNvSpPr>
          <p:nvPr/>
        </p:nvSpPr>
        <p:spPr bwMode="auto">
          <a:xfrm>
            <a:off x="914400" y="2970213"/>
            <a:ext cx="203200" cy="5842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13" name="Line 9"/>
          <p:cNvSpPr>
            <a:spLocks noChangeShapeType="1"/>
          </p:cNvSpPr>
          <p:nvPr/>
        </p:nvSpPr>
        <p:spPr bwMode="auto">
          <a:xfrm>
            <a:off x="1143000" y="3262313"/>
            <a:ext cx="5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14" name="Rectangle 10"/>
          <p:cNvSpPr>
            <a:spLocks noChangeArrowheads="1"/>
          </p:cNvSpPr>
          <p:nvPr/>
        </p:nvSpPr>
        <p:spPr bwMode="auto">
          <a:xfrm>
            <a:off x="836613" y="3167063"/>
            <a:ext cx="379412" cy="27146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PC</a:t>
            </a:r>
          </a:p>
        </p:txBody>
      </p:sp>
      <p:sp>
        <p:nvSpPr>
          <p:cNvPr id="1480715" name="Freeform 11"/>
          <p:cNvSpPr>
            <a:spLocks/>
          </p:cNvSpPr>
          <p:nvPr/>
        </p:nvSpPr>
        <p:spPr bwMode="auto">
          <a:xfrm>
            <a:off x="977900" y="3478213"/>
            <a:ext cx="77788" cy="77787"/>
          </a:xfrm>
          <a:custGeom>
            <a:avLst/>
            <a:gdLst/>
            <a:ahLst/>
            <a:cxnLst>
              <a:cxn ang="0">
                <a:pos x="0" y="48"/>
              </a:cxn>
              <a:cxn ang="0">
                <a:pos x="24" y="0"/>
              </a:cxn>
              <a:cxn ang="0">
                <a:pos x="48" y="48"/>
              </a:cxn>
            </a:cxnLst>
            <a:rect l="0" t="0" r="r" b="b"/>
            <a:pathLst>
              <a:path w="49" h="49">
                <a:moveTo>
                  <a:pt x="0" y="48"/>
                </a:moveTo>
                <a:lnTo>
                  <a:pt x="24" y="0"/>
                </a:lnTo>
                <a:lnTo>
                  <a:pt x="48" y="4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16" name="Rectangle 12"/>
          <p:cNvSpPr>
            <a:spLocks noChangeArrowheads="1"/>
          </p:cNvSpPr>
          <p:nvPr/>
        </p:nvSpPr>
        <p:spPr bwMode="auto">
          <a:xfrm>
            <a:off x="1446213" y="3108325"/>
            <a:ext cx="1068387" cy="123507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2000">
              <a:latin typeface="Verdana" charset="0"/>
            </a:endParaRPr>
          </a:p>
        </p:txBody>
      </p:sp>
      <p:sp>
        <p:nvSpPr>
          <p:cNvPr id="1480717" name="Rectangle 13"/>
          <p:cNvSpPr>
            <a:spLocks noChangeArrowheads="1"/>
          </p:cNvSpPr>
          <p:nvPr/>
        </p:nvSpPr>
        <p:spPr bwMode="auto">
          <a:xfrm>
            <a:off x="1393825" y="3105150"/>
            <a:ext cx="527050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addr</a:t>
            </a:r>
          </a:p>
        </p:txBody>
      </p:sp>
      <p:sp>
        <p:nvSpPr>
          <p:cNvPr id="1480718" name="Rectangle 14"/>
          <p:cNvSpPr>
            <a:spLocks noChangeArrowheads="1"/>
          </p:cNvSpPr>
          <p:nvPr/>
        </p:nvSpPr>
        <p:spPr bwMode="auto">
          <a:xfrm>
            <a:off x="2052638" y="3133725"/>
            <a:ext cx="458787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inst</a:t>
            </a:r>
          </a:p>
        </p:txBody>
      </p:sp>
      <p:sp>
        <p:nvSpPr>
          <p:cNvPr id="1480719" name="Rectangle 15"/>
          <p:cNvSpPr>
            <a:spLocks noChangeArrowheads="1"/>
          </p:cNvSpPr>
          <p:nvPr/>
        </p:nvSpPr>
        <p:spPr bwMode="auto">
          <a:xfrm>
            <a:off x="1404938" y="3587750"/>
            <a:ext cx="1012825" cy="6365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Primary</a:t>
            </a:r>
          </a:p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Instruction</a:t>
            </a:r>
          </a:p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Cache</a:t>
            </a:r>
          </a:p>
        </p:txBody>
      </p:sp>
      <p:sp>
        <p:nvSpPr>
          <p:cNvPr id="1480720" name="Rectangle 16"/>
          <p:cNvSpPr>
            <a:spLocks noChangeArrowheads="1"/>
          </p:cNvSpPr>
          <p:nvPr/>
        </p:nvSpPr>
        <p:spPr bwMode="auto">
          <a:xfrm>
            <a:off x="987425" y="1682750"/>
            <a:ext cx="465138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0x4</a:t>
            </a:r>
          </a:p>
        </p:txBody>
      </p:sp>
      <p:sp>
        <p:nvSpPr>
          <p:cNvPr id="1480721" name="Freeform 17"/>
          <p:cNvSpPr>
            <a:spLocks/>
          </p:cNvSpPr>
          <p:nvPr/>
        </p:nvSpPr>
        <p:spPr bwMode="auto">
          <a:xfrm>
            <a:off x="1522413" y="1724025"/>
            <a:ext cx="382587" cy="6111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60"/>
              </a:cxn>
              <a:cxn ang="0">
                <a:pos x="48" y="192"/>
              </a:cxn>
              <a:cxn ang="0">
                <a:pos x="0" y="224"/>
              </a:cxn>
              <a:cxn ang="0">
                <a:pos x="0" y="384"/>
              </a:cxn>
              <a:cxn ang="0">
                <a:pos x="240" y="288"/>
              </a:cxn>
              <a:cxn ang="0">
                <a:pos x="240" y="96"/>
              </a:cxn>
              <a:cxn ang="0">
                <a:pos x="0" y="0"/>
              </a:cxn>
            </a:cxnLst>
            <a:rect l="0" t="0" r="r" b="b"/>
            <a:pathLst>
              <a:path w="241" h="385">
                <a:moveTo>
                  <a:pt x="0" y="0"/>
                </a:moveTo>
                <a:lnTo>
                  <a:pt x="0" y="160"/>
                </a:lnTo>
                <a:lnTo>
                  <a:pt x="48" y="192"/>
                </a:lnTo>
                <a:lnTo>
                  <a:pt x="0" y="224"/>
                </a:lnTo>
                <a:lnTo>
                  <a:pt x="0" y="384"/>
                </a:lnTo>
                <a:lnTo>
                  <a:pt x="240" y="288"/>
                </a:lnTo>
                <a:lnTo>
                  <a:pt x="240" y="96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22" name="Line 18"/>
          <p:cNvSpPr>
            <a:spLocks noChangeShapeType="1"/>
          </p:cNvSpPr>
          <p:nvPr/>
        </p:nvSpPr>
        <p:spPr bwMode="auto">
          <a:xfrm>
            <a:off x="1452563" y="1800225"/>
            <a:ext cx="63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23" name="Rectangle 19"/>
          <p:cNvSpPr>
            <a:spLocks noChangeArrowheads="1"/>
          </p:cNvSpPr>
          <p:nvPr/>
        </p:nvSpPr>
        <p:spPr bwMode="auto">
          <a:xfrm>
            <a:off x="1506538" y="1911350"/>
            <a:ext cx="425450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000">
                <a:latin typeface="Verdana" charset="0"/>
              </a:rPr>
              <a:t>Add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3275013" y="2701925"/>
            <a:ext cx="350837" cy="485775"/>
            <a:chOff x="2063" y="1846"/>
            <a:chExt cx="221" cy="306"/>
          </a:xfrm>
        </p:grpSpPr>
        <p:sp>
          <p:nvSpPr>
            <p:cNvPr id="1480725" name="Rectangle 21"/>
            <p:cNvSpPr>
              <a:spLocks noChangeArrowheads="1"/>
            </p:cNvSpPr>
            <p:nvPr/>
          </p:nvSpPr>
          <p:spPr bwMode="auto">
            <a:xfrm>
              <a:off x="2102" y="1846"/>
              <a:ext cx="109" cy="304"/>
            </a:xfrm>
            <a:prstGeom prst="rect">
              <a:avLst/>
            </a:prstGeom>
            <a:solidFill>
              <a:schemeClr val="fol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26" name="Freeform 22"/>
            <p:cNvSpPr>
              <a:spLocks/>
            </p:cNvSpPr>
            <p:nvPr/>
          </p:nvSpPr>
          <p:spPr bwMode="auto">
            <a:xfrm>
              <a:off x="2135" y="2108"/>
              <a:ext cx="43" cy="44"/>
            </a:xfrm>
            <a:custGeom>
              <a:avLst/>
              <a:gdLst/>
              <a:ahLst/>
              <a:cxnLst>
                <a:cxn ang="0">
                  <a:pos x="0" y="43"/>
                </a:cxn>
                <a:cxn ang="0">
                  <a:pos x="21" y="0"/>
                </a:cxn>
                <a:cxn ang="0">
                  <a:pos x="42" y="43"/>
                </a:cxn>
              </a:cxnLst>
              <a:rect l="0" t="0" r="r" b="b"/>
              <a:pathLst>
                <a:path w="43" h="44">
                  <a:moveTo>
                    <a:pt x="0" y="43"/>
                  </a:moveTo>
                  <a:lnTo>
                    <a:pt x="21" y="0"/>
                  </a:lnTo>
                  <a:lnTo>
                    <a:pt x="42" y="43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27" name="Rectangle 23"/>
            <p:cNvSpPr>
              <a:spLocks noChangeArrowheads="1"/>
            </p:cNvSpPr>
            <p:nvPr/>
          </p:nvSpPr>
          <p:spPr bwMode="auto">
            <a:xfrm>
              <a:off x="2063" y="1913"/>
              <a:ext cx="221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200">
                  <a:latin typeface="Verdana" charset="0"/>
                </a:rPr>
                <a:t>IR</a:t>
              </a:r>
            </a:p>
          </p:txBody>
        </p:sp>
      </p:grpSp>
      <p:sp>
        <p:nvSpPr>
          <p:cNvPr id="1480728" name="Freeform 24"/>
          <p:cNvSpPr>
            <a:spLocks/>
          </p:cNvSpPr>
          <p:nvPr/>
        </p:nvSpPr>
        <p:spPr bwMode="auto">
          <a:xfrm>
            <a:off x="609600" y="1371600"/>
            <a:ext cx="1452563" cy="1897063"/>
          </a:xfrm>
          <a:custGeom>
            <a:avLst/>
            <a:gdLst/>
            <a:ahLst/>
            <a:cxnLst>
              <a:cxn ang="0">
                <a:pos x="822" y="429"/>
              </a:cxn>
              <a:cxn ang="0">
                <a:pos x="915" y="429"/>
              </a:cxn>
              <a:cxn ang="0">
                <a:pos x="915" y="0"/>
              </a:cxn>
              <a:cxn ang="0">
                <a:pos x="0" y="1"/>
              </a:cxn>
              <a:cxn ang="0">
                <a:pos x="0" y="1195"/>
              </a:cxn>
              <a:cxn ang="0">
                <a:pos x="212" y="1195"/>
              </a:cxn>
            </a:cxnLst>
            <a:rect l="0" t="0" r="r" b="b"/>
            <a:pathLst>
              <a:path w="915" h="1195">
                <a:moveTo>
                  <a:pt x="822" y="429"/>
                </a:moveTo>
                <a:lnTo>
                  <a:pt x="915" y="429"/>
                </a:lnTo>
                <a:lnTo>
                  <a:pt x="915" y="0"/>
                </a:lnTo>
                <a:lnTo>
                  <a:pt x="0" y="1"/>
                </a:lnTo>
                <a:lnTo>
                  <a:pt x="0" y="1195"/>
                </a:lnTo>
                <a:lnTo>
                  <a:pt x="212" y="1195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29" name="Text Box 25"/>
          <p:cNvSpPr txBox="1">
            <a:spLocks noChangeArrowheads="1"/>
          </p:cNvSpPr>
          <p:nvPr/>
        </p:nvSpPr>
        <p:spPr bwMode="auto">
          <a:xfrm>
            <a:off x="3276600" y="3198813"/>
            <a:ext cx="301625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 i="1">
                <a:latin typeface="Verdana" charset="0"/>
              </a:rPr>
              <a:t>D</a:t>
            </a:r>
          </a:p>
        </p:txBody>
      </p:sp>
      <p:sp>
        <p:nvSpPr>
          <p:cNvPr id="1480730" name="Freeform 26"/>
          <p:cNvSpPr>
            <a:spLocks/>
          </p:cNvSpPr>
          <p:nvPr/>
        </p:nvSpPr>
        <p:spPr bwMode="auto">
          <a:xfrm>
            <a:off x="2771775" y="2732088"/>
            <a:ext cx="230188" cy="458787"/>
          </a:xfrm>
          <a:custGeom>
            <a:avLst/>
            <a:gdLst/>
            <a:ahLst/>
            <a:cxnLst>
              <a:cxn ang="0">
                <a:pos x="144" y="48"/>
              </a:cxn>
              <a:cxn ang="0">
                <a:pos x="144" y="240"/>
              </a:cxn>
              <a:cxn ang="0">
                <a:pos x="0" y="288"/>
              </a:cxn>
              <a:cxn ang="0">
                <a:pos x="0" y="0"/>
              </a:cxn>
              <a:cxn ang="0">
                <a:pos x="144" y="48"/>
              </a:cxn>
            </a:cxnLst>
            <a:rect l="0" t="0" r="r" b="b"/>
            <a:pathLst>
              <a:path w="145" h="289">
                <a:moveTo>
                  <a:pt x="144" y="48"/>
                </a:moveTo>
                <a:lnTo>
                  <a:pt x="144" y="240"/>
                </a:lnTo>
                <a:lnTo>
                  <a:pt x="0" y="288"/>
                </a:lnTo>
                <a:lnTo>
                  <a:pt x="0" y="0"/>
                </a:lnTo>
                <a:lnTo>
                  <a:pt x="144" y="48"/>
                </a:lnTo>
              </a:path>
            </a:pathLst>
          </a:custGeom>
          <a:solidFill>
            <a:schemeClr val="bg1"/>
          </a:solidFill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31" name="Rectangle 27"/>
          <p:cNvSpPr>
            <a:spLocks noChangeArrowheads="1"/>
          </p:cNvSpPr>
          <p:nvPr/>
        </p:nvSpPr>
        <p:spPr bwMode="auto">
          <a:xfrm>
            <a:off x="2133600" y="2667000"/>
            <a:ext cx="512763" cy="3016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400">
                <a:latin typeface="Verdana" charset="0"/>
              </a:rPr>
              <a:t>nop</a:t>
            </a:r>
          </a:p>
        </p:txBody>
      </p:sp>
      <p:sp>
        <p:nvSpPr>
          <p:cNvPr id="1480732" name="Line 28"/>
          <p:cNvSpPr>
            <a:spLocks noChangeShapeType="1"/>
          </p:cNvSpPr>
          <p:nvPr/>
        </p:nvSpPr>
        <p:spPr bwMode="auto">
          <a:xfrm>
            <a:off x="3003550" y="2947988"/>
            <a:ext cx="317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33" name="Line 29"/>
          <p:cNvSpPr>
            <a:spLocks noChangeShapeType="1"/>
          </p:cNvSpPr>
          <p:nvPr/>
        </p:nvSpPr>
        <p:spPr bwMode="auto">
          <a:xfrm flipV="1">
            <a:off x="2590800" y="2819400"/>
            <a:ext cx="1841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34" name="Freeform 30"/>
          <p:cNvSpPr>
            <a:spLocks/>
          </p:cNvSpPr>
          <p:nvPr/>
        </p:nvSpPr>
        <p:spPr bwMode="auto">
          <a:xfrm>
            <a:off x="2509838" y="3032125"/>
            <a:ext cx="252412" cy="242888"/>
          </a:xfrm>
          <a:custGeom>
            <a:avLst/>
            <a:gdLst/>
            <a:ahLst/>
            <a:cxnLst>
              <a:cxn ang="0">
                <a:pos x="0" y="153"/>
              </a:cxn>
              <a:cxn ang="0">
                <a:pos x="87" y="153"/>
              </a:cxn>
              <a:cxn ang="0">
                <a:pos x="87" y="0"/>
              </a:cxn>
              <a:cxn ang="0">
                <a:pos x="159" y="0"/>
              </a:cxn>
            </a:cxnLst>
            <a:rect l="0" t="0" r="r" b="b"/>
            <a:pathLst>
              <a:path w="159" h="153">
                <a:moveTo>
                  <a:pt x="0" y="153"/>
                </a:moveTo>
                <a:lnTo>
                  <a:pt x="87" y="153"/>
                </a:lnTo>
                <a:lnTo>
                  <a:pt x="87" y="0"/>
                </a:lnTo>
                <a:lnTo>
                  <a:pt x="159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35" name="Text Box 31"/>
          <p:cNvSpPr txBox="1">
            <a:spLocks noChangeArrowheads="1"/>
          </p:cNvSpPr>
          <p:nvPr/>
        </p:nvSpPr>
        <p:spPr bwMode="auto">
          <a:xfrm>
            <a:off x="2082800" y="3386138"/>
            <a:ext cx="452438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latin typeface="Verdana" charset="0"/>
              </a:rPr>
              <a:t>hit</a:t>
            </a:r>
            <a:r>
              <a:rPr lang="en-US" sz="1000">
                <a:latin typeface="Verdana" charset="0"/>
              </a:rPr>
              <a:t>?</a:t>
            </a:r>
            <a:endParaRPr lang="en-US" sz="2000">
              <a:latin typeface="Verdana" charset="0"/>
            </a:endParaRPr>
          </a:p>
        </p:txBody>
      </p:sp>
      <p:sp>
        <p:nvSpPr>
          <p:cNvPr id="1480736" name="Freeform 32"/>
          <p:cNvSpPr>
            <a:spLocks/>
          </p:cNvSpPr>
          <p:nvPr/>
        </p:nvSpPr>
        <p:spPr bwMode="auto">
          <a:xfrm>
            <a:off x="2514600" y="3124200"/>
            <a:ext cx="381000" cy="3810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240" y="240"/>
              </a:cxn>
              <a:cxn ang="0">
                <a:pos x="240" y="0"/>
              </a:cxn>
            </a:cxnLst>
            <a:rect l="0" t="0" r="r" b="b"/>
            <a:pathLst>
              <a:path w="240" h="240">
                <a:moveTo>
                  <a:pt x="0" y="240"/>
                </a:moveTo>
                <a:lnTo>
                  <a:pt x="240" y="240"/>
                </a:lnTo>
                <a:lnTo>
                  <a:pt x="240" y="0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37" name="Freeform 33"/>
          <p:cNvSpPr>
            <a:spLocks/>
          </p:cNvSpPr>
          <p:nvPr/>
        </p:nvSpPr>
        <p:spPr bwMode="auto">
          <a:xfrm>
            <a:off x="1066800" y="3505200"/>
            <a:ext cx="1828800" cy="1143000"/>
          </a:xfrm>
          <a:custGeom>
            <a:avLst/>
            <a:gdLst/>
            <a:ahLst/>
            <a:cxnLst>
              <a:cxn ang="0">
                <a:pos x="1152" y="0"/>
              </a:cxn>
              <a:cxn ang="0">
                <a:pos x="1148" y="635"/>
              </a:cxn>
              <a:cxn ang="0">
                <a:pos x="1" y="635"/>
              </a:cxn>
              <a:cxn ang="0">
                <a:pos x="0" y="48"/>
              </a:cxn>
            </a:cxnLst>
            <a:rect l="0" t="0" r="r" b="b"/>
            <a:pathLst>
              <a:path w="1152" h="635">
                <a:moveTo>
                  <a:pt x="1152" y="0"/>
                </a:moveTo>
                <a:lnTo>
                  <a:pt x="1148" y="635"/>
                </a:lnTo>
                <a:lnTo>
                  <a:pt x="1" y="635"/>
                </a:lnTo>
                <a:lnTo>
                  <a:pt x="0" y="48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38" name="Line 34"/>
          <p:cNvSpPr>
            <a:spLocks noChangeShapeType="1"/>
          </p:cNvSpPr>
          <p:nvPr/>
        </p:nvSpPr>
        <p:spPr bwMode="auto">
          <a:xfrm>
            <a:off x="2895600" y="4495800"/>
            <a:ext cx="0" cy="5334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39" name="Text Box 35"/>
          <p:cNvSpPr txBox="1">
            <a:spLocks noChangeArrowheads="1"/>
          </p:cNvSpPr>
          <p:nvPr/>
        </p:nvSpPr>
        <p:spPr bwMode="auto">
          <a:xfrm>
            <a:off x="0" y="3632200"/>
            <a:ext cx="1206500" cy="3048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lvl="1" algn="l">
              <a:spcBef>
                <a:spcPct val="0"/>
              </a:spcBef>
            </a:pPr>
            <a:r>
              <a:rPr lang="en-US" sz="1400">
                <a:latin typeface="Verdana" charset="0"/>
              </a:rPr>
              <a:t>PCen</a:t>
            </a:r>
          </a:p>
        </p:txBody>
      </p:sp>
      <p:sp>
        <p:nvSpPr>
          <p:cNvPr id="1480740" name="Rectangle 36"/>
          <p:cNvSpPr>
            <a:spLocks noChangeArrowheads="1"/>
          </p:cNvSpPr>
          <p:nvPr/>
        </p:nvSpPr>
        <p:spPr bwMode="auto">
          <a:xfrm>
            <a:off x="3810000" y="2133600"/>
            <a:ext cx="990600" cy="1676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400">
                <a:latin typeface="Verdana" charset="0"/>
              </a:rPr>
              <a:t>Decode,</a:t>
            </a:r>
          </a:p>
          <a:p>
            <a:pPr>
              <a:spcBef>
                <a:spcPct val="0"/>
              </a:spcBef>
            </a:pPr>
            <a:r>
              <a:rPr lang="en-US" sz="1400">
                <a:latin typeface="Verdana" charset="0"/>
              </a:rPr>
              <a:t>Register</a:t>
            </a:r>
          </a:p>
          <a:p>
            <a:pPr>
              <a:spcBef>
                <a:spcPct val="0"/>
              </a:spcBef>
            </a:pPr>
            <a:r>
              <a:rPr lang="en-US" sz="1400">
                <a:latin typeface="Verdana" charset="0"/>
              </a:rPr>
              <a:t>Fetch</a:t>
            </a:r>
          </a:p>
        </p:txBody>
      </p:sp>
      <p:sp>
        <p:nvSpPr>
          <p:cNvPr id="1480741" name="Line 37"/>
          <p:cNvSpPr>
            <a:spLocks noChangeShapeType="1"/>
          </p:cNvSpPr>
          <p:nvPr/>
        </p:nvSpPr>
        <p:spPr bwMode="auto">
          <a:xfrm>
            <a:off x="3505200" y="297180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42" name="Freeform 38"/>
          <p:cNvSpPr>
            <a:spLocks/>
          </p:cNvSpPr>
          <p:nvPr/>
        </p:nvSpPr>
        <p:spPr bwMode="auto">
          <a:xfrm flipV="1">
            <a:off x="7772400" y="2919413"/>
            <a:ext cx="376238" cy="1285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36" y="0"/>
              </a:cxn>
            </a:cxnLst>
            <a:rect l="0" t="0" r="r" b="b"/>
            <a:pathLst>
              <a:path w="337" h="1">
                <a:moveTo>
                  <a:pt x="0" y="0"/>
                </a:moveTo>
                <a:lnTo>
                  <a:pt x="336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43" name="Freeform 39"/>
          <p:cNvSpPr>
            <a:spLocks/>
          </p:cNvSpPr>
          <p:nvPr/>
        </p:nvSpPr>
        <p:spPr bwMode="auto">
          <a:xfrm>
            <a:off x="6400800" y="2667000"/>
            <a:ext cx="1746250" cy="11557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728"/>
              </a:cxn>
              <a:cxn ang="0">
                <a:pos x="843" y="728"/>
              </a:cxn>
              <a:cxn ang="0">
                <a:pos x="986" y="728"/>
              </a:cxn>
              <a:cxn ang="0">
                <a:pos x="984" y="404"/>
              </a:cxn>
              <a:cxn ang="0">
                <a:pos x="1100" y="399"/>
              </a:cxn>
            </a:cxnLst>
            <a:rect l="0" t="0" r="r" b="b"/>
            <a:pathLst>
              <a:path w="1100" h="728">
                <a:moveTo>
                  <a:pt x="0" y="0"/>
                </a:moveTo>
                <a:lnTo>
                  <a:pt x="0" y="728"/>
                </a:lnTo>
                <a:lnTo>
                  <a:pt x="843" y="728"/>
                </a:lnTo>
                <a:lnTo>
                  <a:pt x="986" y="728"/>
                </a:lnTo>
                <a:lnTo>
                  <a:pt x="984" y="404"/>
                </a:lnTo>
                <a:lnTo>
                  <a:pt x="1100" y="399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44" name="Oval 40"/>
          <p:cNvSpPr>
            <a:spLocks noChangeArrowheads="1"/>
          </p:cNvSpPr>
          <p:nvPr/>
        </p:nvSpPr>
        <p:spPr bwMode="auto">
          <a:xfrm>
            <a:off x="6362700" y="2627313"/>
            <a:ext cx="50800" cy="50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45" name="Rectangle 41"/>
          <p:cNvSpPr>
            <a:spLocks noChangeArrowheads="1"/>
          </p:cNvSpPr>
          <p:nvPr/>
        </p:nvSpPr>
        <p:spPr bwMode="auto">
          <a:xfrm>
            <a:off x="6726238" y="3340100"/>
            <a:ext cx="528637" cy="2254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900">
                <a:latin typeface="Verdana" charset="0"/>
              </a:rPr>
              <a:t>wdata</a:t>
            </a:r>
          </a:p>
        </p:txBody>
      </p: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8359775" y="3008313"/>
            <a:ext cx="304800" cy="485775"/>
            <a:chOff x="5420" y="2656"/>
            <a:chExt cx="192" cy="306"/>
          </a:xfrm>
        </p:grpSpPr>
        <p:sp>
          <p:nvSpPr>
            <p:cNvPr id="1480747" name="Line 43"/>
            <p:cNvSpPr>
              <a:spLocks noChangeShapeType="1"/>
            </p:cNvSpPr>
            <p:nvPr/>
          </p:nvSpPr>
          <p:spPr bwMode="auto">
            <a:xfrm flipH="1">
              <a:off x="5420" y="2800"/>
              <a:ext cx="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48" name="Rectangle 44"/>
            <p:cNvSpPr>
              <a:spLocks noChangeArrowheads="1"/>
            </p:cNvSpPr>
            <p:nvPr/>
          </p:nvSpPr>
          <p:spPr bwMode="auto">
            <a:xfrm>
              <a:off x="5471" y="2656"/>
              <a:ext cx="109" cy="304"/>
            </a:xfrm>
            <a:prstGeom prst="rect">
              <a:avLst/>
            </a:prstGeom>
            <a:solidFill>
              <a:schemeClr val="fol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49" name="Freeform 45"/>
            <p:cNvSpPr>
              <a:spLocks/>
            </p:cNvSpPr>
            <p:nvPr/>
          </p:nvSpPr>
          <p:spPr bwMode="auto">
            <a:xfrm>
              <a:off x="5504" y="2918"/>
              <a:ext cx="43" cy="44"/>
            </a:xfrm>
            <a:custGeom>
              <a:avLst/>
              <a:gdLst/>
              <a:ahLst/>
              <a:cxnLst>
                <a:cxn ang="0">
                  <a:pos x="0" y="43"/>
                </a:cxn>
                <a:cxn ang="0">
                  <a:pos x="21" y="0"/>
                </a:cxn>
                <a:cxn ang="0">
                  <a:pos x="42" y="43"/>
                </a:cxn>
              </a:cxnLst>
              <a:rect l="0" t="0" r="r" b="b"/>
              <a:pathLst>
                <a:path w="43" h="44">
                  <a:moveTo>
                    <a:pt x="0" y="43"/>
                  </a:moveTo>
                  <a:lnTo>
                    <a:pt x="21" y="0"/>
                  </a:lnTo>
                  <a:lnTo>
                    <a:pt x="42" y="43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50" name="Rectangle 46"/>
            <p:cNvSpPr>
              <a:spLocks noChangeArrowheads="1"/>
            </p:cNvSpPr>
            <p:nvPr/>
          </p:nvSpPr>
          <p:spPr bwMode="auto">
            <a:xfrm>
              <a:off x="5431" y="2723"/>
              <a:ext cx="181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200">
                  <a:latin typeface="Verdana" charset="0"/>
                </a:rPr>
                <a:t>R</a:t>
              </a:r>
            </a:p>
          </p:txBody>
        </p:sp>
      </p:grpSp>
      <p:sp>
        <p:nvSpPr>
          <p:cNvPr id="1480751" name="Rectangle 47"/>
          <p:cNvSpPr>
            <a:spLocks noChangeArrowheads="1"/>
          </p:cNvSpPr>
          <p:nvPr/>
        </p:nvSpPr>
        <p:spPr bwMode="auto">
          <a:xfrm>
            <a:off x="6791325" y="2449513"/>
            <a:ext cx="981075" cy="1193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52" name="Rectangle 48"/>
          <p:cNvSpPr>
            <a:spLocks noChangeArrowheads="1"/>
          </p:cNvSpPr>
          <p:nvPr/>
        </p:nvSpPr>
        <p:spPr bwMode="auto">
          <a:xfrm>
            <a:off x="6751638" y="2522538"/>
            <a:ext cx="527050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addr</a:t>
            </a:r>
          </a:p>
        </p:txBody>
      </p:sp>
      <p:sp>
        <p:nvSpPr>
          <p:cNvPr id="1480753" name="Rectangle 49"/>
          <p:cNvSpPr>
            <a:spLocks noChangeArrowheads="1"/>
          </p:cNvSpPr>
          <p:nvPr/>
        </p:nvSpPr>
        <p:spPr bwMode="auto">
          <a:xfrm>
            <a:off x="6751638" y="3362325"/>
            <a:ext cx="644525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wdata</a:t>
            </a:r>
          </a:p>
        </p:txBody>
      </p:sp>
      <p:sp>
        <p:nvSpPr>
          <p:cNvPr id="1480754" name="Rectangle 50"/>
          <p:cNvSpPr>
            <a:spLocks noChangeArrowheads="1"/>
          </p:cNvSpPr>
          <p:nvPr/>
        </p:nvSpPr>
        <p:spPr bwMode="auto">
          <a:xfrm>
            <a:off x="7251700" y="2908300"/>
            <a:ext cx="584200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rdata</a:t>
            </a:r>
          </a:p>
        </p:txBody>
      </p:sp>
      <p:sp>
        <p:nvSpPr>
          <p:cNvPr id="1480755" name="Rectangle 51"/>
          <p:cNvSpPr>
            <a:spLocks noChangeArrowheads="1"/>
          </p:cNvSpPr>
          <p:nvPr/>
        </p:nvSpPr>
        <p:spPr bwMode="auto">
          <a:xfrm>
            <a:off x="6724650" y="2778125"/>
            <a:ext cx="774700" cy="555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lang="en-US" sz="1200">
                <a:latin typeface="Verdana" charset="0"/>
              </a:rPr>
              <a:t>Primary</a:t>
            </a:r>
          </a:p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lang="en-US" sz="1200">
                <a:latin typeface="Verdana" charset="0"/>
              </a:rPr>
              <a:t>Data </a:t>
            </a:r>
          </a:p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lang="en-US" sz="1200">
                <a:latin typeface="Verdana" charset="0"/>
              </a:rPr>
              <a:t>Cache</a:t>
            </a:r>
          </a:p>
        </p:txBody>
      </p:sp>
      <p:sp>
        <p:nvSpPr>
          <p:cNvPr id="1480756" name="Rectangle 52"/>
          <p:cNvSpPr>
            <a:spLocks noChangeArrowheads="1"/>
          </p:cNvSpPr>
          <p:nvPr/>
        </p:nvSpPr>
        <p:spPr bwMode="auto">
          <a:xfrm>
            <a:off x="6942138" y="2370138"/>
            <a:ext cx="396875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we</a:t>
            </a:r>
          </a:p>
        </p:txBody>
      </p:sp>
      <p:sp>
        <p:nvSpPr>
          <p:cNvPr id="1480757" name="Freeform 53"/>
          <p:cNvSpPr>
            <a:spLocks/>
          </p:cNvSpPr>
          <p:nvPr/>
        </p:nvSpPr>
        <p:spPr bwMode="auto">
          <a:xfrm>
            <a:off x="8137525" y="2908300"/>
            <a:ext cx="230188" cy="517525"/>
          </a:xfrm>
          <a:custGeom>
            <a:avLst/>
            <a:gdLst/>
            <a:ahLst/>
            <a:cxnLst>
              <a:cxn ang="0">
                <a:pos x="144" y="41"/>
              </a:cxn>
              <a:cxn ang="0">
                <a:pos x="144" y="284"/>
              </a:cxn>
              <a:cxn ang="0">
                <a:pos x="0" y="325"/>
              </a:cxn>
              <a:cxn ang="0">
                <a:pos x="0" y="0"/>
              </a:cxn>
              <a:cxn ang="0">
                <a:pos x="144" y="41"/>
              </a:cxn>
            </a:cxnLst>
            <a:rect l="0" t="0" r="r" b="b"/>
            <a:pathLst>
              <a:path w="145" h="326">
                <a:moveTo>
                  <a:pt x="144" y="41"/>
                </a:moveTo>
                <a:lnTo>
                  <a:pt x="144" y="284"/>
                </a:lnTo>
                <a:lnTo>
                  <a:pt x="0" y="325"/>
                </a:lnTo>
                <a:lnTo>
                  <a:pt x="0" y="0"/>
                </a:lnTo>
                <a:lnTo>
                  <a:pt x="144" y="41"/>
                </a:lnTo>
              </a:path>
            </a:pathLst>
          </a:custGeom>
          <a:solidFill>
            <a:schemeClr val="bg1"/>
          </a:solidFill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58" name="Freeform 54"/>
          <p:cNvSpPr>
            <a:spLocks/>
          </p:cNvSpPr>
          <p:nvPr/>
        </p:nvSpPr>
        <p:spPr bwMode="auto">
          <a:xfrm flipV="1">
            <a:off x="6848475" y="2463800"/>
            <a:ext cx="68263" cy="69850"/>
          </a:xfrm>
          <a:custGeom>
            <a:avLst/>
            <a:gdLst/>
            <a:ahLst/>
            <a:cxnLst>
              <a:cxn ang="0">
                <a:pos x="0" y="43"/>
              </a:cxn>
              <a:cxn ang="0">
                <a:pos x="21" y="0"/>
              </a:cxn>
              <a:cxn ang="0">
                <a:pos x="42" y="43"/>
              </a:cxn>
            </a:cxnLst>
            <a:rect l="0" t="0" r="r" b="b"/>
            <a:pathLst>
              <a:path w="43" h="44">
                <a:moveTo>
                  <a:pt x="0" y="43"/>
                </a:moveTo>
                <a:lnTo>
                  <a:pt x="21" y="0"/>
                </a:lnTo>
                <a:lnTo>
                  <a:pt x="42" y="43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59" name="Line 55"/>
          <p:cNvSpPr>
            <a:spLocks noChangeShapeType="1"/>
          </p:cNvSpPr>
          <p:nvPr/>
        </p:nvSpPr>
        <p:spPr bwMode="auto">
          <a:xfrm>
            <a:off x="4800600" y="2906713"/>
            <a:ext cx="695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60" name="Oval 56"/>
          <p:cNvSpPr>
            <a:spLocks noChangeArrowheads="1"/>
          </p:cNvSpPr>
          <p:nvPr/>
        </p:nvSpPr>
        <p:spPr bwMode="auto">
          <a:xfrm>
            <a:off x="6362700" y="2627313"/>
            <a:ext cx="50800" cy="50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57"/>
          <p:cNvGrpSpPr>
            <a:grpSpLocks/>
          </p:cNvGrpSpPr>
          <p:nvPr/>
        </p:nvGrpSpPr>
        <p:grpSpPr bwMode="auto">
          <a:xfrm>
            <a:off x="5043488" y="2157413"/>
            <a:ext cx="285750" cy="485775"/>
            <a:chOff x="3311" y="2120"/>
            <a:chExt cx="180" cy="306"/>
          </a:xfrm>
        </p:grpSpPr>
        <p:sp>
          <p:nvSpPr>
            <p:cNvPr id="1480762" name="Rectangle 58"/>
            <p:cNvSpPr>
              <a:spLocks noChangeArrowheads="1"/>
            </p:cNvSpPr>
            <p:nvPr/>
          </p:nvSpPr>
          <p:spPr bwMode="auto">
            <a:xfrm>
              <a:off x="3335" y="2120"/>
              <a:ext cx="109" cy="304"/>
            </a:xfrm>
            <a:prstGeom prst="rect">
              <a:avLst/>
            </a:prstGeom>
            <a:solidFill>
              <a:schemeClr val="fol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63" name="Freeform 59"/>
            <p:cNvSpPr>
              <a:spLocks/>
            </p:cNvSpPr>
            <p:nvPr/>
          </p:nvSpPr>
          <p:spPr bwMode="auto">
            <a:xfrm>
              <a:off x="3368" y="2382"/>
              <a:ext cx="43" cy="44"/>
            </a:xfrm>
            <a:custGeom>
              <a:avLst/>
              <a:gdLst/>
              <a:ahLst/>
              <a:cxnLst>
                <a:cxn ang="0">
                  <a:pos x="0" y="43"/>
                </a:cxn>
                <a:cxn ang="0">
                  <a:pos x="21" y="0"/>
                </a:cxn>
                <a:cxn ang="0">
                  <a:pos x="42" y="43"/>
                </a:cxn>
              </a:cxnLst>
              <a:rect l="0" t="0" r="r" b="b"/>
              <a:pathLst>
                <a:path w="43" h="44">
                  <a:moveTo>
                    <a:pt x="0" y="43"/>
                  </a:moveTo>
                  <a:lnTo>
                    <a:pt x="21" y="0"/>
                  </a:lnTo>
                  <a:lnTo>
                    <a:pt x="42" y="43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64" name="Rectangle 60"/>
            <p:cNvSpPr>
              <a:spLocks noChangeArrowheads="1"/>
            </p:cNvSpPr>
            <p:nvPr/>
          </p:nvSpPr>
          <p:spPr bwMode="auto">
            <a:xfrm>
              <a:off x="3311" y="2195"/>
              <a:ext cx="180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200">
                  <a:latin typeface="Verdana" charset="0"/>
                </a:rPr>
                <a:t>A</a:t>
              </a:r>
            </a:p>
          </p:txBody>
        </p:sp>
      </p:grpSp>
      <p:grpSp>
        <p:nvGrpSpPr>
          <p:cNvPr id="5" name="Group 61"/>
          <p:cNvGrpSpPr>
            <a:grpSpLocks/>
          </p:cNvGrpSpPr>
          <p:nvPr/>
        </p:nvGrpSpPr>
        <p:grpSpPr bwMode="auto">
          <a:xfrm>
            <a:off x="5018088" y="2690813"/>
            <a:ext cx="285750" cy="485775"/>
            <a:chOff x="3295" y="2456"/>
            <a:chExt cx="180" cy="306"/>
          </a:xfrm>
        </p:grpSpPr>
        <p:sp>
          <p:nvSpPr>
            <p:cNvPr id="1480766" name="Rectangle 62"/>
            <p:cNvSpPr>
              <a:spLocks noChangeArrowheads="1"/>
            </p:cNvSpPr>
            <p:nvPr/>
          </p:nvSpPr>
          <p:spPr bwMode="auto">
            <a:xfrm>
              <a:off x="3335" y="2456"/>
              <a:ext cx="109" cy="304"/>
            </a:xfrm>
            <a:prstGeom prst="rect">
              <a:avLst/>
            </a:prstGeom>
            <a:solidFill>
              <a:schemeClr val="fol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67" name="Freeform 63"/>
            <p:cNvSpPr>
              <a:spLocks/>
            </p:cNvSpPr>
            <p:nvPr/>
          </p:nvSpPr>
          <p:spPr bwMode="auto">
            <a:xfrm>
              <a:off x="3368" y="2718"/>
              <a:ext cx="43" cy="44"/>
            </a:xfrm>
            <a:custGeom>
              <a:avLst/>
              <a:gdLst/>
              <a:ahLst/>
              <a:cxnLst>
                <a:cxn ang="0">
                  <a:pos x="0" y="43"/>
                </a:cxn>
                <a:cxn ang="0">
                  <a:pos x="21" y="0"/>
                </a:cxn>
                <a:cxn ang="0">
                  <a:pos x="42" y="43"/>
                </a:cxn>
              </a:cxnLst>
              <a:rect l="0" t="0" r="r" b="b"/>
              <a:pathLst>
                <a:path w="43" h="44">
                  <a:moveTo>
                    <a:pt x="0" y="43"/>
                  </a:moveTo>
                  <a:lnTo>
                    <a:pt x="21" y="0"/>
                  </a:lnTo>
                  <a:lnTo>
                    <a:pt x="42" y="43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68" name="Rectangle 64"/>
            <p:cNvSpPr>
              <a:spLocks noChangeArrowheads="1"/>
            </p:cNvSpPr>
            <p:nvPr/>
          </p:nvSpPr>
          <p:spPr bwMode="auto">
            <a:xfrm>
              <a:off x="3295" y="2539"/>
              <a:ext cx="180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200">
                  <a:latin typeface="Verdana" charset="0"/>
                </a:rPr>
                <a:t>B</a:t>
              </a:r>
            </a:p>
          </p:txBody>
        </p:sp>
      </p:grpSp>
      <p:grpSp>
        <p:nvGrpSpPr>
          <p:cNvPr id="6" name="Group 65"/>
          <p:cNvGrpSpPr>
            <a:grpSpLocks/>
          </p:cNvGrpSpPr>
          <p:nvPr/>
        </p:nvGrpSpPr>
        <p:grpSpPr bwMode="auto">
          <a:xfrm>
            <a:off x="6019800" y="2438400"/>
            <a:ext cx="274638" cy="485775"/>
            <a:chOff x="3781" y="1671"/>
            <a:chExt cx="173" cy="306"/>
          </a:xfrm>
        </p:grpSpPr>
        <p:sp>
          <p:nvSpPr>
            <p:cNvPr id="1480770" name="Rectangle 66"/>
            <p:cNvSpPr>
              <a:spLocks noChangeArrowheads="1"/>
            </p:cNvSpPr>
            <p:nvPr/>
          </p:nvSpPr>
          <p:spPr bwMode="auto">
            <a:xfrm>
              <a:off x="3805" y="1671"/>
              <a:ext cx="109" cy="304"/>
            </a:xfrm>
            <a:prstGeom prst="rect">
              <a:avLst/>
            </a:prstGeom>
            <a:solidFill>
              <a:schemeClr val="fol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71" name="Freeform 67"/>
            <p:cNvSpPr>
              <a:spLocks/>
            </p:cNvSpPr>
            <p:nvPr/>
          </p:nvSpPr>
          <p:spPr bwMode="auto">
            <a:xfrm>
              <a:off x="3838" y="1933"/>
              <a:ext cx="43" cy="44"/>
            </a:xfrm>
            <a:custGeom>
              <a:avLst/>
              <a:gdLst/>
              <a:ahLst/>
              <a:cxnLst>
                <a:cxn ang="0">
                  <a:pos x="0" y="43"/>
                </a:cxn>
                <a:cxn ang="0">
                  <a:pos x="21" y="0"/>
                </a:cxn>
                <a:cxn ang="0">
                  <a:pos x="42" y="43"/>
                </a:cxn>
              </a:cxnLst>
              <a:rect l="0" t="0" r="r" b="b"/>
              <a:pathLst>
                <a:path w="43" h="44">
                  <a:moveTo>
                    <a:pt x="0" y="43"/>
                  </a:moveTo>
                  <a:lnTo>
                    <a:pt x="21" y="0"/>
                  </a:lnTo>
                  <a:lnTo>
                    <a:pt x="42" y="43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72" name="Rectangle 68"/>
            <p:cNvSpPr>
              <a:spLocks noChangeArrowheads="1"/>
            </p:cNvSpPr>
            <p:nvPr/>
          </p:nvSpPr>
          <p:spPr bwMode="auto">
            <a:xfrm>
              <a:off x="3781" y="1746"/>
              <a:ext cx="173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200">
                  <a:latin typeface="Verdana" charset="0"/>
                </a:rPr>
                <a:t>Y</a:t>
              </a:r>
            </a:p>
          </p:txBody>
        </p:sp>
        <p:sp>
          <p:nvSpPr>
            <p:cNvPr id="1480773" name="Rectangle 69"/>
            <p:cNvSpPr>
              <a:spLocks noChangeArrowheads="1"/>
            </p:cNvSpPr>
            <p:nvPr/>
          </p:nvSpPr>
          <p:spPr bwMode="auto">
            <a:xfrm>
              <a:off x="3805" y="1671"/>
              <a:ext cx="109" cy="304"/>
            </a:xfrm>
            <a:prstGeom prst="rect">
              <a:avLst/>
            </a:prstGeom>
            <a:solidFill>
              <a:schemeClr val="fol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74" name="Freeform 70"/>
            <p:cNvSpPr>
              <a:spLocks/>
            </p:cNvSpPr>
            <p:nvPr/>
          </p:nvSpPr>
          <p:spPr bwMode="auto">
            <a:xfrm>
              <a:off x="3838" y="1933"/>
              <a:ext cx="43" cy="44"/>
            </a:xfrm>
            <a:custGeom>
              <a:avLst/>
              <a:gdLst/>
              <a:ahLst/>
              <a:cxnLst>
                <a:cxn ang="0">
                  <a:pos x="0" y="43"/>
                </a:cxn>
                <a:cxn ang="0">
                  <a:pos x="21" y="0"/>
                </a:cxn>
                <a:cxn ang="0">
                  <a:pos x="42" y="43"/>
                </a:cxn>
              </a:cxnLst>
              <a:rect l="0" t="0" r="r" b="b"/>
              <a:pathLst>
                <a:path w="43" h="44">
                  <a:moveTo>
                    <a:pt x="0" y="43"/>
                  </a:moveTo>
                  <a:lnTo>
                    <a:pt x="21" y="0"/>
                  </a:lnTo>
                  <a:lnTo>
                    <a:pt x="42" y="43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75" name="Rectangle 71"/>
            <p:cNvSpPr>
              <a:spLocks noChangeArrowheads="1"/>
            </p:cNvSpPr>
            <p:nvPr/>
          </p:nvSpPr>
          <p:spPr bwMode="auto">
            <a:xfrm>
              <a:off x="3781" y="1746"/>
              <a:ext cx="173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200">
                  <a:latin typeface="Verdana" charset="0"/>
                </a:rPr>
                <a:t>Y</a:t>
              </a:r>
            </a:p>
          </p:txBody>
        </p:sp>
      </p:grpSp>
      <p:grpSp>
        <p:nvGrpSpPr>
          <p:cNvPr id="7" name="Group 72"/>
          <p:cNvGrpSpPr>
            <a:grpSpLocks/>
          </p:cNvGrpSpPr>
          <p:nvPr/>
        </p:nvGrpSpPr>
        <p:grpSpPr bwMode="auto">
          <a:xfrm>
            <a:off x="5487988" y="2384425"/>
            <a:ext cx="431800" cy="611188"/>
            <a:chOff x="3611" y="2263"/>
            <a:chExt cx="272" cy="385"/>
          </a:xfrm>
        </p:grpSpPr>
        <p:sp>
          <p:nvSpPr>
            <p:cNvPr id="1480777" name="Freeform 73"/>
            <p:cNvSpPr>
              <a:spLocks/>
            </p:cNvSpPr>
            <p:nvPr/>
          </p:nvSpPr>
          <p:spPr bwMode="auto">
            <a:xfrm>
              <a:off x="3619" y="2263"/>
              <a:ext cx="250" cy="38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60"/>
                </a:cxn>
                <a:cxn ang="0">
                  <a:pos x="50" y="192"/>
                </a:cxn>
                <a:cxn ang="0">
                  <a:pos x="0" y="224"/>
                </a:cxn>
                <a:cxn ang="0">
                  <a:pos x="0" y="384"/>
                </a:cxn>
                <a:cxn ang="0">
                  <a:pos x="249" y="288"/>
                </a:cxn>
                <a:cxn ang="0">
                  <a:pos x="249" y="96"/>
                </a:cxn>
                <a:cxn ang="0">
                  <a:pos x="0" y="0"/>
                </a:cxn>
              </a:cxnLst>
              <a:rect l="0" t="0" r="r" b="b"/>
              <a:pathLst>
                <a:path w="250" h="385">
                  <a:moveTo>
                    <a:pt x="0" y="0"/>
                  </a:moveTo>
                  <a:lnTo>
                    <a:pt x="0" y="160"/>
                  </a:lnTo>
                  <a:lnTo>
                    <a:pt x="50" y="192"/>
                  </a:lnTo>
                  <a:lnTo>
                    <a:pt x="0" y="224"/>
                  </a:lnTo>
                  <a:lnTo>
                    <a:pt x="0" y="384"/>
                  </a:lnTo>
                  <a:lnTo>
                    <a:pt x="249" y="288"/>
                  </a:lnTo>
                  <a:lnTo>
                    <a:pt x="249" y="96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78" name="Rectangle 74"/>
            <p:cNvSpPr>
              <a:spLocks noChangeArrowheads="1"/>
            </p:cNvSpPr>
            <p:nvPr/>
          </p:nvSpPr>
          <p:spPr bwMode="auto">
            <a:xfrm>
              <a:off x="3611" y="2373"/>
              <a:ext cx="272" cy="1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000">
                  <a:latin typeface="Verdana" charset="0"/>
                </a:rPr>
                <a:t>ALU</a:t>
              </a:r>
            </a:p>
          </p:txBody>
        </p:sp>
      </p:grpSp>
      <p:grpSp>
        <p:nvGrpSpPr>
          <p:cNvPr id="8" name="Group 75"/>
          <p:cNvGrpSpPr>
            <a:grpSpLocks/>
          </p:cNvGrpSpPr>
          <p:nvPr/>
        </p:nvGrpSpPr>
        <p:grpSpPr bwMode="auto">
          <a:xfrm>
            <a:off x="5105400" y="3276600"/>
            <a:ext cx="173038" cy="485775"/>
            <a:chOff x="3335" y="2792"/>
            <a:chExt cx="109" cy="306"/>
          </a:xfrm>
        </p:grpSpPr>
        <p:sp>
          <p:nvSpPr>
            <p:cNvPr id="1480780" name="Rectangle 76"/>
            <p:cNvSpPr>
              <a:spLocks noChangeArrowheads="1"/>
            </p:cNvSpPr>
            <p:nvPr/>
          </p:nvSpPr>
          <p:spPr bwMode="auto">
            <a:xfrm>
              <a:off x="3335" y="2792"/>
              <a:ext cx="109" cy="304"/>
            </a:xfrm>
            <a:prstGeom prst="rect">
              <a:avLst/>
            </a:prstGeom>
            <a:solidFill>
              <a:schemeClr val="fol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81" name="Freeform 77"/>
            <p:cNvSpPr>
              <a:spLocks/>
            </p:cNvSpPr>
            <p:nvPr/>
          </p:nvSpPr>
          <p:spPr bwMode="auto">
            <a:xfrm>
              <a:off x="3368" y="3054"/>
              <a:ext cx="43" cy="44"/>
            </a:xfrm>
            <a:custGeom>
              <a:avLst/>
              <a:gdLst/>
              <a:ahLst/>
              <a:cxnLst>
                <a:cxn ang="0">
                  <a:pos x="0" y="43"/>
                </a:cxn>
                <a:cxn ang="0">
                  <a:pos x="21" y="0"/>
                </a:cxn>
                <a:cxn ang="0">
                  <a:pos x="42" y="43"/>
                </a:cxn>
              </a:cxnLst>
              <a:rect l="0" t="0" r="r" b="b"/>
              <a:pathLst>
                <a:path w="43" h="44">
                  <a:moveTo>
                    <a:pt x="0" y="43"/>
                  </a:moveTo>
                  <a:lnTo>
                    <a:pt x="21" y="0"/>
                  </a:lnTo>
                  <a:lnTo>
                    <a:pt x="42" y="43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9" name="Group 78"/>
          <p:cNvGrpSpPr>
            <a:grpSpLocks/>
          </p:cNvGrpSpPr>
          <p:nvPr/>
        </p:nvGrpSpPr>
        <p:grpSpPr bwMode="auto">
          <a:xfrm>
            <a:off x="6073775" y="3276600"/>
            <a:ext cx="173038" cy="485775"/>
            <a:chOff x="3951" y="2792"/>
            <a:chExt cx="109" cy="306"/>
          </a:xfrm>
        </p:grpSpPr>
        <p:sp>
          <p:nvSpPr>
            <p:cNvPr id="1480783" name="Rectangle 79"/>
            <p:cNvSpPr>
              <a:spLocks noChangeArrowheads="1"/>
            </p:cNvSpPr>
            <p:nvPr/>
          </p:nvSpPr>
          <p:spPr bwMode="auto">
            <a:xfrm>
              <a:off x="3951" y="2792"/>
              <a:ext cx="109" cy="304"/>
            </a:xfrm>
            <a:prstGeom prst="rect">
              <a:avLst/>
            </a:prstGeom>
            <a:solidFill>
              <a:schemeClr val="fol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84" name="Freeform 80"/>
            <p:cNvSpPr>
              <a:spLocks/>
            </p:cNvSpPr>
            <p:nvPr/>
          </p:nvSpPr>
          <p:spPr bwMode="auto">
            <a:xfrm>
              <a:off x="3984" y="3054"/>
              <a:ext cx="43" cy="44"/>
            </a:xfrm>
            <a:custGeom>
              <a:avLst/>
              <a:gdLst/>
              <a:ahLst/>
              <a:cxnLst>
                <a:cxn ang="0">
                  <a:pos x="0" y="43"/>
                </a:cxn>
                <a:cxn ang="0">
                  <a:pos x="21" y="0"/>
                </a:cxn>
                <a:cxn ang="0">
                  <a:pos x="42" y="43"/>
                </a:cxn>
              </a:cxnLst>
              <a:rect l="0" t="0" r="r" b="b"/>
              <a:pathLst>
                <a:path w="43" h="44">
                  <a:moveTo>
                    <a:pt x="0" y="43"/>
                  </a:moveTo>
                  <a:lnTo>
                    <a:pt x="21" y="0"/>
                  </a:lnTo>
                  <a:lnTo>
                    <a:pt x="42" y="43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80785" name="Line 81"/>
          <p:cNvSpPr>
            <a:spLocks noChangeShapeType="1"/>
          </p:cNvSpPr>
          <p:nvPr/>
        </p:nvSpPr>
        <p:spPr bwMode="auto">
          <a:xfrm>
            <a:off x="6400800" y="26670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86" name="Rectangle 82"/>
          <p:cNvSpPr>
            <a:spLocks noChangeArrowheads="1"/>
          </p:cNvSpPr>
          <p:nvPr/>
        </p:nvSpPr>
        <p:spPr bwMode="auto">
          <a:xfrm>
            <a:off x="4953000" y="3810000"/>
            <a:ext cx="523875" cy="2714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MD1</a:t>
            </a:r>
          </a:p>
        </p:txBody>
      </p:sp>
      <p:sp>
        <p:nvSpPr>
          <p:cNvPr id="1480787" name="Rectangle 83"/>
          <p:cNvSpPr>
            <a:spLocks noChangeArrowheads="1"/>
          </p:cNvSpPr>
          <p:nvPr/>
        </p:nvSpPr>
        <p:spPr bwMode="auto">
          <a:xfrm>
            <a:off x="5854700" y="3822700"/>
            <a:ext cx="523875" cy="2714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MD2</a:t>
            </a:r>
          </a:p>
        </p:txBody>
      </p:sp>
      <p:sp>
        <p:nvSpPr>
          <p:cNvPr id="1480788" name="Freeform 84"/>
          <p:cNvSpPr>
            <a:spLocks/>
          </p:cNvSpPr>
          <p:nvPr/>
        </p:nvSpPr>
        <p:spPr bwMode="auto">
          <a:xfrm>
            <a:off x="2057400" y="4343400"/>
            <a:ext cx="2514600" cy="1362075"/>
          </a:xfrm>
          <a:custGeom>
            <a:avLst/>
            <a:gdLst/>
            <a:ahLst/>
            <a:cxnLst>
              <a:cxn ang="0">
                <a:pos x="1584" y="858"/>
              </a:cxn>
              <a:cxn ang="0">
                <a:pos x="1584" y="665"/>
              </a:cxn>
              <a:cxn ang="0">
                <a:pos x="0" y="665"/>
              </a:cxn>
              <a:cxn ang="0">
                <a:pos x="0" y="0"/>
              </a:cxn>
            </a:cxnLst>
            <a:rect l="0" t="0" r="r" b="b"/>
            <a:pathLst>
              <a:path w="1584" h="858">
                <a:moveTo>
                  <a:pt x="1584" y="858"/>
                </a:moveTo>
                <a:lnTo>
                  <a:pt x="1584" y="665"/>
                </a:lnTo>
                <a:lnTo>
                  <a:pt x="0" y="665"/>
                </a:ln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89" name="Freeform 85"/>
          <p:cNvSpPr>
            <a:spLocks/>
          </p:cNvSpPr>
          <p:nvPr/>
        </p:nvSpPr>
        <p:spPr bwMode="auto">
          <a:xfrm>
            <a:off x="4572000" y="3657600"/>
            <a:ext cx="2743200" cy="1752600"/>
          </a:xfrm>
          <a:custGeom>
            <a:avLst/>
            <a:gdLst/>
            <a:ahLst/>
            <a:cxnLst>
              <a:cxn ang="0">
                <a:pos x="0" y="1296"/>
              </a:cxn>
              <a:cxn ang="0">
                <a:pos x="1728" y="1296"/>
              </a:cxn>
              <a:cxn ang="0">
                <a:pos x="1728" y="0"/>
              </a:cxn>
            </a:cxnLst>
            <a:rect l="0" t="0" r="r" b="b"/>
            <a:pathLst>
              <a:path w="1728" h="1296">
                <a:moveTo>
                  <a:pt x="0" y="1296"/>
                </a:moveTo>
                <a:lnTo>
                  <a:pt x="1728" y="1296"/>
                </a:lnTo>
                <a:lnTo>
                  <a:pt x="1728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90" name="Text Box 86"/>
          <p:cNvSpPr txBox="1">
            <a:spLocks noChangeArrowheads="1"/>
          </p:cNvSpPr>
          <p:nvPr/>
        </p:nvSpPr>
        <p:spPr bwMode="auto">
          <a:xfrm>
            <a:off x="4419600" y="5556250"/>
            <a:ext cx="3810000" cy="5175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>
                <a:latin typeface="Verdana" charset="0"/>
              </a:rPr>
              <a:t>Cache Refill Data from Lower Levels of Memory Hierarchy</a:t>
            </a:r>
          </a:p>
        </p:txBody>
      </p:sp>
      <p:sp>
        <p:nvSpPr>
          <p:cNvPr id="1480791" name="Text Box 87"/>
          <p:cNvSpPr txBox="1">
            <a:spLocks noChangeArrowheads="1"/>
          </p:cNvSpPr>
          <p:nvPr/>
        </p:nvSpPr>
        <p:spPr bwMode="auto">
          <a:xfrm>
            <a:off x="7313613" y="3276600"/>
            <a:ext cx="452437" cy="2746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latin typeface="Verdana" charset="0"/>
              </a:rPr>
              <a:t>hit</a:t>
            </a:r>
            <a:r>
              <a:rPr lang="en-US" sz="1000">
                <a:latin typeface="Verdana" charset="0"/>
              </a:rPr>
              <a:t>?</a:t>
            </a:r>
            <a:endParaRPr lang="en-US" sz="2000">
              <a:latin typeface="Verdana" charset="0"/>
            </a:endParaRPr>
          </a:p>
        </p:txBody>
      </p:sp>
      <p:sp>
        <p:nvSpPr>
          <p:cNvPr id="1480792" name="Freeform 88"/>
          <p:cNvSpPr>
            <a:spLocks/>
          </p:cNvSpPr>
          <p:nvPr/>
        </p:nvSpPr>
        <p:spPr bwMode="auto">
          <a:xfrm>
            <a:off x="7772400" y="3429000"/>
            <a:ext cx="76200" cy="838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8" y="0"/>
              </a:cxn>
              <a:cxn ang="0">
                <a:pos x="48" y="480"/>
              </a:cxn>
              <a:cxn ang="0">
                <a:pos x="48" y="528"/>
              </a:cxn>
            </a:cxnLst>
            <a:rect l="0" t="0" r="r" b="b"/>
            <a:pathLst>
              <a:path w="48" h="528">
                <a:moveTo>
                  <a:pt x="0" y="0"/>
                </a:moveTo>
                <a:lnTo>
                  <a:pt x="48" y="0"/>
                </a:lnTo>
                <a:lnTo>
                  <a:pt x="48" y="480"/>
                </a:lnTo>
                <a:lnTo>
                  <a:pt x="48" y="528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89"/>
          <p:cNvGrpSpPr>
            <a:grpSpLocks/>
          </p:cNvGrpSpPr>
          <p:nvPr/>
        </p:nvGrpSpPr>
        <p:grpSpPr bwMode="auto">
          <a:xfrm>
            <a:off x="7620000" y="4813300"/>
            <a:ext cx="1066800" cy="749300"/>
            <a:chOff x="4704" y="3032"/>
            <a:chExt cx="672" cy="472"/>
          </a:xfrm>
        </p:grpSpPr>
        <p:sp>
          <p:nvSpPr>
            <p:cNvPr id="1480794" name="Line 90"/>
            <p:cNvSpPr>
              <a:spLocks noChangeShapeType="1"/>
            </p:cNvSpPr>
            <p:nvPr/>
          </p:nvSpPr>
          <p:spPr bwMode="auto">
            <a:xfrm flipH="1">
              <a:off x="4704" y="3168"/>
              <a:ext cx="192" cy="192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95" name="Line 91"/>
            <p:cNvSpPr>
              <a:spLocks noChangeShapeType="1"/>
            </p:cNvSpPr>
            <p:nvPr/>
          </p:nvSpPr>
          <p:spPr bwMode="auto">
            <a:xfrm flipH="1">
              <a:off x="4896" y="3168"/>
              <a:ext cx="48" cy="336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96" name="Line 92"/>
            <p:cNvSpPr>
              <a:spLocks noChangeShapeType="1"/>
            </p:cNvSpPr>
            <p:nvPr/>
          </p:nvSpPr>
          <p:spPr bwMode="auto">
            <a:xfrm>
              <a:off x="5040" y="3168"/>
              <a:ext cx="144" cy="288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97" name="Line 93"/>
            <p:cNvSpPr>
              <a:spLocks noChangeShapeType="1"/>
            </p:cNvSpPr>
            <p:nvPr/>
          </p:nvSpPr>
          <p:spPr bwMode="auto">
            <a:xfrm>
              <a:off x="5175" y="3032"/>
              <a:ext cx="201" cy="232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80798" name="Text Box 94"/>
          <p:cNvSpPr txBox="1">
            <a:spLocks noChangeArrowheads="1"/>
          </p:cNvSpPr>
          <p:nvPr/>
        </p:nvSpPr>
        <p:spPr bwMode="auto">
          <a:xfrm>
            <a:off x="7239000" y="4238625"/>
            <a:ext cx="1416050" cy="7302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>
                <a:latin typeface="Verdana" charset="0"/>
              </a:rPr>
              <a:t>Stall entire CPU on data cache miss</a:t>
            </a:r>
          </a:p>
        </p:txBody>
      </p:sp>
      <p:sp>
        <p:nvSpPr>
          <p:cNvPr id="1480799" name="Freeform 95"/>
          <p:cNvSpPr>
            <a:spLocks/>
          </p:cNvSpPr>
          <p:nvPr/>
        </p:nvSpPr>
        <p:spPr bwMode="auto">
          <a:xfrm>
            <a:off x="3124200" y="3962400"/>
            <a:ext cx="4724400" cy="1066800"/>
          </a:xfrm>
          <a:custGeom>
            <a:avLst/>
            <a:gdLst/>
            <a:ahLst/>
            <a:cxnLst>
              <a:cxn ang="0">
                <a:pos x="2784" y="0"/>
              </a:cxn>
              <a:cxn ang="0">
                <a:pos x="2160" y="0"/>
              </a:cxn>
              <a:cxn ang="0">
                <a:pos x="2160" y="432"/>
              </a:cxn>
              <a:cxn ang="0">
                <a:pos x="0" y="432"/>
              </a:cxn>
              <a:cxn ang="0">
                <a:pos x="0" y="672"/>
              </a:cxn>
            </a:cxnLst>
            <a:rect l="0" t="0" r="r" b="b"/>
            <a:pathLst>
              <a:path w="2784" h="672">
                <a:moveTo>
                  <a:pt x="2784" y="0"/>
                </a:moveTo>
                <a:lnTo>
                  <a:pt x="2160" y="0"/>
                </a:lnTo>
                <a:lnTo>
                  <a:pt x="2160" y="432"/>
                </a:lnTo>
                <a:lnTo>
                  <a:pt x="0" y="432"/>
                </a:lnTo>
                <a:lnTo>
                  <a:pt x="0" y="672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800" name="Text Box 96"/>
          <p:cNvSpPr txBox="1">
            <a:spLocks noChangeArrowheads="1"/>
          </p:cNvSpPr>
          <p:nvPr/>
        </p:nvSpPr>
        <p:spPr bwMode="auto">
          <a:xfrm>
            <a:off x="2362200" y="5045075"/>
            <a:ext cx="2286000" cy="3048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>
                <a:latin typeface="Verdana" charset="0"/>
              </a:rPr>
              <a:t>To Memory Control</a:t>
            </a:r>
          </a:p>
        </p:txBody>
      </p:sp>
      <p:sp>
        <p:nvSpPr>
          <p:cNvPr id="1480801" name="Text Box 97"/>
          <p:cNvSpPr txBox="1">
            <a:spLocks noChangeArrowheads="1"/>
          </p:cNvSpPr>
          <p:nvPr/>
        </p:nvSpPr>
        <p:spPr bwMode="auto">
          <a:xfrm>
            <a:off x="6019800" y="2055813"/>
            <a:ext cx="312738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 i="1">
                <a:latin typeface="Verdana" charset="0"/>
              </a:rPr>
              <a:t>M</a:t>
            </a:r>
          </a:p>
        </p:txBody>
      </p:sp>
      <p:sp>
        <p:nvSpPr>
          <p:cNvPr id="1480802" name="Text Box 98"/>
          <p:cNvSpPr txBox="1">
            <a:spLocks noChangeArrowheads="1"/>
          </p:cNvSpPr>
          <p:nvPr/>
        </p:nvSpPr>
        <p:spPr bwMode="auto">
          <a:xfrm>
            <a:off x="5029200" y="1827213"/>
            <a:ext cx="280988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 i="1">
                <a:latin typeface="Verdana" charset="0"/>
              </a:rPr>
              <a:t>E</a:t>
            </a:r>
          </a:p>
        </p:txBody>
      </p:sp>
      <p:sp>
        <p:nvSpPr>
          <p:cNvPr id="1480803" name="Line 99"/>
          <p:cNvSpPr>
            <a:spLocks noChangeShapeType="1"/>
          </p:cNvSpPr>
          <p:nvPr/>
        </p:nvSpPr>
        <p:spPr bwMode="auto">
          <a:xfrm>
            <a:off x="4953000" y="2895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EF281-0756-D640-ACA3-C1478A739BEF}" type="slidenum">
              <a:rPr lang="en-US"/>
              <a:pPr/>
              <a:t>36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8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330200" y="0"/>
            <a:ext cx="7162800" cy="1143000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Improving Cache Performance</a:t>
            </a:r>
          </a:p>
        </p:txBody>
      </p:sp>
      <p:sp>
        <p:nvSpPr>
          <p:cNvPr id="1482755" name="Rectangle 3"/>
          <p:cNvSpPr>
            <a:spLocks noChangeArrowheads="1"/>
          </p:cNvSpPr>
          <p:nvPr/>
        </p:nvSpPr>
        <p:spPr bwMode="auto">
          <a:xfrm>
            <a:off x="714375" y="1143000"/>
            <a:ext cx="7715250" cy="34753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dirty="0">
                <a:latin typeface="Verdana" charset="0"/>
              </a:rPr>
              <a:t>Average memory access time =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latin typeface="Verdana" charset="0"/>
              </a:rPr>
              <a:t>		Hit time + Miss rate x Miss penalty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latin typeface="Verdana" charset="0"/>
              </a:rPr>
              <a:t>Example: 1 cycle (hit time)+(0.05)x(30</a:t>
            </a:r>
            <a:r>
              <a:rPr lang="en-US" sz="2000">
                <a:latin typeface="Verdana" charset="0"/>
              </a:rPr>
              <a:t>)=2.5cycles!!</a:t>
            </a:r>
            <a:endParaRPr lang="en-US" sz="2000" dirty="0">
              <a:latin typeface="Verdana" charset="0"/>
            </a:endParaRPr>
          </a:p>
          <a:p>
            <a:pPr algn="l">
              <a:spcBef>
                <a:spcPct val="0"/>
              </a:spcBef>
            </a:pPr>
            <a:endParaRPr lang="en-US" sz="2000" dirty="0">
              <a:latin typeface="Verdana" charset="0"/>
            </a:endParaRPr>
          </a:p>
          <a:p>
            <a:pPr algn="l">
              <a:spcBef>
                <a:spcPct val="0"/>
              </a:spcBef>
            </a:pPr>
            <a:r>
              <a:rPr lang="en-US" sz="2000" dirty="0">
                <a:latin typeface="Verdana" charset="0"/>
              </a:rPr>
              <a:t>To improve performance:</a:t>
            </a:r>
          </a:p>
          <a:p>
            <a:pPr marL="625475" lvl="1" indent="-282575" algn="l">
              <a:spcBef>
                <a:spcPct val="0"/>
              </a:spcBef>
              <a:buFontTx/>
              <a:buChar char="•"/>
            </a:pPr>
            <a:r>
              <a:rPr lang="en-US" sz="2000" dirty="0">
                <a:solidFill>
                  <a:srgbClr val="56127A"/>
                </a:solidFill>
                <a:latin typeface="Verdana" charset="0"/>
              </a:rPr>
              <a:t>reduce the hit time</a:t>
            </a:r>
          </a:p>
          <a:p>
            <a:pPr marL="625475" lvl="1" indent="-282575" algn="l">
              <a:spcBef>
                <a:spcPct val="0"/>
              </a:spcBef>
              <a:buFontTx/>
              <a:buChar char="•"/>
            </a:pPr>
            <a:r>
              <a:rPr lang="en-US" sz="2000" dirty="0">
                <a:solidFill>
                  <a:srgbClr val="56127A"/>
                </a:solidFill>
                <a:latin typeface="Verdana" charset="0"/>
              </a:rPr>
              <a:t>reduce the miss rate</a:t>
            </a:r>
          </a:p>
          <a:p>
            <a:pPr marL="625475" lvl="1" indent="-282575" algn="l">
              <a:spcBef>
                <a:spcPct val="0"/>
              </a:spcBef>
              <a:buFontTx/>
              <a:buChar char="•"/>
            </a:pPr>
            <a:r>
              <a:rPr lang="en-US" sz="2000" dirty="0">
                <a:solidFill>
                  <a:srgbClr val="56127A"/>
                </a:solidFill>
                <a:latin typeface="Verdana" charset="0"/>
              </a:rPr>
              <a:t>reduce the miss penalty</a:t>
            </a:r>
          </a:p>
          <a:p>
            <a:pPr marL="168275" indent="-282575">
              <a:buFontTx/>
              <a:buChar char="•"/>
            </a:pPr>
            <a:r>
              <a:rPr lang="en-US" sz="2000" dirty="0">
                <a:solidFill>
                  <a:srgbClr val="56127A"/>
                </a:solidFill>
                <a:latin typeface="Verdana" charset="0"/>
              </a:rPr>
              <a:t>Hit time and miss rate are conflicting</a:t>
            </a:r>
          </a:p>
          <a:p>
            <a:pPr algn="l">
              <a:spcBef>
                <a:spcPct val="0"/>
              </a:spcBef>
            </a:pPr>
            <a:endParaRPr lang="en-US" sz="2000" dirty="0">
              <a:solidFill>
                <a:srgbClr val="56127A"/>
              </a:solidFill>
              <a:latin typeface="Verdana" charset="0"/>
            </a:endParaRPr>
          </a:p>
          <a:p>
            <a:pPr algn="l">
              <a:spcBef>
                <a:spcPct val="0"/>
              </a:spcBef>
            </a:pPr>
            <a:r>
              <a:rPr lang="en-US" sz="2000" i="1" dirty="0">
                <a:solidFill>
                  <a:schemeClr val="tx2"/>
                </a:solidFill>
                <a:latin typeface="Verdana" charset="0"/>
              </a:rPr>
              <a:t>What is the simplest design strategy?</a:t>
            </a:r>
          </a:p>
        </p:txBody>
      </p:sp>
      <p:sp>
        <p:nvSpPr>
          <p:cNvPr id="1482756" name="Text Box 4"/>
          <p:cNvSpPr txBox="1">
            <a:spLocks noChangeArrowheads="1"/>
          </p:cNvSpPr>
          <p:nvPr/>
        </p:nvSpPr>
        <p:spPr bwMode="auto">
          <a:xfrm>
            <a:off x="346075" y="4876800"/>
            <a:ext cx="845185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sz="2400" i="1">
                <a:solidFill>
                  <a:srgbClr val="FF0000"/>
                </a:solidFill>
              </a:rPr>
              <a:t>Biggest cache that doesn’t increase hit time past 1-2 cycles (approx 8-32KB in modern technology)</a:t>
            </a:r>
          </a:p>
          <a:p>
            <a:pPr>
              <a:spcBef>
                <a:spcPct val="20000"/>
              </a:spcBef>
            </a:pPr>
            <a:r>
              <a:rPr lang="en-US" sz="2000" i="1">
                <a:solidFill>
                  <a:srgbClr val="FF0000"/>
                </a:solidFill>
              </a:rPr>
              <a:t>[ design issues more complex with out-of-order superscalar processors ]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2756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114" name="Rectangle 2"/>
          <p:cNvSpPr>
            <a:spLocks noGrp="1" noChangeArrowheads="1"/>
          </p:cNvSpPr>
          <p:nvPr>
            <p:ph type="title"/>
          </p:nvPr>
        </p:nvSpPr>
        <p:spPr>
          <a:xfrm>
            <a:off x="292100" y="0"/>
            <a:ext cx="7162800" cy="1143000"/>
          </a:xfrm>
          <a:noFill/>
          <a:ln/>
        </p:spPr>
        <p:txBody>
          <a:bodyPr/>
          <a:lstStyle/>
          <a:p>
            <a:r>
              <a:rPr lang="en-US" altLang="ko-KR">
                <a:ea typeface="굴림" charset="-127"/>
                <a:cs typeface="굴림" charset="-127"/>
              </a:rPr>
              <a:t>Serial-versus-Parallel Cache and Memory access</a:t>
            </a:r>
          </a:p>
        </p:txBody>
      </p:sp>
      <p:sp>
        <p:nvSpPr>
          <p:cNvPr id="149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117600"/>
            <a:ext cx="7543800" cy="762000"/>
          </a:xfrm>
          <a:noFill/>
          <a:ln/>
        </p:spPr>
        <p:txBody>
          <a:bodyPr/>
          <a:lstStyle/>
          <a:p>
            <a:pPr marL="0" indent="0">
              <a:buFontTx/>
              <a:buNone/>
            </a:pPr>
            <a:r>
              <a:rPr lang="en-US" altLang="ko-KR" sz="2000">
                <a:solidFill>
                  <a:srgbClr val="56127A"/>
                </a:solidFill>
                <a:latin typeface="Symbol" charset="2"/>
                <a:ea typeface="굴림" charset="-127"/>
                <a:cs typeface="굴림" charset="-127"/>
              </a:rPr>
              <a:t>a</a:t>
            </a:r>
            <a:r>
              <a:rPr lang="en-US" altLang="ko-KR" sz="2000">
                <a:solidFill>
                  <a:srgbClr val="56127A"/>
                </a:solidFill>
                <a:ea typeface="굴림" charset="-127"/>
                <a:cs typeface="굴림" charset="-127"/>
              </a:rPr>
              <a:t> is HIT RATIO:</a:t>
            </a:r>
            <a:r>
              <a:rPr lang="en-US" altLang="ko-KR" sz="2000">
                <a:ea typeface="굴림" charset="-127"/>
                <a:cs typeface="굴림" charset="-127"/>
              </a:rPr>
              <a:t> Fraction of references in cache</a:t>
            </a:r>
          </a:p>
          <a:p>
            <a:pPr marL="0" indent="0">
              <a:buFontTx/>
              <a:buNone/>
            </a:pPr>
            <a:r>
              <a:rPr lang="en-US" altLang="ko-KR" sz="2000">
                <a:solidFill>
                  <a:srgbClr val="56127A"/>
                </a:solidFill>
                <a:ea typeface="굴림" charset="-127"/>
                <a:cs typeface="굴림" charset="-127"/>
              </a:rPr>
              <a:t>1 - </a:t>
            </a:r>
            <a:r>
              <a:rPr lang="en-US" altLang="ko-KR" sz="2000">
                <a:solidFill>
                  <a:srgbClr val="56127A"/>
                </a:solidFill>
                <a:latin typeface="Symbol" charset="2"/>
                <a:ea typeface="굴림" charset="-127"/>
                <a:cs typeface="굴림" charset="-127"/>
              </a:rPr>
              <a:t>a</a:t>
            </a:r>
            <a:r>
              <a:rPr lang="en-US" altLang="ko-KR" sz="2000">
                <a:solidFill>
                  <a:srgbClr val="56127A"/>
                </a:solidFill>
                <a:ea typeface="굴림" charset="-127"/>
                <a:cs typeface="굴림" charset="-127"/>
              </a:rPr>
              <a:t> is MISS RATIO:</a:t>
            </a:r>
            <a:r>
              <a:rPr lang="en-US" altLang="ko-KR" sz="2000">
                <a:ea typeface="굴림" charset="-127"/>
                <a:cs typeface="굴림" charset="-127"/>
              </a:rPr>
              <a:t> Remaining references</a:t>
            </a:r>
            <a:endParaRPr lang="en-US" altLang="ko-KR" sz="2000" i="1">
              <a:solidFill>
                <a:schemeClr val="tx2"/>
              </a:solidFill>
              <a:ea typeface="굴림" charset="-127"/>
              <a:cs typeface="굴림" charset="-127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50838" y="2032000"/>
            <a:ext cx="8442325" cy="1449388"/>
            <a:chOff x="221" y="1392"/>
            <a:chExt cx="5318" cy="913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234" y="1392"/>
              <a:ext cx="3292" cy="644"/>
              <a:chOff x="518" y="1801"/>
              <a:chExt cx="3292" cy="644"/>
            </a:xfrm>
          </p:grpSpPr>
          <p:sp>
            <p:nvSpPr>
              <p:cNvPr id="1498118" name="Rectangle 6"/>
              <p:cNvSpPr>
                <a:spLocks noChangeArrowheads="1"/>
              </p:cNvSpPr>
              <p:nvPr/>
            </p:nvSpPr>
            <p:spPr bwMode="auto">
              <a:xfrm>
                <a:off x="1832" y="1954"/>
                <a:ext cx="752" cy="32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19" name="Rectangle 7"/>
              <p:cNvSpPr>
                <a:spLocks noChangeArrowheads="1"/>
              </p:cNvSpPr>
              <p:nvPr/>
            </p:nvSpPr>
            <p:spPr bwMode="auto">
              <a:xfrm>
                <a:off x="1862" y="2013"/>
                <a:ext cx="67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 sz="2000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CACHE</a:t>
                </a:r>
              </a:p>
            </p:txBody>
          </p:sp>
          <p:sp>
            <p:nvSpPr>
              <p:cNvPr id="1498120" name="Rectangle 8"/>
              <p:cNvSpPr>
                <a:spLocks noChangeArrowheads="1"/>
              </p:cNvSpPr>
              <p:nvPr/>
            </p:nvSpPr>
            <p:spPr bwMode="auto">
              <a:xfrm>
                <a:off x="518" y="2027"/>
                <a:ext cx="86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 sz="1800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Processor </a:t>
                </a:r>
              </a:p>
            </p:txBody>
          </p:sp>
          <p:sp>
            <p:nvSpPr>
              <p:cNvPr id="1498121" name="Line 9"/>
              <p:cNvSpPr>
                <a:spLocks noChangeShapeType="1"/>
              </p:cNvSpPr>
              <p:nvPr/>
            </p:nvSpPr>
            <p:spPr bwMode="auto">
              <a:xfrm>
                <a:off x="528" y="1898"/>
                <a:ext cx="81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22" name="Line 10"/>
              <p:cNvSpPr>
                <a:spLocks noChangeShapeType="1"/>
              </p:cNvSpPr>
              <p:nvPr/>
            </p:nvSpPr>
            <p:spPr bwMode="auto">
              <a:xfrm>
                <a:off x="528" y="2378"/>
                <a:ext cx="81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23" name="Line 11"/>
              <p:cNvSpPr>
                <a:spLocks noChangeShapeType="1"/>
              </p:cNvSpPr>
              <p:nvPr/>
            </p:nvSpPr>
            <p:spPr bwMode="auto">
              <a:xfrm>
                <a:off x="3072" y="1898"/>
                <a:ext cx="52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24" name="Line 12"/>
              <p:cNvSpPr>
                <a:spLocks noChangeShapeType="1"/>
              </p:cNvSpPr>
              <p:nvPr/>
            </p:nvSpPr>
            <p:spPr bwMode="auto">
              <a:xfrm>
                <a:off x="3072" y="1898"/>
                <a:ext cx="0" cy="4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25" name="Line 13"/>
              <p:cNvSpPr>
                <a:spLocks noChangeShapeType="1"/>
              </p:cNvSpPr>
              <p:nvPr/>
            </p:nvSpPr>
            <p:spPr bwMode="auto">
              <a:xfrm>
                <a:off x="3072" y="2378"/>
                <a:ext cx="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26" name="Rectangle 14"/>
              <p:cNvSpPr>
                <a:spLocks noChangeArrowheads="1"/>
              </p:cNvSpPr>
              <p:nvPr/>
            </p:nvSpPr>
            <p:spPr bwMode="auto">
              <a:xfrm>
                <a:off x="3062" y="1931"/>
                <a:ext cx="748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 sz="1800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Main</a:t>
                </a:r>
              </a:p>
              <a:p>
                <a:pPr algn="l">
                  <a:spcBef>
                    <a:spcPct val="0"/>
                  </a:spcBef>
                </a:pPr>
                <a:r>
                  <a:rPr lang="en-US" altLang="ko-KR" sz="1800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Memory </a:t>
                </a:r>
              </a:p>
            </p:txBody>
          </p:sp>
          <p:sp>
            <p:nvSpPr>
              <p:cNvPr id="1498127" name="Line 15"/>
              <p:cNvSpPr>
                <a:spLocks noChangeShapeType="1"/>
              </p:cNvSpPr>
              <p:nvPr/>
            </p:nvSpPr>
            <p:spPr bwMode="auto">
              <a:xfrm>
                <a:off x="2592" y="2042"/>
                <a:ext cx="4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28" name="Line 16"/>
              <p:cNvSpPr>
                <a:spLocks noChangeShapeType="1"/>
              </p:cNvSpPr>
              <p:nvPr/>
            </p:nvSpPr>
            <p:spPr bwMode="auto">
              <a:xfrm>
                <a:off x="2592" y="2186"/>
                <a:ext cx="4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stealth" w="med" len="lg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29" name="Rectangle 17"/>
              <p:cNvSpPr>
                <a:spLocks noChangeArrowheads="1"/>
              </p:cNvSpPr>
              <p:nvPr/>
            </p:nvSpPr>
            <p:spPr bwMode="auto">
              <a:xfrm>
                <a:off x="1334" y="1801"/>
                <a:ext cx="418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Addr</a:t>
                </a:r>
              </a:p>
            </p:txBody>
          </p:sp>
          <p:sp>
            <p:nvSpPr>
              <p:cNvPr id="1498130" name="Rectangle 18"/>
              <p:cNvSpPr>
                <a:spLocks noChangeArrowheads="1"/>
              </p:cNvSpPr>
              <p:nvPr/>
            </p:nvSpPr>
            <p:spPr bwMode="auto">
              <a:xfrm>
                <a:off x="2582" y="1801"/>
                <a:ext cx="418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Addr</a:t>
                </a:r>
              </a:p>
            </p:txBody>
          </p:sp>
          <p:sp>
            <p:nvSpPr>
              <p:cNvPr id="1498131" name="Rectangle 19"/>
              <p:cNvSpPr>
                <a:spLocks noChangeArrowheads="1"/>
              </p:cNvSpPr>
              <p:nvPr/>
            </p:nvSpPr>
            <p:spPr bwMode="auto">
              <a:xfrm>
                <a:off x="2630" y="2233"/>
                <a:ext cx="419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Data</a:t>
                </a:r>
              </a:p>
            </p:txBody>
          </p:sp>
          <p:sp>
            <p:nvSpPr>
              <p:cNvPr id="1498132" name="Rectangle 20"/>
              <p:cNvSpPr>
                <a:spLocks noChangeArrowheads="1"/>
              </p:cNvSpPr>
              <p:nvPr/>
            </p:nvSpPr>
            <p:spPr bwMode="auto">
              <a:xfrm>
                <a:off x="1382" y="2233"/>
                <a:ext cx="419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Data</a:t>
                </a:r>
              </a:p>
            </p:txBody>
          </p:sp>
          <p:sp>
            <p:nvSpPr>
              <p:cNvPr id="1498133" name="Line 21"/>
              <p:cNvSpPr>
                <a:spLocks noChangeShapeType="1"/>
              </p:cNvSpPr>
              <p:nvPr/>
            </p:nvSpPr>
            <p:spPr bwMode="auto">
              <a:xfrm>
                <a:off x="1344" y="1898"/>
                <a:ext cx="0" cy="4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34" name="Line 22"/>
              <p:cNvSpPr>
                <a:spLocks noChangeShapeType="1"/>
              </p:cNvSpPr>
              <p:nvPr/>
            </p:nvSpPr>
            <p:spPr bwMode="auto">
              <a:xfrm>
                <a:off x="1344" y="2042"/>
                <a:ext cx="4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35" name="Line 23"/>
              <p:cNvSpPr>
                <a:spLocks noChangeShapeType="1"/>
              </p:cNvSpPr>
              <p:nvPr/>
            </p:nvSpPr>
            <p:spPr bwMode="auto">
              <a:xfrm>
                <a:off x="1344" y="2186"/>
                <a:ext cx="4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stealth" w="med" len="lg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498136" name="Text Box 24"/>
            <p:cNvSpPr txBox="1">
              <a:spLocks noChangeArrowheads="1"/>
            </p:cNvSpPr>
            <p:nvPr/>
          </p:nvSpPr>
          <p:spPr bwMode="auto">
            <a:xfrm>
              <a:off x="221" y="2014"/>
              <a:ext cx="5318" cy="2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ko-KR" sz="2000">
                  <a:latin typeface="Verdana" charset="0"/>
                  <a:ea typeface="굴림" charset="-127"/>
                  <a:cs typeface="굴림" charset="-127"/>
                </a:rPr>
                <a:t>Average access time for serial search:     </a:t>
              </a:r>
              <a:r>
                <a:rPr lang="en-US" altLang="ko-KR" sz="2400">
                  <a:solidFill>
                    <a:srgbClr val="56127A"/>
                  </a:solidFill>
                  <a:latin typeface="Verdana" charset="0"/>
                  <a:ea typeface="굴림" charset="-127"/>
                  <a:cs typeface="굴림" charset="-127"/>
                </a:rPr>
                <a:t>t</a:t>
              </a:r>
              <a:r>
                <a:rPr lang="en-US" altLang="ko-KR" sz="2400" baseline="-25000">
                  <a:solidFill>
                    <a:srgbClr val="56127A"/>
                  </a:solidFill>
                  <a:latin typeface="Verdana" charset="0"/>
                  <a:ea typeface="굴림" charset="-127"/>
                  <a:cs typeface="굴림" charset="-127"/>
                </a:rPr>
                <a:t>cache</a:t>
              </a:r>
              <a:r>
                <a:rPr lang="en-US" altLang="ko-KR" sz="2400">
                  <a:solidFill>
                    <a:srgbClr val="56127A"/>
                  </a:solidFill>
                  <a:latin typeface="Verdana" charset="0"/>
                  <a:ea typeface="굴림" charset="-127"/>
                  <a:cs typeface="굴림" charset="-127"/>
                </a:rPr>
                <a:t> + (1 - </a:t>
              </a:r>
              <a:r>
                <a:rPr lang="en-US" altLang="ko-KR" sz="2400">
                  <a:solidFill>
                    <a:srgbClr val="56127A"/>
                  </a:solidFill>
                  <a:latin typeface="Symbol" charset="2"/>
                  <a:ea typeface="굴림" charset="-127"/>
                  <a:cs typeface="굴림" charset="-127"/>
                </a:rPr>
                <a:t>a</a:t>
              </a:r>
              <a:r>
                <a:rPr lang="en-US" altLang="ko-KR" sz="2400">
                  <a:solidFill>
                    <a:srgbClr val="56127A"/>
                  </a:solidFill>
                  <a:latin typeface="Verdana" charset="0"/>
                  <a:ea typeface="굴림" charset="-127"/>
                  <a:cs typeface="굴림" charset="-127"/>
                </a:rPr>
                <a:t>) t</a:t>
              </a:r>
              <a:r>
                <a:rPr lang="en-US" altLang="ko-KR" sz="2400" baseline="-25000">
                  <a:solidFill>
                    <a:srgbClr val="56127A"/>
                  </a:solidFill>
                  <a:latin typeface="Verdana" charset="0"/>
                  <a:ea typeface="굴림" charset="-127"/>
                  <a:cs typeface="굴림" charset="-127"/>
                </a:rPr>
                <a:t>mem</a:t>
              </a:r>
              <a:endParaRPr lang="en-US" sz="1800"/>
            </a:p>
          </p:txBody>
        </p:sp>
      </p:grp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196850" y="3556000"/>
            <a:ext cx="8750300" cy="1524000"/>
            <a:chOff x="124" y="2352"/>
            <a:chExt cx="5512" cy="960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1152" y="2352"/>
              <a:ext cx="3292" cy="644"/>
              <a:chOff x="550" y="2847"/>
              <a:chExt cx="3292" cy="644"/>
            </a:xfrm>
          </p:grpSpPr>
          <p:sp>
            <p:nvSpPr>
              <p:cNvPr id="1498139" name="Rectangle 27"/>
              <p:cNvSpPr>
                <a:spLocks noChangeArrowheads="1"/>
              </p:cNvSpPr>
              <p:nvPr/>
            </p:nvSpPr>
            <p:spPr bwMode="auto">
              <a:xfrm>
                <a:off x="1960" y="3000"/>
                <a:ext cx="752" cy="32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40" name="Rectangle 28"/>
              <p:cNvSpPr>
                <a:spLocks noChangeArrowheads="1"/>
              </p:cNvSpPr>
              <p:nvPr/>
            </p:nvSpPr>
            <p:spPr bwMode="auto">
              <a:xfrm>
                <a:off x="1990" y="3059"/>
                <a:ext cx="67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 sz="2000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CACHE</a:t>
                </a:r>
              </a:p>
            </p:txBody>
          </p:sp>
          <p:sp>
            <p:nvSpPr>
              <p:cNvPr id="1498141" name="Rectangle 29"/>
              <p:cNvSpPr>
                <a:spLocks noChangeArrowheads="1"/>
              </p:cNvSpPr>
              <p:nvPr/>
            </p:nvSpPr>
            <p:spPr bwMode="auto">
              <a:xfrm>
                <a:off x="550" y="3073"/>
                <a:ext cx="86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 sz="1800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Processor </a:t>
                </a:r>
              </a:p>
            </p:txBody>
          </p:sp>
          <p:sp>
            <p:nvSpPr>
              <p:cNvPr id="1498142" name="Line 30"/>
              <p:cNvSpPr>
                <a:spLocks noChangeShapeType="1"/>
              </p:cNvSpPr>
              <p:nvPr/>
            </p:nvSpPr>
            <p:spPr bwMode="auto">
              <a:xfrm>
                <a:off x="560" y="2944"/>
                <a:ext cx="81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43" name="Line 31"/>
              <p:cNvSpPr>
                <a:spLocks noChangeShapeType="1"/>
              </p:cNvSpPr>
              <p:nvPr/>
            </p:nvSpPr>
            <p:spPr bwMode="auto">
              <a:xfrm>
                <a:off x="560" y="3424"/>
                <a:ext cx="81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44" name="Line 32"/>
              <p:cNvSpPr>
                <a:spLocks noChangeShapeType="1"/>
              </p:cNvSpPr>
              <p:nvPr/>
            </p:nvSpPr>
            <p:spPr bwMode="auto">
              <a:xfrm>
                <a:off x="3104" y="2944"/>
                <a:ext cx="52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45" name="Line 33"/>
              <p:cNvSpPr>
                <a:spLocks noChangeShapeType="1"/>
              </p:cNvSpPr>
              <p:nvPr/>
            </p:nvSpPr>
            <p:spPr bwMode="auto">
              <a:xfrm>
                <a:off x="3104" y="2944"/>
                <a:ext cx="0" cy="4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46" name="Line 34"/>
              <p:cNvSpPr>
                <a:spLocks noChangeShapeType="1"/>
              </p:cNvSpPr>
              <p:nvPr/>
            </p:nvSpPr>
            <p:spPr bwMode="auto">
              <a:xfrm>
                <a:off x="3104" y="3424"/>
                <a:ext cx="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47" name="Rectangle 35"/>
              <p:cNvSpPr>
                <a:spLocks noChangeArrowheads="1"/>
              </p:cNvSpPr>
              <p:nvPr/>
            </p:nvSpPr>
            <p:spPr bwMode="auto">
              <a:xfrm>
                <a:off x="3094" y="2977"/>
                <a:ext cx="748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 sz="1800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Main</a:t>
                </a:r>
              </a:p>
              <a:p>
                <a:pPr algn="l">
                  <a:spcBef>
                    <a:spcPct val="0"/>
                  </a:spcBef>
                </a:pPr>
                <a:r>
                  <a:rPr lang="en-US" altLang="ko-KR" sz="1800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Memory </a:t>
                </a:r>
              </a:p>
            </p:txBody>
          </p:sp>
          <p:sp>
            <p:nvSpPr>
              <p:cNvPr id="1498148" name="Line 36"/>
              <p:cNvSpPr>
                <a:spLocks noChangeShapeType="1"/>
              </p:cNvSpPr>
              <p:nvPr/>
            </p:nvSpPr>
            <p:spPr bwMode="auto">
              <a:xfrm>
                <a:off x="2864" y="3088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49" name="Line 37"/>
              <p:cNvSpPr>
                <a:spLocks noChangeShapeType="1"/>
              </p:cNvSpPr>
              <p:nvPr/>
            </p:nvSpPr>
            <p:spPr bwMode="auto">
              <a:xfrm>
                <a:off x="2720" y="3232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stealth" w="med" len="lg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50" name="Rectangle 38"/>
              <p:cNvSpPr>
                <a:spLocks noChangeArrowheads="1"/>
              </p:cNvSpPr>
              <p:nvPr/>
            </p:nvSpPr>
            <p:spPr bwMode="auto">
              <a:xfrm>
                <a:off x="1366" y="2847"/>
                <a:ext cx="418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Addr</a:t>
                </a:r>
              </a:p>
            </p:txBody>
          </p:sp>
          <p:sp>
            <p:nvSpPr>
              <p:cNvPr id="1498151" name="Rectangle 39"/>
              <p:cNvSpPr>
                <a:spLocks noChangeArrowheads="1"/>
              </p:cNvSpPr>
              <p:nvPr/>
            </p:nvSpPr>
            <p:spPr bwMode="auto">
              <a:xfrm>
                <a:off x="2710" y="3279"/>
                <a:ext cx="419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Data</a:t>
                </a:r>
              </a:p>
            </p:txBody>
          </p:sp>
          <p:sp>
            <p:nvSpPr>
              <p:cNvPr id="1498152" name="Rectangle 40"/>
              <p:cNvSpPr>
                <a:spLocks noChangeArrowheads="1"/>
              </p:cNvSpPr>
              <p:nvPr/>
            </p:nvSpPr>
            <p:spPr bwMode="auto">
              <a:xfrm>
                <a:off x="1510" y="3279"/>
                <a:ext cx="419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Data</a:t>
                </a:r>
              </a:p>
            </p:txBody>
          </p:sp>
          <p:sp>
            <p:nvSpPr>
              <p:cNvPr id="1498153" name="Line 41"/>
              <p:cNvSpPr>
                <a:spLocks noChangeShapeType="1"/>
              </p:cNvSpPr>
              <p:nvPr/>
            </p:nvSpPr>
            <p:spPr bwMode="auto">
              <a:xfrm>
                <a:off x="1376" y="2944"/>
                <a:ext cx="0" cy="4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54" name="Line 42"/>
              <p:cNvSpPr>
                <a:spLocks noChangeShapeType="1"/>
              </p:cNvSpPr>
              <p:nvPr/>
            </p:nvSpPr>
            <p:spPr bwMode="auto">
              <a:xfrm>
                <a:off x="1376" y="3088"/>
                <a:ext cx="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55" name="Line 43"/>
              <p:cNvSpPr>
                <a:spLocks noChangeShapeType="1"/>
              </p:cNvSpPr>
              <p:nvPr/>
            </p:nvSpPr>
            <p:spPr bwMode="auto">
              <a:xfrm>
                <a:off x="1376" y="3232"/>
                <a:ext cx="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stealth" w="med" len="lg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56" name="Line 44"/>
              <p:cNvSpPr>
                <a:spLocks noChangeShapeType="1"/>
              </p:cNvSpPr>
              <p:nvPr/>
            </p:nvSpPr>
            <p:spPr bwMode="auto">
              <a:xfrm flipV="1">
                <a:off x="1760" y="284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57" name="Line 45"/>
              <p:cNvSpPr>
                <a:spLocks noChangeShapeType="1"/>
              </p:cNvSpPr>
              <p:nvPr/>
            </p:nvSpPr>
            <p:spPr bwMode="auto">
              <a:xfrm>
                <a:off x="1760" y="2848"/>
                <a:ext cx="11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58" name="Line 46"/>
              <p:cNvSpPr>
                <a:spLocks noChangeShapeType="1"/>
              </p:cNvSpPr>
              <p:nvPr/>
            </p:nvSpPr>
            <p:spPr bwMode="auto">
              <a:xfrm>
                <a:off x="2864" y="284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498159" name="Text Box 47"/>
            <p:cNvSpPr txBox="1">
              <a:spLocks noChangeArrowheads="1"/>
            </p:cNvSpPr>
            <p:nvPr/>
          </p:nvSpPr>
          <p:spPr bwMode="auto">
            <a:xfrm>
              <a:off x="124" y="3024"/>
              <a:ext cx="5512" cy="2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pPr eaLnBrk="1" hangingPunct="1">
                <a:lnSpc>
                  <a:spcPct val="50000"/>
                </a:lnSpc>
                <a:spcBef>
                  <a:spcPct val="20000"/>
                </a:spcBef>
              </a:pPr>
              <a:r>
                <a:rPr lang="en-US" altLang="ko-KR" sz="2000">
                  <a:latin typeface="Verdana" charset="0"/>
                  <a:ea typeface="굴림" charset="-127"/>
                  <a:cs typeface="굴림" charset="-127"/>
                </a:rPr>
                <a:t>Average access time for parallel search:  </a:t>
              </a:r>
              <a:r>
                <a:rPr lang="en-US" altLang="ko-KR" sz="2400">
                  <a:solidFill>
                    <a:srgbClr val="56127A"/>
                  </a:solidFill>
                  <a:latin typeface="Symbol" charset="2"/>
                  <a:ea typeface="굴림" charset="-127"/>
                  <a:cs typeface="굴림" charset="-127"/>
                </a:rPr>
                <a:t>a</a:t>
              </a:r>
              <a:r>
                <a:rPr lang="en-US" altLang="ko-KR" sz="2400">
                  <a:solidFill>
                    <a:srgbClr val="56127A"/>
                  </a:solidFill>
                  <a:latin typeface="Verdana" charset="0"/>
                  <a:ea typeface="굴림" charset="-127"/>
                  <a:cs typeface="굴림" charset="-127"/>
                </a:rPr>
                <a:t> t</a:t>
              </a:r>
              <a:r>
                <a:rPr lang="en-US" altLang="ko-KR" sz="2400" baseline="-25000">
                  <a:solidFill>
                    <a:srgbClr val="56127A"/>
                  </a:solidFill>
                  <a:latin typeface="Verdana" charset="0"/>
                  <a:ea typeface="굴림" charset="-127"/>
                  <a:cs typeface="굴림" charset="-127"/>
                </a:rPr>
                <a:t>cache</a:t>
              </a:r>
              <a:r>
                <a:rPr lang="en-US" altLang="ko-KR" sz="2400">
                  <a:solidFill>
                    <a:srgbClr val="56127A"/>
                  </a:solidFill>
                  <a:latin typeface="Verdana" charset="0"/>
                  <a:ea typeface="굴림" charset="-127"/>
                  <a:cs typeface="굴림" charset="-127"/>
                </a:rPr>
                <a:t> + (1 - </a:t>
              </a:r>
              <a:r>
                <a:rPr lang="en-US" altLang="ko-KR" sz="2400">
                  <a:solidFill>
                    <a:srgbClr val="56127A"/>
                  </a:solidFill>
                  <a:latin typeface="Symbol" charset="2"/>
                  <a:ea typeface="굴림" charset="-127"/>
                  <a:cs typeface="굴림" charset="-127"/>
                </a:rPr>
                <a:t>a</a:t>
              </a:r>
              <a:r>
                <a:rPr lang="en-US" altLang="ko-KR" sz="2400">
                  <a:solidFill>
                    <a:srgbClr val="56127A"/>
                  </a:solidFill>
                  <a:latin typeface="Verdana" charset="0"/>
                  <a:ea typeface="굴림" charset="-127"/>
                  <a:cs typeface="굴림" charset="-127"/>
                </a:rPr>
                <a:t>) t</a:t>
              </a:r>
              <a:r>
                <a:rPr lang="en-US" altLang="ko-KR" sz="2400" baseline="-25000">
                  <a:solidFill>
                    <a:srgbClr val="56127A"/>
                  </a:solidFill>
                  <a:latin typeface="Verdana" charset="0"/>
                  <a:ea typeface="굴림" charset="-127"/>
                  <a:cs typeface="굴림" charset="-127"/>
                </a:rPr>
                <a:t>mem</a:t>
              </a:r>
              <a:endParaRPr lang="en-US"/>
            </a:p>
          </p:txBody>
        </p:sp>
      </p:grpSp>
      <p:sp>
        <p:nvSpPr>
          <p:cNvPr id="1498160" name="Text Box 48"/>
          <p:cNvSpPr txBox="1">
            <a:spLocks noChangeArrowheads="1"/>
          </p:cNvSpPr>
          <p:nvPr/>
        </p:nvSpPr>
        <p:spPr bwMode="auto">
          <a:xfrm>
            <a:off x="838200" y="5080000"/>
            <a:ext cx="7772400" cy="11430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30188" indent="-230188" algn="l" eaLnBrk="1" hangingPunct="1">
              <a:spcBef>
                <a:spcPct val="20000"/>
              </a:spcBef>
              <a:buFontTx/>
              <a:buChar char="•"/>
            </a:pPr>
            <a:r>
              <a:rPr lang="en-US" altLang="ko-KR" sz="2000">
                <a:latin typeface="Verdana" charset="0"/>
                <a:ea typeface="굴림" charset="-127"/>
                <a:cs typeface="굴림" charset="-127"/>
              </a:rPr>
              <a:t>Savings are usually small, </a:t>
            </a: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t</a:t>
            </a:r>
            <a:r>
              <a:rPr lang="en-US" altLang="ko-KR" sz="2000" baseline="-25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mem </a:t>
            </a: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&gt;&gt;</a:t>
            </a:r>
            <a:r>
              <a:rPr lang="en-US" altLang="ko-KR" sz="2000" baseline="-25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 </a:t>
            </a: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t</a:t>
            </a:r>
            <a:r>
              <a:rPr lang="en-US" altLang="ko-KR" sz="2000" baseline="-25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cache</a:t>
            </a:r>
            <a:r>
              <a:rPr lang="en-US" altLang="ko-KR" sz="2000">
                <a:latin typeface="Verdana" charset="0"/>
                <a:ea typeface="굴림" charset="-127"/>
                <a:cs typeface="굴림" charset="-127"/>
              </a:rPr>
              <a:t>, hit ratio </a:t>
            </a:r>
            <a:r>
              <a:rPr lang="en-US" altLang="ko-KR" sz="2400">
                <a:solidFill>
                  <a:srgbClr val="56127A"/>
                </a:solidFill>
                <a:latin typeface="Symbol" charset="2"/>
                <a:ea typeface="굴림" charset="-127"/>
                <a:cs typeface="굴림" charset="-127"/>
              </a:rPr>
              <a:t>a </a:t>
            </a:r>
            <a:r>
              <a:rPr lang="en-US" altLang="ko-KR" sz="2000">
                <a:latin typeface="Verdana" charset="0"/>
                <a:ea typeface="굴림" charset="-127"/>
                <a:cs typeface="굴림" charset="-127"/>
              </a:rPr>
              <a:t>high</a:t>
            </a:r>
          </a:p>
          <a:p>
            <a:pPr marL="230188" indent="-230188" algn="l" eaLnBrk="1" hangingPunct="1">
              <a:spcBef>
                <a:spcPct val="20000"/>
              </a:spcBef>
              <a:buFontTx/>
              <a:buChar char="•"/>
            </a:pPr>
            <a:r>
              <a:rPr lang="en-US" altLang="ko-KR" sz="2000">
                <a:latin typeface="Verdana" charset="0"/>
                <a:ea typeface="굴림" charset="-127"/>
                <a:cs typeface="굴림" charset="-127"/>
              </a:rPr>
              <a:t>High bandwidth required for memory path</a:t>
            </a: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 </a:t>
            </a:r>
            <a:endParaRPr lang="en-US" sz="2000">
              <a:solidFill>
                <a:srgbClr val="56127A"/>
              </a:solidFill>
              <a:latin typeface="Verdana" charset="0"/>
              <a:ea typeface="굴림" charset="-127"/>
              <a:cs typeface="굴림" charset="-127"/>
            </a:endParaRPr>
          </a:p>
          <a:p>
            <a:pPr marL="230188" indent="-230188" algn="l" eaLnBrk="1" hangingPunct="1">
              <a:spcBef>
                <a:spcPct val="20000"/>
              </a:spcBef>
              <a:buFontTx/>
              <a:buChar char="•"/>
            </a:pPr>
            <a:r>
              <a:rPr lang="en-US" altLang="ko-KR" sz="2000">
                <a:latin typeface="Verdana" charset="0"/>
                <a:ea typeface="굴림" charset="-127"/>
                <a:cs typeface="굴림" charset="-127"/>
              </a:rPr>
              <a:t>Complexity of handling parallel paths can slow </a:t>
            </a: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t</a:t>
            </a:r>
            <a:r>
              <a:rPr lang="en-US" altLang="ko-KR" sz="2000" baseline="-25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cache</a:t>
            </a:r>
            <a:r>
              <a:rPr lang="en-US" altLang="ko-KR" sz="2000" baseline="-25000">
                <a:latin typeface="Verdana" charset="0"/>
                <a:ea typeface="굴림" charset="-127"/>
                <a:cs typeface="굴림" charset="-127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8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8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81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8160" grpId="0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8FAE5-A4FC-3643-876B-4700F6DF5BA7}" type="slidenum">
              <a:rPr lang="en-US"/>
              <a:pPr/>
              <a:t>38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8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0" y="279400"/>
            <a:ext cx="7162800" cy="939800"/>
          </a:xfrm>
          <a:noFill/>
          <a:ln/>
        </p:spPr>
        <p:txBody>
          <a:bodyPr lIns="90488" tIns="44450" rIns="90488" bIns="44450"/>
          <a:lstStyle/>
          <a:p>
            <a:r>
              <a:rPr lang="en-US" altLang="ko-KR">
                <a:ea typeface="굴림" charset="-127"/>
                <a:cs typeface="굴림" charset="-127"/>
              </a:rPr>
              <a:t>Causes for Cache Misses</a:t>
            </a:r>
          </a:p>
        </p:txBody>
      </p:sp>
      <p:sp>
        <p:nvSpPr>
          <p:cNvPr id="1484803" name="Rectangle 3"/>
          <p:cNvSpPr>
            <a:spLocks noChangeArrowheads="1"/>
          </p:cNvSpPr>
          <p:nvPr/>
        </p:nvSpPr>
        <p:spPr bwMode="auto">
          <a:xfrm>
            <a:off x="355600" y="1320800"/>
            <a:ext cx="8572500" cy="4017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  <a:buFontTx/>
              <a:buChar char="•"/>
            </a:pPr>
            <a:r>
              <a:rPr lang="ko-KR" altLang="en-US" sz="2400" b="1">
                <a:ea typeface="굴림" charset="-127"/>
                <a:cs typeface="굴림" charset="-127"/>
              </a:rPr>
              <a:t> </a:t>
            </a:r>
            <a:r>
              <a:rPr lang="en-US" altLang="ko-KR" sz="2200" i="1">
                <a:latin typeface="Verdana" charset="0"/>
                <a:ea typeface="굴림" charset="-127"/>
                <a:cs typeface="굴림" charset="-127"/>
              </a:rPr>
              <a:t>Compulsory:  </a:t>
            </a:r>
            <a:r>
              <a:rPr lang="en-US" altLang="ko-KR" sz="2200">
                <a:latin typeface="Verdana" charset="0"/>
                <a:ea typeface="굴림" charset="-127"/>
                <a:cs typeface="굴림" charset="-127"/>
              </a:rPr>
              <a:t>first-reference to a block </a:t>
            </a:r>
            <a:r>
              <a:rPr lang="en-US" altLang="ko-KR" sz="2200" i="1">
                <a:latin typeface="Verdana" charset="0"/>
                <a:ea typeface="굴림" charset="-127"/>
                <a:cs typeface="굴림" charset="-127"/>
              </a:rPr>
              <a:t>a.k.a. </a:t>
            </a:r>
            <a:r>
              <a:rPr lang="en-US" altLang="ko-KR" sz="2200">
                <a:latin typeface="Verdana" charset="0"/>
                <a:ea typeface="굴림" charset="-127"/>
                <a:cs typeface="굴림" charset="-127"/>
              </a:rPr>
              <a:t>cold</a:t>
            </a:r>
            <a:br>
              <a:rPr lang="en-US" altLang="ko-KR" sz="2200">
                <a:latin typeface="Verdana" charset="0"/>
                <a:ea typeface="굴림" charset="-127"/>
                <a:cs typeface="굴림" charset="-127"/>
              </a:rPr>
            </a:br>
            <a:r>
              <a:rPr lang="en-US" altLang="ko-KR" sz="2200">
                <a:latin typeface="Verdana" charset="0"/>
                <a:ea typeface="굴림" charset="-127"/>
                <a:cs typeface="굴림" charset="-127"/>
              </a:rPr>
              <a:t>           start misses</a:t>
            </a:r>
          </a:p>
          <a:p>
            <a:pPr algn="l"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</a:rPr>
              <a:t>	- misses that would occur even with infinite cache</a:t>
            </a:r>
          </a:p>
          <a:p>
            <a:pPr algn="l">
              <a:spcBef>
                <a:spcPct val="0"/>
              </a:spcBef>
            </a:pPr>
            <a:endParaRPr lang="en-US" altLang="ko-KR" sz="2200">
              <a:solidFill>
                <a:schemeClr val="accent2"/>
              </a:solidFill>
              <a:latin typeface="Verdana" charset="0"/>
              <a:ea typeface="굴림" charset="-127"/>
              <a:cs typeface="굴림" charset="-127"/>
            </a:endParaRPr>
          </a:p>
          <a:p>
            <a:pPr algn="l">
              <a:spcBef>
                <a:spcPct val="0"/>
              </a:spcBef>
              <a:buFontTx/>
              <a:buChar char="•"/>
            </a:pPr>
            <a:r>
              <a:rPr lang="en-US" altLang="ko-KR" sz="2200">
                <a:latin typeface="Verdana" charset="0"/>
                <a:ea typeface="굴림" charset="-127"/>
                <a:cs typeface="굴림" charset="-127"/>
              </a:rPr>
              <a:t> </a:t>
            </a:r>
            <a:r>
              <a:rPr lang="en-US" altLang="ko-KR" sz="2200" i="1">
                <a:latin typeface="Verdana" charset="0"/>
                <a:ea typeface="굴림" charset="-127"/>
                <a:cs typeface="굴림" charset="-127"/>
              </a:rPr>
              <a:t>Capacity:</a:t>
            </a:r>
            <a:r>
              <a:rPr lang="en-US" altLang="ko-KR" sz="2200">
                <a:latin typeface="Verdana" charset="0"/>
                <a:ea typeface="굴림" charset="-127"/>
                <a:cs typeface="굴림" charset="-127"/>
              </a:rPr>
              <a:t>  cache is too small to hold all data needed 		by the program</a:t>
            </a:r>
          </a:p>
          <a:p>
            <a:pPr algn="l"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</a:rPr>
              <a:t>	- misses that would occur even under perfect</a:t>
            </a:r>
          </a:p>
          <a:p>
            <a:pPr algn="l"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</a:rPr>
              <a:t>	  replacement policy</a:t>
            </a:r>
          </a:p>
          <a:p>
            <a:pPr algn="l">
              <a:spcBef>
                <a:spcPct val="0"/>
              </a:spcBef>
            </a:pPr>
            <a:endParaRPr lang="en-US" altLang="ko-KR" sz="2200">
              <a:solidFill>
                <a:schemeClr val="accent2"/>
              </a:solidFill>
              <a:latin typeface="Verdana" charset="0"/>
              <a:ea typeface="굴림" charset="-127"/>
              <a:cs typeface="굴림" charset="-127"/>
            </a:endParaRPr>
          </a:p>
          <a:p>
            <a:pPr algn="l">
              <a:spcBef>
                <a:spcPct val="0"/>
              </a:spcBef>
              <a:buFontTx/>
              <a:buChar char="•"/>
            </a:pPr>
            <a:r>
              <a:rPr lang="en-US" altLang="ko-KR" sz="2200">
                <a:latin typeface="Verdana" charset="0"/>
                <a:ea typeface="굴림" charset="-127"/>
                <a:cs typeface="굴림" charset="-127"/>
              </a:rPr>
              <a:t> </a:t>
            </a:r>
            <a:r>
              <a:rPr lang="en-US" altLang="ko-KR" sz="2200" i="1">
                <a:latin typeface="Verdana" charset="0"/>
                <a:ea typeface="굴림" charset="-127"/>
                <a:cs typeface="굴림" charset="-127"/>
              </a:rPr>
              <a:t>Conflict: </a:t>
            </a:r>
            <a:r>
              <a:rPr lang="en-US" altLang="ko-KR" sz="2200">
                <a:latin typeface="Verdana" charset="0"/>
                <a:ea typeface="굴림" charset="-127"/>
                <a:cs typeface="굴림" charset="-127"/>
              </a:rPr>
              <a:t> misses that occur because of collisions</a:t>
            </a:r>
          </a:p>
          <a:p>
            <a:pPr algn="l">
              <a:spcBef>
                <a:spcPct val="0"/>
              </a:spcBef>
            </a:pPr>
            <a:r>
              <a:rPr lang="en-US" altLang="ko-KR" sz="2200">
                <a:latin typeface="Verdana" charset="0"/>
                <a:ea typeface="굴림" charset="-127"/>
                <a:cs typeface="굴림" charset="-127"/>
              </a:rPr>
              <a:t> 	due to block-placement strategy</a:t>
            </a:r>
          </a:p>
          <a:p>
            <a:pPr lvl="2" algn="l"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</a:rPr>
              <a:t>- misses that would not occur with full associativity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71D85-A06A-5945-BE3D-E6BC14FDAE04}" type="slidenum">
              <a:rPr lang="en-US"/>
              <a:pPr/>
              <a:t>39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8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533400"/>
            <a:ext cx="8229600" cy="498475"/>
          </a:xfrm>
          <a:noFill/>
          <a:ln/>
        </p:spPr>
        <p:txBody>
          <a:bodyPr lIns="90488" tIns="44450" rIns="90488" bIns="44450"/>
          <a:lstStyle/>
          <a:p>
            <a:r>
              <a:rPr lang="en-US" altLang="ko-KR" sz="2800" dirty="0">
                <a:ea typeface="굴림" charset="-127"/>
                <a:cs typeface="굴림" charset="-127"/>
              </a:rPr>
              <a:t>Effect of Cache Parameters on Performance (Review)</a:t>
            </a:r>
          </a:p>
        </p:txBody>
      </p:sp>
      <p:sp>
        <p:nvSpPr>
          <p:cNvPr id="1486851" name="Rectangle 3"/>
          <p:cNvSpPr>
            <a:spLocks noChangeArrowheads="1"/>
          </p:cNvSpPr>
          <p:nvPr/>
        </p:nvSpPr>
        <p:spPr bwMode="auto">
          <a:xfrm>
            <a:off x="374650" y="1371600"/>
            <a:ext cx="8394700" cy="42894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  <a:buFontTx/>
              <a:buChar char="•"/>
            </a:pPr>
            <a:r>
              <a:rPr lang="en-US" sz="2400">
                <a:latin typeface="Verdana" charset="0"/>
              </a:rPr>
              <a:t> Larger cache size</a:t>
            </a:r>
          </a:p>
          <a:p>
            <a:pPr marL="403225" lvl="1" indent="-231775" algn="l">
              <a:spcBef>
                <a:spcPct val="0"/>
              </a:spcBef>
              <a:buFontTx/>
              <a:buChar char="+"/>
            </a:pPr>
            <a:r>
              <a:rPr lang="en-US" sz="2400">
                <a:solidFill>
                  <a:srgbClr val="FF0000"/>
                </a:solidFill>
                <a:latin typeface="Verdana" charset="0"/>
              </a:rPr>
              <a:t> reduces capacity and conflict misses  </a:t>
            </a:r>
          </a:p>
          <a:p>
            <a:pPr marL="403225" lvl="1" indent="-231775" algn="l">
              <a:spcBef>
                <a:spcPct val="0"/>
              </a:spcBef>
              <a:buFontTx/>
              <a:buChar char="-"/>
            </a:pPr>
            <a:r>
              <a:rPr lang="en-US" sz="2400">
                <a:solidFill>
                  <a:srgbClr val="FF0000"/>
                </a:solidFill>
                <a:latin typeface="Verdana" charset="0"/>
              </a:rPr>
              <a:t> hit time will increase</a:t>
            </a:r>
          </a:p>
          <a:p>
            <a:pPr algn="l">
              <a:spcBef>
                <a:spcPct val="0"/>
              </a:spcBef>
            </a:pPr>
            <a:endParaRPr lang="en-US" sz="1800">
              <a:latin typeface="Verdana" charset="0"/>
            </a:endParaRPr>
          </a:p>
          <a:p>
            <a:pPr algn="l">
              <a:spcBef>
                <a:spcPct val="0"/>
              </a:spcBef>
              <a:buFontTx/>
              <a:buChar char="•"/>
            </a:pPr>
            <a:r>
              <a:rPr lang="en-US" sz="2400">
                <a:latin typeface="Verdana" charset="0"/>
              </a:rPr>
              <a:t> Higher associativity</a:t>
            </a:r>
          </a:p>
          <a:p>
            <a:pPr marL="403225" lvl="1" indent="-231775" algn="l">
              <a:spcBef>
                <a:spcPct val="0"/>
              </a:spcBef>
              <a:buFontTx/>
              <a:buChar char="+"/>
            </a:pPr>
            <a:r>
              <a:rPr lang="en-US" sz="2400">
                <a:solidFill>
                  <a:srgbClr val="FF0000"/>
                </a:solidFill>
                <a:latin typeface="Verdana" charset="0"/>
              </a:rPr>
              <a:t> reduces conflict misses</a:t>
            </a:r>
          </a:p>
          <a:p>
            <a:pPr marL="403225" lvl="1" indent="-231775" algn="l">
              <a:spcBef>
                <a:spcPct val="0"/>
              </a:spcBef>
              <a:buFontTx/>
              <a:buChar char="-"/>
            </a:pPr>
            <a:r>
              <a:rPr lang="en-US" sz="2400">
                <a:solidFill>
                  <a:srgbClr val="FF0000"/>
                </a:solidFill>
                <a:latin typeface="Verdana" charset="0"/>
              </a:rPr>
              <a:t> may increase hit time</a:t>
            </a:r>
            <a:br>
              <a:rPr lang="en-US" sz="2400">
                <a:solidFill>
                  <a:srgbClr val="FF0000"/>
                </a:solidFill>
                <a:latin typeface="Verdana" charset="0"/>
              </a:rPr>
            </a:br>
            <a:endParaRPr lang="en-US" sz="2400">
              <a:solidFill>
                <a:srgbClr val="FF0000"/>
              </a:solidFill>
              <a:latin typeface="Verdana" charset="0"/>
            </a:endParaRPr>
          </a:p>
          <a:p>
            <a:pPr algn="l">
              <a:spcBef>
                <a:spcPct val="0"/>
              </a:spcBef>
              <a:buFontTx/>
              <a:buChar char="•"/>
            </a:pPr>
            <a:r>
              <a:rPr lang="en-US" sz="2400">
                <a:latin typeface="Verdana" charset="0"/>
              </a:rPr>
              <a:t> Larger block size</a:t>
            </a:r>
          </a:p>
          <a:p>
            <a:pPr marL="403225" lvl="1" indent="-231775" algn="l">
              <a:spcBef>
                <a:spcPct val="0"/>
              </a:spcBef>
              <a:buFontTx/>
              <a:buChar char="+"/>
            </a:pPr>
            <a:r>
              <a:rPr lang="en-US" sz="2400">
                <a:solidFill>
                  <a:srgbClr val="FF0000"/>
                </a:solidFill>
                <a:latin typeface="Verdana" charset="0"/>
              </a:rPr>
              <a:t> reduces compulsory and capacity (reload) misses</a:t>
            </a:r>
          </a:p>
          <a:p>
            <a:pPr marL="403225" lvl="1" indent="-231775" algn="l">
              <a:spcBef>
                <a:spcPct val="0"/>
              </a:spcBef>
              <a:buFontTx/>
              <a:buChar char="-"/>
            </a:pPr>
            <a:r>
              <a:rPr lang="en-US" sz="2400">
                <a:solidFill>
                  <a:srgbClr val="FF0000"/>
                </a:solidFill>
                <a:latin typeface="Verdana" charset="0"/>
              </a:rPr>
              <a:t> increases conflict misses and miss penalty</a:t>
            </a:r>
          </a:p>
          <a:p>
            <a:pPr marL="403225" lvl="1" indent="-231775" algn="l">
              <a:spcBef>
                <a:spcPct val="0"/>
              </a:spcBef>
            </a:pPr>
            <a:endParaRPr lang="en-US" sz="1800">
              <a:latin typeface="Verdana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6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6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6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6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6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68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6851" grpId="0" build="p" bldLvl="2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9CD77-99BC-2F44-B2A3-46F6CDDBFE69}" type="slidenum">
              <a:rPr lang="en-US"/>
              <a:pPr/>
              <a:t>40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89922" name="Rectangle 2" descr="Large confetti"/>
          <p:cNvSpPr>
            <a:spLocks noChangeArrowheads="1"/>
          </p:cNvSpPr>
          <p:nvPr/>
        </p:nvSpPr>
        <p:spPr bwMode="auto">
          <a:xfrm>
            <a:off x="4800600" y="3251200"/>
            <a:ext cx="914400" cy="381000"/>
          </a:xfrm>
          <a:prstGeom prst="rect">
            <a:avLst/>
          </a:prstGeom>
          <a:pattFill prst="lgConfetti">
            <a:fgClr>
              <a:schemeClr val="hlink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23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6359525" cy="903288"/>
          </a:xfrm>
        </p:spPr>
        <p:txBody>
          <a:bodyPr/>
          <a:lstStyle/>
          <a:p>
            <a:r>
              <a:rPr lang="en-US" altLang="ko-KR">
                <a:ea typeface="굴림" charset="-127"/>
                <a:cs typeface="굴림" charset="-127"/>
              </a:rPr>
              <a:t>Write Performance</a:t>
            </a:r>
          </a:p>
        </p:txBody>
      </p:sp>
      <p:sp>
        <p:nvSpPr>
          <p:cNvPr id="1489924" name="Line 4"/>
          <p:cNvSpPr>
            <a:spLocks noChangeShapeType="1"/>
          </p:cNvSpPr>
          <p:nvPr/>
        </p:nvSpPr>
        <p:spPr bwMode="auto">
          <a:xfrm>
            <a:off x="2438400" y="48514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25" name="Rectangle 5" descr="Large confetti"/>
          <p:cNvSpPr>
            <a:spLocks noChangeArrowheads="1"/>
          </p:cNvSpPr>
          <p:nvPr/>
        </p:nvSpPr>
        <p:spPr bwMode="auto">
          <a:xfrm>
            <a:off x="1758950" y="3257550"/>
            <a:ext cx="1212850" cy="374650"/>
          </a:xfrm>
          <a:prstGeom prst="rect">
            <a:avLst/>
          </a:prstGeom>
          <a:pattFill prst="lgConfetti">
            <a:fgClr>
              <a:schemeClr val="hlink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26" name="Rectangle 6"/>
          <p:cNvSpPr>
            <a:spLocks noChangeArrowheads="1"/>
          </p:cNvSpPr>
          <p:nvPr/>
        </p:nvSpPr>
        <p:spPr bwMode="auto">
          <a:xfrm>
            <a:off x="1765300" y="2501900"/>
            <a:ext cx="1206500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27" name="Line 7"/>
          <p:cNvSpPr>
            <a:spLocks noChangeShapeType="1"/>
          </p:cNvSpPr>
          <p:nvPr/>
        </p:nvSpPr>
        <p:spPr bwMode="auto">
          <a:xfrm>
            <a:off x="1752600" y="2870200"/>
            <a:ext cx="121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28" name="Line 8"/>
          <p:cNvSpPr>
            <a:spLocks noChangeShapeType="1"/>
          </p:cNvSpPr>
          <p:nvPr/>
        </p:nvSpPr>
        <p:spPr bwMode="auto">
          <a:xfrm>
            <a:off x="1752600" y="3251200"/>
            <a:ext cx="121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29" name="Line 9"/>
          <p:cNvSpPr>
            <a:spLocks noChangeShapeType="1"/>
          </p:cNvSpPr>
          <p:nvPr/>
        </p:nvSpPr>
        <p:spPr bwMode="auto">
          <a:xfrm>
            <a:off x="1752600" y="3632200"/>
            <a:ext cx="121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30" name="Line 10"/>
          <p:cNvSpPr>
            <a:spLocks noChangeShapeType="1"/>
          </p:cNvSpPr>
          <p:nvPr/>
        </p:nvSpPr>
        <p:spPr bwMode="auto">
          <a:xfrm>
            <a:off x="2971800" y="2336800"/>
            <a:ext cx="0" cy="167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31" name="Line 11"/>
          <p:cNvSpPr>
            <a:spLocks noChangeShapeType="1"/>
          </p:cNvSpPr>
          <p:nvPr/>
        </p:nvSpPr>
        <p:spPr bwMode="auto">
          <a:xfrm>
            <a:off x="3886200" y="2336800"/>
            <a:ext cx="0" cy="167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32" name="Rectangle 12"/>
          <p:cNvSpPr>
            <a:spLocks noChangeArrowheads="1"/>
          </p:cNvSpPr>
          <p:nvPr/>
        </p:nvSpPr>
        <p:spPr bwMode="auto">
          <a:xfrm>
            <a:off x="2193925" y="3325813"/>
            <a:ext cx="2555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 </a:t>
            </a:r>
          </a:p>
        </p:txBody>
      </p:sp>
      <p:sp>
        <p:nvSpPr>
          <p:cNvPr id="1489933" name="Line 13"/>
          <p:cNvSpPr>
            <a:spLocks noChangeShapeType="1"/>
          </p:cNvSpPr>
          <p:nvPr/>
        </p:nvSpPr>
        <p:spPr bwMode="auto">
          <a:xfrm>
            <a:off x="2057400" y="2336800"/>
            <a:ext cx="0" cy="167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34" name="Rectangle 14"/>
          <p:cNvSpPr>
            <a:spLocks noChangeArrowheads="1"/>
          </p:cNvSpPr>
          <p:nvPr/>
        </p:nvSpPr>
        <p:spPr bwMode="auto">
          <a:xfrm>
            <a:off x="2041525" y="2138363"/>
            <a:ext cx="830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 Tag</a:t>
            </a:r>
          </a:p>
        </p:txBody>
      </p:sp>
      <p:sp>
        <p:nvSpPr>
          <p:cNvPr id="1489935" name="Rectangle 15"/>
          <p:cNvSpPr>
            <a:spLocks noChangeArrowheads="1"/>
          </p:cNvSpPr>
          <p:nvPr/>
        </p:nvSpPr>
        <p:spPr bwMode="auto">
          <a:xfrm>
            <a:off x="5029200" y="2108200"/>
            <a:ext cx="7858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Data</a:t>
            </a:r>
          </a:p>
        </p:txBody>
      </p:sp>
      <p:sp>
        <p:nvSpPr>
          <p:cNvPr id="1489936" name="Rectangle 16"/>
          <p:cNvSpPr>
            <a:spLocks noChangeArrowheads="1"/>
          </p:cNvSpPr>
          <p:nvPr/>
        </p:nvSpPr>
        <p:spPr bwMode="auto">
          <a:xfrm>
            <a:off x="1584325" y="2138363"/>
            <a:ext cx="536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 V</a:t>
            </a:r>
          </a:p>
        </p:txBody>
      </p:sp>
      <p:sp>
        <p:nvSpPr>
          <p:cNvPr id="1489937" name="Line 17"/>
          <p:cNvSpPr>
            <a:spLocks noChangeShapeType="1"/>
          </p:cNvSpPr>
          <p:nvPr/>
        </p:nvSpPr>
        <p:spPr bwMode="auto">
          <a:xfrm>
            <a:off x="4800600" y="248920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38" name="Line 18"/>
          <p:cNvSpPr>
            <a:spLocks noChangeShapeType="1"/>
          </p:cNvSpPr>
          <p:nvPr/>
        </p:nvSpPr>
        <p:spPr bwMode="auto">
          <a:xfrm>
            <a:off x="5715000" y="248920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39" name="Rectangle 19"/>
          <p:cNvSpPr>
            <a:spLocks noChangeArrowheads="1"/>
          </p:cNvSpPr>
          <p:nvPr/>
        </p:nvSpPr>
        <p:spPr bwMode="auto">
          <a:xfrm>
            <a:off x="1079500" y="1054100"/>
            <a:ext cx="43180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1827213" y="5165725"/>
            <a:ext cx="325437" cy="473075"/>
            <a:chOff x="1151" y="3414"/>
            <a:chExt cx="205" cy="298"/>
          </a:xfrm>
        </p:grpSpPr>
        <p:sp>
          <p:nvSpPr>
            <p:cNvPr id="1489941" name="Line 21"/>
            <p:cNvSpPr>
              <a:spLocks noChangeShapeType="1"/>
            </p:cNvSpPr>
            <p:nvPr/>
          </p:nvSpPr>
          <p:spPr bwMode="auto">
            <a:xfrm>
              <a:off x="1354" y="3414"/>
              <a:ext cx="0" cy="2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9942" name="Line 22"/>
            <p:cNvSpPr>
              <a:spLocks noChangeShapeType="1"/>
            </p:cNvSpPr>
            <p:nvPr/>
          </p:nvSpPr>
          <p:spPr bwMode="auto">
            <a:xfrm>
              <a:off x="1152" y="3414"/>
              <a:ext cx="0" cy="2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9943" name="Line 23"/>
            <p:cNvSpPr>
              <a:spLocks noChangeShapeType="1"/>
            </p:cNvSpPr>
            <p:nvPr/>
          </p:nvSpPr>
          <p:spPr bwMode="auto">
            <a:xfrm flipH="1">
              <a:off x="1153" y="3416"/>
              <a:ext cx="2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9944" name="Arc 24"/>
            <p:cNvSpPr>
              <a:spLocks/>
            </p:cNvSpPr>
            <p:nvPr/>
          </p:nvSpPr>
          <p:spPr bwMode="auto">
            <a:xfrm>
              <a:off x="1249" y="3617"/>
              <a:ext cx="107" cy="94"/>
            </a:xfrm>
            <a:custGeom>
              <a:avLst/>
              <a:gdLst>
                <a:gd name="G0" fmla="+- 205 0 0"/>
                <a:gd name="G1" fmla="+- 0 0 0"/>
                <a:gd name="G2" fmla="+- 21600 0 0"/>
                <a:gd name="T0" fmla="*/ 21805 w 21805"/>
                <a:gd name="T1" fmla="*/ 0 h 21600"/>
                <a:gd name="T2" fmla="*/ 0 w 21805"/>
                <a:gd name="T3" fmla="*/ 21599 h 21600"/>
                <a:gd name="T4" fmla="*/ 205 w 21805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805" h="21600" fill="none" extrusionOk="0">
                  <a:moveTo>
                    <a:pt x="21805" y="0"/>
                  </a:moveTo>
                  <a:cubicBezTo>
                    <a:pt x="21805" y="11929"/>
                    <a:pt x="12134" y="21600"/>
                    <a:pt x="205" y="21600"/>
                  </a:cubicBezTo>
                  <a:cubicBezTo>
                    <a:pt x="136" y="21599"/>
                    <a:pt x="68" y="21599"/>
                    <a:pt x="-1" y="21599"/>
                  </a:cubicBezTo>
                </a:path>
                <a:path w="21805" h="21600" stroke="0" extrusionOk="0">
                  <a:moveTo>
                    <a:pt x="21805" y="0"/>
                  </a:moveTo>
                  <a:cubicBezTo>
                    <a:pt x="21805" y="11929"/>
                    <a:pt x="12134" y="21600"/>
                    <a:pt x="205" y="21600"/>
                  </a:cubicBezTo>
                  <a:cubicBezTo>
                    <a:pt x="136" y="21599"/>
                    <a:pt x="68" y="21599"/>
                    <a:pt x="-1" y="21599"/>
                  </a:cubicBezTo>
                  <a:lnTo>
                    <a:pt x="205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9945" name="Arc 25"/>
            <p:cNvSpPr>
              <a:spLocks/>
            </p:cNvSpPr>
            <p:nvPr/>
          </p:nvSpPr>
          <p:spPr bwMode="auto">
            <a:xfrm>
              <a:off x="1151" y="3618"/>
              <a:ext cx="106" cy="94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395 w 21600"/>
                <a:gd name="T1" fmla="*/ 21599 h 21599"/>
                <a:gd name="T2" fmla="*/ 0 w 21600"/>
                <a:gd name="T3" fmla="*/ 0 h 21599"/>
                <a:gd name="T4" fmla="*/ 21600 w 21600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21394" y="21599"/>
                  </a:moveTo>
                  <a:cubicBezTo>
                    <a:pt x="9546" y="21486"/>
                    <a:pt x="-1" y="11849"/>
                    <a:pt x="-1" y="-1"/>
                  </a:cubicBezTo>
                </a:path>
                <a:path w="21600" h="21599" stroke="0" extrusionOk="0">
                  <a:moveTo>
                    <a:pt x="21394" y="21599"/>
                  </a:moveTo>
                  <a:cubicBezTo>
                    <a:pt x="9546" y="21486"/>
                    <a:pt x="-1" y="11849"/>
                    <a:pt x="-1" y="-1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89946" name="Oval 26"/>
          <p:cNvSpPr>
            <a:spLocks noChangeArrowheads="1"/>
          </p:cNvSpPr>
          <p:nvPr/>
        </p:nvSpPr>
        <p:spPr bwMode="auto">
          <a:xfrm>
            <a:off x="2173288" y="4406900"/>
            <a:ext cx="508000" cy="5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47" name="Rectangle 27"/>
          <p:cNvSpPr>
            <a:spLocks noChangeArrowheads="1"/>
          </p:cNvSpPr>
          <p:nvPr/>
        </p:nvSpPr>
        <p:spPr bwMode="auto">
          <a:xfrm>
            <a:off x="2206625" y="4462463"/>
            <a:ext cx="481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=</a:t>
            </a:r>
          </a:p>
        </p:txBody>
      </p:sp>
      <p:sp>
        <p:nvSpPr>
          <p:cNvPr id="1489948" name="Rectangle 28"/>
          <p:cNvSpPr>
            <a:spLocks noChangeArrowheads="1"/>
          </p:cNvSpPr>
          <p:nvPr/>
        </p:nvSpPr>
        <p:spPr bwMode="auto">
          <a:xfrm>
            <a:off x="4632325" y="1039813"/>
            <a:ext cx="79375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Block</a:t>
            </a:r>
          </a:p>
          <a:p>
            <a:pPr algn="l"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Offset</a:t>
            </a:r>
          </a:p>
        </p:txBody>
      </p:sp>
      <p:sp>
        <p:nvSpPr>
          <p:cNvPr id="1489949" name="Line 29"/>
          <p:cNvSpPr>
            <a:spLocks noChangeShapeType="1"/>
          </p:cNvSpPr>
          <p:nvPr/>
        </p:nvSpPr>
        <p:spPr bwMode="auto">
          <a:xfrm>
            <a:off x="4648200" y="104140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50" name="Line 30"/>
          <p:cNvSpPr>
            <a:spLocks noChangeShapeType="1"/>
          </p:cNvSpPr>
          <p:nvPr/>
        </p:nvSpPr>
        <p:spPr bwMode="auto">
          <a:xfrm>
            <a:off x="2514600" y="104140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51" name="Rectangle 31"/>
          <p:cNvSpPr>
            <a:spLocks noChangeArrowheads="1"/>
          </p:cNvSpPr>
          <p:nvPr/>
        </p:nvSpPr>
        <p:spPr bwMode="auto">
          <a:xfrm>
            <a:off x="1279525" y="1071563"/>
            <a:ext cx="830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 Tag</a:t>
            </a:r>
          </a:p>
        </p:txBody>
      </p:sp>
      <p:sp>
        <p:nvSpPr>
          <p:cNvPr id="1489952" name="Rectangle 32"/>
          <p:cNvSpPr>
            <a:spLocks noChangeArrowheads="1"/>
          </p:cNvSpPr>
          <p:nvPr/>
        </p:nvSpPr>
        <p:spPr bwMode="auto">
          <a:xfrm>
            <a:off x="3108325" y="1071563"/>
            <a:ext cx="9112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Index</a:t>
            </a:r>
          </a:p>
        </p:txBody>
      </p:sp>
      <p:sp>
        <p:nvSpPr>
          <p:cNvPr id="1489953" name="Line 33"/>
          <p:cNvSpPr>
            <a:spLocks noChangeShapeType="1"/>
          </p:cNvSpPr>
          <p:nvPr/>
        </p:nvSpPr>
        <p:spPr bwMode="auto">
          <a:xfrm>
            <a:off x="1905000" y="3479800"/>
            <a:ext cx="0" cy="106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54" name="Line 34"/>
          <p:cNvSpPr>
            <a:spLocks noChangeShapeType="1"/>
          </p:cNvSpPr>
          <p:nvPr/>
        </p:nvSpPr>
        <p:spPr bwMode="auto">
          <a:xfrm>
            <a:off x="2438400" y="3479800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55" name="Line 35"/>
          <p:cNvSpPr>
            <a:spLocks noChangeShapeType="1"/>
          </p:cNvSpPr>
          <p:nvPr/>
        </p:nvSpPr>
        <p:spPr bwMode="auto">
          <a:xfrm>
            <a:off x="1981200" y="56134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56" name="Line 36"/>
          <p:cNvSpPr>
            <a:spLocks noChangeShapeType="1"/>
          </p:cNvSpPr>
          <p:nvPr/>
        </p:nvSpPr>
        <p:spPr bwMode="auto">
          <a:xfrm>
            <a:off x="1524000" y="5765800"/>
            <a:ext cx="251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none" w="med" len="lg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57" name="Line 37"/>
          <p:cNvSpPr>
            <a:spLocks noChangeShapeType="1"/>
          </p:cNvSpPr>
          <p:nvPr/>
        </p:nvSpPr>
        <p:spPr bwMode="auto">
          <a:xfrm flipH="1">
            <a:off x="2057400" y="50038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58" name="Line 38"/>
          <p:cNvSpPr>
            <a:spLocks noChangeShapeType="1"/>
          </p:cNvSpPr>
          <p:nvPr/>
        </p:nvSpPr>
        <p:spPr bwMode="auto">
          <a:xfrm>
            <a:off x="2057400" y="50038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59" name="Line 39"/>
          <p:cNvSpPr>
            <a:spLocks noChangeShapeType="1"/>
          </p:cNvSpPr>
          <p:nvPr/>
        </p:nvSpPr>
        <p:spPr bwMode="auto">
          <a:xfrm flipH="1">
            <a:off x="5257800" y="3479800"/>
            <a:ext cx="0" cy="129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60" name="Line 40"/>
          <p:cNvSpPr>
            <a:spLocks noChangeShapeType="1"/>
          </p:cNvSpPr>
          <p:nvPr/>
        </p:nvSpPr>
        <p:spPr bwMode="auto">
          <a:xfrm>
            <a:off x="3581400" y="1574800"/>
            <a:ext cx="0" cy="190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61" name="Line 41"/>
          <p:cNvSpPr>
            <a:spLocks noChangeShapeType="1"/>
          </p:cNvSpPr>
          <p:nvPr/>
        </p:nvSpPr>
        <p:spPr bwMode="auto">
          <a:xfrm flipH="1">
            <a:off x="1524000" y="1879600"/>
            <a:ext cx="205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62" name="Line 42"/>
          <p:cNvSpPr>
            <a:spLocks noChangeShapeType="1"/>
          </p:cNvSpPr>
          <p:nvPr/>
        </p:nvSpPr>
        <p:spPr bwMode="auto">
          <a:xfrm>
            <a:off x="1752600" y="15748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63" name="Line 43"/>
          <p:cNvSpPr>
            <a:spLocks noChangeShapeType="1"/>
          </p:cNvSpPr>
          <p:nvPr/>
        </p:nvSpPr>
        <p:spPr bwMode="auto">
          <a:xfrm>
            <a:off x="1524000" y="187960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64" name="Line 44"/>
          <p:cNvSpPr>
            <a:spLocks noChangeShapeType="1"/>
          </p:cNvSpPr>
          <p:nvPr/>
        </p:nvSpPr>
        <p:spPr bwMode="auto">
          <a:xfrm flipH="1">
            <a:off x="1524000" y="34036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65" name="Line 45"/>
          <p:cNvSpPr>
            <a:spLocks noChangeShapeType="1"/>
          </p:cNvSpPr>
          <p:nvPr/>
        </p:nvSpPr>
        <p:spPr bwMode="auto">
          <a:xfrm flipH="1">
            <a:off x="1066800" y="172720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66" name="Line 46"/>
          <p:cNvSpPr>
            <a:spLocks noChangeShapeType="1"/>
          </p:cNvSpPr>
          <p:nvPr/>
        </p:nvSpPr>
        <p:spPr bwMode="auto">
          <a:xfrm>
            <a:off x="1066800" y="1727200"/>
            <a:ext cx="0" cy="289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67" name="Line 47"/>
          <p:cNvSpPr>
            <a:spLocks noChangeShapeType="1"/>
          </p:cNvSpPr>
          <p:nvPr/>
        </p:nvSpPr>
        <p:spPr bwMode="auto">
          <a:xfrm flipH="1">
            <a:off x="1066800" y="46228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68" name="Line 48"/>
          <p:cNvSpPr>
            <a:spLocks noChangeShapeType="1"/>
          </p:cNvSpPr>
          <p:nvPr/>
        </p:nvSpPr>
        <p:spPr bwMode="auto">
          <a:xfrm flipH="1">
            <a:off x="1752600" y="46228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69" name="Oval 49"/>
          <p:cNvSpPr>
            <a:spLocks noChangeArrowheads="1"/>
          </p:cNvSpPr>
          <p:nvPr/>
        </p:nvSpPr>
        <p:spPr bwMode="auto">
          <a:xfrm>
            <a:off x="1874838" y="341630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70" name="Oval 50"/>
          <p:cNvSpPr>
            <a:spLocks noChangeArrowheads="1"/>
          </p:cNvSpPr>
          <p:nvPr/>
        </p:nvSpPr>
        <p:spPr bwMode="auto">
          <a:xfrm>
            <a:off x="2403475" y="341630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71" name="Oval 51"/>
          <p:cNvSpPr>
            <a:spLocks noChangeArrowheads="1"/>
          </p:cNvSpPr>
          <p:nvPr/>
        </p:nvSpPr>
        <p:spPr bwMode="auto">
          <a:xfrm>
            <a:off x="5210175" y="341630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72" name="Line 52"/>
          <p:cNvSpPr>
            <a:spLocks noChangeShapeType="1"/>
          </p:cNvSpPr>
          <p:nvPr/>
        </p:nvSpPr>
        <p:spPr bwMode="auto">
          <a:xfrm>
            <a:off x="1905000" y="46990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73" name="Line 53"/>
          <p:cNvSpPr>
            <a:spLocks noChangeShapeType="1"/>
          </p:cNvSpPr>
          <p:nvPr/>
        </p:nvSpPr>
        <p:spPr bwMode="auto">
          <a:xfrm>
            <a:off x="5029200" y="15748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74" name="Line 54"/>
          <p:cNvSpPr>
            <a:spLocks noChangeShapeType="1"/>
          </p:cNvSpPr>
          <p:nvPr/>
        </p:nvSpPr>
        <p:spPr bwMode="auto">
          <a:xfrm flipH="1">
            <a:off x="1143000" y="16510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75" name="Line 55"/>
          <p:cNvSpPr>
            <a:spLocks noChangeShapeType="1"/>
          </p:cNvSpPr>
          <p:nvPr/>
        </p:nvSpPr>
        <p:spPr bwMode="auto">
          <a:xfrm flipH="1">
            <a:off x="3200400" y="18034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76" name="Line 56"/>
          <p:cNvSpPr>
            <a:spLocks noChangeShapeType="1"/>
          </p:cNvSpPr>
          <p:nvPr/>
        </p:nvSpPr>
        <p:spPr bwMode="auto">
          <a:xfrm flipH="1">
            <a:off x="4953000" y="16510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77" name="Line 57"/>
          <p:cNvSpPr>
            <a:spLocks noChangeShapeType="1"/>
          </p:cNvSpPr>
          <p:nvPr/>
        </p:nvSpPr>
        <p:spPr bwMode="auto">
          <a:xfrm flipH="1">
            <a:off x="2362200" y="40894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78" name="Rectangle 58"/>
          <p:cNvSpPr>
            <a:spLocks noChangeArrowheads="1"/>
          </p:cNvSpPr>
          <p:nvPr/>
        </p:nvSpPr>
        <p:spPr bwMode="auto">
          <a:xfrm>
            <a:off x="1050925" y="1757363"/>
            <a:ext cx="3730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t</a:t>
            </a:r>
          </a:p>
        </p:txBody>
      </p:sp>
      <p:sp>
        <p:nvSpPr>
          <p:cNvPr id="1489979" name="Rectangle 59"/>
          <p:cNvSpPr>
            <a:spLocks noChangeArrowheads="1"/>
          </p:cNvSpPr>
          <p:nvPr/>
        </p:nvSpPr>
        <p:spPr bwMode="auto">
          <a:xfrm>
            <a:off x="3108325" y="1909763"/>
            <a:ext cx="423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k</a:t>
            </a:r>
          </a:p>
        </p:txBody>
      </p:sp>
      <p:sp>
        <p:nvSpPr>
          <p:cNvPr id="1489980" name="Rectangle 60"/>
          <p:cNvSpPr>
            <a:spLocks noChangeArrowheads="1"/>
          </p:cNvSpPr>
          <p:nvPr/>
        </p:nvSpPr>
        <p:spPr bwMode="auto">
          <a:xfrm>
            <a:off x="5181600" y="1574800"/>
            <a:ext cx="431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b</a:t>
            </a:r>
          </a:p>
        </p:txBody>
      </p:sp>
      <p:sp>
        <p:nvSpPr>
          <p:cNvPr id="1489981" name="Rectangle 61"/>
          <p:cNvSpPr>
            <a:spLocks noChangeArrowheads="1"/>
          </p:cNvSpPr>
          <p:nvPr/>
        </p:nvSpPr>
        <p:spPr bwMode="auto">
          <a:xfrm>
            <a:off x="2498725" y="4043363"/>
            <a:ext cx="3730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t</a:t>
            </a:r>
          </a:p>
        </p:txBody>
      </p:sp>
      <p:sp>
        <p:nvSpPr>
          <p:cNvPr id="1489982" name="Rectangle 62"/>
          <p:cNvSpPr>
            <a:spLocks noChangeArrowheads="1"/>
          </p:cNvSpPr>
          <p:nvPr/>
        </p:nvSpPr>
        <p:spPr bwMode="auto">
          <a:xfrm>
            <a:off x="898525" y="5567363"/>
            <a:ext cx="6381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HIT</a:t>
            </a:r>
          </a:p>
        </p:txBody>
      </p:sp>
      <p:sp>
        <p:nvSpPr>
          <p:cNvPr id="1489983" name="Rectangle 63"/>
          <p:cNvSpPr>
            <a:spLocks noChangeArrowheads="1"/>
          </p:cNvSpPr>
          <p:nvPr/>
        </p:nvSpPr>
        <p:spPr bwMode="auto">
          <a:xfrm>
            <a:off x="4419600" y="5537200"/>
            <a:ext cx="25638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Data Word or Byte</a:t>
            </a:r>
          </a:p>
        </p:txBody>
      </p:sp>
      <p:sp>
        <p:nvSpPr>
          <p:cNvPr id="1489984" name="Line 64"/>
          <p:cNvSpPr>
            <a:spLocks noChangeShapeType="1"/>
          </p:cNvSpPr>
          <p:nvPr/>
        </p:nvSpPr>
        <p:spPr bwMode="auto">
          <a:xfrm>
            <a:off x="7848600" y="24892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85" name="Rectangle 65"/>
          <p:cNvSpPr>
            <a:spLocks noChangeArrowheads="1"/>
          </p:cNvSpPr>
          <p:nvPr/>
        </p:nvSpPr>
        <p:spPr bwMode="auto">
          <a:xfrm>
            <a:off x="7924800" y="2946400"/>
            <a:ext cx="7683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 2</a:t>
            </a:r>
            <a:r>
              <a:rPr lang="en-US" sz="2000" baseline="30000">
                <a:solidFill>
                  <a:srgbClr val="56127A"/>
                </a:solidFill>
                <a:latin typeface="Verdana" charset="0"/>
              </a:rPr>
              <a:t>k</a:t>
            </a:r>
          </a:p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lines</a:t>
            </a:r>
          </a:p>
        </p:txBody>
      </p:sp>
      <p:sp>
        <p:nvSpPr>
          <p:cNvPr id="1489986" name="Rectangle 66"/>
          <p:cNvSpPr>
            <a:spLocks noChangeArrowheads="1"/>
          </p:cNvSpPr>
          <p:nvPr/>
        </p:nvSpPr>
        <p:spPr bwMode="auto">
          <a:xfrm>
            <a:off x="3886200" y="2489200"/>
            <a:ext cx="3810000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87" name="Line 67"/>
          <p:cNvSpPr>
            <a:spLocks noChangeShapeType="1"/>
          </p:cNvSpPr>
          <p:nvPr/>
        </p:nvSpPr>
        <p:spPr bwMode="auto">
          <a:xfrm>
            <a:off x="3886200" y="2870200"/>
            <a:ext cx="381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88" name="Line 68"/>
          <p:cNvSpPr>
            <a:spLocks noChangeShapeType="1"/>
          </p:cNvSpPr>
          <p:nvPr/>
        </p:nvSpPr>
        <p:spPr bwMode="auto">
          <a:xfrm>
            <a:off x="6705600" y="248920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89" name="Rectangle 69"/>
          <p:cNvSpPr>
            <a:spLocks noChangeArrowheads="1"/>
          </p:cNvSpPr>
          <p:nvPr/>
        </p:nvSpPr>
        <p:spPr bwMode="auto">
          <a:xfrm>
            <a:off x="4191000" y="4546600"/>
            <a:ext cx="5953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WE</a:t>
            </a:r>
          </a:p>
        </p:txBody>
      </p:sp>
      <p:sp>
        <p:nvSpPr>
          <p:cNvPr id="1489990" name="Line 70"/>
          <p:cNvSpPr>
            <a:spLocks noChangeShapeType="1"/>
          </p:cNvSpPr>
          <p:nvPr/>
        </p:nvSpPr>
        <p:spPr bwMode="auto">
          <a:xfrm>
            <a:off x="3886200" y="3251200"/>
            <a:ext cx="381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91" name="Line 71"/>
          <p:cNvSpPr>
            <a:spLocks noChangeShapeType="1"/>
          </p:cNvSpPr>
          <p:nvPr/>
        </p:nvSpPr>
        <p:spPr bwMode="auto">
          <a:xfrm>
            <a:off x="3886200" y="3632200"/>
            <a:ext cx="381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92" name="Line 72"/>
          <p:cNvSpPr>
            <a:spLocks noChangeShapeType="1"/>
          </p:cNvSpPr>
          <p:nvPr/>
        </p:nvSpPr>
        <p:spPr bwMode="auto">
          <a:xfrm>
            <a:off x="5257800" y="51562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" name="Group 73"/>
          <p:cNvGrpSpPr>
            <a:grpSpLocks/>
          </p:cNvGrpSpPr>
          <p:nvPr/>
        </p:nvGrpSpPr>
        <p:grpSpPr bwMode="auto">
          <a:xfrm flipV="1">
            <a:off x="4991100" y="4756150"/>
            <a:ext cx="533400" cy="368300"/>
            <a:chOff x="1953" y="3423"/>
            <a:chExt cx="176" cy="136"/>
          </a:xfrm>
        </p:grpSpPr>
        <p:sp>
          <p:nvSpPr>
            <p:cNvPr id="1489994" name="Line 74"/>
            <p:cNvSpPr>
              <a:spLocks noChangeShapeType="1"/>
            </p:cNvSpPr>
            <p:nvPr/>
          </p:nvSpPr>
          <p:spPr bwMode="auto">
            <a:xfrm flipH="1">
              <a:off x="2037" y="3426"/>
              <a:ext cx="92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9995" name="Line 75"/>
            <p:cNvSpPr>
              <a:spLocks noChangeShapeType="1"/>
            </p:cNvSpPr>
            <p:nvPr/>
          </p:nvSpPr>
          <p:spPr bwMode="auto">
            <a:xfrm>
              <a:off x="1953" y="3426"/>
              <a:ext cx="92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9996" name="Line 76"/>
            <p:cNvSpPr>
              <a:spLocks noChangeShapeType="1"/>
            </p:cNvSpPr>
            <p:nvPr/>
          </p:nvSpPr>
          <p:spPr bwMode="auto">
            <a:xfrm flipH="1">
              <a:off x="1958" y="3423"/>
              <a:ext cx="1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89997" name="Line 77"/>
          <p:cNvSpPr>
            <a:spLocks noChangeShapeType="1"/>
          </p:cNvSpPr>
          <p:nvPr/>
        </p:nvSpPr>
        <p:spPr bwMode="auto">
          <a:xfrm flipV="1">
            <a:off x="4038600" y="50038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98" name="Line 78"/>
          <p:cNvSpPr>
            <a:spLocks noChangeShapeType="1"/>
          </p:cNvSpPr>
          <p:nvPr/>
        </p:nvSpPr>
        <p:spPr bwMode="auto">
          <a:xfrm>
            <a:off x="4038600" y="5003800"/>
            <a:ext cx="990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99" name="Line 79"/>
          <p:cNvSpPr>
            <a:spLocks noChangeShapeType="1"/>
          </p:cNvSpPr>
          <p:nvPr/>
        </p:nvSpPr>
        <p:spPr bwMode="auto">
          <a:xfrm>
            <a:off x="3657600" y="20320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0000" name="Line 80"/>
          <p:cNvSpPr>
            <a:spLocks noChangeShapeType="1"/>
          </p:cNvSpPr>
          <p:nvPr/>
        </p:nvSpPr>
        <p:spPr bwMode="auto">
          <a:xfrm>
            <a:off x="3657600" y="2032000"/>
            <a:ext cx="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0001" name="Line 81"/>
          <p:cNvSpPr>
            <a:spLocks noChangeShapeType="1"/>
          </p:cNvSpPr>
          <p:nvPr/>
        </p:nvSpPr>
        <p:spPr bwMode="auto">
          <a:xfrm>
            <a:off x="3581400" y="3479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AA90-CAF4-AC4B-B5E3-32B1C7DC24CF}" type="slidenum">
              <a:rPr lang="en-US"/>
              <a:pPr/>
              <a:t>41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919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7292975" cy="736600"/>
          </a:xfrm>
        </p:spPr>
        <p:txBody>
          <a:bodyPr/>
          <a:lstStyle/>
          <a:p>
            <a:r>
              <a:rPr lang="en-US" altLang="ko-KR">
                <a:ea typeface="굴림" charset="-127"/>
                <a:cs typeface="굴림" charset="-127"/>
              </a:rPr>
              <a:t>Reducing Write Hit Time</a:t>
            </a:r>
          </a:p>
        </p:txBody>
      </p:sp>
      <p:sp>
        <p:nvSpPr>
          <p:cNvPr id="1491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55700"/>
            <a:ext cx="8001000" cy="5143500"/>
          </a:xfrm>
          <a:noFill/>
          <a:ln/>
        </p:spPr>
        <p:txBody>
          <a:bodyPr/>
          <a:lstStyle/>
          <a:p>
            <a:pPr marL="230188" indent="-230188">
              <a:lnSpc>
                <a:spcPct val="80000"/>
              </a:lnSpc>
              <a:buFontTx/>
              <a:buNone/>
            </a:pPr>
            <a:r>
              <a:rPr lang="en-US" altLang="ko-KR" sz="2400" dirty="0">
                <a:ea typeface="굴림" charset="-127"/>
                <a:cs typeface="굴림" charset="-127"/>
              </a:rPr>
              <a:t>Problem: Writes take two cycles in memory stage, one cycle for tag check plus one cycle for data write if hit</a:t>
            </a:r>
          </a:p>
          <a:p>
            <a:pPr marL="230188" indent="-230188">
              <a:lnSpc>
                <a:spcPct val="80000"/>
              </a:lnSpc>
              <a:buFontTx/>
              <a:buNone/>
            </a:pPr>
            <a:endParaRPr lang="en-US" altLang="ko-KR" sz="2400" dirty="0">
              <a:ea typeface="굴림" charset="-127"/>
              <a:cs typeface="굴림" charset="-127"/>
            </a:endParaRPr>
          </a:p>
          <a:p>
            <a:pPr marL="230188" indent="-230188">
              <a:lnSpc>
                <a:spcPct val="80000"/>
              </a:lnSpc>
              <a:buFontTx/>
              <a:buNone/>
            </a:pPr>
            <a:r>
              <a:rPr lang="en-US" altLang="ko-KR" sz="2400" dirty="0">
                <a:ea typeface="굴림" charset="-127"/>
                <a:cs typeface="굴림" charset="-127"/>
              </a:rPr>
              <a:t>Solutions:</a:t>
            </a:r>
          </a:p>
          <a:p>
            <a:pPr marL="230188" indent="-230188">
              <a:lnSpc>
                <a:spcPct val="80000"/>
              </a:lnSpc>
            </a:pPr>
            <a:r>
              <a:rPr lang="en-US" altLang="ko-KR" sz="2800" dirty="0">
                <a:ea typeface="굴림" charset="-127"/>
                <a:cs typeface="굴림" charset="-127"/>
              </a:rPr>
              <a:t>Fully-associative (CAM Tag) caches: Word line only enabled if hit</a:t>
            </a:r>
          </a:p>
          <a:p>
            <a:pPr marL="230188" indent="-230188">
              <a:lnSpc>
                <a:spcPct val="80000"/>
              </a:lnSpc>
            </a:pPr>
            <a:endParaRPr lang="en-US" altLang="ko-KR" sz="2800" dirty="0">
              <a:ea typeface="굴림" charset="-127"/>
              <a:cs typeface="굴림" charset="-127"/>
            </a:endParaRPr>
          </a:p>
          <a:p>
            <a:pPr marL="230188" indent="-230188">
              <a:lnSpc>
                <a:spcPct val="80000"/>
              </a:lnSpc>
            </a:pPr>
            <a:r>
              <a:rPr lang="en-US" altLang="ko-KR" sz="2800" dirty="0">
                <a:ea typeface="굴림" charset="-127"/>
                <a:cs typeface="굴림" charset="-127"/>
              </a:rPr>
              <a:t>Pipelined writes: Hold write data for store in single buffer ahead of cache, write cache data during next store’s tag check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43D8D-E732-B64E-B70D-CA910420A319}" type="slidenum">
              <a:rPr lang="en-US"/>
              <a:pPr/>
              <a:t>42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94018" name="Rectangle 2"/>
          <p:cNvSpPr>
            <a:spLocks noGrp="1" noChangeArrowheads="1"/>
          </p:cNvSpPr>
          <p:nvPr>
            <p:ph type="title"/>
          </p:nvPr>
        </p:nvSpPr>
        <p:spPr>
          <a:xfrm>
            <a:off x="292100" y="0"/>
            <a:ext cx="6705600" cy="1004888"/>
          </a:xfrm>
        </p:spPr>
        <p:txBody>
          <a:bodyPr/>
          <a:lstStyle/>
          <a:p>
            <a:r>
              <a:rPr lang="en-US" altLang="ko-KR">
                <a:ea typeface="굴림" charset="-127"/>
                <a:cs typeface="굴림" charset="-127"/>
              </a:rPr>
              <a:t>Pipelining Cache Writes</a:t>
            </a:r>
          </a:p>
        </p:txBody>
      </p:sp>
      <p:sp>
        <p:nvSpPr>
          <p:cNvPr id="1494019" name="Rectangle 3"/>
          <p:cNvSpPr>
            <a:spLocks noChangeArrowheads="1"/>
          </p:cNvSpPr>
          <p:nvPr/>
        </p:nvSpPr>
        <p:spPr bwMode="auto">
          <a:xfrm>
            <a:off x="1143000" y="3276600"/>
            <a:ext cx="1143000" cy="990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400" b="1">
                <a:ea typeface="굴림" charset="-127"/>
                <a:cs typeface="굴림" charset="-127"/>
              </a:rPr>
              <a:t>Tags</a:t>
            </a:r>
          </a:p>
        </p:txBody>
      </p:sp>
      <p:sp>
        <p:nvSpPr>
          <p:cNvPr id="1494020" name="Rectangle 4"/>
          <p:cNvSpPr>
            <a:spLocks noChangeArrowheads="1"/>
          </p:cNvSpPr>
          <p:nvPr/>
        </p:nvSpPr>
        <p:spPr bwMode="auto">
          <a:xfrm>
            <a:off x="4495800" y="3276600"/>
            <a:ext cx="3429000" cy="990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400" b="1">
                <a:ea typeface="굴림" charset="-127"/>
                <a:cs typeface="굴림" charset="-127"/>
              </a:rPr>
              <a:t>Data</a:t>
            </a:r>
          </a:p>
        </p:txBody>
      </p:sp>
      <p:sp>
        <p:nvSpPr>
          <p:cNvPr id="1494021" name="Rectangle 5"/>
          <p:cNvSpPr>
            <a:spLocks noChangeArrowheads="1"/>
          </p:cNvSpPr>
          <p:nvPr/>
        </p:nvSpPr>
        <p:spPr bwMode="auto">
          <a:xfrm>
            <a:off x="1143000" y="1371600"/>
            <a:ext cx="14478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400" b="1">
                <a:ea typeface="굴림" charset="-127"/>
                <a:cs typeface="굴림" charset="-127"/>
              </a:rPr>
              <a:t>Tag</a:t>
            </a:r>
          </a:p>
        </p:txBody>
      </p:sp>
      <p:sp>
        <p:nvSpPr>
          <p:cNvPr id="1494022" name="Rectangle 6"/>
          <p:cNvSpPr>
            <a:spLocks noChangeArrowheads="1"/>
          </p:cNvSpPr>
          <p:nvPr/>
        </p:nvSpPr>
        <p:spPr bwMode="auto">
          <a:xfrm>
            <a:off x="2590800" y="1371600"/>
            <a:ext cx="10668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400" b="1">
                <a:ea typeface="굴림" charset="-127"/>
                <a:cs typeface="굴림" charset="-127"/>
              </a:rPr>
              <a:t>Index</a:t>
            </a:r>
          </a:p>
        </p:txBody>
      </p:sp>
      <p:sp>
        <p:nvSpPr>
          <p:cNvPr id="1494023" name="Rectangle 7"/>
          <p:cNvSpPr>
            <a:spLocks noChangeArrowheads="1"/>
          </p:cNvSpPr>
          <p:nvPr/>
        </p:nvSpPr>
        <p:spPr bwMode="auto">
          <a:xfrm>
            <a:off x="4724400" y="1371600"/>
            <a:ext cx="34290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400" b="1">
                <a:ea typeface="굴림" charset="-127"/>
                <a:cs typeface="굴림" charset="-127"/>
              </a:rPr>
              <a:t>Store Data</a:t>
            </a:r>
          </a:p>
        </p:txBody>
      </p:sp>
      <p:sp>
        <p:nvSpPr>
          <p:cNvPr id="1494024" name="Text Box 8"/>
          <p:cNvSpPr txBox="1">
            <a:spLocks noChangeArrowheads="1"/>
          </p:cNvSpPr>
          <p:nvPr/>
        </p:nvSpPr>
        <p:spPr bwMode="auto">
          <a:xfrm>
            <a:off x="2286000" y="762000"/>
            <a:ext cx="4376738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2000" b="1" i="1">
                <a:ea typeface="굴림" charset="-127"/>
                <a:cs typeface="굴림" charset="-127"/>
              </a:rPr>
              <a:t>Address and Store Data From CPU</a:t>
            </a:r>
          </a:p>
        </p:txBody>
      </p:sp>
      <p:sp>
        <p:nvSpPr>
          <p:cNvPr id="1494025" name="Rectangle 9"/>
          <p:cNvSpPr>
            <a:spLocks noChangeArrowheads="1"/>
          </p:cNvSpPr>
          <p:nvPr/>
        </p:nvSpPr>
        <p:spPr bwMode="auto">
          <a:xfrm>
            <a:off x="4724400" y="2362200"/>
            <a:ext cx="34290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000" b="1">
                <a:ea typeface="굴림" charset="-127"/>
                <a:cs typeface="굴림" charset="-127"/>
              </a:rPr>
              <a:t>Delayed Write Data</a:t>
            </a:r>
          </a:p>
        </p:txBody>
      </p:sp>
      <p:sp>
        <p:nvSpPr>
          <p:cNvPr id="1494026" name="Freeform 10"/>
          <p:cNvSpPr>
            <a:spLocks/>
          </p:cNvSpPr>
          <p:nvPr/>
        </p:nvSpPr>
        <p:spPr bwMode="auto">
          <a:xfrm>
            <a:off x="4724400" y="2362200"/>
            <a:ext cx="152400" cy="304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96" y="96"/>
              </a:cxn>
              <a:cxn ang="0">
                <a:pos x="0" y="192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96"/>
                </a:lnTo>
                <a:lnTo>
                  <a:pt x="0" y="19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27" name="Line 11"/>
          <p:cNvSpPr>
            <a:spLocks noChangeShapeType="1"/>
          </p:cNvSpPr>
          <p:nvPr/>
        </p:nvSpPr>
        <p:spPr bwMode="auto">
          <a:xfrm>
            <a:off x="6477000" y="167640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28" name="Line 12"/>
          <p:cNvSpPr>
            <a:spLocks noChangeShapeType="1"/>
          </p:cNvSpPr>
          <p:nvPr/>
        </p:nvSpPr>
        <p:spPr bwMode="auto">
          <a:xfrm>
            <a:off x="6477000" y="2667000"/>
            <a:ext cx="0" cy="838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29" name="Rectangle 13"/>
          <p:cNvSpPr>
            <a:spLocks noChangeArrowheads="1"/>
          </p:cNvSpPr>
          <p:nvPr/>
        </p:nvSpPr>
        <p:spPr bwMode="auto">
          <a:xfrm>
            <a:off x="1828800" y="2362200"/>
            <a:ext cx="27432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000" b="1">
                <a:ea typeface="굴림" charset="-127"/>
                <a:cs typeface="굴림" charset="-127"/>
              </a:rPr>
              <a:t>Delayed Write Addr.</a:t>
            </a:r>
          </a:p>
        </p:txBody>
      </p:sp>
      <p:sp>
        <p:nvSpPr>
          <p:cNvPr id="1494030" name="Freeform 14"/>
          <p:cNvSpPr>
            <a:spLocks/>
          </p:cNvSpPr>
          <p:nvPr/>
        </p:nvSpPr>
        <p:spPr bwMode="auto">
          <a:xfrm>
            <a:off x="1828800" y="2362200"/>
            <a:ext cx="76200" cy="304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8" y="96"/>
              </a:cxn>
              <a:cxn ang="0">
                <a:pos x="0" y="192"/>
              </a:cxn>
            </a:cxnLst>
            <a:rect l="0" t="0" r="r" b="b"/>
            <a:pathLst>
              <a:path w="48" h="192">
                <a:moveTo>
                  <a:pt x="0" y="0"/>
                </a:moveTo>
                <a:lnTo>
                  <a:pt x="48" y="96"/>
                </a:lnTo>
                <a:lnTo>
                  <a:pt x="0" y="19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31" name="Line 15"/>
          <p:cNvSpPr>
            <a:spLocks noChangeShapeType="1"/>
          </p:cNvSpPr>
          <p:nvPr/>
        </p:nvSpPr>
        <p:spPr bwMode="auto">
          <a:xfrm>
            <a:off x="1752600" y="426720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32" name="Oval 16"/>
          <p:cNvSpPr>
            <a:spLocks noChangeArrowheads="1"/>
          </p:cNvSpPr>
          <p:nvPr/>
        </p:nvSpPr>
        <p:spPr bwMode="auto">
          <a:xfrm>
            <a:off x="1524000" y="4648200"/>
            <a:ext cx="466725" cy="3270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000" b="1">
                <a:ea typeface="굴림" charset="-127"/>
                <a:cs typeface="굴림" charset="-127"/>
              </a:rPr>
              <a:t>=?</a:t>
            </a:r>
          </a:p>
        </p:txBody>
      </p:sp>
      <p:sp>
        <p:nvSpPr>
          <p:cNvPr id="1494033" name="Oval 17"/>
          <p:cNvSpPr>
            <a:spLocks noChangeArrowheads="1"/>
          </p:cNvSpPr>
          <p:nvPr/>
        </p:nvSpPr>
        <p:spPr bwMode="auto">
          <a:xfrm>
            <a:off x="2667000" y="2949575"/>
            <a:ext cx="466725" cy="3270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000" b="1">
                <a:ea typeface="굴림" charset="-127"/>
                <a:cs typeface="굴림" charset="-127"/>
              </a:rPr>
              <a:t>=?</a:t>
            </a:r>
          </a:p>
        </p:txBody>
      </p:sp>
      <p:sp>
        <p:nvSpPr>
          <p:cNvPr id="1494034" name="Line 18"/>
          <p:cNvSpPr>
            <a:spLocks noChangeShapeType="1"/>
          </p:cNvSpPr>
          <p:nvPr/>
        </p:nvSpPr>
        <p:spPr bwMode="auto">
          <a:xfrm>
            <a:off x="6553200" y="42672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35" name="Freeform 19"/>
          <p:cNvSpPr>
            <a:spLocks/>
          </p:cNvSpPr>
          <p:nvPr/>
        </p:nvSpPr>
        <p:spPr bwMode="auto">
          <a:xfrm>
            <a:off x="5410200" y="4724400"/>
            <a:ext cx="1371600" cy="2492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39" y="0"/>
              </a:cxn>
              <a:cxn ang="0">
                <a:pos x="287" y="156"/>
              </a:cxn>
              <a:cxn ang="0">
                <a:pos x="63" y="156"/>
              </a:cxn>
              <a:cxn ang="0">
                <a:pos x="0" y="0"/>
              </a:cxn>
            </a:cxnLst>
            <a:rect l="0" t="0" r="r" b="b"/>
            <a:pathLst>
              <a:path w="340" h="157">
                <a:moveTo>
                  <a:pt x="0" y="0"/>
                </a:moveTo>
                <a:lnTo>
                  <a:pt x="339" y="0"/>
                </a:lnTo>
                <a:lnTo>
                  <a:pt x="287" y="156"/>
                </a:lnTo>
                <a:lnTo>
                  <a:pt x="63" y="156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36" name="Freeform 20"/>
          <p:cNvSpPr>
            <a:spLocks/>
          </p:cNvSpPr>
          <p:nvPr/>
        </p:nvSpPr>
        <p:spPr bwMode="auto">
          <a:xfrm>
            <a:off x="5715000" y="2819400"/>
            <a:ext cx="762000" cy="1905000"/>
          </a:xfrm>
          <a:custGeom>
            <a:avLst/>
            <a:gdLst/>
            <a:ahLst/>
            <a:cxnLst>
              <a:cxn ang="0">
                <a:pos x="576" y="0"/>
              </a:cxn>
              <a:cxn ang="0">
                <a:pos x="0" y="0"/>
              </a:cxn>
              <a:cxn ang="0">
                <a:pos x="0" y="1680"/>
              </a:cxn>
            </a:cxnLst>
            <a:rect l="0" t="0" r="r" b="b"/>
            <a:pathLst>
              <a:path w="576" h="1680">
                <a:moveTo>
                  <a:pt x="576" y="0"/>
                </a:moveTo>
                <a:lnTo>
                  <a:pt x="0" y="0"/>
                </a:lnTo>
                <a:lnTo>
                  <a:pt x="0" y="168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37" name="Line 21"/>
          <p:cNvSpPr>
            <a:spLocks noChangeShapeType="1"/>
          </p:cNvSpPr>
          <p:nvPr/>
        </p:nvSpPr>
        <p:spPr bwMode="auto">
          <a:xfrm>
            <a:off x="6096000" y="495300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38" name="Line 22"/>
          <p:cNvSpPr>
            <a:spLocks noChangeShapeType="1"/>
          </p:cNvSpPr>
          <p:nvPr/>
        </p:nvSpPr>
        <p:spPr bwMode="auto">
          <a:xfrm>
            <a:off x="2895600" y="26670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39" name="Freeform 23"/>
          <p:cNvSpPr>
            <a:spLocks/>
          </p:cNvSpPr>
          <p:nvPr/>
        </p:nvSpPr>
        <p:spPr bwMode="auto">
          <a:xfrm rot="-5400000">
            <a:off x="3553619" y="3532981"/>
            <a:ext cx="762000" cy="2492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39" y="0"/>
              </a:cxn>
              <a:cxn ang="0">
                <a:pos x="287" y="156"/>
              </a:cxn>
              <a:cxn ang="0">
                <a:pos x="63" y="156"/>
              </a:cxn>
              <a:cxn ang="0">
                <a:pos x="0" y="0"/>
              </a:cxn>
            </a:cxnLst>
            <a:rect l="0" t="0" r="r" b="b"/>
            <a:pathLst>
              <a:path w="340" h="157">
                <a:moveTo>
                  <a:pt x="0" y="0"/>
                </a:moveTo>
                <a:lnTo>
                  <a:pt x="339" y="0"/>
                </a:lnTo>
                <a:lnTo>
                  <a:pt x="287" y="156"/>
                </a:lnTo>
                <a:lnTo>
                  <a:pt x="63" y="156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40" name="Line 24"/>
          <p:cNvSpPr>
            <a:spLocks noChangeShapeType="1"/>
          </p:cNvSpPr>
          <p:nvPr/>
        </p:nvSpPr>
        <p:spPr bwMode="auto">
          <a:xfrm>
            <a:off x="4038600" y="36576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41" name="Text Box 25"/>
          <p:cNvSpPr txBox="1">
            <a:spLocks noChangeArrowheads="1"/>
          </p:cNvSpPr>
          <p:nvPr/>
        </p:nvSpPr>
        <p:spPr bwMode="auto">
          <a:xfrm>
            <a:off x="4924425" y="5381625"/>
            <a:ext cx="2328863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2000" b="1" i="1">
                <a:ea typeface="굴림" charset="-127"/>
                <a:cs typeface="굴림" charset="-127"/>
              </a:rPr>
              <a:t>Load Data to CPU</a:t>
            </a:r>
          </a:p>
        </p:txBody>
      </p:sp>
      <p:sp>
        <p:nvSpPr>
          <p:cNvPr id="1494042" name="Freeform 26"/>
          <p:cNvSpPr>
            <a:spLocks/>
          </p:cNvSpPr>
          <p:nvPr/>
        </p:nvSpPr>
        <p:spPr bwMode="auto">
          <a:xfrm>
            <a:off x="3200400" y="1676400"/>
            <a:ext cx="609600" cy="2209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440"/>
              </a:cxn>
              <a:cxn ang="0">
                <a:pos x="384" y="1440"/>
              </a:cxn>
            </a:cxnLst>
            <a:rect l="0" t="0" r="r" b="b"/>
            <a:pathLst>
              <a:path w="384" h="1440">
                <a:moveTo>
                  <a:pt x="0" y="0"/>
                </a:moveTo>
                <a:lnTo>
                  <a:pt x="0" y="1440"/>
                </a:lnTo>
                <a:lnTo>
                  <a:pt x="384" y="144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43" name="Freeform 27"/>
          <p:cNvSpPr>
            <a:spLocks/>
          </p:cNvSpPr>
          <p:nvPr/>
        </p:nvSpPr>
        <p:spPr bwMode="auto">
          <a:xfrm>
            <a:off x="3352800" y="2667000"/>
            <a:ext cx="457200" cy="838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528"/>
              </a:cxn>
              <a:cxn ang="0">
                <a:pos x="288" y="528"/>
              </a:cxn>
            </a:cxnLst>
            <a:rect l="0" t="0" r="r" b="b"/>
            <a:pathLst>
              <a:path w="288" h="528">
                <a:moveTo>
                  <a:pt x="0" y="0"/>
                </a:moveTo>
                <a:lnTo>
                  <a:pt x="0" y="528"/>
                </a:lnTo>
                <a:lnTo>
                  <a:pt x="288" y="528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44" name="Line 28"/>
          <p:cNvSpPr>
            <a:spLocks noChangeShapeType="1"/>
          </p:cNvSpPr>
          <p:nvPr/>
        </p:nvSpPr>
        <p:spPr bwMode="auto">
          <a:xfrm>
            <a:off x="3962400" y="297180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45" name="Text Box 29"/>
          <p:cNvSpPr txBox="1">
            <a:spLocks noChangeArrowheads="1"/>
          </p:cNvSpPr>
          <p:nvPr/>
        </p:nvSpPr>
        <p:spPr bwMode="auto">
          <a:xfrm>
            <a:off x="3406775" y="2667000"/>
            <a:ext cx="1246188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b="1">
                <a:ea typeface="굴림" charset="-127"/>
                <a:cs typeface="굴림" charset="-127"/>
              </a:rPr>
              <a:t>Load/Store</a:t>
            </a:r>
          </a:p>
        </p:txBody>
      </p:sp>
      <p:sp>
        <p:nvSpPr>
          <p:cNvPr id="1494046" name="Line 30"/>
          <p:cNvSpPr>
            <a:spLocks noChangeShapeType="1"/>
          </p:cNvSpPr>
          <p:nvPr/>
        </p:nvSpPr>
        <p:spPr bwMode="auto">
          <a:xfrm>
            <a:off x="2438400" y="167640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47" name="Line 31"/>
          <p:cNvSpPr>
            <a:spLocks noChangeShapeType="1"/>
          </p:cNvSpPr>
          <p:nvPr/>
        </p:nvSpPr>
        <p:spPr bwMode="auto">
          <a:xfrm flipH="1">
            <a:off x="2286000" y="38862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48" name="Text Box 32"/>
          <p:cNvSpPr txBox="1">
            <a:spLocks noChangeArrowheads="1"/>
          </p:cNvSpPr>
          <p:nvPr/>
        </p:nvSpPr>
        <p:spPr bwMode="auto">
          <a:xfrm>
            <a:off x="3733800" y="3657600"/>
            <a:ext cx="307975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b="1">
                <a:ea typeface="굴림" charset="-127"/>
                <a:cs typeface="굴림" charset="-127"/>
              </a:rPr>
              <a:t>L</a:t>
            </a:r>
          </a:p>
        </p:txBody>
      </p:sp>
      <p:sp>
        <p:nvSpPr>
          <p:cNvPr id="1494049" name="Text Box 33"/>
          <p:cNvSpPr txBox="1">
            <a:spLocks noChangeArrowheads="1"/>
          </p:cNvSpPr>
          <p:nvPr/>
        </p:nvSpPr>
        <p:spPr bwMode="auto">
          <a:xfrm>
            <a:off x="3733800" y="3352800"/>
            <a:ext cx="319088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b="1">
                <a:ea typeface="굴림" charset="-127"/>
                <a:cs typeface="굴림" charset="-127"/>
              </a:rPr>
              <a:t>S</a:t>
            </a:r>
          </a:p>
        </p:txBody>
      </p:sp>
      <p:sp>
        <p:nvSpPr>
          <p:cNvPr id="1494050" name="Freeform 34"/>
          <p:cNvSpPr>
            <a:spLocks/>
          </p:cNvSpPr>
          <p:nvPr/>
        </p:nvSpPr>
        <p:spPr bwMode="auto">
          <a:xfrm>
            <a:off x="1524000" y="1676400"/>
            <a:ext cx="1143000" cy="1447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912"/>
              </a:cxn>
              <a:cxn ang="0">
                <a:pos x="720" y="912"/>
              </a:cxn>
            </a:cxnLst>
            <a:rect l="0" t="0" r="r" b="b"/>
            <a:pathLst>
              <a:path w="720" h="912">
                <a:moveTo>
                  <a:pt x="0" y="0"/>
                </a:moveTo>
                <a:lnTo>
                  <a:pt x="0" y="912"/>
                </a:lnTo>
                <a:lnTo>
                  <a:pt x="720" y="91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51" name="Freeform 35"/>
          <p:cNvSpPr>
            <a:spLocks/>
          </p:cNvSpPr>
          <p:nvPr/>
        </p:nvSpPr>
        <p:spPr bwMode="auto">
          <a:xfrm>
            <a:off x="838200" y="3124200"/>
            <a:ext cx="685800" cy="1676400"/>
          </a:xfrm>
          <a:custGeom>
            <a:avLst/>
            <a:gdLst/>
            <a:ahLst/>
            <a:cxnLst>
              <a:cxn ang="0">
                <a:pos x="432" y="0"/>
              </a:cxn>
              <a:cxn ang="0">
                <a:pos x="0" y="0"/>
              </a:cxn>
              <a:cxn ang="0">
                <a:pos x="0" y="1056"/>
              </a:cxn>
              <a:cxn ang="0">
                <a:pos x="432" y="1056"/>
              </a:cxn>
            </a:cxnLst>
            <a:rect l="0" t="0" r="r" b="b"/>
            <a:pathLst>
              <a:path w="432" h="1056">
                <a:moveTo>
                  <a:pt x="432" y="0"/>
                </a:moveTo>
                <a:lnTo>
                  <a:pt x="0" y="0"/>
                </a:lnTo>
                <a:lnTo>
                  <a:pt x="0" y="1056"/>
                </a:lnTo>
                <a:lnTo>
                  <a:pt x="432" y="1056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52" name="Line 36"/>
          <p:cNvSpPr>
            <a:spLocks noChangeShapeType="1"/>
          </p:cNvSpPr>
          <p:nvPr/>
        </p:nvSpPr>
        <p:spPr bwMode="auto">
          <a:xfrm>
            <a:off x="2895600" y="3276600"/>
            <a:ext cx="0" cy="1981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53" name="AutoShape 37"/>
          <p:cNvSpPr>
            <a:spLocks noChangeArrowheads="1"/>
          </p:cNvSpPr>
          <p:nvPr/>
        </p:nvSpPr>
        <p:spPr bwMode="auto">
          <a:xfrm rot="16200000">
            <a:off x="2543175" y="5153025"/>
            <a:ext cx="400050" cy="457200"/>
          </a:xfrm>
          <a:prstGeom prst="moon">
            <a:avLst>
              <a:gd name="adj" fmla="val 81250"/>
            </a:avLst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54" name="Freeform 38"/>
          <p:cNvSpPr>
            <a:spLocks/>
          </p:cNvSpPr>
          <p:nvPr/>
        </p:nvSpPr>
        <p:spPr bwMode="auto">
          <a:xfrm>
            <a:off x="1828800" y="4953000"/>
            <a:ext cx="762000" cy="304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96"/>
              </a:cxn>
              <a:cxn ang="0">
                <a:pos x="480" y="96"/>
              </a:cxn>
              <a:cxn ang="0">
                <a:pos x="480" y="192"/>
              </a:cxn>
            </a:cxnLst>
            <a:rect l="0" t="0" r="r" b="b"/>
            <a:pathLst>
              <a:path w="480" h="192">
                <a:moveTo>
                  <a:pt x="0" y="0"/>
                </a:moveTo>
                <a:lnTo>
                  <a:pt x="0" y="96"/>
                </a:lnTo>
                <a:lnTo>
                  <a:pt x="480" y="96"/>
                </a:lnTo>
                <a:lnTo>
                  <a:pt x="480" y="19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55" name="Line 39"/>
          <p:cNvSpPr>
            <a:spLocks noChangeShapeType="1"/>
          </p:cNvSpPr>
          <p:nvPr/>
        </p:nvSpPr>
        <p:spPr bwMode="auto">
          <a:xfrm>
            <a:off x="2895600" y="4876800"/>
            <a:ext cx="266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56" name="Text Box 40"/>
          <p:cNvSpPr txBox="1">
            <a:spLocks noChangeArrowheads="1"/>
          </p:cNvSpPr>
          <p:nvPr/>
        </p:nvSpPr>
        <p:spPr bwMode="auto">
          <a:xfrm>
            <a:off x="5562600" y="4648200"/>
            <a:ext cx="296863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b="1">
                <a:ea typeface="굴림" charset="-127"/>
                <a:cs typeface="굴림" charset="-127"/>
              </a:rPr>
              <a:t>1</a:t>
            </a:r>
          </a:p>
        </p:txBody>
      </p:sp>
      <p:sp>
        <p:nvSpPr>
          <p:cNvPr id="1494057" name="Text Box 41"/>
          <p:cNvSpPr txBox="1">
            <a:spLocks noChangeArrowheads="1"/>
          </p:cNvSpPr>
          <p:nvPr/>
        </p:nvSpPr>
        <p:spPr bwMode="auto">
          <a:xfrm>
            <a:off x="6400800" y="4648200"/>
            <a:ext cx="296863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b="1">
                <a:ea typeface="굴림" charset="-127"/>
                <a:cs typeface="굴림" charset="-127"/>
              </a:rPr>
              <a:t>0</a:t>
            </a:r>
          </a:p>
        </p:txBody>
      </p:sp>
      <p:sp>
        <p:nvSpPr>
          <p:cNvPr id="1494058" name="Line 42"/>
          <p:cNvSpPr>
            <a:spLocks noChangeShapeType="1"/>
          </p:cNvSpPr>
          <p:nvPr/>
        </p:nvSpPr>
        <p:spPr bwMode="auto">
          <a:xfrm>
            <a:off x="2743200" y="55626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59" name="Text Box 43"/>
          <p:cNvSpPr txBox="1">
            <a:spLocks noChangeArrowheads="1"/>
          </p:cNvSpPr>
          <p:nvPr/>
        </p:nvSpPr>
        <p:spPr bwMode="auto">
          <a:xfrm>
            <a:off x="2743200" y="5562600"/>
            <a:ext cx="677863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2000" b="1" i="1">
                <a:ea typeface="굴림" charset="-127"/>
                <a:cs typeface="굴림" charset="-127"/>
              </a:rPr>
              <a:t>Hit?</a:t>
            </a:r>
          </a:p>
        </p:txBody>
      </p:sp>
      <p:sp>
        <p:nvSpPr>
          <p:cNvPr id="1494060" name="Text Box 44"/>
          <p:cNvSpPr txBox="1">
            <a:spLocks noChangeArrowheads="1"/>
          </p:cNvSpPr>
          <p:nvPr/>
        </p:nvSpPr>
        <p:spPr bwMode="auto">
          <a:xfrm>
            <a:off x="927100" y="5969000"/>
            <a:ext cx="7372350" cy="72707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2000" i="1">
                <a:latin typeface="Verdana" charset="0"/>
                <a:ea typeface="굴림" charset="-127"/>
                <a:cs typeface="굴림" charset="-127"/>
              </a:rPr>
              <a:t>Data from a store hit written into data portion of cache during tag access of subsequent store</a:t>
            </a: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 rot="5400000">
            <a:off x="3695700" y="4305300"/>
            <a:ext cx="533400" cy="304800"/>
            <a:chOff x="4992" y="3744"/>
            <a:chExt cx="336" cy="192"/>
          </a:xfrm>
        </p:grpSpPr>
        <p:sp>
          <p:nvSpPr>
            <p:cNvPr id="1494062" name="Rectangle 46"/>
            <p:cNvSpPr>
              <a:spLocks noChangeArrowheads="1"/>
            </p:cNvSpPr>
            <p:nvPr/>
          </p:nvSpPr>
          <p:spPr bwMode="auto">
            <a:xfrm>
              <a:off x="4992" y="3744"/>
              <a:ext cx="336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4063" name="Freeform 47"/>
            <p:cNvSpPr>
              <a:spLocks/>
            </p:cNvSpPr>
            <p:nvPr/>
          </p:nvSpPr>
          <p:spPr bwMode="auto">
            <a:xfrm>
              <a:off x="4992" y="3744"/>
              <a:ext cx="96" cy="1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6" y="96"/>
                </a:cxn>
                <a:cxn ang="0">
                  <a:pos x="0" y="192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96" y="96"/>
                  </a:lnTo>
                  <a:lnTo>
                    <a:pt x="0" y="192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94064" name="Freeform 48"/>
          <p:cNvSpPr>
            <a:spLocks/>
          </p:cNvSpPr>
          <p:nvPr/>
        </p:nvSpPr>
        <p:spPr bwMode="auto">
          <a:xfrm>
            <a:off x="2590800" y="4419600"/>
            <a:ext cx="1219200" cy="6858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0" y="0"/>
              </a:cxn>
              <a:cxn ang="0">
                <a:pos x="768" y="0"/>
              </a:cxn>
            </a:cxnLst>
            <a:rect l="0" t="0" r="r" b="b"/>
            <a:pathLst>
              <a:path w="768" h="432">
                <a:moveTo>
                  <a:pt x="0" y="432"/>
                </a:moveTo>
                <a:lnTo>
                  <a:pt x="0" y="0"/>
                </a:lnTo>
                <a:lnTo>
                  <a:pt x="768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65" name="AutoShape 49"/>
          <p:cNvSpPr>
            <a:spLocks noChangeArrowheads="1"/>
          </p:cNvSpPr>
          <p:nvPr/>
        </p:nvSpPr>
        <p:spPr bwMode="auto">
          <a:xfrm flipV="1">
            <a:off x="6324600" y="2895600"/>
            <a:ext cx="304800" cy="244475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66" name="Freeform 50"/>
          <p:cNvSpPr>
            <a:spLocks/>
          </p:cNvSpPr>
          <p:nvPr/>
        </p:nvSpPr>
        <p:spPr bwMode="auto">
          <a:xfrm>
            <a:off x="4114800" y="3048000"/>
            <a:ext cx="2286000" cy="1371600"/>
          </a:xfrm>
          <a:custGeom>
            <a:avLst/>
            <a:gdLst/>
            <a:ahLst/>
            <a:cxnLst>
              <a:cxn ang="0">
                <a:pos x="0" y="864"/>
              </a:cxn>
              <a:cxn ang="0">
                <a:pos x="96" y="864"/>
              </a:cxn>
              <a:cxn ang="0">
                <a:pos x="96" y="0"/>
              </a:cxn>
              <a:cxn ang="0">
                <a:pos x="1440" y="0"/>
              </a:cxn>
            </a:cxnLst>
            <a:rect l="0" t="0" r="r" b="b"/>
            <a:pathLst>
              <a:path w="1440" h="864">
                <a:moveTo>
                  <a:pt x="0" y="864"/>
                </a:moveTo>
                <a:lnTo>
                  <a:pt x="96" y="864"/>
                </a:lnTo>
                <a:lnTo>
                  <a:pt x="96" y="0"/>
                </a:lnTo>
                <a:lnTo>
                  <a:pt x="1440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67" name="Line 51"/>
          <p:cNvSpPr>
            <a:spLocks noChangeShapeType="1"/>
          </p:cNvSpPr>
          <p:nvPr/>
        </p:nvSpPr>
        <p:spPr bwMode="auto">
          <a:xfrm>
            <a:off x="6477000" y="11430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68" name="Line 52"/>
          <p:cNvSpPr>
            <a:spLocks noChangeShapeType="1"/>
          </p:cNvSpPr>
          <p:nvPr/>
        </p:nvSpPr>
        <p:spPr bwMode="auto">
          <a:xfrm>
            <a:off x="2438400" y="11430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0A41B-2E7D-C44B-A66B-FC59ED7BED8F}" type="slidenum">
              <a:rPr lang="en-US"/>
              <a:pPr/>
              <a:t>43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9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382000" cy="736600"/>
          </a:xfrm>
        </p:spPr>
        <p:txBody>
          <a:bodyPr/>
          <a:lstStyle/>
          <a:p>
            <a:r>
              <a:rPr lang="en-US" altLang="ko-KR" sz="3600">
                <a:ea typeface="굴림" charset="-127"/>
                <a:cs typeface="굴림" charset="-127"/>
              </a:rPr>
              <a:t>Write Buffer to Reduce Read Miss Penalty</a:t>
            </a:r>
          </a:p>
        </p:txBody>
      </p:sp>
      <p:sp>
        <p:nvSpPr>
          <p:cNvPr id="1496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3733800"/>
            <a:ext cx="8915400" cy="2438400"/>
          </a:xfrm>
          <a:ln/>
        </p:spPr>
        <p:txBody>
          <a:bodyPr/>
          <a:lstStyle/>
          <a:p>
            <a:pPr marL="231775" indent="-231775">
              <a:buFontTx/>
              <a:buNone/>
            </a:pPr>
            <a:r>
              <a:rPr lang="en-US" altLang="ko-KR" dirty="0">
                <a:ea typeface="굴림" charset="-127"/>
                <a:cs typeface="굴림" charset="-127"/>
              </a:rPr>
              <a:t>Processor is not stalled on writes, and read misses can go ahead of write to main memory</a:t>
            </a:r>
            <a:endParaRPr lang="en-US" altLang="ko-KR" b="1" dirty="0">
              <a:ea typeface="굴림" charset="-127"/>
              <a:cs typeface="굴림" charset="-127"/>
            </a:endParaRPr>
          </a:p>
          <a:p>
            <a:pPr marL="231775" indent="-231775">
              <a:buFontTx/>
              <a:buNone/>
            </a:pPr>
            <a:r>
              <a:rPr lang="en-US" altLang="ko-KR" sz="2000" b="1" dirty="0">
                <a:ea typeface="굴림" charset="-127"/>
                <a:cs typeface="굴림" charset="-127"/>
              </a:rPr>
              <a:t>Problem:</a:t>
            </a:r>
            <a:r>
              <a:rPr lang="en-US" altLang="ko-KR" sz="2000" dirty="0">
                <a:ea typeface="굴림" charset="-127"/>
                <a:cs typeface="굴림" charset="-127"/>
              </a:rPr>
              <a:t> Write buffer may hold updated value of location needed by a read miss</a:t>
            </a:r>
          </a:p>
          <a:p>
            <a:pPr marL="231775" indent="-231775">
              <a:buFontTx/>
              <a:buNone/>
            </a:pPr>
            <a:r>
              <a:rPr lang="en-US" altLang="ko-KR" sz="2000" b="1" dirty="0">
                <a:ea typeface="굴림" charset="-127"/>
                <a:cs typeface="굴림" charset="-127"/>
              </a:rPr>
              <a:t>Simple scheme: </a:t>
            </a:r>
            <a:r>
              <a:rPr lang="en-US" altLang="ko-KR" sz="2000" dirty="0">
                <a:ea typeface="굴림" charset="-127"/>
                <a:cs typeface="굴림" charset="-127"/>
              </a:rPr>
              <a:t>on a read miss, wait for the write buffer to go empty</a:t>
            </a:r>
          </a:p>
          <a:p>
            <a:pPr marL="231775" indent="-231775">
              <a:buFontTx/>
              <a:buNone/>
            </a:pPr>
            <a:r>
              <a:rPr lang="en-US" altLang="ko-KR" sz="2000" b="1" dirty="0">
                <a:ea typeface="굴림" charset="-127"/>
                <a:cs typeface="굴림" charset="-127"/>
              </a:rPr>
              <a:t>Faster scheme:</a:t>
            </a:r>
            <a:r>
              <a:rPr lang="en-US" altLang="ko-KR" sz="2000" dirty="0">
                <a:ea typeface="굴림" charset="-127"/>
                <a:cs typeface="굴림" charset="-127"/>
              </a:rPr>
              <a:t> Check write buffer addresses against read miss addresses, if no match, allow read miss to go ahead of writes, else, return value in write buffer</a:t>
            </a:r>
          </a:p>
        </p:txBody>
      </p:sp>
      <p:sp>
        <p:nvSpPr>
          <p:cNvPr id="1496068" name="Rectangle 4"/>
          <p:cNvSpPr>
            <a:spLocks noChangeArrowheads="1"/>
          </p:cNvSpPr>
          <p:nvPr/>
        </p:nvSpPr>
        <p:spPr bwMode="auto">
          <a:xfrm>
            <a:off x="990600" y="990600"/>
            <a:ext cx="1016000" cy="1752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2000">
              <a:latin typeface="Verdana" charset="0"/>
            </a:endParaRPr>
          </a:p>
        </p:txBody>
      </p:sp>
      <p:sp>
        <p:nvSpPr>
          <p:cNvPr id="1496069" name="Rectangle 5"/>
          <p:cNvSpPr>
            <a:spLocks noChangeArrowheads="1"/>
          </p:cNvSpPr>
          <p:nvPr/>
        </p:nvSpPr>
        <p:spPr bwMode="auto">
          <a:xfrm>
            <a:off x="2667000" y="1066800"/>
            <a:ext cx="1600200" cy="1524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Data Cache L1</a:t>
            </a:r>
          </a:p>
        </p:txBody>
      </p:sp>
      <p:sp>
        <p:nvSpPr>
          <p:cNvPr id="1496070" name="Line 6"/>
          <p:cNvSpPr>
            <a:spLocks noChangeShapeType="1"/>
          </p:cNvSpPr>
          <p:nvPr/>
        </p:nvSpPr>
        <p:spPr bwMode="auto">
          <a:xfrm flipH="1" flipV="1">
            <a:off x="1981200" y="2057400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6071" name="Rectangle 7"/>
          <p:cNvSpPr>
            <a:spLocks noChangeArrowheads="1"/>
          </p:cNvSpPr>
          <p:nvPr/>
        </p:nvSpPr>
        <p:spPr bwMode="auto">
          <a:xfrm>
            <a:off x="6629400" y="914400"/>
            <a:ext cx="1371600" cy="1676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Unified L2 Cache</a:t>
            </a:r>
          </a:p>
        </p:txBody>
      </p:sp>
      <p:sp>
        <p:nvSpPr>
          <p:cNvPr id="1496072" name="Rectangle 8"/>
          <p:cNvSpPr>
            <a:spLocks noChangeArrowheads="1"/>
          </p:cNvSpPr>
          <p:nvPr/>
        </p:nvSpPr>
        <p:spPr bwMode="auto">
          <a:xfrm>
            <a:off x="1143000" y="1981200"/>
            <a:ext cx="685800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050">
                <a:latin typeface="Verdana" charset="0"/>
              </a:rPr>
              <a:t>Reg File</a:t>
            </a:r>
          </a:p>
        </p:txBody>
      </p:sp>
      <p:sp>
        <p:nvSpPr>
          <p:cNvPr id="1496073" name="Line 9"/>
          <p:cNvSpPr>
            <a:spLocks noChangeShapeType="1"/>
          </p:cNvSpPr>
          <p:nvPr/>
        </p:nvSpPr>
        <p:spPr bwMode="auto">
          <a:xfrm flipV="1">
            <a:off x="1295400" y="17526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6074" name="Line 10"/>
          <p:cNvSpPr>
            <a:spLocks noChangeShapeType="1"/>
          </p:cNvSpPr>
          <p:nvPr/>
        </p:nvSpPr>
        <p:spPr bwMode="auto">
          <a:xfrm flipV="1">
            <a:off x="1447800" y="17526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6075" name="Line 11"/>
          <p:cNvSpPr>
            <a:spLocks noChangeShapeType="1"/>
          </p:cNvSpPr>
          <p:nvPr/>
        </p:nvSpPr>
        <p:spPr bwMode="auto">
          <a:xfrm>
            <a:off x="1600200" y="17526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6076" name="Text Box 12"/>
          <p:cNvSpPr txBox="1">
            <a:spLocks noChangeArrowheads="1"/>
          </p:cNvSpPr>
          <p:nvPr/>
        </p:nvSpPr>
        <p:spPr bwMode="auto">
          <a:xfrm>
            <a:off x="990600" y="1295400"/>
            <a:ext cx="9906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Verdana" charset="0"/>
              </a:rPr>
              <a:t>CPU</a:t>
            </a:r>
          </a:p>
        </p:txBody>
      </p:sp>
      <p:sp>
        <p:nvSpPr>
          <p:cNvPr id="1496077" name="Rectangle 13"/>
          <p:cNvSpPr>
            <a:spLocks noChangeArrowheads="1"/>
          </p:cNvSpPr>
          <p:nvPr/>
        </p:nvSpPr>
        <p:spPr bwMode="auto">
          <a:xfrm>
            <a:off x="5410200" y="1905000"/>
            <a:ext cx="889992" cy="838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>
                <a:latin typeface="Verdana" charset="0"/>
              </a:rPr>
              <a:t>Write</a:t>
            </a:r>
          </a:p>
          <a:p>
            <a:pPr>
              <a:spcBef>
                <a:spcPct val="0"/>
              </a:spcBef>
            </a:pPr>
            <a:r>
              <a:rPr lang="en-US">
                <a:latin typeface="Verdana" charset="0"/>
              </a:rPr>
              <a:t>buffer</a:t>
            </a:r>
          </a:p>
        </p:txBody>
      </p:sp>
      <p:sp>
        <p:nvSpPr>
          <p:cNvPr id="1496078" name="Line 14"/>
          <p:cNvSpPr>
            <a:spLocks noChangeShapeType="1"/>
          </p:cNvSpPr>
          <p:nvPr/>
        </p:nvSpPr>
        <p:spPr bwMode="auto">
          <a:xfrm>
            <a:off x="4267200" y="2286000"/>
            <a:ext cx="114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6079" name="Line 15"/>
          <p:cNvSpPr>
            <a:spLocks noChangeShapeType="1"/>
          </p:cNvSpPr>
          <p:nvPr/>
        </p:nvSpPr>
        <p:spPr bwMode="auto">
          <a:xfrm>
            <a:off x="4267200" y="1295400"/>
            <a:ext cx="2362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lg" len="med"/>
            <a:tailEnd type="none" w="lg" len="lg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6080" name="Text Box 16"/>
          <p:cNvSpPr txBox="1">
            <a:spLocks noChangeArrowheads="1"/>
          </p:cNvSpPr>
          <p:nvPr/>
        </p:nvSpPr>
        <p:spPr bwMode="auto">
          <a:xfrm>
            <a:off x="1981200" y="2743200"/>
            <a:ext cx="5410200" cy="9159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Evicted dirty lines for write back cache</a:t>
            </a:r>
          </a:p>
          <a:p>
            <a:pPr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OR</a:t>
            </a:r>
          </a:p>
          <a:p>
            <a:pPr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All writes in write through cache</a:t>
            </a:r>
          </a:p>
        </p:txBody>
      </p:sp>
      <p:sp>
        <p:nvSpPr>
          <p:cNvPr id="1496081" name="Line 17"/>
          <p:cNvSpPr>
            <a:spLocks noChangeShapeType="1"/>
          </p:cNvSpPr>
          <p:nvPr/>
        </p:nvSpPr>
        <p:spPr bwMode="auto">
          <a:xfrm>
            <a:off x="6248400" y="22860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6082" name="Line 18"/>
          <p:cNvSpPr>
            <a:spLocks noChangeShapeType="1"/>
          </p:cNvSpPr>
          <p:nvPr/>
        </p:nvSpPr>
        <p:spPr bwMode="auto">
          <a:xfrm flipH="1" flipV="1">
            <a:off x="1981200" y="1295400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F70A-92F6-AB46-9CC1-97E41523B232}" type="slidenum">
              <a:rPr lang="en-US"/>
              <a:pPr/>
              <a:t>44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54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Presence of L2 influences L1 design</a:t>
            </a:r>
          </a:p>
        </p:txBody>
      </p:sp>
      <p:sp>
        <p:nvSpPr>
          <p:cNvPr id="1548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70000"/>
            <a:ext cx="9144000" cy="52832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10000"/>
              </a:spcBef>
            </a:pPr>
            <a:r>
              <a:rPr lang="en-US" sz="3200"/>
              <a:t>Use smaller L1 if there is also L2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en-US" sz="2400"/>
              <a:t>Trade increased L1 miss rate for reduced L1 hit time and reduced L1 miss penalty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en-US" sz="2400"/>
              <a:t>Reduces average access energy</a:t>
            </a:r>
          </a:p>
          <a:p>
            <a:pPr>
              <a:lnSpc>
                <a:spcPct val="100000"/>
              </a:lnSpc>
              <a:spcBef>
                <a:spcPct val="10000"/>
              </a:spcBef>
            </a:pPr>
            <a:r>
              <a:rPr lang="en-US" sz="3200"/>
              <a:t>Use simpler write-through L1 with on-chip L2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en-US" sz="2400"/>
              <a:t>Write-back L2 cache absorbs write traffic, doesn’t go off-chip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en-US" sz="2400"/>
              <a:t>At most one L1 miss request per L1 access (no dirty victim write back) simplifies pipeline control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en-US" sz="2400"/>
              <a:t>Simplifies coherence issues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en-US" sz="2400"/>
              <a:t>Simplifies error recovery in L1 (can use just parity bits in L1 and reload from L2 when parity error detected on L1 read)</a:t>
            </a: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endParaRPr lang="en-US" sz="3200"/>
          </a:p>
          <a:p>
            <a:pPr>
              <a:lnSpc>
                <a:spcPct val="100000"/>
              </a:lnSpc>
              <a:spcBef>
                <a:spcPct val="10000"/>
              </a:spcBef>
            </a:pPr>
            <a:endParaRPr lang="en-US" sz="3200"/>
          </a:p>
          <a:p>
            <a:pPr>
              <a:lnSpc>
                <a:spcPct val="100000"/>
              </a:lnSpc>
              <a:spcBef>
                <a:spcPct val="10000"/>
              </a:spcBef>
            </a:pPr>
            <a:endParaRPr lang="en-US" sz="32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041CF-CA2F-B947-B167-4EF6FBB2C043}" type="slidenum">
              <a:rPr lang="en-US"/>
              <a:pPr/>
              <a:t>45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550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charset="-127"/>
                <a:cs typeface="굴림" charset="-127"/>
              </a:rPr>
              <a:t>Inclusion Policy</a:t>
            </a:r>
          </a:p>
        </p:txBody>
      </p:sp>
      <p:sp>
        <p:nvSpPr>
          <p:cNvPr id="1550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143000"/>
            <a:ext cx="7683500" cy="5367528"/>
          </a:xfrm>
        </p:spPr>
        <p:txBody>
          <a:bodyPr/>
          <a:lstStyle/>
          <a:p>
            <a:pPr marL="342900" indent="-342900">
              <a:spcBef>
                <a:spcPts val="552"/>
              </a:spcBef>
            </a:pPr>
            <a:r>
              <a:rPr lang="en-US" altLang="ko-KR" sz="2800" dirty="0">
                <a:ea typeface="굴림" charset="-127"/>
                <a:cs typeface="굴림" charset="-127"/>
              </a:rPr>
              <a:t>Inclusive multilevel cache: </a:t>
            </a:r>
          </a:p>
          <a:p>
            <a:pPr marL="742950" lvl="1" indent="-285750">
              <a:spcBef>
                <a:spcPts val="552"/>
              </a:spcBef>
            </a:pPr>
            <a:r>
              <a:rPr lang="en-US" altLang="ko-KR" sz="2000" dirty="0">
                <a:ea typeface="굴림" charset="-127"/>
                <a:cs typeface="굴림" charset="-127"/>
              </a:rPr>
              <a:t>Inner cache holds copies of data in outer cache</a:t>
            </a:r>
          </a:p>
          <a:p>
            <a:pPr marL="742950" lvl="1" indent="-285750">
              <a:spcBef>
                <a:spcPts val="552"/>
              </a:spcBef>
            </a:pPr>
            <a:r>
              <a:rPr lang="en-US" altLang="ko-KR" sz="2000" dirty="0">
                <a:ea typeface="굴림" charset="-127"/>
                <a:cs typeface="굴림" charset="-127"/>
              </a:rPr>
              <a:t>If a block is brought at inner level cache it must be allocated at outer level cache as well</a:t>
            </a:r>
          </a:p>
          <a:p>
            <a:pPr lvl="1">
              <a:spcBef>
                <a:spcPts val="552"/>
              </a:spcBef>
            </a:pPr>
            <a:r>
              <a:rPr lang="en-US" altLang="ko-KR" sz="2000" dirty="0">
                <a:ea typeface="굴림" charset="-127"/>
                <a:cs typeface="굴림" charset="-127"/>
              </a:rPr>
              <a:t>If a block is invalidated at inner level cache it must be removed at outer level cache as well</a:t>
            </a:r>
          </a:p>
          <a:p>
            <a:pPr marL="742950" lvl="1" indent="-285750">
              <a:spcBef>
                <a:spcPts val="552"/>
              </a:spcBef>
            </a:pPr>
            <a:r>
              <a:rPr lang="en-US" altLang="ko-KR" sz="2000" dirty="0">
                <a:ea typeface="굴림" charset="-127"/>
                <a:cs typeface="굴림" charset="-127"/>
              </a:rPr>
              <a:t>External coherence snoop access need only check outer cache</a:t>
            </a:r>
          </a:p>
          <a:p>
            <a:pPr marL="342900" indent="-342900">
              <a:spcBef>
                <a:spcPts val="552"/>
              </a:spcBef>
            </a:pPr>
            <a:r>
              <a:rPr lang="en-US" altLang="ko-KR" sz="2800" i="1" dirty="0">
                <a:ea typeface="굴림" charset="-127"/>
                <a:cs typeface="굴림" charset="-127"/>
              </a:rPr>
              <a:t>Exclusive</a:t>
            </a:r>
            <a:r>
              <a:rPr lang="en-US" altLang="ko-KR" sz="2800" dirty="0">
                <a:ea typeface="굴림" charset="-127"/>
                <a:cs typeface="굴림" charset="-127"/>
              </a:rPr>
              <a:t> multilevel caches:</a:t>
            </a:r>
          </a:p>
          <a:p>
            <a:pPr marL="742950" lvl="1" indent="-285750">
              <a:spcBef>
                <a:spcPts val="552"/>
              </a:spcBef>
            </a:pPr>
            <a:r>
              <a:rPr lang="en-US" altLang="ko-KR" sz="2000" dirty="0">
                <a:ea typeface="굴림" charset="-127"/>
                <a:cs typeface="굴림" charset="-127"/>
              </a:rPr>
              <a:t>Inner cache may hold data not in outer</a:t>
            </a:r>
            <a:r>
              <a:rPr lang="ko-KR" altLang="en-US" sz="2000" dirty="0">
                <a:ea typeface="굴림" charset="-127"/>
                <a:cs typeface="굴림" charset="-127"/>
              </a:rPr>
              <a:t> </a:t>
            </a:r>
            <a:r>
              <a:rPr lang="en-US" altLang="ko-KR" sz="2000" dirty="0">
                <a:ea typeface="굴림" charset="-127"/>
                <a:cs typeface="굴림" charset="-127"/>
              </a:rPr>
              <a:t>cache</a:t>
            </a:r>
          </a:p>
          <a:p>
            <a:pPr marL="742950" lvl="1" indent="-285750">
              <a:spcBef>
                <a:spcPts val="552"/>
              </a:spcBef>
            </a:pPr>
            <a:r>
              <a:rPr lang="en-US" altLang="ko-KR" sz="2000" dirty="0">
                <a:ea typeface="굴림" charset="-127"/>
                <a:cs typeface="굴림" charset="-127"/>
              </a:rPr>
              <a:t>Swap lines between inner/outer caches on miss</a:t>
            </a:r>
          </a:p>
          <a:p>
            <a:pPr marL="742950" lvl="1" indent="-285750">
              <a:spcBef>
                <a:spcPts val="552"/>
              </a:spcBef>
            </a:pPr>
            <a:r>
              <a:rPr lang="en-US" altLang="ko-KR" sz="2000" dirty="0">
                <a:ea typeface="굴림" charset="-127"/>
                <a:cs typeface="굴림" charset="-127"/>
              </a:rPr>
              <a:t>Victim is written in L2</a:t>
            </a:r>
          </a:p>
          <a:p>
            <a:pPr marL="742950" lvl="1" indent="-285750">
              <a:spcBef>
                <a:spcPts val="552"/>
              </a:spcBef>
            </a:pPr>
            <a:r>
              <a:rPr lang="en-US" altLang="ko-KR" sz="2000" dirty="0">
                <a:ea typeface="굴림" charset="-127"/>
                <a:cs typeface="굴림" charset="-127"/>
              </a:rPr>
              <a:t>Used in AMD Athlon with 64KB primary and 256KB secondary cache</a:t>
            </a:r>
          </a:p>
          <a:p>
            <a:pPr marL="342900" indent="-342900">
              <a:spcBef>
                <a:spcPts val="552"/>
              </a:spcBef>
              <a:buFontTx/>
              <a:buNone/>
            </a:pPr>
            <a:r>
              <a:rPr lang="en-US" altLang="ko-KR" sz="2800" dirty="0">
                <a:ea typeface="굴림" charset="-127"/>
                <a:cs typeface="굴림" charset="-127"/>
              </a:rPr>
              <a:t>Why choose one type or the other?</a:t>
            </a:r>
          </a:p>
          <a:p>
            <a:pPr marL="342900" indent="-342900">
              <a:spcBef>
                <a:spcPts val="552"/>
              </a:spcBef>
              <a:buNone/>
            </a:pPr>
            <a:endParaRPr lang="en-US" altLang="ko-KR" sz="2800" dirty="0">
              <a:ea typeface="굴림" charset="-127"/>
              <a:cs typeface="굴림" charset="-127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A100-6A6D-0C5F-DE1B-44E832795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 miss penalty of long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ADEFC-9EAD-2D3C-6D41-93130B4BA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not wait for full block before restarting the CPU</a:t>
            </a:r>
          </a:p>
          <a:p>
            <a:pPr lvl="1"/>
            <a:r>
              <a:rPr lang="en-US" dirty="0"/>
              <a:t>Early restart</a:t>
            </a:r>
          </a:p>
          <a:p>
            <a:pPr lvl="1"/>
            <a:r>
              <a:rPr lang="en-US" dirty="0"/>
              <a:t>Critical word first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4F7CB-A529-C5DD-38F3-07961E5E5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56ECDB-DEA4-7BA3-D709-90CED710A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2144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55C2C-8DF6-F5FB-A53C-DEC96330C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Non-blocking Caches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24A3F-9755-1E47-B6AD-516C8BC12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472" y="1216470"/>
            <a:ext cx="8604503" cy="4708525"/>
          </a:xfrm>
        </p:spPr>
        <p:txBody>
          <a:bodyPr/>
          <a:lstStyle/>
          <a:p>
            <a:r>
              <a:rPr lang="en-US" sz="2000" dirty="0"/>
              <a:t>Blocking cache </a:t>
            </a:r>
          </a:p>
          <a:p>
            <a:pPr lvl="1"/>
            <a:r>
              <a:rPr lang="en-US" sz="1800" dirty="0"/>
              <a:t>one processor access at a time </a:t>
            </a:r>
          </a:p>
          <a:p>
            <a:pPr lvl="1"/>
            <a:r>
              <a:rPr lang="en-US" sz="1800" dirty="0"/>
              <a:t>Suitable for 5 stage pipeline</a:t>
            </a:r>
          </a:p>
          <a:p>
            <a:pPr lvl="1"/>
            <a:r>
              <a:rPr lang="en-US" sz="1800" dirty="0"/>
              <a:t>Not suitable for a machine that can execute multiple memory accesses in one cycle</a:t>
            </a:r>
          </a:p>
          <a:p>
            <a:r>
              <a:rPr lang="en-US" sz="2000" dirty="0"/>
              <a:t>Increase cache bandwidth with non blocking caches</a:t>
            </a:r>
          </a:p>
          <a:p>
            <a:r>
              <a:rPr lang="en-US" sz="2000" dirty="0"/>
              <a:t>Overlapping cache accesses</a:t>
            </a:r>
          </a:p>
          <a:p>
            <a:r>
              <a:rPr lang="en-US" sz="2400" dirty="0"/>
              <a:t>Non-blocking caches are used in </a:t>
            </a:r>
          </a:p>
          <a:p>
            <a:pPr lvl="1"/>
            <a:r>
              <a:rPr lang="en-US" sz="2000" dirty="0"/>
              <a:t>Modern wide-issue Out of Order processors because </a:t>
            </a:r>
          </a:p>
          <a:p>
            <a:pPr lvl="1"/>
            <a:r>
              <a:rPr lang="en-US" sz="2000" dirty="0"/>
              <a:t>Memory access throughput must be sustained </a:t>
            </a:r>
          </a:p>
          <a:p>
            <a:pPr lvl="1"/>
            <a:r>
              <a:rPr lang="en-US" sz="2000" dirty="0"/>
              <a:t>Memory accesses must execute concurrently</a:t>
            </a:r>
          </a:p>
          <a:p>
            <a:pPr lvl="2"/>
            <a:r>
              <a:rPr lang="en-US" sz="2000" dirty="0"/>
              <a:t>To hide the large penalty of cache misses</a:t>
            </a:r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96EA9-F31C-8835-C352-56BB0C2AC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D94E5-2DEC-D765-DF56-A7C8A62F1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8084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1C08E-99EF-0933-AF07-111497376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Non-blocking caches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70F28-9EA1-CD28-401B-8F1B57BBE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3902"/>
            <a:ext cx="4443984" cy="5550090"/>
          </a:xfrm>
        </p:spPr>
        <p:txBody>
          <a:bodyPr/>
          <a:lstStyle/>
          <a:p>
            <a:r>
              <a:rPr lang="en-US" sz="2400" dirty="0"/>
              <a:t>A miss in cache is allocated in</a:t>
            </a:r>
          </a:p>
          <a:p>
            <a:pPr lvl="1"/>
            <a:r>
              <a:rPr lang="en-US" sz="2000" dirty="0"/>
              <a:t>Miss Status Handling Register (MSHR)</a:t>
            </a:r>
          </a:p>
          <a:p>
            <a:r>
              <a:rPr lang="en-US" sz="2400" dirty="0"/>
              <a:t>MSHR has information</a:t>
            </a:r>
          </a:p>
          <a:p>
            <a:pPr lvl="1"/>
            <a:r>
              <a:rPr lang="en-US" sz="2000" dirty="0"/>
              <a:t>Cache line allocated to miss</a:t>
            </a:r>
          </a:p>
          <a:p>
            <a:pPr lvl="1"/>
            <a:r>
              <a:rPr lang="en-US" sz="2000" dirty="0"/>
              <a:t>Block address</a:t>
            </a:r>
          </a:p>
          <a:p>
            <a:pPr lvl="1"/>
            <a:r>
              <a:rPr lang="en-US" sz="2000" dirty="0"/>
              <a:t>Destination register of load</a:t>
            </a:r>
          </a:p>
          <a:p>
            <a:r>
              <a:rPr lang="en-US" sz="2400" dirty="0"/>
              <a:t>Overlapped miss requests to same block are allowed</a:t>
            </a:r>
          </a:p>
          <a:p>
            <a:pPr lvl="1"/>
            <a:r>
              <a:rPr lang="en-US" sz="2000" dirty="0"/>
              <a:t>Primary miss</a:t>
            </a:r>
          </a:p>
          <a:p>
            <a:pPr lvl="1"/>
            <a:r>
              <a:rPr lang="en-US" sz="2000" dirty="0"/>
              <a:t>Secondary miss</a:t>
            </a:r>
          </a:p>
          <a:p>
            <a:r>
              <a:rPr lang="en-US" sz="2400" dirty="0"/>
              <a:t>Intel Pentium Pro supports four outstanding memory misses</a:t>
            </a:r>
          </a:p>
          <a:p>
            <a:endParaRPr lang="en-US" sz="2400" dirty="0"/>
          </a:p>
          <a:p>
            <a:pPr lvl="1"/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CC7FC-EB2A-0D7C-831D-1F2088590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0E64E-622C-9E8F-7BF1-B42C47D4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234644-96A2-8155-F0F5-BCBEF0140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183" y="2249424"/>
            <a:ext cx="4411134" cy="154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7500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68328-CA35-A84A-811E-D8B1E150F35A}" type="slidenum">
              <a:rPr lang="en-US"/>
              <a:pPr/>
              <a:t>49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552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292975" cy="736600"/>
          </a:xfrm>
        </p:spPr>
        <p:txBody>
          <a:bodyPr/>
          <a:lstStyle/>
          <a:p>
            <a:r>
              <a:rPr lang="en-US" altLang="ko-KR">
                <a:ea typeface="굴림" charset="-127"/>
                <a:cs typeface="굴림" charset="-127"/>
              </a:rPr>
              <a:t>Itanium-2 On-Chip Caches</a:t>
            </a:r>
            <a:br>
              <a:rPr lang="en-US" altLang="ko-KR">
                <a:ea typeface="굴림" charset="-127"/>
                <a:cs typeface="굴림" charset="-127"/>
              </a:rPr>
            </a:br>
            <a:r>
              <a:rPr lang="en-US" altLang="ko-KR" sz="2400">
                <a:ea typeface="굴림" charset="-127"/>
                <a:cs typeface="굴림" charset="-127"/>
              </a:rPr>
              <a:t>(Intel/HP, 2002)</a:t>
            </a:r>
            <a:endParaRPr lang="en-US" altLang="ko-KR">
              <a:ea typeface="굴림" charset="-127"/>
              <a:cs typeface="굴림" charset="-127"/>
            </a:endParaRPr>
          </a:p>
        </p:txBody>
      </p:sp>
      <p:sp>
        <p:nvSpPr>
          <p:cNvPr id="1552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0" y="1295400"/>
            <a:ext cx="4114800" cy="4724400"/>
          </a:xfrm>
          <a:noFill/>
          <a:ln/>
        </p:spPr>
        <p:txBody>
          <a:bodyPr/>
          <a:lstStyle/>
          <a:p>
            <a:pPr marL="342900" indent="-342900">
              <a:lnSpc>
                <a:spcPct val="80000"/>
              </a:lnSpc>
              <a:buFontTx/>
              <a:buNone/>
            </a:pPr>
            <a:r>
              <a:rPr lang="en-US" altLang="ko-KR" sz="2800" b="1">
                <a:ea typeface="굴림" charset="-127"/>
                <a:cs typeface="굴림" charset="-127"/>
              </a:rPr>
              <a:t>Level 1:</a:t>
            </a:r>
            <a:r>
              <a:rPr lang="en-US" altLang="ko-KR" sz="2800">
                <a:ea typeface="굴림" charset="-127"/>
                <a:cs typeface="굴림" charset="-127"/>
              </a:rPr>
              <a:t> 16KB, 4-way </a:t>
            </a:r>
            <a:r>
              <a:rPr lang="en-US" altLang="ko-KR" sz="2800" err="1">
                <a:ea typeface="굴림" charset="-127"/>
                <a:cs typeface="굴림" charset="-127"/>
              </a:rPr>
              <a:t>s.a</a:t>
            </a:r>
            <a:r>
              <a:rPr lang="en-US" altLang="ko-KR" sz="2800">
                <a:ea typeface="굴림" charset="-127"/>
                <a:cs typeface="굴림" charset="-127"/>
              </a:rPr>
              <a:t>., 64B line,  quad-port (2 load+2 store), single cycle latency</a:t>
            </a:r>
          </a:p>
          <a:p>
            <a:pPr marL="342900" indent="-342900">
              <a:lnSpc>
                <a:spcPct val="80000"/>
              </a:lnSpc>
              <a:buFontTx/>
              <a:buNone/>
            </a:pPr>
            <a:endParaRPr lang="en-US" altLang="ko-KR" sz="2800">
              <a:ea typeface="굴림" charset="-127"/>
              <a:cs typeface="굴림" charset="-127"/>
            </a:endParaRPr>
          </a:p>
          <a:p>
            <a:pPr marL="342900" indent="-342900">
              <a:lnSpc>
                <a:spcPct val="80000"/>
              </a:lnSpc>
              <a:buFontTx/>
              <a:buNone/>
            </a:pPr>
            <a:r>
              <a:rPr lang="en-US" altLang="ko-KR" sz="2800" b="1">
                <a:ea typeface="굴림" charset="-127"/>
                <a:cs typeface="굴림" charset="-127"/>
              </a:rPr>
              <a:t>Level 2:</a:t>
            </a:r>
            <a:r>
              <a:rPr lang="en-US" altLang="ko-KR" sz="2800">
                <a:ea typeface="굴림" charset="-127"/>
                <a:cs typeface="굴림" charset="-127"/>
              </a:rPr>
              <a:t> 256KB, 4-way </a:t>
            </a:r>
            <a:r>
              <a:rPr lang="en-US" altLang="ko-KR" sz="2800" err="1">
                <a:ea typeface="굴림" charset="-127"/>
                <a:cs typeface="굴림" charset="-127"/>
              </a:rPr>
              <a:t>s.a</a:t>
            </a:r>
            <a:r>
              <a:rPr lang="en-US" altLang="ko-KR" sz="2800">
                <a:ea typeface="굴림" charset="-127"/>
                <a:cs typeface="굴림" charset="-127"/>
              </a:rPr>
              <a:t>, 128B line, quad-port (4 load or 4 store), five cycle latency</a:t>
            </a:r>
          </a:p>
          <a:p>
            <a:pPr marL="342900" indent="-342900">
              <a:lnSpc>
                <a:spcPct val="80000"/>
              </a:lnSpc>
              <a:buFontTx/>
              <a:buNone/>
            </a:pPr>
            <a:endParaRPr lang="en-US" altLang="ko-KR" sz="2800">
              <a:ea typeface="굴림" charset="-127"/>
              <a:cs typeface="굴림" charset="-127"/>
            </a:endParaRPr>
          </a:p>
          <a:p>
            <a:pPr marL="342900" indent="-342900">
              <a:lnSpc>
                <a:spcPct val="80000"/>
              </a:lnSpc>
              <a:buFontTx/>
              <a:buNone/>
            </a:pPr>
            <a:r>
              <a:rPr lang="en-US" altLang="ko-KR" sz="2800" b="1">
                <a:ea typeface="굴림" charset="-127"/>
                <a:cs typeface="굴림" charset="-127"/>
              </a:rPr>
              <a:t>Level 3:</a:t>
            </a:r>
            <a:r>
              <a:rPr lang="en-US" altLang="ko-KR" sz="2800">
                <a:ea typeface="굴림" charset="-127"/>
                <a:cs typeface="굴림" charset="-127"/>
              </a:rPr>
              <a:t> 3MB, 12-way </a:t>
            </a:r>
            <a:r>
              <a:rPr lang="en-US" altLang="ko-KR" sz="2800" err="1">
                <a:ea typeface="굴림" charset="-127"/>
                <a:cs typeface="굴림" charset="-127"/>
              </a:rPr>
              <a:t>s.a</a:t>
            </a:r>
            <a:r>
              <a:rPr lang="en-US" altLang="ko-KR" sz="2800">
                <a:ea typeface="굴림" charset="-127"/>
                <a:cs typeface="굴림" charset="-127"/>
              </a:rPr>
              <a:t>., 128B line, single 32B port, twelve cycle latency</a:t>
            </a:r>
          </a:p>
        </p:txBody>
      </p:sp>
      <p:pic>
        <p:nvPicPr>
          <p:cNvPr id="155238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249772"/>
            <a:ext cx="4873752" cy="530342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Power 7 On-Chip Caches [IBM 2009]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63D-3259-CC47-846F-47C385D40AFA}" type="slidenum">
              <a:rPr lang="en-US" smtClean="0"/>
              <a:pPr/>
              <a:t>50</a:t>
            </a:fld>
            <a:endParaRPr lang="en-US" b="0">
              <a:solidFill>
                <a:srgbClr val="FBBA03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51945" y="1219200"/>
            <a:ext cx="6092055" cy="4876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066800"/>
            <a:ext cx="213795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32KB L1 I$/core</a:t>
            </a:r>
          </a:p>
          <a:p>
            <a:r>
              <a:rPr lang="en-US" sz="2000"/>
              <a:t>32KB L1 D$/core</a:t>
            </a:r>
          </a:p>
          <a:p>
            <a:r>
              <a:rPr lang="en-US" sz="2000"/>
              <a:t>3-cycle latency</a:t>
            </a: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2438400" y="1752600"/>
            <a:ext cx="990600" cy="53340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flipV="1">
            <a:off x="2895600" y="4114800"/>
            <a:ext cx="1447800" cy="30480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0" y="2667000"/>
            <a:ext cx="297179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256KB Unified L2$/core</a:t>
            </a:r>
          </a:p>
          <a:p>
            <a:r>
              <a:rPr lang="en-US" sz="2000"/>
              <a:t>8-cycle 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4343400"/>
            <a:ext cx="3124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32MB Unified Shared L3$</a:t>
            </a:r>
          </a:p>
          <a:p>
            <a:r>
              <a:rPr lang="en-US" sz="2000"/>
              <a:t>Embedded DRAM</a:t>
            </a:r>
          </a:p>
          <a:p>
            <a:r>
              <a:rPr lang="en-US" sz="2000"/>
              <a:t>25-cycle latency to local slice</a:t>
            </a:r>
          </a:p>
        </p:txBody>
      </p:sp>
      <p:cxnSp>
        <p:nvCxnSpPr>
          <p:cNvPr id="18" name="Straight Connector 17"/>
          <p:cNvCxnSpPr/>
          <p:nvPr/>
        </p:nvCxnSpPr>
        <p:spPr bwMode="auto">
          <a:xfrm flipV="1">
            <a:off x="2743200" y="2895600"/>
            <a:ext cx="914400" cy="22860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F614-3F75-2E4A-B06F-7F44B9E3E4FC}" type="slidenum">
              <a:rPr lang="en-US"/>
              <a:pPr/>
              <a:t>51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545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charset="-127"/>
                <a:cs typeface="굴림" charset="-127"/>
              </a:rPr>
              <a:t>Prefetching</a:t>
            </a:r>
          </a:p>
        </p:txBody>
      </p:sp>
      <p:sp>
        <p:nvSpPr>
          <p:cNvPr id="1545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295400"/>
            <a:ext cx="7543800" cy="5029200"/>
          </a:xfrm>
          <a:ln/>
        </p:spPr>
        <p:txBody>
          <a:bodyPr/>
          <a:lstStyle/>
          <a:p>
            <a:pPr marL="342900" indent="-342900"/>
            <a:r>
              <a:rPr lang="en-US" altLang="ko-KR" sz="2800">
                <a:ea typeface="굴림" charset="-127"/>
                <a:cs typeface="굴림" charset="-127"/>
              </a:rPr>
              <a:t>Speculate on future instruction and data accesses and fetch them into cache(s)</a:t>
            </a:r>
          </a:p>
          <a:p>
            <a:pPr marL="742950" lvl="1" indent="-285750"/>
            <a:r>
              <a:rPr lang="en-US" altLang="ko-KR" sz="2400">
                <a:ea typeface="굴림" charset="-127"/>
                <a:cs typeface="굴림" charset="-127"/>
              </a:rPr>
              <a:t>Instruction accesses easier to predict than data accesses</a:t>
            </a:r>
            <a:endParaRPr lang="en-US" altLang="ko-KR" sz="2000">
              <a:ea typeface="굴림" charset="-127"/>
              <a:cs typeface="굴림" charset="-127"/>
            </a:endParaRPr>
          </a:p>
          <a:p>
            <a:pPr marL="342900" indent="-342900"/>
            <a:r>
              <a:rPr lang="en-US" altLang="ko-KR" sz="2800">
                <a:ea typeface="굴림" charset="-127"/>
                <a:cs typeface="굴림" charset="-127"/>
              </a:rPr>
              <a:t>Varieties of prefetching</a:t>
            </a:r>
          </a:p>
          <a:p>
            <a:pPr marL="742950" lvl="1" indent="-285750"/>
            <a:r>
              <a:rPr lang="en-US" altLang="ko-KR" sz="2400">
                <a:ea typeface="굴림" charset="-127"/>
                <a:cs typeface="굴림" charset="-127"/>
              </a:rPr>
              <a:t>Hardware prefetching</a:t>
            </a:r>
          </a:p>
          <a:p>
            <a:pPr marL="742950" lvl="1" indent="-285750"/>
            <a:r>
              <a:rPr lang="en-US" altLang="ko-KR" sz="2400">
                <a:ea typeface="굴림" charset="-127"/>
                <a:cs typeface="굴림" charset="-127"/>
              </a:rPr>
              <a:t>Software prefetching</a:t>
            </a:r>
          </a:p>
          <a:p>
            <a:pPr marL="742950" lvl="1" indent="-285750"/>
            <a:r>
              <a:rPr lang="en-US" altLang="ko-KR" sz="2400">
                <a:ea typeface="굴림" charset="-127"/>
                <a:cs typeface="굴림" charset="-127"/>
              </a:rPr>
              <a:t>Mixed schemes</a:t>
            </a:r>
            <a:endParaRPr lang="en-US" altLang="ko-KR" sz="2000">
              <a:ea typeface="굴림" charset="-127"/>
              <a:cs typeface="굴림" charset="-127"/>
            </a:endParaRPr>
          </a:p>
          <a:p>
            <a:pPr marL="342900" indent="-342900">
              <a:lnSpc>
                <a:spcPct val="100000"/>
              </a:lnSpc>
            </a:pPr>
            <a:r>
              <a:rPr lang="en-US" altLang="ko-KR" sz="3600" i="1">
                <a:ea typeface="굴림" charset="-127"/>
                <a:cs typeface="굴림" charset="-127"/>
              </a:rPr>
              <a:t>What types of misses does prefetching affect?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FAC54-6CD8-7843-8534-19F165D3DEA8}" type="slidenum">
              <a:rPr lang="en-US"/>
              <a:pPr/>
              <a:t>52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54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charset="-127"/>
                <a:cs typeface="굴림" charset="-127"/>
              </a:rPr>
              <a:t>Issues in Prefetching</a:t>
            </a:r>
          </a:p>
        </p:txBody>
      </p:sp>
      <p:sp>
        <p:nvSpPr>
          <p:cNvPr id="1547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0400" y="1270000"/>
            <a:ext cx="7772400" cy="1600200"/>
          </a:xfrm>
          <a:ln/>
        </p:spPr>
        <p:txBody>
          <a:bodyPr/>
          <a:lstStyle/>
          <a:p>
            <a:r>
              <a:rPr lang="en-US" altLang="ko-KR" dirty="0">
                <a:ea typeface="굴림" charset="-127"/>
                <a:cs typeface="굴림" charset="-127"/>
              </a:rPr>
              <a:t>Usefulness – should produce hits</a:t>
            </a:r>
          </a:p>
          <a:p>
            <a:r>
              <a:rPr lang="en-US" altLang="ko-KR" dirty="0">
                <a:ea typeface="굴림" charset="-127"/>
                <a:cs typeface="굴림" charset="-127"/>
              </a:rPr>
              <a:t>Timeliness – not late and not too early</a:t>
            </a:r>
          </a:p>
          <a:p>
            <a:r>
              <a:rPr lang="en-US" altLang="ko-KR" dirty="0">
                <a:ea typeface="굴림" charset="-127"/>
                <a:cs typeface="굴림" charset="-127"/>
              </a:rPr>
              <a:t>Cache and bandwidth pollution</a:t>
            </a:r>
          </a:p>
        </p:txBody>
      </p:sp>
      <p:sp>
        <p:nvSpPr>
          <p:cNvPr id="1547268" name="Rectangle 4"/>
          <p:cNvSpPr>
            <a:spLocks noChangeArrowheads="1"/>
          </p:cNvSpPr>
          <p:nvPr/>
        </p:nvSpPr>
        <p:spPr bwMode="auto">
          <a:xfrm>
            <a:off x="1524000" y="3213100"/>
            <a:ext cx="1016000" cy="2133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 sz="2000" b="1">
              <a:ea typeface="굴림" charset="-127"/>
              <a:cs typeface="굴림" charset="-127"/>
            </a:endParaRPr>
          </a:p>
        </p:txBody>
      </p:sp>
      <p:sp>
        <p:nvSpPr>
          <p:cNvPr id="1547269" name="Rectangle 5"/>
          <p:cNvSpPr>
            <a:spLocks noChangeArrowheads="1"/>
          </p:cNvSpPr>
          <p:nvPr/>
        </p:nvSpPr>
        <p:spPr bwMode="auto">
          <a:xfrm>
            <a:off x="3200400" y="4432300"/>
            <a:ext cx="1600200" cy="927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000" b="1">
                <a:ea typeface="굴림" charset="-127"/>
                <a:cs typeface="굴림" charset="-127"/>
              </a:rPr>
              <a:t>L1 Data</a:t>
            </a:r>
            <a:endParaRPr lang="en-US" altLang="ko-KR" sz="2400" b="1">
              <a:ea typeface="굴림" charset="-127"/>
              <a:cs typeface="굴림" charset="-127"/>
            </a:endParaRPr>
          </a:p>
        </p:txBody>
      </p:sp>
      <p:sp>
        <p:nvSpPr>
          <p:cNvPr id="1547270" name="Line 6"/>
          <p:cNvSpPr>
            <a:spLocks noChangeShapeType="1"/>
          </p:cNvSpPr>
          <p:nvPr/>
        </p:nvSpPr>
        <p:spPr bwMode="auto">
          <a:xfrm flipH="1" flipV="1">
            <a:off x="2514600" y="3670300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7271" name="Line 7"/>
          <p:cNvSpPr>
            <a:spLocks noChangeShapeType="1"/>
          </p:cNvSpPr>
          <p:nvPr/>
        </p:nvSpPr>
        <p:spPr bwMode="auto">
          <a:xfrm flipH="1" flipV="1">
            <a:off x="2514600" y="4889500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7272" name="Rectangle 8"/>
          <p:cNvSpPr>
            <a:spLocks noChangeArrowheads="1"/>
          </p:cNvSpPr>
          <p:nvPr/>
        </p:nvSpPr>
        <p:spPr bwMode="auto">
          <a:xfrm>
            <a:off x="3200400" y="3213100"/>
            <a:ext cx="1600200" cy="914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000" b="1">
                <a:ea typeface="굴림" charset="-127"/>
                <a:cs typeface="굴림" charset="-127"/>
              </a:rPr>
              <a:t>L1 Instruction</a:t>
            </a:r>
          </a:p>
        </p:txBody>
      </p:sp>
      <p:sp>
        <p:nvSpPr>
          <p:cNvPr id="1547273" name="Rectangle 9"/>
          <p:cNvSpPr>
            <a:spLocks noChangeArrowheads="1"/>
          </p:cNvSpPr>
          <p:nvPr/>
        </p:nvSpPr>
        <p:spPr bwMode="auto">
          <a:xfrm>
            <a:off x="5715000" y="3213100"/>
            <a:ext cx="1524000" cy="2133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000" b="1">
                <a:ea typeface="굴림" charset="-127"/>
                <a:cs typeface="굴림" charset="-127"/>
              </a:rPr>
              <a:t>Unified L2 Cache</a:t>
            </a:r>
          </a:p>
        </p:txBody>
      </p:sp>
      <p:sp>
        <p:nvSpPr>
          <p:cNvPr id="1547274" name="Freeform 10"/>
          <p:cNvSpPr>
            <a:spLocks/>
          </p:cNvSpPr>
          <p:nvPr/>
        </p:nvSpPr>
        <p:spPr bwMode="auto">
          <a:xfrm>
            <a:off x="4800600" y="3670300"/>
            <a:ext cx="914400" cy="6096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88" y="0"/>
              </a:cxn>
              <a:cxn ang="0">
                <a:pos x="288" y="384"/>
              </a:cxn>
              <a:cxn ang="0">
                <a:pos x="576" y="384"/>
              </a:cxn>
            </a:cxnLst>
            <a:rect l="0" t="0" r="r" b="b"/>
            <a:pathLst>
              <a:path w="576" h="384">
                <a:moveTo>
                  <a:pt x="0" y="0"/>
                </a:moveTo>
                <a:lnTo>
                  <a:pt x="288" y="0"/>
                </a:lnTo>
                <a:lnTo>
                  <a:pt x="288" y="384"/>
                </a:lnTo>
                <a:lnTo>
                  <a:pt x="576" y="384"/>
                </a:lnTo>
              </a:path>
            </a:pathLst>
          </a:custGeom>
          <a:noFill/>
          <a:ln w="5080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7275" name="Freeform 11"/>
          <p:cNvSpPr>
            <a:spLocks/>
          </p:cNvSpPr>
          <p:nvPr/>
        </p:nvSpPr>
        <p:spPr bwMode="auto">
          <a:xfrm>
            <a:off x="4800600" y="4279900"/>
            <a:ext cx="457200" cy="609600"/>
          </a:xfrm>
          <a:custGeom>
            <a:avLst/>
            <a:gdLst/>
            <a:ahLst/>
            <a:cxnLst>
              <a:cxn ang="0">
                <a:pos x="288" y="0"/>
              </a:cxn>
              <a:cxn ang="0">
                <a:pos x="288" y="384"/>
              </a:cxn>
              <a:cxn ang="0">
                <a:pos x="0" y="384"/>
              </a:cxn>
            </a:cxnLst>
            <a:rect l="0" t="0" r="r" b="b"/>
            <a:pathLst>
              <a:path w="288" h="384">
                <a:moveTo>
                  <a:pt x="288" y="0"/>
                </a:moveTo>
                <a:lnTo>
                  <a:pt x="288" y="384"/>
                </a:lnTo>
                <a:lnTo>
                  <a:pt x="0" y="384"/>
                </a:lnTo>
              </a:path>
            </a:pathLst>
          </a:custGeom>
          <a:noFill/>
          <a:ln w="508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7276" name="Rectangle 12"/>
          <p:cNvSpPr>
            <a:spLocks noChangeArrowheads="1"/>
          </p:cNvSpPr>
          <p:nvPr/>
        </p:nvSpPr>
        <p:spPr bwMode="auto">
          <a:xfrm>
            <a:off x="1676400" y="4584700"/>
            <a:ext cx="685800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000" b="1">
                <a:ea typeface="굴림" charset="-127"/>
                <a:cs typeface="굴림" charset="-127"/>
              </a:rPr>
              <a:t>RF</a:t>
            </a:r>
          </a:p>
        </p:txBody>
      </p:sp>
      <p:sp>
        <p:nvSpPr>
          <p:cNvPr id="1547277" name="Line 13"/>
          <p:cNvSpPr>
            <a:spLocks noChangeShapeType="1"/>
          </p:cNvSpPr>
          <p:nvPr/>
        </p:nvSpPr>
        <p:spPr bwMode="auto">
          <a:xfrm flipV="1">
            <a:off x="1828800" y="43561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7278" name="Line 14"/>
          <p:cNvSpPr>
            <a:spLocks noChangeShapeType="1"/>
          </p:cNvSpPr>
          <p:nvPr/>
        </p:nvSpPr>
        <p:spPr bwMode="auto">
          <a:xfrm flipV="1">
            <a:off x="1981200" y="43561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7279" name="Line 15"/>
          <p:cNvSpPr>
            <a:spLocks noChangeShapeType="1"/>
          </p:cNvSpPr>
          <p:nvPr/>
        </p:nvSpPr>
        <p:spPr bwMode="auto">
          <a:xfrm>
            <a:off x="2133600" y="43561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7280" name="Text Box 16"/>
          <p:cNvSpPr txBox="1">
            <a:spLocks noChangeArrowheads="1"/>
          </p:cNvSpPr>
          <p:nvPr/>
        </p:nvSpPr>
        <p:spPr bwMode="auto">
          <a:xfrm>
            <a:off x="1524000" y="3746500"/>
            <a:ext cx="9906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altLang="ko-KR" sz="2400" b="1">
                <a:ea typeface="굴림" charset="-127"/>
                <a:cs typeface="굴림" charset="-127"/>
              </a:rPr>
              <a:t>CPU</a:t>
            </a:r>
          </a:p>
        </p:txBody>
      </p:sp>
      <p:sp>
        <p:nvSpPr>
          <p:cNvPr id="1547281" name="AutoShape 17"/>
          <p:cNvSpPr>
            <a:spLocks noChangeArrowheads="1"/>
          </p:cNvSpPr>
          <p:nvPr/>
        </p:nvSpPr>
        <p:spPr bwMode="auto">
          <a:xfrm rot="5400000" flipV="1">
            <a:off x="4876800" y="4737100"/>
            <a:ext cx="762000" cy="609600"/>
          </a:xfrm>
          <a:custGeom>
            <a:avLst/>
            <a:gdLst>
              <a:gd name="G0" fmla="+- 9257 0 0"/>
              <a:gd name="G1" fmla="+- 16874 0 0"/>
              <a:gd name="G2" fmla="+- 7143 0 0"/>
              <a:gd name="G3" fmla="*/ 9257 1 2"/>
              <a:gd name="G4" fmla="+- G3 10800 0"/>
              <a:gd name="G5" fmla="+- 21600 9257 16874"/>
              <a:gd name="G6" fmla="+- 16874 7143 0"/>
              <a:gd name="G7" fmla="*/ G6 1 2"/>
              <a:gd name="G8" fmla="*/ 16874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6874 1 2"/>
              <a:gd name="G15" fmla="+- G5 0 G4"/>
              <a:gd name="G16" fmla="+- G0 0 G4"/>
              <a:gd name="G17" fmla="*/ G2 G15 G16"/>
              <a:gd name="T0" fmla="*/ 15429 w 21600"/>
              <a:gd name="T1" fmla="*/ 0 h 21600"/>
              <a:gd name="T2" fmla="*/ 9257 w 21600"/>
              <a:gd name="T3" fmla="*/ 7143 h 21600"/>
              <a:gd name="T4" fmla="*/ 0 w 21600"/>
              <a:gd name="T5" fmla="*/ 19750 h 21600"/>
              <a:gd name="T6" fmla="*/ 8437 w 21600"/>
              <a:gd name="T7" fmla="*/ 21600 h 21600"/>
              <a:gd name="T8" fmla="*/ 16874 w 21600"/>
              <a:gd name="T9" fmla="*/ 15372 h 21600"/>
              <a:gd name="T10" fmla="*/ 21600 w 21600"/>
              <a:gd name="T11" fmla="*/ 7143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143"/>
                </a:lnTo>
                <a:lnTo>
                  <a:pt x="13983" y="7143"/>
                </a:lnTo>
                <a:lnTo>
                  <a:pt x="13983" y="17899"/>
                </a:lnTo>
                <a:lnTo>
                  <a:pt x="0" y="17899"/>
                </a:lnTo>
                <a:lnTo>
                  <a:pt x="0" y="21600"/>
                </a:lnTo>
                <a:lnTo>
                  <a:pt x="16874" y="21600"/>
                </a:lnTo>
                <a:lnTo>
                  <a:pt x="16874" y="7143"/>
                </a:lnTo>
                <a:lnTo>
                  <a:pt x="21600" y="7143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accent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7282" name="Text Box 18"/>
          <p:cNvSpPr txBox="1">
            <a:spLocks noChangeArrowheads="1"/>
          </p:cNvSpPr>
          <p:nvPr/>
        </p:nvSpPr>
        <p:spPr bwMode="auto">
          <a:xfrm>
            <a:off x="5089525" y="5434013"/>
            <a:ext cx="20891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2000" b="1">
                <a:solidFill>
                  <a:schemeClr val="accent2"/>
                </a:solidFill>
                <a:ea typeface="굴림" charset="-127"/>
                <a:cs typeface="굴림" charset="-127"/>
              </a:rPr>
              <a:t>Prefetched data</a:t>
            </a:r>
          </a:p>
        </p:txBody>
      </p:sp>
      <p:sp>
        <p:nvSpPr>
          <p:cNvPr id="1547283" name="Rectangle 19"/>
          <p:cNvSpPr>
            <a:spLocks noChangeArrowheads="1"/>
          </p:cNvSpPr>
          <p:nvPr/>
        </p:nvSpPr>
        <p:spPr bwMode="auto">
          <a:xfrm>
            <a:off x="4572000" y="4432300"/>
            <a:ext cx="228600" cy="914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6B344-989E-C448-8D36-814DE2CE6F54}" type="slidenum">
              <a:rPr lang="en-US"/>
              <a:pPr/>
              <a:t>53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549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30200" y="342900"/>
            <a:ext cx="7835900" cy="850900"/>
          </a:xfrm>
        </p:spPr>
        <p:txBody>
          <a:bodyPr/>
          <a:lstStyle/>
          <a:p>
            <a:r>
              <a:rPr lang="en-US" altLang="ko-KR">
                <a:ea typeface="굴림" charset="-127"/>
                <a:cs typeface="굴림" charset="-127"/>
              </a:rPr>
              <a:t>Hardware Instruction Prefetching</a:t>
            </a:r>
          </a:p>
        </p:txBody>
      </p:sp>
      <p:sp>
        <p:nvSpPr>
          <p:cNvPr id="1549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7700" y="1219200"/>
            <a:ext cx="7848600" cy="2209800"/>
          </a:xfrm>
          <a:ln/>
        </p:spPr>
        <p:txBody>
          <a:bodyPr/>
          <a:lstStyle/>
          <a:p>
            <a:pPr marL="231775" indent="-231775">
              <a:buFontTx/>
              <a:buNone/>
            </a:pPr>
            <a:r>
              <a:rPr lang="en-US" altLang="ko-KR" sz="2000">
                <a:ea typeface="굴림" charset="-127"/>
                <a:cs typeface="굴림" charset="-127"/>
              </a:rPr>
              <a:t>Instruction prefetch in Alpha AXP 21064</a:t>
            </a:r>
          </a:p>
          <a:p>
            <a:pPr marL="574675" lvl="1"/>
            <a:r>
              <a:rPr lang="en-US" altLang="ko-KR" sz="2000">
                <a:ea typeface="굴림" charset="-127"/>
                <a:cs typeface="굴림" charset="-127"/>
              </a:rPr>
              <a:t>Fetch two blocks on a miss; the requested block (</a:t>
            </a:r>
            <a:r>
              <a:rPr lang="en-US" altLang="ko-KR" sz="2000" err="1">
                <a:ea typeface="굴림" charset="-127"/>
                <a:cs typeface="굴림" charset="-127"/>
              </a:rPr>
              <a:t>i</a:t>
            </a:r>
            <a:r>
              <a:rPr lang="en-US" altLang="ko-KR" sz="2000">
                <a:ea typeface="굴림" charset="-127"/>
                <a:cs typeface="굴림" charset="-127"/>
              </a:rPr>
              <a:t>) and the next consecutive block (i+1)</a:t>
            </a:r>
          </a:p>
          <a:p>
            <a:pPr marL="574675" lvl="1"/>
            <a:r>
              <a:rPr lang="en-US" altLang="ko-KR" sz="2000">
                <a:ea typeface="굴림" charset="-127"/>
                <a:cs typeface="굴림" charset="-127"/>
              </a:rPr>
              <a:t>Requested block placed in cache, and next block in instruction stream buffer</a:t>
            </a:r>
          </a:p>
          <a:p>
            <a:pPr marL="574675" lvl="1"/>
            <a:r>
              <a:rPr lang="en-US" altLang="ko-KR" sz="2000">
                <a:ea typeface="굴림" charset="-127"/>
                <a:cs typeface="굴림" charset="-127"/>
              </a:rPr>
              <a:t>If miss in cache but hit in stream buffer, move stream buffer block into cache and prefetch next block (i+2)</a:t>
            </a:r>
          </a:p>
        </p:txBody>
      </p:sp>
      <p:sp>
        <p:nvSpPr>
          <p:cNvPr id="1549316" name="Rectangle 4"/>
          <p:cNvSpPr>
            <a:spLocks noChangeArrowheads="1"/>
          </p:cNvSpPr>
          <p:nvPr/>
        </p:nvSpPr>
        <p:spPr bwMode="auto">
          <a:xfrm>
            <a:off x="1524000" y="4419600"/>
            <a:ext cx="1016000" cy="1600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2000" b="1"/>
          </a:p>
        </p:txBody>
      </p:sp>
      <p:sp>
        <p:nvSpPr>
          <p:cNvPr id="1549317" name="Line 5"/>
          <p:cNvSpPr>
            <a:spLocks noChangeShapeType="1"/>
          </p:cNvSpPr>
          <p:nvPr/>
        </p:nvSpPr>
        <p:spPr bwMode="auto">
          <a:xfrm flipH="1" flipV="1">
            <a:off x="2514600" y="5257800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9318" name="Rectangle 6"/>
          <p:cNvSpPr>
            <a:spLocks noChangeArrowheads="1"/>
          </p:cNvSpPr>
          <p:nvPr/>
        </p:nvSpPr>
        <p:spPr bwMode="auto">
          <a:xfrm>
            <a:off x="3200400" y="4800600"/>
            <a:ext cx="1600200" cy="914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 b="1"/>
              <a:t>L1 Instruction</a:t>
            </a:r>
          </a:p>
        </p:txBody>
      </p:sp>
      <p:sp>
        <p:nvSpPr>
          <p:cNvPr id="1549319" name="Rectangle 7"/>
          <p:cNvSpPr>
            <a:spLocks noChangeArrowheads="1"/>
          </p:cNvSpPr>
          <p:nvPr/>
        </p:nvSpPr>
        <p:spPr bwMode="auto">
          <a:xfrm>
            <a:off x="6172200" y="4419600"/>
            <a:ext cx="1524000" cy="1600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 b="1"/>
              <a:t>Unified L2 Cache</a:t>
            </a:r>
          </a:p>
        </p:txBody>
      </p:sp>
      <p:sp>
        <p:nvSpPr>
          <p:cNvPr id="1549320" name="Freeform 8"/>
          <p:cNvSpPr>
            <a:spLocks/>
          </p:cNvSpPr>
          <p:nvPr/>
        </p:nvSpPr>
        <p:spPr bwMode="auto">
          <a:xfrm>
            <a:off x="4800600" y="5029200"/>
            <a:ext cx="1371600" cy="304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88" y="0"/>
              </a:cxn>
              <a:cxn ang="0">
                <a:pos x="288" y="384"/>
              </a:cxn>
              <a:cxn ang="0">
                <a:pos x="576" y="384"/>
              </a:cxn>
            </a:cxnLst>
            <a:rect l="0" t="0" r="r" b="b"/>
            <a:pathLst>
              <a:path w="576" h="384">
                <a:moveTo>
                  <a:pt x="0" y="0"/>
                </a:moveTo>
                <a:lnTo>
                  <a:pt x="288" y="0"/>
                </a:lnTo>
                <a:lnTo>
                  <a:pt x="288" y="384"/>
                </a:lnTo>
                <a:lnTo>
                  <a:pt x="576" y="384"/>
                </a:lnTo>
              </a:path>
            </a:pathLst>
          </a:custGeom>
          <a:noFill/>
          <a:ln w="5080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9321" name="Rectangle 9"/>
          <p:cNvSpPr>
            <a:spLocks noChangeArrowheads="1"/>
          </p:cNvSpPr>
          <p:nvPr/>
        </p:nvSpPr>
        <p:spPr bwMode="auto">
          <a:xfrm>
            <a:off x="1676400" y="5334000"/>
            <a:ext cx="685800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 b="1"/>
              <a:t>RF</a:t>
            </a:r>
          </a:p>
        </p:txBody>
      </p:sp>
      <p:sp>
        <p:nvSpPr>
          <p:cNvPr id="1549322" name="Line 10"/>
          <p:cNvSpPr>
            <a:spLocks noChangeShapeType="1"/>
          </p:cNvSpPr>
          <p:nvPr/>
        </p:nvSpPr>
        <p:spPr bwMode="auto">
          <a:xfrm flipV="1">
            <a:off x="1828800" y="51054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9323" name="Line 11"/>
          <p:cNvSpPr>
            <a:spLocks noChangeShapeType="1"/>
          </p:cNvSpPr>
          <p:nvPr/>
        </p:nvSpPr>
        <p:spPr bwMode="auto">
          <a:xfrm flipV="1">
            <a:off x="1981200" y="51054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9324" name="Line 12"/>
          <p:cNvSpPr>
            <a:spLocks noChangeShapeType="1"/>
          </p:cNvSpPr>
          <p:nvPr/>
        </p:nvSpPr>
        <p:spPr bwMode="auto">
          <a:xfrm>
            <a:off x="2133600" y="51054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9325" name="Text Box 13"/>
          <p:cNvSpPr txBox="1">
            <a:spLocks noChangeArrowheads="1"/>
          </p:cNvSpPr>
          <p:nvPr/>
        </p:nvSpPr>
        <p:spPr bwMode="auto">
          <a:xfrm>
            <a:off x="1524000" y="4495800"/>
            <a:ext cx="9906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CPU</a:t>
            </a:r>
          </a:p>
        </p:txBody>
      </p:sp>
      <p:sp>
        <p:nvSpPr>
          <p:cNvPr id="1549326" name="AutoShape 14"/>
          <p:cNvSpPr>
            <a:spLocks noChangeArrowheads="1"/>
          </p:cNvSpPr>
          <p:nvPr/>
        </p:nvSpPr>
        <p:spPr bwMode="auto">
          <a:xfrm rot="-27000000">
            <a:off x="4457700" y="4229100"/>
            <a:ext cx="990600" cy="609600"/>
          </a:xfrm>
          <a:custGeom>
            <a:avLst/>
            <a:gdLst>
              <a:gd name="G0" fmla="+- 9257 0 0"/>
              <a:gd name="G1" fmla="+- 16874 0 0"/>
              <a:gd name="G2" fmla="+- 7143 0 0"/>
              <a:gd name="G3" fmla="*/ 9257 1 2"/>
              <a:gd name="G4" fmla="+- G3 10800 0"/>
              <a:gd name="G5" fmla="+- 21600 9257 16874"/>
              <a:gd name="G6" fmla="+- 16874 7143 0"/>
              <a:gd name="G7" fmla="*/ G6 1 2"/>
              <a:gd name="G8" fmla="*/ 16874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6874 1 2"/>
              <a:gd name="G15" fmla="+- G5 0 G4"/>
              <a:gd name="G16" fmla="+- G0 0 G4"/>
              <a:gd name="G17" fmla="*/ G2 G15 G16"/>
              <a:gd name="T0" fmla="*/ 15429 w 21600"/>
              <a:gd name="T1" fmla="*/ 0 h 21600"/>
              <a:gd name="T2" fmla="*/ 9257 w 21600"/>
              <a:gd name="T3" fmla="*/ 7143 h 21600"/>
              <a:gd name="T4" fmla="*/ 0 w 21600"/>
              <a:gd name="T5" fmla="*/ 19750 h 21600"/>
              <a:gd name="T6" fmla="*/ 8437 w 21600"/>
              <a:gd name="T7" fmla="*/ 21600 h 21600"/>
              <a:gd name="T8" fmla="*/ 16874 w 21600"/>
              <a:gd name="T9" fmla="*/ 15372 h 21600"/>
              <a:gd name="T10" fmla="*/ 21600 w 21600"/>
              <a:gd name="T11" fmla="*/ 7143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143"/>
                </a:lnTo>
                <a:lnTo>
                  <a:pt x="13983" y="7143"/>
                </a:lnTo>
                <a:lnTo>
                  <a:pt x="13983" y="17899"/>
                </a:lnTo>
                <a:lnTo>
                  <a:pt x="0" y="17899"/>
                </a:lnTo>
                <a:lnTo>
                  <a:pt x="0" y="21600"/>
                </a:lnTo>
                <a:lnTo>
                  <a:pt x="16874" y="21600"/>
                </a:lnTo>
                <a:lnTo>
                  <a:pt x="16874" y="7143"/>
                </a:lnTo>
                <a:lnTo>
                  <a:pt x="21600" y="7143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accent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9327" name="Rectangle 15"/>
          <p:cNvSpPr>
            <a:spLocks noChangeArrowheads="1"/>
          </p:cNvSpPr>
          <p:nvPr/>
        </p:nvSpPr>
        <p:spPr bwMode="auto">
          <a:xfrm>
            <a:off x="3733800" y="3810000"/>
            <a:ext cx="914400" cy="914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600" b="1"/>
              <a:t>Stream</a:t>
            </a:r>
          </a:p>
          <a:p>
            <a:pPr>
              <a:spcBef>
                <a:spcPct val="0"/>
              </a:spcBef>
            </a:pPr>
            <a:r>
              <a:rPr lang="en-US" sz="1600" b="1"/>
              <a:t>Buffer</a:t>
            </a:r>
          </a:p>
        </p:txBody>
      </p:sp>
      <p:sp>
        <p:nvSpPr>
          <p:cNvPr id="1549328" name="Text Box 16"/>
          <p:cNvSpPr txBox="1">
            <a:spLocks noChangeArrowheads="1"/>
          </p:cNvSpPr>
          <p:nvPr/>
        </p:nvSpPr>
        <p:spPr bwMode="auto">
          <a:xfrm>
            <a:off x="5029200" y="3581400"/>
            <a:ext cx="1820863" cy="5810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b="1">
                <a:solidFill>
                  <a:schemeClr val="accent2"/>
                </a:solidFill>
              </a:rPr>
              <a:t>Prefetched</a:t>
            </a:r>
          </a:p>
          <a:p>
            <a:pPr>
              <a:spcBef>
                <a:spcPct val="0"/>
              </a:spcBef>
            </a:pPr>
            <a:r>
              <a:rPr lang="en-US" b="1">
                <a:solidFill>
                  <a:schemeClr val="accent2"/>
                </a:solidFill>
              </a:rPr>
              <a:t>instruction block</a:t>
            </a:r>
          </a:p>
        </p:txBody>
      </p:sp>
      <p:sp>
        <p:nvSpPr>
          <p:cNvPr id="1549329" name="AutoShape 17"/>
          <p:cNvSpPr>
            <a:spLocks noChangeArrowheads="1"/>
          </p:cNvSpPr>
          <p:nvPr/>
        </p:nvSpPr>
        <p:spPr bwMode="auto">
          <a:xfrm rot="-10800000">
            <a:off x="3200400" y="4191000"/>
            <a:ext cx="533400" cy="609600"/>
          </a:xfrm>
          <a:custGeom>
            <a:avLst/>
            <a:gdLst>
              <a:gd name="G0" fmla="+- 9257 0 0"/>
              <a:gd name="G1" fmla="+- 16874 0 0"/>
              <a:gd name="G2" fmla="+- 7143 0 0"/>
              <a:gd name="G3" fmla="*/ 9257 1 2"/>
              <a:gd name="G4" fmla="+- G3 10800 0"/>
              <a:gd name="G5" fmla="+- 21600 9257 16874"/>
              <a:gd name="G6" fmla="+- 16874 7143 0"/>
              <a:gd name="G7" fmla="*/ G6 1 2"/>
              <a:gd name="G8" fmla="*/ 16874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6874 1 2"/>
              <a:gd name="G15" fmla="+- G5 0 G4"/>
              <a:gd name="G16" fmla="+- G0 0 G4"/>
              <a:gd name="G17" fmla="*/ G2 G15 G16"/>
              <a:gd name="T0" fmla="*/ 15429 w 21600"/>
              <a:gd name="T1" fmla="*/ 0 h 21600"/>
              <a:gd name="T2" fmla="*/ 9257 w 21600"/>
              <a:gd name="T3" fmla="*/ 7143 h 21600"/>
              <a:gd name="T4" fmla="*/ 0 w 21600"/>
              <a:gd name="T5" fmla="*/ 19750 h 21600"/>
              <a:gd name="T6" fmla="*/ 8437 w 21600"/>
              <a:gd name="T7" fmla="*/ 21600 h 21600"/>
              <a:gd name="T8" fmla="*/ 16874 w 21600"/>
              <a:gd name="T9" fmla="*/ 15372 h 21600"/>
              <a:gd name="T10" fmla="*/ 21600 w 21600"/>
              <a:gd name="T11" fmla="*/ 7143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143"/>
                </a:lnTo>
                <a:lnTo>
                  <a:pt x="13983" y="7143"/>
                </a:lnTo>
                <a:lnTo>
                  <a:pt x="13983" y="17899"/>
                </a:lnTo>
                <a:lnTo>
                  <a:pt x="0" y="17899"/>
                </a:lnTo>
                <a:lnTo>
                  <a:pt x="0" y="21600"/>
                </a:lnTo>
                <a:lnTo>
                  <a:pt x="16874" y="21600"/>
                </a:lnTo>
                <a:lnTo>
                  <a:pt x="16874" y="7143"/>
                </a:lnTo>
                <a:lnTo>
                  <a:pt x="21600" y="7143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accent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9330" name="Text Box 18"/>
          <p:cNvSpPr txBox="1">
            <a:spLocks noChangeArrowheads="1"/>
          </p:cNvSpPr>
          <p:nvPr/>
        </p:nvSpPr>
        <p:spPr bwMode="auto">
          <a:xfrm>
            <a:off x="2552700" y="3810000"/>
            <a:ext cx="771525" cy="5810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b="1">
                <a:solidFill>
                  <a:schemeClr val="accent2"/>
                </a:solidFill>
              </a:rPr>
              <a:t>Req</a:t>
            </a:r>
          </a:p>
          <a:p>
            <a:pPr>
              <a:spcBef>
                <a:spcPct val="0"/>
              </a:spcBef>
            </a:pPr>
            <a:r>
              <a:rPr lang="en-US" b="1">
                <a:solidFill>
                  <a:schemeClr val="accent2"/>
                </a:solidFill>
              </a:rPr>
              <a:t> block</a:t>
            </a:r>
          </a:p>
        </p:txBody>
      </p:sp>
      <p:sp>
        <p:nvSpPr>
          <p:cNvPr id="1549331" name="Text Box 19"/>
          <p:cNvSpPr txBox="1">
            <a:spLocks noChangeArrowheads="1"/>
          </p:cNvSpPr>
          <p:nvPr/>
        </p:nvSpPr>
        <p:spPr bwMode="auto">
          <a:xfrm>
            <a:off x="4800600" y="5257800"/>
            <a:ext cx="771525" cy="5810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b="1">
                <a:solidFill>
                  <a:schemeClr val="accent2"/>
                </a:solidFill>
              </a:rPr>
              <a:t>Req</a:t>
            </a:r>
          </a:p>
          <a:p>
            <a:pPr>
              <a:spcBef>
                <a:spcPct val="0"/>
              </a:spcBef>
            </a:pPr>
            <a:r>
              <a:rPr lang="en-US" b="1">
                <a:solidFill>
                  <a:schemeClr val="accent2"/>
                </a:solidFill>
              </a:rPr>
              <a:t> block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60C46-7C1D-C240-8D89-8439AF478820}" type="slidenum">
              <a:rPr lang="en-US"/>
              <a:pPr/>
              <a:t>54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55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charset="-127"/>
                <a:cs typeface="굴림" charset="-127"/>
              </a:rPr>
              <a:t>Hardware Data Prefetching</a:t>
            </a:r>
          </a:p>
        </p:txBody>
      </p:sp>
      <p:sp>
        <p:nvSpPr>
          <p:cNvPr id="1551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0100" y="1143000"/>
            <a:ext cx="7543800" cy="5181600"/>
          </a:xfrm>
          <a:ln/>
        </p:spPr>
        <p:txBody>
          <a:bodyPr/>
          <a:lstStyle/>
          <a:p>
            <a:pPr marL="231775" indent="-231775">
              <a:lnSpc>
                <a:spcPct val="80000"/>
              </a:lnSpc>
            </a:pPr>
            <a:r>
              <a:rPr lang="en-US" altLang="ko-KR" dirty="0">
                <a:ea typeface="굴림" charset="-127"/>
                <a:cs typeface="굴림" charset="-127"/>
              </a:rPr>
              <a:t>Prefetch-on-miss:</a:t>
            </a:r>
          </a:p>
          <a:p>
            <a:pPr marL="574675" lvl="1" indent="-171450">
              <a:lnSpc>
                <a:spcPct val="80000"/>
              </a:lnSpc>
            </a:pPr>
            <a:r>
              <a:rPr lang="en-US" altLang="ko-KR" sz="2000" dirty="0">
                <a:ea typeface="굴림" charset="-127"/>
                <a:cs typeface="굴림" charset="-127"/>
              </a:rPr>
              <a:t>Prefetch </a:t>
            </a:r>
            <a:r>
              <a:rPr lang="en-US" altLang="ko-KR" sz="2000" dirty="0">
                <a:solidFill>
                  <a:schemeClr val="accent2"/>
                </a:solidFill>
                <a:ea typeface="굴림" charset="-127"/>
                <a:cs typeface="굴림" charset="-127"/>
              </a:rPr>
              <a:t>b + 1</a:t>
            </a:r>
            <a:r>
              <a:rPr lang="en-US" altLang="ko-KR" sz="2000" dirty="0">
                <a:ea typeface="굴림" charset="-127"/>
                <a:cs typeface="굴림" charset="-127"/>
              </a:rPr>
              <a:t> upon miss on </a:t>
            </a:r>
            <a:r>
              <a:rPr lang="en-US" altLang="ko-KR" sz="2000" dirty="0">
                <a:solidFill>
                  <a:schemeClr val="accent2"/>
                </a:solidFill>
                <a:ea typeface="굴림" charset="-127"/>
                <a:cs typeface="굴림" charset="-127"/>
              </a:rPr>
              <a:t>b</a:t>
            </a:r>
          </a:p>
          <a:p>
            <a:pPr marL="574675" lvl="1" indent="-171450">
              <a:lnSpc>
                <a:spcPct val="80000"/>
              </a:lnSpc>
            </a:pPr>
            <a:endParaRPr lang="en-US" altLang="ko-KR" dirty="0">
              <a:solidFill>
                <a:schemeClr val="accent2"/>
              </a:solidFill>
              <a:ea typeface="굴림" charset="-127"/>
              <a:cs typeface="굴림" charset="-127"/>
            </a:endParaRPr>
          </a:p>
          <a:p>
            <a:pPr marL="231775" indent="-231775">
              <a:lnSpc>
                <a:spcPct val="80000"/>
              </a:lnSpc>
            </a:pPr>
            <a:r>
              <a:rPr lang="en-US" altLang="ko-KR" dirty="0">
                <a:ea typeface="굴림" charset="-127"/>
                <a:cs typeface="굴림" charset="-127"/>
              </a:rPr>
              <a:t>One Block Lookahead (OBL) scheme </a:t>
            </a:r>
          </a:p>
          <a:p>
            <a:pPr marL="574675" lvl="1" indent="-171450">
              <a:lnSpc>
                <a:spcPct val="80000"/>
              </a:lnSpc>
            </a:pPr>
            <a:r>
              <a:rPr lang="en-US" altLang="ko-KR" sz="2000" dirty="0">
                <a:ea typeface="굴림" charset="-127"/>
                <a:cs typeface="굴림" charset="-127"/>
              </a:rPr>
              <a:t>Initiate prefetch for block </a:t>
            </a:r>
            <a:r>
              <a:rPr lang="en-US" altLang="ko-KR" sz="2000" dirty="0">
                <a:solidFill>
                  <a:schemeClr val="accent2"/>
                </a:solidFill>
                <a:ea typeface="굴림" charset="-127"/>
                <a:cs typeface="굴림" charset="-127"/>
              </a:rPr>
              <a:t>b + 1</a:t>
            </a:r>
            <a:r>
              <a:rPr lang="en-US" altLang="ko-KR" sz="2000" dirty="0">
                <a:ea typeface="굴림" charset="-127"/>
                <a:cs typeface="굴림" charset="-127"/>
              </a:rPr>
              <a:t> when block </a:t>
            </a:r>
            <a:r>
              <a:rPr lang="en-US" altLang="ko-KR" sz="2000" dirty="0">
                <a:solidFill>
                  <a:schemeClr val="accent2"/>
                </a:solidFill>
                <a:ea typeface="굴림" charset="-127"/>
                <a:cs typeface="굴림" charset="-127"/>
              </a:rPr>
              <a:t>b</a:t>
            </a:r>
            <a:r>
              <a:rPr lang="en-US" altLang="ko-KR" sz="2000" dirty="0">
                <a:ea typeface="굴림" charset="-127"/>
                <a:cs typeface="굴림" charset="-127"/>
              </a:rPr>
              <a:t> is accessed</a:t>
            </a:r>
          </a:p>
          <a:p>
            <a:pPr marL="574675" lvl="1" indent="-171450">
              <a:lnSpc>
                <a:spcPct val="80000"/>
              </a:lnSpc>
            </a:pPr>
            <a:r>
              <a:rPr lang="en-US" altLang="ko-KR" sz="2000" i="1" dirty="0">
                <a:solidFill>
                  <a:schemeClr val="tx2"/>
                </a:solidFill>
                <a:ea typeface="굴림" charset="-127"/>
                <a:cs typeface="굴림" charset="-127"/>
              </a:rPr>
              <a:t>Why is this different from doubling block size?</a:t>
            </a:r>
            <a:endParaRPr lang="en-US" altLang="ko-KR" sz="2000" dirty="0">
              <a:solidFill>
                <a:schemeClr val="tx2"/>
              </a:solidFill>
              <a:ea typeface="굴림" charset="-127"/>
              <a:cs typeface="굴림" charset="-127"/>
            </a:endParaRPr>
          </a:p>
          <a:p>
            <a:pPr marL="574675" lvl="1" indent="-171450">
              <a:lnSpc>
                <a:spcPct val="80000"/>
              </a:lnSpc>
            </a:pPr>
            <a:r>
              <a:rPr lang="en-US" altLang="ko-KR" sz="2000" dirty="0">
                <a:solidFill>
                  <a:schemeClr val="tx2"/>
                </a:solidFill>
                <a:ea typeface="굴림" charset="-127"/>
                <a:cs typeface="굴림" charset="-127"/>
              </a:rPr>
              <a:t>Can extend to N-block look-ahead</a:t>
            </a:r>
          </a:p>
          <a:p>
            <a:pPr marL="574675" lvl="1" indent="-171450">
              <a:lnSpc>
                <a:spcPct val="80000"/>
              </a:lnSpc>
            </a:pPr>
            <a:endParaRPr lang="en-US" altLang="ko-KR" dirty="0">
              <a:solidFill>
                <a:schemeClr val="tx2"/>
              </a:solidFill>
              <a:ea typeface="굴림" charset="-127"/>
              <a:cs typeface="굴림" charset="-127"/>
            </a:endParaRPr>
          </a:p>
          <a:p>
            <a:pPr marL="231775" indent="-231775">
              <a:lnSpc>
                <a:spcPct val="80000"/>
              </a:lnSpc>
            </a:pPr>
            <a:r>
              <a:rPr lang="en-US" altLang="ko-KR" dirty="0" err="1">
                <a:ea typeface="굴림" charset="-127"/>
                <a:cs typeface="굴림" charset="-127"/>
              </a:rPr>
              <a:t>Strided</a:t>
            </a:r>
            <a:r>
              <a:rPr lang="en-US" altLang="ko-KR" dirty="0">
                <a:ea typeface="굴림" charset="-127"/>
                <a:cs typeface="굴림" charset="-127"/>
              </a:rPr>
              <a:t> prefetch</a:t>
            </a:r>
          </a:p>
          <a:p>
            <a:pPr marL="574675" lvl="1" indent="-171450">
              <a:lnSpc>
                <a:spcPct val="80000"/>
              </a:lnSpc>
            </a:pPr>
            <a:r>
              <a:rPr lang="en-US" altLang="ko-KR" sz="2000" dirty="0">
                <a:ea typeface="굴림" charset="-127"/>
                <a:cs typeface="굴림" charset="-127"/>
              </a:rPr>
              <a:t>If observe sequence of accesses to block </a:t>
            </a:r>
            <a:r>
              <a:rPr lang="en-US" altLang="ko-KR" sz="2000" dirty="0">
                <a:solidFill>
                  <a:schemeClr val="accent2"/>
                </a:solidFill>
                <a:ea typeface="굴림" charset="-127"/>
                <a:cs typeface="굴림" charset="-127"/>
              </a:rPr>
              <a:t>b</a:t>
            </a:r>
            <a:r>
              <a:rPr lang="en-US" altLang="ko-KR" sz="2000" dirty="0">
                <a:ea typeface="굴림" charset="-127"/>
                <a:cs typeface="굴림" charset="-127"/>
              </a:rPr>
              <a:t>, </a:t>
            </a:r>
            <a:r>
              <a:rPr lang="en-US" altLang="ko-KR" sz="2000" dirty="0" err="1">
                <a:solidFill>
                  <a:schemeClr val="accent2"/>
                </a:solidFill>
                <a:ea typeface="굴림" charset="-127"/>
                <a:cs typeface="굴림" charset="-127"/>
              </a:rPr>
              <a:t>b+N</a:t>
            </a:r>
            <a:r>
              <a:rPr lang="en-US" altLang="ko-KR" sz="2000" dirty="0">
                <a:ea typeface="굴림" charset="-127"/>
                <a:cs typeface="굴림" charset="-127"/>
              </a:rPr>
              <a:t>, </a:t>
            </a:r>
            <a:r>
              <a:rPr lang="en-US" altLang="ko-KR" sz="2000" dirty="0">
                <a:solidFill>
                  <a:schemeClr val="accent2"/>
                </a:solidFill>
                <a:ea typeface="굴림" charset="-127"/>
                <a:cs typeface="굴림" charset="-127"/>
              </a:rPr>
              <a:t>b+2N</a:t>
            </a:r>
            <a:r>
              <a:rPr lang="en-US" altLang="ko-KR" sz="2000" dirty="0">
                <a:ea typeface="굴림" charset="-127"/>
                <a:cs typeface="굴림" charset="-127"/>
              </a:rPr>
              <a:t>, then prefetch </a:t>
            </a:r>
            <a:r>
              <a:rPr lang="en-US" altLang="ko-KR" sz="2000" dirty="0">
                <a:solidFill>
                  <a:schemeClr val="accent2"/>
                </a:solidFill>
                <a:ea typeface="굴림" charset="-127"/>
                <a:cs typeface="굴림" charset="-127"/>
              </a:rPr>
              <a:t>b+3N</a:t>
            </a:r>
            <a:r>
              <a:rPr lang="en-US" altLang="ko-KR" sz="2000" dirty="0">
                <a:ea typeface="굴림" charset="-127"/>
                <a:cs typeface="굴림" charset="-127"/>
              </a:rPr>
              <a:t> etc.</a:t>
            </a:r>
          </a:p>
          <a:p>
            <a:pPr marL="231775" indent="-231775">
              <a:lnSpc>
                <a:spcPct val="80000"/>
              </a:lnSpc>
            </a:pPr>
            <a:endParaRPr lang="en-US" altLang="ko-KR" dirty="0">
              <a:ea typeface="굴림" charset="-127"/>
              <a:cs typeface="굴림" charset="-127"/>
            </a:endParaRPr>
          </a:p>
          <a:p>
            <a:pPr marL="231775" indent="-231775">
              <a:lnSpc>
                <a:spcPct val="80000"/>
              </a:lnSpc>
              <a:buFontTx/>
              <a:buNone/>
            </a:pPr>
            <a:r>
              <a:rPr lang="en-US" altLang="ko-KR" sz="2000" b="1" dirty="0">
                <a:ea typeface="굴림" charset="-127"/>
                <a:cs typeface="굴림" charset="-127"/>
              </a:rPr>
              <a:t>Example:</a:t>
            </a:r>
            <a:r>
              <a:rPr lang="en-US" altLang="ko-KR" sz="2000" dirty="0">
                <a:ea typeface="굴림" charset="-127"/>
                <a:cs typeface="굴림" charset="-127"/>
              </a:rPr>
              <a:t> IBM Power 5 [2003] supports eight independent streams of </a:t>
            </a:r>
            <a:r>
              <a:rPr lang="en-US" altLang="ko-KR" sz="2000" dirty="0" err="1">
                <a:ea typeface="굴림" charset="-127"/>
                <a:cs typeface="굴림" charset="-127"/>
              </a:rPr>
              <a:t>strided</a:t>
            </a:r>
            <a:r>
              <a:rPr lang="en-US" altLang="ko-KR" sz="2000" dirty="0">
                <a:ea typeface="굴림" charset="-127"/>
                <a:cs typeface="굴림" charset="-127"/>
              </a:rPr>
              <a:t> prefetch per processor, prefetching 12 lines ahead of current access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4A05-5350-604A-860D-2BECFAB5A584}" type="slidenum">
              <a:rPr lang="en-US"/>
              <a:pPr/>
              <a:t>55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55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charset="-127"/>
                <a:cs typeface="굴림" charset="-127"/>
              </a:rPr>
              <a:t>Software Prefetching</a:t>
            </a:r>
          </a:p>
        </p:txBody>
      </p:sp>
      <p:sp>
        <p:nvSpPr>
          <p:cNvPr id="1553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5200" y="1708150"/>
            <a:ext cx="7399338" cy="4252913"/>
          </a:xfrm>
          <a:noFill/>
          <a:ln/>
        </p:spPr>
        <p:txBody>
          <a:bodyPr/>
          <a:lstStyle/>
          <a:p>
            <a:pPr lvl="1"/>
            <a:endParaRPr lang="ko-KR" altLang="en-US">
              <a:solidFill>
                <a:schemeClr val="tx2"/>
              </a:solidFill>
              <a:ea typeface="굴림" charset="-127"/>
              <a:cs typeface="굴림" charset="-127"/>
            </a:endParaRPr>
          </a:p>
          <a:p>
            <a:pPr lvl="1">
              <a:buFontTx/>
              <a:buNone/>
            </a:pPr>
            <a:r>
              <a:rPr lang="ko-KR" altLang="en-US" b="1">
                <a:solidFill>
                  <a:schemeClr val="tx2"/>
                </a:solidFill>
                <a:latin typeface="Courier New" charset="0"/>
                <a:ea typeface="굴림" charset="-127"/>
                <a:cs typeface="굴림" charset="-127"/>
              </a:rPr>
              <a:t>  </a:t>
            </a:r>
            <a:r>
              <a:rPr lang="en-US" altLang="ko-KR" sz="2800" b="1" err="1">
                <a:latin typeface="Courier New" charset="0"/>
                <a:ea typeface="굴림" charset="-127"/>
                <a:cs typeface="굴림" charset="-127"/>
              </a:rPr>
              <a:t>for(i</a:t>
            </a: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=0; </a:t>
            </a:r>
            <a:r>
              <a:rPr lang="en-US" altLang="ko-KR" sz="2800" b="1" err="1">
                <a:latin typeface="Courier New" charset="0"/>
                <a:ea typeface="굴림" charset="-127"/>
                <a:cs typeface="굴림" charset="-127"/>
              </a:rPr>
              <a:t>i</a:t>
            </a: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 &lt; N; </a:t>
            </a:r>
            <a:r>
              <a:rPr lang="en-US" altLang="ko-KR" sz="2800" b="1" err="1">
                <a:latin typeface="Courier New" charset="0"/>
                <a:ea typeface="굴림" charset="-127"/>
                <a:cs typeface="굴림" charset="-127"/>
              </a:rPr>
              <a:t>i</a:t>
            </a: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++) {</a:t>
            </a:r>
            <a:b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</a:b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    </a:t>
            </a:r>
            <a:r>
              <a:rPr lang="en-US" altLang="ko-KR" sz="2800" b="1" err="1">
                <a:latin typeface="Courier New" charset="0"/>
                <a:ea typeface="굴림" charset="-127"/>
                <a:cs typeface="굴림" charset="-127"/>
              </a:rPr>
              <a:t>prefetch</a:t>
            </a: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( &amp;</a:t>
            </a:r>
            <a:r>
              <a:rPr lang="en-US" altLang="ko-KR" sz="2800" b="1" err="1">
                <a:latin typeface="Courier New" charset="0"/>
                <a:ea typeface="굴림" charset="-127"/>
                <a:cs typeface="굴림" charset="-127"/>
              </a:rPr>
              <a:t>a[i</a:t>
            </a: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 + 1] );</a:t>
            </a:r>
            <a:b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</a:b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    </a:t>
            </a:r>
            <a:r>
              <a:rPr lang="en-US" altLang="ko-KR" sz="2800" b="1" err="1">
                <a:latin typeface="Courier New" charset="0"/>
                <a:ea typeface="굴림" charset="-127"/>
                <a:cs typeface="굴림" charset="-127"/>
              </a:rPr>
              <a:t>prefetch</a:t>
            </a: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( &amp;</a:t>
            </a:r>
            <a:r>
              <a:rPr lang="en-US" altLang="ko-KR" sz="2800" b="1" err="1">
                <a:latin typeface="Courier New" charset="0"/>
                <a:ea typeface="굴림" charset="-127"/>
                <a:cs typeface="굴림" charset="-127"/>
              </a:rPr>
              <a:t>b[i</a:t>
            </a: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 + 1] );</a:t>
            </a:r>
            <a:b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</a:b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    SUM = SUM + </a:t>
            </a:r>
            <a:r>
              <a:rPr lang="en-US" altLang="ko-KR" sz="2800" b="1" err="1">
                <a:latin typeface="Courier New" charset="0"/>
                <a:ea typeface="굴림" charset="-127"/>
                <a:cs typeface="굴림" charset="-127"/>
              </a:rPr>
              <a:t>a[i</a:t>
            </a: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] * </a:t>
            </a:r>
            <a:r>
              <a:rPr lang="en-US" altLang="ko-KR" sz="2800" b="1" err="1">
                <a:latin typeface="Courier New" charset="0"/>
                <a:ea typeface="굴림" charset="-127"/>
                <a:cs typeface="굴림" charset="-127"/>
              </a:rPr>
              <a:t>b[i</a:t>
            </a: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];</a:t>
            </a:r>
            <a:b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</a:b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 }</a:t>
            </a:r>
          </a:p>
          <a:p>
            <a:endParaRPr lang="en-US" altLang="ko-KR" sz="3600">
              <a:ea typeface="굴림" charset="-127"/>
              <a:cs typeface="굴림" charset="-127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95F0A-2FFC-3144-BA6F-0144DB5F0F3C}" type="slidenum">
              <a:rPr lang="en-US"/>
              <a:pPr/>
              <a:t>56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55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charset="-127"/>
                <a:cs typeface="굴림" charset="-127"/>
              </a:rPr>
              <a:t>Software Prefetching Issues</a:t>
            </a:r>
          </a:p>
        </p:txBody>
      </p:sp>
      <p:sp>
        <p:nvSpPr>
          <p:cNvPr id="1555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8001000" cy="4419600"/>
          </a:xfrm>
          <a:ln/>
        </p:spPr>
        <p:txBody>
          <a:bodyPr/>
          <a:lstStyle/>
          <a:p>
            <a:pPr marL="342900" indent="-342900"/>
            <a:r>
              <a:rPr lang="en-US" altLang="ko-KR">
                <a:ea typeface="굴림" charset="-127"/>
                <a:cs typeface="굴림" charset="-127"/>
              </a:rPr>
              <a:t>Timing is the biggest issue, not predictability</a:t>
            </a:r>
          </a:p>
          <a:p>
            <a:pPr marL="742950" lvl="1" indent="-285750"/>
            <a:r>
              <a:rPr lang="en-US" altLang="ko-KR" sz="2000">
                <a:ea typeface="굴림" charset="-127"/>
                <a:cs typeface="굴림" charset="-127"/>
              </a:rPr>
              <a:t>If you </a:t>
            </a:r>
            <a:r>
              <a:rPr lang="en-US" altLang="ko-KR" sz="2000" err="1">
                <a:ea typeface="굴림" charset="-127"/>
                <a:cs typeface="굴림" charset="-127"/>
              </a:rPr>
              <a:t>prefetch</a:t>
            </a:r>
            <a:r>
              <a:rPr lang="en-US" altLang="ko-KR" sz="2000">
                <a:ea typeface="굴림" charset="-127"/>
                <a:cs typeface="굴림" charset="-127"/>
              </a:rPr>
              <a:t> very close to when the data is required, you might be too late</a:t>
            </a:r>
          </a:p>
          <a:p>
            <a:pPr marL="742950" lvl="1" indent="-285750"/>
            <a:r>
              <a:rPr lang="en-US" altLang="ko-KR" sz="2000" err="1">
                <a:ea typeface="굴림" charset="-127"/>
                <a:cs typeface="굴림" charset="-127"/>
              </a:rPr>
              <a:t>Prefetch</a:t>
            </a:r>
            <a:r>
              <a:rPr lang="en-US" altLang="ko-KR" sz="2000">
                <a:ea typeface="굴림" charset="-127"/>
                <a:cs typeface="굴림" charset="-127"/>
              </a:rPr>
              <a:t> too early, cause pollution</a:t>
            </a:r>
          </a:p>
          <a:p>
            <a:pPr marL="742950" lvl="1" indent="-285750"/>
            <a:r>
              <a:rPr lang="en-US" altLang="ko-KR" sz="2000">
                <a:ea typeface="굴림" charset="-127"/>
                <a:cs typeface="굴림" charset="-127"/>
              </a:rPr>
              <a:t>Estimate how long it will take for the data to come into L1, so we can set P appropriately</a:t>
            </a:r>
          </a:p>
          <a:p>
            <a:pPr marL="742950" lvl="1" indent="-285750"/>
            <a:r>
              <a:rPr lang="en-US" altLang="ko-KR" sz="2000" i="1">
                <a:solidFill>
                  <a:schemeClr val="tx2"/>
                </a:solidFill>
                <a:ea typeface="굴림" charset="-127"/>
                <a:cs typeface="굴림" charset="-127"/>
              </a:rPr>
              <a:t> Why is this hard to do?</a:t>
            </a:r>
            <a:br>
              <a:rPr lang="en-US" altLang="ko-KR" i="1">
                <a:solidFill>
                  <a:schemeClr val="tx2"/>
                </a:solidFill>
                <a:ea typeface="굴림" charset="-127"/>
                <a:cs typeface="굴림" charset="-127"/>
              </a:rPr>
            </a:br>
            <a:endParaRPr lang="en-US" altLang="ko-KR" i="1">
              <a:solidFill>
                <a:schemeClr val="tx2"/>
              </a:solidFill>
              <a:ea typeface="굴림" charset="-127"/>
              <a:cs typeface="굴림" charset="-127"/>
            </a:endParaRPr>
          </a:p>
          <a:p>
            <a:pPr marL="742950" lvl="1" indent="-285750">
              <a:buFontTx/>
              <a:buNone/>
            </a:pPr>
            <a:r>
              <a:rPr lang="en-US" altLang="ko-KR" sz="1600" b="1">
                <a:latin typeface="Courier New" charset="0"/>
                <a:ea typeface="굴림" charset="-127"/>
                <a:cs typeface="굴림" charset="-127"/>
              </a:rPr>
              <a:t>  </a:t>
            </a:r>
            <a:r>
              <a:rPr lang="en-US" altLang="ko-KR" sz="2000" b="1" err="1">
                <a:latin typeface="Courier New" charset="0"/>
                <a:ea typeface="굴림" charset="-127"/>
                <a:cs typeface="굴림" charset="-127"/>
              </a:rPr>
              <a:t>for(i</a:t>
            </a: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=0; </a:t>
            </a:r>
            <a:r>
              <a:rPr lang="en-US" altLang="ko-KR" sz="2000" b="1" err="1">
                <a:latin typeface="Courier New" charset="0"/>
                <a:ea typeface="굴림" charset="-127"/>
                <a:cs typeface="굴림" charset="-127"/>
              </a:rPr>
              <a:t>i</a:t>
            </a: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 &lt; N; </a:t>
            </a:r>
            <a:r>
              <a:rPr lang="en-US" altLang="ko-KR" sz="2000" b="1" err="1">
                <a:latin typeface="Courier New" charset="0"/>
                <a:ea typeface="굴림" charset="-127"/>
                <a:cs typeface="굴림" charset="-127"/>
              </a:rPr>
              <a:t>i</a:t>
            </a: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++) {</a:t>
            </a:r>
            <a:b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</a:b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    </a:t>
            </a:r>
            <a:r>
              <a:rPr lang="en-US" altLang="ko-KR" sz="2000" b="1" err="1">
                <a:latin typeface="Courier New" charset="0"/>
                <a:ea typeface="굴림" charset="-127"/>
                <a:cs typeface="굴림" charset="-127"/>
              </a:rPr>
              <a:t>prefetch</a:t>
            </a: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( &amp;</a:t>
            </a:r>
            <a:r>
              <a:rPr lang="en-US" altLang="ko-KR" sz="2000" b="1" err="1">
                <a:latin typeface="Courier New" charset="0"/>
                <a:ea typeface="굴림" charset="-127"/>
                <a:cs typeface="굴림" charset="-127"/>
              </a:rPr>
              <a:t>a[i</a:t>
            </a: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 + </a:t>
            </a:r>
            <a:r>
              <a:rPr lang="en-US" altLang="ko-KR" sz="2000" b="1">
                <a:ea typeface="굴림" charset="-127"/>
                <a:cs typeface="굴림" charset="-127"/>
              </a:rPr>
              <a:t>P</a:t>
            </a: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] );</a:t>
            </a:r>
            <a:b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</a:b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    </a:t>
            </a:r>
            <a:r>
              <a:rPr lang="en-US" altLang="ko-KR" sz="2000" b="1" err="1">
                <a:latin typeface="Courier New" charset="0"/>
                <a:ea typeface="굴림" charset="-127"/>
                <a:cs typeface="굴림" charset="-127"/>
              </a:rPr>
              <a:t>prefetch</a:t>
            </a: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( &amp;</a:t>
            </a:r>
            <a:r>
              <a:rPr lang="en-US" altLang="ko-KR" sz="2000" b="1" err="1">
                <a:latin typeface="Courier New" charset="0"/>
                <a:ea typeface="굴림" charset="-127"/>
                <a:cs typeface="굴림" charset="-127"/>
              </a:rPr>
              <a:t>b[i</a:t>
            </a: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 + </a:t>
            </a:r>
            <a:r>
              <a:rPr lang="en-US" altLang="ko-KR" sz="2000" b="1">
                <a:ea typeface="굴림" charset="-127"/>
                <a:cs typeface="굴림" charset="-127"/>
              </a:rPr>
              <a:t>P</a:t>
            </a: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] );</a:t>
            </a:r>
            <a:b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</a:b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    SUM = SUM + </a:t>
            </a:r>
            <a:r>
              <a:rPr lang="en-US" altLang="ko-KR" sz="2000" b="1" err="1">
                <a:latin typeface="Courier New" charset="0"/>
                <a:ea typeface="굴림" charset="-127"/>
                <a:cs typeface="굴림" charset="-127"/>
              </a:rPr>
              <a:t>a[i</a:t>
            </a: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] * </a:t>
            </a:r>
            <a:r>
              <a:rPr lang="en-US" altLang="ko-KR" sz="2000" b="1" err="1">
                <a:latin typeface="Courier New" charset="0"/>
                <a:ea typeface="굴림" charset="-127"/>
                <a:cs typeface="굴림" charset="-127"/>
              </a:rPr>
              <a:t>b[i</a:t>
            </a: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];</a:t>
            </a:r>
            <a:b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</a:b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 }</a:t>
            </a:r>
          </a:p>
        </p:txBody>
      </p:sp>
      <p:sp>
        <p:nvSpPr>
          <p:cNvPr id="1555460" name="Text Box 4"/>
          <p:cNvSpPr txBox="1">
            <a:spLocks noChangeArrowheads="1"/>
          </p:cNvSpPr>
          <p:nvPr/>
        </p:nvSpPr>
        <p:spPr bwMode="auto">
          <a:xfrm>
            <a:off x="1371600" y="5715000"/>
            <a:ext cx="6478587" cy="4206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  <a:buClr>
                <a:schemeClr val="hlink"/>
              </a:buClr>
              <a:buSzPct val="100000"/>
            </a:pPr>
            <a:r>
              <a:rPr lang="en-US" altLang="ko-KR" sz="2400" b="1">
                <a:ea typeface="굴림" charset="-127"/>
                <a:cs typeface="굴림" charset="-127"/>
              </a:rPr>
              <a:t>Must consider cost of </a:t>
            </a:r>
            <a:r>
              <a:rPr lang="en-US" altLang="ko-KR" sz="2400" b="1" err="1">
                <a:ea typeface="굴림" charset="-127"/>
                <a:cs typeface="굴림" charset="-127"/>
              </a:rPr>
              <a:t>prefetch</a:t>
            </a:r>
            <a:r>
              <a:rPr lang="en-US" altLang="ko-KR" sz="2400" b="1">
                <a:ea typeface="굴림" charset="-127"/>
                <a:cs typeface="굴림" charset="-127"/>
              </a:rPr>
              <a:t> instructions</a:t>
            </a:r>
            <a:endParaRPr lang="en-US" altLang="ko-KR" sz="2000" b="1" i="1">
              <a:ea typeface="굴림" charset="-127"/>
              <a:cs typeface="굴림" charset="-127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3BFB9-87BE-70AF-4826-4827C85C9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3EE08-14DF-08DD-497B-5AEFF857C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CE81E-5642-E895-F651-11DC15B43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Memory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DRAM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Caches</a:t>
            </a:r>
          </a:p>
          <a:p>
            <a:r>
              <a:rPr lang="en-US" dirty="0"/>
              <a:t>Memory Management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7832E-B249-BF49-F5E0-6455DA163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9C004-F78A-140F-89AD-8F400D2AC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4677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92908-6764-CDB3-2E6A-DBA99F4E3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825497"/>
            <a:ext cx="8229600" cy="950976"/>
          </a:xfrm>
        </p:spPr>
        <p:txBody>
          <a:bodyPr/>
          <a:lstStyle/>
          <a:p>
            <a:pPr marL="0" indent="0" algn="ctr">
              <a:buNone/>
            </a:pPr>
            <a:r>
              <a:rPr lang="en-US" sz="4800" dirty="0"/>
              <a:t>Memory Management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7B225-A643-A899-39E4-B1C87337A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A79234-1B87-CC41-0ECC-5C815F71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8636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59882-667D-B2D7-3902-D6B3D8DFE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Bare Machine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1838-10D6-8D9B-90DA-2020AB751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C00B3A-C049-F255-E28B-8B19D80AC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39C7D9-115D-A953-47BB-6126F0C10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400" y="1541429"/>
            <a:ext cx="6847200" cy="444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130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378C6-2561-6985-231D-1A8C418EB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and Bound Scheme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F0708-2300-D412-37AB-DCBE9A9DF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4A241-DD8B-11CF-600E-9DC9333F0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B0DAA2-AD9B-0440-8596-4A25EDC14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78" y="1271016"/>
            <a:ext cx="7937638" cy="513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8567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5D04A-663E-4E63-FAE0-60B9463AC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and Bound Scheme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23F22-A20F-A345-32A1-8F33F4623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7E71E5-7EED-39AF-1FE3-F720688D0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82C97B-9E22-2E99-ED8D-830485B76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09" y="1417638"/>
            <a:ext cx="8229601" cy="465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6520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78651-7A1A-AC43-A2E4-9D97FA2003EB}" type="slidenum">
              <a:rPr lang="en-US"/>
              <a:pPr/>
              <a:t>62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17922" name="AutoShape 2"/>
          <p:cNvSpPr>
            <a:spLocks noChangeArrowheads="1"/>
          </p:cNvSpPr>
          <p:nvPr/>
        </p:nvSpPr>
        <p:spPr bwMode="auto">
          <a:xfrm>
            <a:off x="6997700" y="3336925"/>
            <a:ext cx="1219200" cy="2133600"/>
          </a:xfrm>
          <a:prstGeom prst="can">
            <a:avLst>
              <a:gd name="adj" fmla="val 37763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7923" name="Rectangle 3"/>
          <p:cNvSpPr>
            <a:spLocks noGrp="1" noChangeArrowheads="1"/>
          </p:cNvSpPr>
          <p:nvPr>
            <p:ph type="title"/>
          </p:nvPr>
        </p:nvSpPr>
        <p:spPr>
          <a:xfrm>
            <a:off x="292100" y="190500"/>
            <a:ext cx="7950200" cy="1092200"/>
          </a:xfrm>
          <a:noFill/>
          <a:ln/>
        </p:spPr>
        <p:txBody>
          <a:bodyPr lIns="90488" tIns="44450" rIns="90488" bIns="44450"/>
          <a:lstStyle/>
          <a:p>
            <a:r>
              <a:rPr lang="en-US" altLang="ko-KR" dirty="0">
                <a:ea typeface="굴림" charset="-127"/>
                <a:cs typeface="굴림" charset="-127"/>
              </a:rPr>
              <a:t>Modern Virtual Memory Systems</a:t>
            </a:r>
            <a:br>
              <a:rPr lang="en-US" altLang="ko-KR" sz="2000" dirty="0">
                <a:ea typeface="굴림" charset="-127"/>
                <a:cs typeface="굴림" charset="-127"/>
              </a:rPr>
            </a:br>
            <a:r>
              <a:rPr lang="en-US" altLang="ko-KR" sz="2000" dirty="0">
                <a:ea typeface="굴림" charset="-127"/>
                <a:cs typeface="굴림" charset="-127"/>
              </a:rPr>
              <a:t> </a:t>
            </a:r>
            <a:r>
              <a:rPr lang="en-US" altLang="ko-KR" sz="2000" i="1" dirty="0">
                <a:ea typeface="굴림" charset="-127"/>
                <a:cs typeface="굴림" charset="-127"/>
              </a:rPr>
              <a:t>Illusion of a large, private, uniform store</a:t>
            </a:r>
          </a:p>
        </p:txBody>
      </p:sp>
      <p:sp>
        <p:nvSpPr>
          <p:cNvPr id="1617924" name="Rectangle 4"/>
          <p:cNvSpPr>
            <a:spLocks noChangeArrowheads="1"/>
          </p:cNvSpPr>
          <p:nvPr/>
        </p:nvSpPr>
        <p:spPr bwMode="auto">
          <a:xfrm>
            <a:off x="279400" y="1281113"/>
            <a:ext cx="5503863" cy="53835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24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Protection &amp; Privacy</a:t>
            </a:r>
          </a:p>
          <a:p>
            <a:pPr lvl="1" algn="l">
              <a:spcBef>
                <a:spcPct val="0"/>
              </a:spcBef>
            </a:pPr>
            <a:r>
              <a:rPr lang="en-US" altLang="ko-KR" sz="20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several users, each with their private address space and one or more shared address spaces</a:t>
            </a:r>
          </a:p>
          <a:p>
            <a:pPr algn="l">
              <a:spcBef>
                <a:spcPct val="0"/>
              </a:spcBef>
            </a:pPr>
            <a:r>
              <a:rPr lang="en-US" altLang="ko-KR" sz="20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		page table </a:t>
            </a:r>
            <a:r>
              <a:rPr lang="en-US" altLang="ko-KR" sz="2000" dirty="0">
                <a:solidFill>
                  <a:srgbClr val="56127A"/>
                </a:solidFill>
                <a:latin typeface="Symbol" charset="2"/>
                <a:ea typeface="굴림" charset="-127"/>
                <a:cs typeface="굴림" charset="-127"/>
              </a:rPr>
              <a:t> </a:t>
            </a:r>
            <a:r>
              <a:rPr lang="en-US" altLang="ko-KR" sz="20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name space</a:t>
            </a:r>
          </a:p>
          <a:p>
            <a:pPr algn="l">
              <a:spcBef>
                <a:spcPct val="0"/>
              </a:spcBef>
            </a:pPr>
            <a:endParaRPr lang="en-US" altLang="ko-KR" sz="2000" dirty="0">
              <a:solidFill>
                <a:srgbClr val="56127A"/>
              </a:solidFill>
              <a:latin typeface="Verdana" charset="0"/>
              <a:ea typeface="굴림" charset="-127"/>
              <a:cs typeface="굴림" charset="-127"/>
            </a:endParaRPr>
          </a:p>
          <a:p>
            <a:pPr algn="l">
              <a:spcBef>
                <a:spcPct val="0"/>
              </a:spcBef>
            </a:pPr>
            <a:r>
              <a:rPr lang="en-US" altLang="ko-KR" sz="24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Demand Paging</a:t>
            </a:r>
          </a:p>
          <a:p>
            <a:pPr lvl="1" algn="l">
              <a:spcBef>
                <a:spcPct val="0"/>
              </a:spcBef>
            </a:pPr>
            <a:r>
              <a:rPr lang="en-US" altLang="ko-KR" sz="20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Provides the ability to run programs larger than the primary memory</a:t>
            </a:r>
          </a:p>
          <a:p>
            <a:pPr lvl="1" algn="l">
              <a:spcBef>
                <a:spcPct val="0"/>
              </a:spcBef>
            </a:pPr>
            <a:endParaRPr lang="en-US" altLang="ko-KR" sz="2000" dirty="0">
              <a:solidFill>
                <a:srgbClr val="56127A"/>
              </a:solidFill>
              <a:latin typeface="Verdana" charset="0"/>
              <a:ea typeface="굴림" charset="-127"/>
              <a:cs typeface="굴림" charset="-127"/>
            </a:endParaRPr>
          </a:p>
          <a:p>
            <a:pPr lvl="1" algn="l">
              <a:spcBef>
                <a:spcPct val="0"/>
              </a:spcBef>
            </a:pPr>
            <a:r>
              <a:rPr lang="en-US" altLang="ko-KR" sz="20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Hides differences in machine configurations</a:t>
            </a:r>
          </a:p>
          <a:p>
            <a:pPr lvl="1" algn="l">
              <a:spcBef>
                <a:spcPct val="0"/>
              </a:spcBef>
            </a:pPr>
            <a:r>
              <a:rPr lang="en-US" altLang="ko-KR" sz="24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		</a:t>
            </a:r>
          </a:p>
          <a:p>
            <a:pPr algn="l">
              <a:spcBef>
                <a:spcPct val="0"/>
              </a:spcBef>
            </a:pPr>
            <a:r>
              <a:rPr lang="en-US" altLang="ko-KR" sz="2400" i="1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The price is the address translation on each memory reference</a:t>
            </a:r>
          </a:p>
        </p:txBody>
      </p:sp>
      <p:sp>
        <p:nvSpPr>
          <p:cNvPr id="1617925" name="Rectangle 5"/>
          <p:cNvSpPr>
            <a:spLocks noChangeArrowheads="1"/>
          </p:cNvSpPr>
          <p:nvPr/>
        </p:nvSpPr>
        <p:spPr bwMode="auto">
          <a:xfrm>
            <a:off x="6705600" y="1295400"/>
            <a:ext cx="812800" cy="431800"/>
          </a:xfrm>
          <a:prstGeom prst="rect">
            <a:avLst/>
          </a:prstGeom>
          <a:solidFill>
            <a:srgbClr val="FFA74F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7926" name="Rectangle 6"/>
          <p:cNvSpPr>
            <a:spLocks noChangeArrowheads="1"/>
          </p:cNvSpPr>
          <p:nvPr/>
        </p:nvSpPr>
        <p:spPr bwMode="auto">
          <a:xfrm>
            <a:off x="6705600" y="1752600"/>
            <a:ext cx="812800" cy="736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7927" name="Rectangle 7"/>
          <p:cNvSpPr>
            <a:spLocks noChangeArrowheads="1"/>
          </p:cNvSpPr>
          <p:nvPr/>
        </p:nvSpPr>
        <p:spPr bwMode="auto">
          <a:xfrm>
            <a:off x="6858000" y="1905000"/>
            <a:ext cx="812800" cy="736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7928" name="Rectangle 8"/>
          <p:cNvSpPr>
            <a:spLocks noChangeArrowheads="1"/>
          </p:cNvSpPr>
          <p:nvPr/>
        </p:nvSpPr>
        <p:spPr bwMode="auto">
          <a:xfrm>
            <a:off x="7010400" y="2057400"/>
            <a:ext cx="812800" cy="736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7929" name="Rectangle 9"/>
          <p:cNvSpPr>
            <a:spLocks noChangeArrowheads="1"/>
          </p:cNvSpPr>
          <p:nvPr/>
        </p:nvSpPr>
        <p:spPr bwMode="auto">
          <a:xfrm>
            <a:off x="6858000" y="1295400"/>
            <a:ext cx="554038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OS</a:t>
            </a:r>
          </a:p>
        </p:txBody>
      </p:sp>
      <p:sp>
        <p:nvSpPr>
          <p:cNvPr id="1617930" name="Rectangle 10"/>
          <p:cNvSpPr>
            <a:spLocks noChangeArrowheads="1"/>
          </p:cNvSpPr>
          <p:nvPr/>
        </p:nvSpPr>
        <p:spPr bwMode="auto">
          <a:xfrm>
            <a:off x="6983413" y="2228850"/>
            <a:ext cx="779462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user</a:t>
            </a:r>
            <a:r>
              <a:rPr lang="en-US" altLang="ko-KR" sz="2000" baseline="-25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i</a:t>
            </a:r>
          </a:p>
        </p:txBody>
      </p:sp>
      <p:sp>
        <p:nvSpPr>
          <p:cNvPr id="1617931" name="Rectangle 11"/>
          <p:cNvSpPr>
            <a:spLocks noChangeArrowheads="1"/>
          </p:cNvSpPr>
          <p:nvPr/>
        </p:nvSpPr>
        <p:spPr bwMode="auto">
          <a:xfrm>
            <a:off x="5943600" y="4149725"/>
            <a:ext cx="660400" cy="584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7932" name="Line 12"/>
          <p:cNvSpPr>
            <a:spLocks noChangeShapeType="1"/>
          </p:cNvSpPr>
          <p:nvPr/>
        </p:nvSpPr>
        <p:spPr bwMode="auto">
          <a:xfrm>
            <a:off x="5943600" y="4289425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7933" name="Line 13"/>
          <p:cNvSpPr>
            <a:spLocks noChangeShapeType="1"/>
          </p:cNvSpPr>
          <p:nvPr/>
        </p:nvSpPr>
        <p:spPr bwMode="auto">
          <a:xfrm>
            <a:off x="5943600" y="4441825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7302500" y="3870325"/>
            <a:ext cx="660400" cy="1346200"/>
            <a:chOff x="5096" y="2384"/>
            <a:chExt cx="416" cy="848"/>
          </a:xfrm>
        </p:grpSpPr>
        <p:sp>
          <p:nvSpPr>
            <p:cNvPr id="1617935" name="Rectangle 15"/>
            <p:cNvSpPr>
              <a:spLocks noChangeArrowheads="1"/>
            </p:cNvSpPr>
            <p:nvPr/>
          </p:nvSpPr>
          <p:spPr bwMode="auto">
            <a:xfrm>
              <a:off x="5096" y="2384"/>
              <a:ext cx="416" cy="84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endParaRPr lang="ko-KR" altLang="en-US" b="1" i="1">
                <a:ea typeface="굴림" charset="-127"/>
                <a:cs typeface="굴림" charset="-127"/>
              </a:endParaRPr>
            </a:p>
          </p:txBody>
        </p:sp>
        <p:sp>
          <p:nvSpPr>
            <p:cNvPr id="1617936" name="Line 16"/>
            <p:cNvSpPr>
              <a:spLocks noChangeShapeType="1"/>
            </p:cNvSpPr>
            <p:nvPr/>
          </p:nvSpPr>
          <p:spPr bwMode="auto">
            <a:xfrm>
              <a:off x="5096" y="2472"/>
              <a:ext cx="41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7937" name="Line 17"/>
            <p:cNvSpPr>
              <a:spLocks noChangeShapeType="1"/>
            </p:cNvSpPr>
            <p:nvPr/>
          </p:nvSpPr>
          <p:spPr bwMode="auto">
            <a:xfrm>
              <a:off x="5096" y="2568"/>
              <a:ext cx="41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7938" name="Line 18"/>
            <p:cNvSpPr>
              <a:spLocks noChangeShapeType="1"/>
            </p:cNvSpPr>
            <p:nvPr/>
          </p:nvSpPr>
          <p:spPr bwMode="auto">
            <a:xfrm>
              <a:off x="5096" y="2664"/>
              <a:ext cx="41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7939" name="Line 19"/>
            <p:cNvSpPr>
              <a:spLocks noChangeShapeType="1"/>
            </p:cNvSpPr>
            <p:nvPr/>
          </p:nvSpPr>
          <p:spPr bwMode="auto">
            <a:xfrm>
              <a:off x="5096" y="2760"/>
              <a:ext cx="41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7940" name="Line 20"/>
            <p:cNvSpPr>
              <a:spLocks noChangeShapeType="1"/>
            </p:cNvSpPr>
            <p:nvPr/>
          </p:nvSpPr>
          <p:spPr bwMode="auto">
            <a:xfrm>
              <a:off x="5096" y="2856"/>
              <a:ext cx="41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7941" name="Line 21"/>
            <p:cNvSpPr>
              <a:spLocks noChangeShapeType="1"/>
            </p:cNvSpPr>
            <p:nvPr/>
          </p:nvSpPr>
          <p:spPr bwMode="auto">
            <a:xfrm>
              <a:off x="5096" y="2952"/>
              <a:ext cx="41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7942" name="Line 22"/>
            <p:cNvSpPr>
              <a:spLocks noChangeShapeType="1"/>
            </p:cNvSpPr>
            <p:nvPr/>
          </p:nvSpPr>
          <p:spPr bwMode="auto">
            <a:xfrm>
              <a:off x="5096" y="3048"/>
              <a:ext cx="41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7943" name="Line 23"/>
            <p:cNvSpPr>
              <a:spLocks noChangeShapeType="1"/>
            </p:cNvSpPr>
            <p:nvPr/>
          </p:nvSpPr>
          <p:spPr bwMode="auto">
            <a:xfrm>
              <a:off x="5096" y="3144"/>
              <a:ext cx="41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17944" name="Line 24"/>
          <p:cNvSpPr>
            <a:spLocks noChangeShapeType="1"/>
          </p:cNvSpPr>
          <p:nvPr/>
        </p:nvSpPr>
        <p:spPr bwMode="auto">
          <a:xfrm>
            <a:off x="5943600" y="4594225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6553200" y="3962400"/>
            <a:ext cx="833438" cy="892175"/>
            <a:chOff x="4616" y="2602"/>
            <a:chExt cx="525" cy="562"/>
          </a:xfrm>
        </p:grpSpPr>
        <p:sp>
          <p:nvSpPr>
            <p:cNvPr id="1617946" name="Line 26"/>
            <p:cNvSpPr>
              <a:spLocks noChangeShapeType="1"/>
            </p:cNvSpPr>
            <p:nvPr/>
          </p:nvSpPr>
          <p:spPr bwMode="auto">
            <a:xfrm flipV="1">
              <a:off x="4616" y="2602"/>
              <a:ext cx="512" cy="1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7947" name="Line 27"/>
            <p:cNvSpPr>
              <a:spLocks noChangeShapeType="1"/>
            </p:cNvSpPr>
            <p:nvPr/>
          </p:nvSpPr>
          <p:spPr bwMode="auto">
            <a:xfrm flipV="1">
              <a:off x="4616" y="2780"/>
              <a:ext cx="512" cy="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7948" name="Line 28"/>
            <p:cNvSpPr>
              <a:spLocks noChangeShapeType="1"/>
            </p:cNvSpPr>
            <p:nvPr/>
          </p:nvSpPr>
          <p:spPr bwMode="auto">
            <a:xfrm>
              <a:off x="4616" y="2960"/>
              <a:ext cx="525" cy="2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7949" name="Line 29"/>
            <p:cNvSpPr>
              <a:spLocks noChangeShapeType="1"/>
            </p:cNvSpPr>
            <p:nvPr/>
          </p:nvSpPr>
          <p:spPr bwMode="auto">
            <a:xfrm flipV="1">
              <a:off x="4616" y="2979"/>
              <a:ext cx="519" cy="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17950" name="Rectangle 30"/>
          <p:cNvSpPr>
            <a:spLocks noChangeArrowheads="1"/>
          </p:cNvSpPr>
          <p:nvPr/>
        </p:nvSpPr>
        <p:spPr bwMode="auto">
          <a:xfrm>
            <a:off x="5756275" y="3527425"/>
            <a:ext cx="1103313" cy="6381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Primary</a:t>
            </a:r>
          </a:p>
          <a:p>
            <a:pPr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Memory</a:t>
            </a:r>
          </a:p>
        </p:txBody>
      </p:sp>
      <p:sp>
        <p:nvSpPr>
          <p:cNvPr id="1617951" name="Rectangle 31"/>
          <p:cNvSpPr>
            <a:spLocks noChangeArrowheads="1"/>
          </p:cNvSpPr>
          <p:nvPr/>
        </p:nvSpPr>
        <p:spPr bwMode="auto">
          <a:xfrm>
            <a:off x="7174706" y="2767012"/>
            <a:ext cx="1296987" cy="6381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18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Swapping</a:t>
            </a:r>
          </a:p>
          <a:p>
            <a:pPr>
              <a:spcBef>
                <a:spcPct val="0"/>
              </a:spcBef>
            </a:pPr>
            <a:r>
              <a:rPr lang="en-US" altLang="ko-KR" sz="18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Store</a:t>
            </a:r>
          </a:p>
        </p:txBody>
      </p:sp>
      <p:sp>
        <p:nvSpPr>
          <p:cNvPr id="1617952" name="Rectangle 32"/>
          <p:cNvSpPr>
            <a:spLocks noChangeArrowheads="1"/>
          </p:cNvSpPr>
          <p:nvPr/>
        </p:nvSpPr>
        <p:spPr bwMode="auto">
          <a:xfrm>
            <a:off x="6630988" y="5759450"/>
            <a:ext cx="1447800" cy="863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7953" name="Line 33"/>
          <p:cNvSpPr>
            <a:spLocks noChangeShapeType="1"/>
          </p:cNvSpPr>
          <p:nvPr/>
        </p:nvSpPr>
        <p:spPr bwMode="auto">
          <a:xfrm>
            <a:off x="6084888" y="622935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7954" name="Line 34"/>
          <p:cNvSpPr>
            <a:spLocks noChangeShapeType="1"/>
          </p:cNvSpPr>
          <p:nvPr/>
        </p:nvSpPr>
        <p:spPr bwMode="auto">
          <a:xfrm>
            <a:off x="8091488" y="622935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7955" name="Rectangle 35"/>
          <p:cNvSpPr>
            <a:spLocks noChangeArrowheads="1"/>
          </p:cNvSpPr>
          <p:nvPr/>
        </p:nvSpPr>
        <p:spPr bwMode="auto">
          <a:xfrm>
            <a:off x="5994400" y="5842000"/>
            <a:ext cx="528638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VA</a:t>
            </a:r>
          </a:p>
        </p:txBody>
      </p:sp>
      <p:sp>
        <p:nvSpPr>
          <p:cNvPr id="1617956" name="Rectangle 36"/>
          <p:cNvSpPr>
            <a:spLocks noChangeArrowheads="1"/>
          </p:cNvSpPr>
          <p:nvPr/>
        </p:nvSpPr>
        <p:spPr bwMode="auto">
          <a:xfrm>
            <a:off x="8091488" y="5842000"/>
            <a:ext cx="508000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PA</a:t>
            </a:r>
          </a:p>
        </p:txBody>
      </p:sp>
      <p:sp>
        <p:nvSpPr>
          <p:cNvPr id="1617957" name="Rectangle 37"/>
          <p:cNvSpPr>
            <a:spLocks noChangeArrowheads="1"/>
          </p:cNvSpPr>
          <p:nvPr/>
        </p:nvSpPr>
        <p:spPr bwMode="auto">
          <a:xfrm>
            <a:off x="6637338" y="5727700"/>
            <a:ext cx="1285875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mapping</a:t>
            </a:r>
          </a:p>
        </p:txBody>
      </p:sp>
      <p:sp>
        <p:nvSpPr>
          <p:cNvPr id="1617958" name="Rectangle 38"/>
          <p:cNvSpPr>
            <a:spLocks noChangeArrowheads="1"/>
          </p:cNvSpPr>
          <p:nvPr/>
        </p:nvSpPr>
        <p:spPr bwMode="auto">
          <a:xfrm>
            <a:off x="7061200" y="6146800"/>
            <a:ext cx="665163" cy="4064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TLB</a:t>
            </a: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274" name="Rectangle 2">
            <a:extLst>
              <a:ext uri="{FF2B5EF4-FFF2-40B4-BE49-F238E27FC236}">
                <a16:creationId xmlns:a16="http://schemas.microsoft.com/office/drawing/2014/main" id="{18BC1EDE-B9FE-0160-05D2-B1D06725B0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" y="122238"/>
            <a:ext cx="8928100" cy="812800"/>
          </a:xfrm>
          <a:noFill/>
        </p:spPr>
        <p:txBody>
          <a:bodyPr/>
          <a:lstStyle/>
          <a:p>
            <a:pPr marL="25400">
              <a:tabLst>
                <a:tab pos="317500" algn="l"/>
                <a:tab pos="1231900" algn="l"/>
                <a:tab pos="2146300" algn="l"/>
                <a:tab pos="3060700" algn="l"/>
                <a:tab pos="3975100" algn="l"/>
                <a:tab pos="4889500" algn="l"/>
                <a:tab pos="5803900" algn="l"/>
              </a:tabLst>
            </a:pPr>
            <a:r>
              <a:rPr lang="en-US" altLang="en-US" sz="3600" dirty="0"/>
              <a:t>Page tables encode virtual address spaces</a:t>
            </a:r>
          </a:p>
        </p:txBody>
      </p:sp>
      <p:grpSp>
        <p:nvGrpSpPr>
          <p:cNvPr id="1206275" name="Group 3">
            <a:extLst>
              <a:ext uri="{FF2B5EF4-FFF2-40B4-BE49-F238E27FC236}">
                <a16:creationId xmlns:a16="http://schemas.microsoft.com/office/drawing/2014/main" id="{60FAD9D4-8126-1F56-6BE6-BA20E73DB34F}"/>
              </a:ext>
            </a:extLst>
          </p:cNvPr>
          <p:cNvGrpSpPr>
            <a:grpSpLocks/>
          </p:cNvGrpSpPr>
          <p:nvPr/>
        </p:nvGrpSpPr>
        <p:grpSpPr bwMode="auto">
          <a:xfrm>
            <a:off x="4013200" y="2247900"/>
            <a:ext cx="4619625" cy="2832100"/>
            <a:chOff x="2212" y="1239"/>
            <a:chExt cx="2910" cy="1784"/>
          </a:xfrm>
        </p:grpSpPr>
        <p:sp>
          <p:nvSpPr>
            <p:cNvPr id="1206276" name="Text Box 4">
              <a:extLst>
                <a:ext uri="{FF2B5EF4-FFF2-40B4-BE49-F238E27FC236}">
                  <a16:creationId xmlns:a16="http://schemas.microsoft.com/office/drawing/2014/main" id="{2F3C623D-3FD3-E598-8F07-524CA1163C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2" y="1399"/>
              <a:ext cx="1880" cy="1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/>
              <a:r>
                <a:rPr lang="en-US" altLang="en-US" sz="2700">
                  <a:latin typeface="Helvetica" panose="020B0604020202020204" pitchFamily="34" charset="0"/>
                </a:rPr>
                <a:t>A machine usually supports</a:t>
              </a:r>
            </a:p>
            <a:p>
              <a:pPr algn="r" eaLnBrk="1" hangingPunct="1"/>
              <a:r>
                <a:rPr lang="en-US" altLang="en-US" sz="2700">
                  <a:latin typeface="Helvetica" panose="020B0604020202020204" pitchFamily="34" charset="0"/>
                </a:rPr>
                <a:t>pages of a few sizes</a:t>
              </a:r>
            </a:p>
            <a:p>
              <a:pPr algn="r" eaLnBrk="1" hangingPunct="1"/>
              <a:r>
                <a:rPr lang="en-US" altLang="en-US" sz="2700">
                  <a:latin typeface="Helvetica" panose="020B0604020202020204" pitchFamily="34" charset="0"/>
                </a:rPr>
                <a:t>(MIPS R4000):</a:t>
              </a:r>
            </a:p>
          </p:txBody>
        </p:sp>
        <p:pic>
          <p:nvPicPr>
            <p:cNvPr id="1206277" name="Picture 5">
              <a:extLst>
                <a:ext uri="{FF2B5EF4-FFF2-40B4-BE49-F238E27FC236}">
                  <a16:creationId xmlns:a16="http://schemas.microsoft.com/office/drawing/2014/main" id="{DD9906B9-F1E1-F21D-B57B-10A281D208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1" y="1239"/>
              <a:ext cx="791" cy="1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1206285" name="Text Box 13">
            <a:extLst>
              <a:ext uri="{FF2B5EF4-FFF2-40B4-BE49-F238E27FC236}">
                <a16:creationId xmlns:a16="http://schemas.microsoft.com/office/drawing/2014/main" id="{CD99944C-8E81-806E-7A17-FBCEA22C0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100" y="5554662"/>
            <a:ext cx="75311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700" dirty="0">
                <a:latin typeface="Helvetica" panose="020B0604020202020204" pitchFamily="34" charset="0"/>
              </a:rPr>
              <a:t>A valid page table entry codes </a:t>
            </a:r>
            <a:r>
              <a:rPr lang="en-US" altLang="en-US" sz="2700" dirty="0">
                <a:solidFill>
                  <a:srgbClr val="0000FF"/>
                </a:solidFill>
                <a:latin typeface="Helvetica" panose="020B0604020202020204" pitchFamily="34" charset="0"/>
              </a:rPr>
              <a:t>physical memory “frame”</a:t>
            </a:r>
            <a:r>
              <a:rPr lang="en-US" altLang="en-US" sz="2700" dirty="0">
                <a:latin typeface="Helvetica" panose="020B0604020202020204" pitchFamily="34" charset="0"/>
              </a:rPr>
              <a:t> address for the page</a:t>
            </a:r>
          </a:p>
        </p:txBody>
      </p:sp>
      <p:sp>
        <p:nvSpPr>
          <p:cNvPr id="1206286" name="Text Box 14">
            <a:extLst>
              <a:ext uri="{FF2B5EF4-FFF2-40B4-BE49-F238E27FC236}">
                <a16:creationId xmlns:a16="http://schemas.microsoft.com/office/drawing/2014/main" id="{158955CE-63C0-AC39-E90A-4CEF0D8AE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3200" y="963613"/>
            <a:ext cx="5016500" cy="1052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300">
                <a:latin typeface="Helvetica" panose="020B0604020202020204" pitchFamily="34" charset="0"/>
              </a:rPr>
              <a:t>A virtual address space</a:t>
            </a:r>
          </a:p>
          <a:p>
            <a:pPr algn="ctr" eaLnBrk="1" hangingPunct="1"/>
            <a:r>
              <a:rPr lang="en-US" altLang="en-US" sz="2300">
                <a:latin typeface="Helvetica" panose="020B0604020202020204" pitchFamily="34" charset="0"/>
              </a:rPr>
              <a:t>is divided into blocks</a:t>
            </a:r>
          </a:p>
          <a:p>
            <a:pPr algn="ctr" eaLnBrk="1" hangingPunct="1"/>
            <a:r>
              <a:rPr lang="en-US" altLang="en-US" sz="2300">
                <a:latin typeface="Helvetica" panose="020B0604020202020204" pitchFamily="34" charset="0"/>
              </a:rPr>
              <a:t>of memory called </a:t>
            </a:r>
            <a:r>
              <a:rPr lang="en-US" altLang="en-US" sz="2300">
                <a:solidFill>
                  <a:srgbClr val="0000FF"/>
                </a:solidFill>
                <a:latin typeface="Helvetica" panose="020B0604020202020204" pitchFamily="34" charset="0"/>
              </a:rPr>
              <a:t>pages</a:t>
            </a:r>
          </a:p>
        </p:txBody>
      </p:sp>
      <p:grpSp>
        <p:nvGrpSpPr>
          <p:cNvPr id="1206317" name="Group 45">
            <a:extLst>
              <a:ext uri="{FF2B5EF4-FFF2-40B4-BE49-F238E27FC236}">
                <a16:creationId xmlns:a16="http://schemas.microsoft.com/office/drawing/2014/main" id="{4D80F9F9-B54C-4BFB-02C6-3518E4C12531}"/>
              </a:ext>
            </a:extLst>
          </p:cNvPr>
          <p:cNvGrpSpPr>
            <a:grpSpLocks/>
          </p:cNvGrpSpPr>
          <p:nvPr/>
        </p:nvGrpSpPr>
        <p:grpSpPr bwMode="auto">
          <a:xfrm>
            <a:off x="0" y="1303338"/>
            <a:ext cx="3048000" cy="4014787"/>
            <a:chOff x="672" y="1152"/>
            <a:chExt cx="1920" cy="2529"/>
          </a:xfrm>
        </p:grpSpPr>
        <p:sp>
          <p:nvSpPr>
            <p:cNvPr id="1206318" name="Rectangle 46">
              <a:extLst>
                <a:ext uri="{FF2B5EF4-FFF2-40B4-BE49-F238E27FC236}">
                  <a16:creationId xmlns:a16="http://schemas.microsoft.com/office/drawing/2014/main" id="{D5AEC840-0C5E-CC10-7FF1-0FC0765DF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7" y="1577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19" name="Rectangle 47">
              <a:extLst>
                <a:ext uri="{FF2B5EF4-FFF2-40B4-BE49-F238E27FC236}">
                  <a16:creationId xmlns:a16="http://schemas.microsoft.com/office/drawing/2014/main" id="{6107D434-9C68-9AE1-4409-15A5415DD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7" y="1769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20" name="Rectangle 48">
              <a:extLst>
                <a:ext uri="{FF2B5EF4-FFF2-40B4-BE49-F238E27FC236}">
                  <a16:creationId xmlns:a16="http://schemas.microsoft.com/office/drawing/2014/main" id="{AC8950F3-EE53-BC7C-E04E-F22BA3519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7" y="1961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21" name="Rectangle 49">
              <a:extLst>
                <a:ext uri="{FF2B5EF4-FFF2-40B4-BE49-F238E27FC236}">
                  <a16:creationId xmlns:a16="http://schemas.microsoft.com/office/drawing/2014/main" id="{D63A389B-1E1F-9748-B353-DF5CFFFCE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7" y="2153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22" name="Rectangle 50">
              <a:extLst>
                <a:ext uri="{FF2B5EF4-FFF2-40B4-BE49-F238E27FC236}">
                  <a16:creationId xmlns:a16="http://schemas.microsoft.com/office/drawing/2014/main" id="{8EE9AE14-0057-F54A-194F-B8DE36820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1" y="1152"/>
              <a:ext cx="921" cy="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</a:rPr>
                <a:t>Physical </a:t>
              </a:r>
            </a:p>
            <a:p>
              <a:pPr algn="ctr"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</a:rPr>
                <a:t>Address Space</a:t>
              </a:r>
            </a:p>
          </p:txBody>
        </p:sp>
        <p:sp>
          <p:nvSpPr>
            <p:cNvPr id="1206323" name="Rectangle 51">
              <a:extLst>
                <a:ext uri="{FF2B5EF4-FFF2-40B4-BE49-F238E27FC236}">
                  <a16:creationId xmlns:a16="http://schemas.microsoft.com/office/drawing/2014/main" id="{A6458E1E-A5A7-C885-82C8-34C159ED5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1577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24" name="Rectangle 52">
              <a:extLst>
                <a:ext uri="{FF2B5EF4-FFF2-40B4-BE49-F238E27FC236}">
                  <a16:creationId xmlns:a16="http://schemas.microsoft.com/office/drawing/2014/main" id="{847BDB32-F20C-544C-6470-08885746C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1769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25" name="Rectangle 53">
              <a:extLst>
                <a:ext uri="{FF2B5EF4-FFF2-40B4-BE49-F238E27FC236}">
                  <a16:creationId xmlns:a16="http://schemas.microsoft.com/office/drawing/2014/main" id="{0347F8CC-1D96-C93B-F5B8-15866E239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1961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26" name="Rectangle 54">
              <a:extLst>
                <a:ext uri="{FF2B5EF4-FFF2-40B4-BE49-F238E27FC236}">
                  <a16:creationId xmlns:a16="http://schemas.microsoft.com/office/drawing/2014/main" id="{C76BABF9-1042-0D19-2B86-1B3ED5BC1A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153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27" name="Rectangle 55">
              <a:extLst>
                <a:ext uri="{FF2B5EF4-FFF2-40B4-BE49-F238E27FC236}">
                  <a16:creationId xmlns:a16="http://schemas.microsoft.com/office/drawing/2014/main" id="{588581AD-F6B6-837B-DA76-FFE70F2EC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345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28" name="Rectangle 56">
              <a:extLst>
                <a:ext uri="{FF2B5EF4-FFF2-40B4-BE49-F238E27FC236}">
                  <a16:creationId xmlns:a16="http://schemas.microsoft.com/office/drawing/2014/main" id="{A21BF007-7C99-9771-5DBF-C2B653A92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537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29" name="Rectangle 57">
              <a:extLst>
                <a:ext uri="{FF2B5EF4-FFF2-40B4-BE49-F238E27FC236}">
                  <a16:creationId xmlns:a16="http://schemas.microsoft.com/office/drawing/2014/main" id="{8DE10282-3BBF-4138-2862-F705829C7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729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30" name="Rectangle 58">
              <a:extLst>
                <a:ext uri="{FF2B5EF4-FFF2-40B4-BE49-F238E27FC236}">
                  <a16:creationId xmlns:a16="http://schemas.microsoft.com/office/drawing/2014/main" id="{E11510FA-E0D7-602D-B441-D9771FDFB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921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31" name="Rectangle 59">
              <a:extLst>
                <a:ext uri="{FF2B5EF4-FFF2-40B4-BE49-F238E27FC236}">
                  <a16:creationId xmlns:a16="http://schemas.microsoft.com/office/drawing/2014/main" id="{24F77E15-911C-988E-D874-394880327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3113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32" name="Rectangle 60">
              <a:extLst>
                <a:ext uri="{FF2B5EF4-FFF2-40B4-BE49-F238E27FC236}">
                  <a16:creationId xmlns:a16="http://schemas.microsoft.com/office/drawing/2014/main" id="{2881849B-42BF-DAEA-F005-A00D24696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3305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33" name="Rectangle 61">
              <a:extLst>
                <a:ext uri="{FF2B5EF4-FFF2-40B4-BE49-F238E27FC236}">
                  <a16:creationId xmlns:a16="http://schemas.microsoft.com/office/drawing/2014/main" id="{5CA371B7-CBC8-7EF0-3842-EABB62840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3497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34" name="Rectangle 62">
              <a:extLst>
                <a:ext uri="{FF2B5EF4-FFF2-40B4-BE49-F238E27FC236}">
                  <a16:creationId xmlns:a16="http://schemas.microsoft.com/office/drawing/2014/main" id="{4CCD5E1D-7F53-979E-E9A9-A0AF8B8DA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1152"/>
              <a:ext cx="921" cy="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en-US" sz="1400">
                  <a:solidFill>
                    <a:schemeClr val="accent2"/>
                  </a:solidFill>
                </a:rPr>
                <a:t>Virtual </a:t>
              </a:r>
            </a:p>
            <a:p>
              <a:pPr algn="ctr">
                <a:spcBef>
                  <a:spcPct val="0"/>
                </a:spcBef>
              </a:pPr>
              <a:r>
                <a:rPr lang="en-US" altLang="en-US" sz="1400">
                  <a:solidFill>
                    <a:schemeClr val="accent2"/>
                  </a:solidFill>
                </a:rPr>
                <a:t>Address Space</a:t>
              </a:r>
            </a:p>
          </p:txBody>
        </p:sp>
        <p:sp>
          <p:nvSpPr>
            <p:cNvPr id="1206335" name="Line 63">
              <a:extLst>
                <a:ext uri="{FF2B5EF4-FFF2-40B4-BE49-F238E27FC236}">
                  <a16:creationId xmlns:a16="http://schemas.microsoft.com/office/drawing/2014/main" id="{14360A2B-0CE7-24FA-329F-E15A7DA0C5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1" y="2053"/>
              <a:ext cx="56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36" name="Line 64">
              <a:extLst>
                <a:ext uri="{FF2B5EF4-FFF2-40B4-BE49-F238E27FC236}">
                  <a16:creationId xmlns:a16="http://schemas.microsoft.com/office/drawing/2014/main" id="{0B2FDB31-93F1-EA78-50E5-4B2C47A694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61" y="1665"/>
              <a:ext cx="568" cy="82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37" name="Line 65">
              <a:extLst>
                <a:ext uri="{FF2B5EF4-FFF2-40B4-BE49-F238E27FC236}">
                  <a16:creationId xmlns:a16="http://schemas.microsoft.com/office/drawing/2014/main" id="{EA7EC7B3-8241-D306-6E09-5FEBED5B87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61" y="1857"/>
              <a:ext cx="568" cy="116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38" name="Line 66">
              <a:extLst>
                <a:ext uri="{FF2B5EF4-FFF2-40B4-BE49-F238E27FC236}">
                  <a16:creationId xmlns:a16="http://schemas.microsoft.com/office/drawing/2014/main" id="{8BF87553-98B6-A487-CD43-5534D97F30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61" y="2241"/>
              <a:ext cx="568" cy="116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06341" name="Text Box 69">
            <a:extLst>
              <a:ext uri="{FF2B5EF4-FFF2-40B4-BE49-F238E27FC236}">
                <a16:creationId xmlns:a16="http://schemas.microsoft.com/office/drawing/2014/main" id="{B05E5028-1A2C-4D83-C355-B5494253B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9938" y="2014538"/>
            <a:ext cx="596900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FF"/>
                </a:solidFill>
                <a:latin typeface="Helvetica" panose="020B0604020202020204" pitchFamily="34" charset="0"/>
              </a:rPr>
              <a:t>frame</a:t>
            </a:r>
          </a:p>
        </p:txBody>
      </p:sp>
      <p:sp>
        <p:nvSpPr>
          <p:cNvPr id="1206342" name="Text Box 70">
            <a:extLst>
              <a:ext uri="{FF2B5EF4-FFF2-40B4-BE49-F238E27FC236}">
                <a16:creationId xmlns:a16="http://schemas.microsoft.com/office/drawing/2014/main" id="{B223E25A-CE1E-CAEE-8684-09805586B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9938" y="2339975"/>
            <a:ext cx="596900" cy="19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FF"/>
                </a:solidFill>
                <a:latin typeface="Helvetica" panose="020B0604020202020204" pitchFamily="34" charset="0"/>
              </a:rPr>
              <a:t>frame</a:t>
            </a:r>
          </a:p>
        </p:txBody>
      </p:sp>
      <p:sp>
        <p:nvSpPr>
          <p:cNvPr id="1206343" name="Text Box 71">
            <a:extLst>
              <a:ext uri="{FF2B5EF4-FFF2-40B4-BE49-F238E27FC236}">
                <a16:creationId xmlns:a16="http://schemas.microsoft.com/office/drawing/2014/main" id="{EBCDF041-AD2E-8AEF-4F94-872E80665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9938" y="2665413"/>
            <a:ext cx="596900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FF"/>
                </a:solidFill>
                <a:latin typeface="Helvetica" panose="020B0604020202020204" pitchFamily="34" charset="0"/>
              </a:rPr>
              <a:t>frame</a:t>
            </a:r>
          </a:p>
        </p:txBody>
      </p:sp>
      <p:sp>
        <p:nvSpPr>
          <p:cNvPr id="1206344" name="Text Box 72">
            <a:extLst>
              <a:ext uri="{FF2B5EF4-FFF2-40B4-BE49-F238E27FC236}">
                <a16:creationId xmlns:a16="http://schemas.microsoft.com/office/drawing/2014/main" id="{97ABDDE1-38DD-1CC5-0B8F-7C8C2AD0A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1525" y="2935288"/>
            <a:ext cx="596900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FF"/>
                </a:solidFill>
                <a:latin typeface="Helvetica" panose="020B0604020202020204" pitchFamily="34" charset="0"/>
              </a:rPr>
              <a:t>frame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06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490" name="Rectangle 2">
            <a:extLst>
              <a:ext uri="{FF2B5EF4-FFF2-40B4-BE49-F238E27FC236}">
                <a16:creationId xmlns:a16="http://schemas.microsoft.com/office/drawing/2014/main" id="{5EF1D445-CC3B-AC2C-9694-7738459CF4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8300" y="38100"/>
            <a:ext cx="8264526" cy="812800"/>
          </a:xfrm>
          <a:noFill/>
        </p:spPr>
        <p:txBody>
          <a:bodyPr/>
          <a:lstStyle/>
          <a:p>
            <a:pPr marL="25400">
              <a:tabLst>
                <a:tab pos="317500" algn="l"/>
                <a:tab pos="1231900" algn="l"/>
                <a:tab pos="2146300" algn="l"/>
                <a:tab pos="3060700" algn="l"/>
                <a:tab pos="3975100" algn="l"/>
                <a:tab pos="4889500" algn="l"/>
                <a:tab pos="5803900" algn="l"/>
              </a:tabLst>
            </a:pPr>
            <a:r>
              <a:rPr lang="en-US" altLang="en-US" sz="3600" dirty="0"/>
              <a:t>Page tables encode virtual address spaces</a:t>
            </a:r>
          </a:p>
        </p:txBody>
      </p:sp>
      <p:grpSp>
        <p:nvGrpSpPr>
          <p:cNvPr id="1215491" name="Group 3">
            <a:extLst>
              <a:ext uri="{FF2B5EF4-FFF2-40B4-BE49-F238E27FC236}">
                <a16:creationId xmlns:a16="http://schemas.microsoft.com/office/drawing/2014/main" id="{D0C52188-BB29-7195-6C69-449E74B37313}"/>
              </a:ext>
            </a:extLst>
          </p:cNvPr>
          <p:cNvGrpSpPr>
            <a:grpSpLocks/>
          </p:cNvGrpSpPr>
          <p:nvPr/>
        </p:nvGrpSpPr>
        <p:grpSpPr bwMode="auto">
          <a:xfrm>
            <a:off x="4013200" y="2247900"/>
            <a:ext cx="4619625" cy="2832100"/>
            <a:chOff x="2212" y="1239"/>
            <a:chExt cx="2910" cy="1784"/>
          </a:xfrm>
        </p:grpSpPr>
        <p:sp>
          <p:nvSpPr>
            <p:cNvPr id="1215492" name="Text Box 4">
              <a:extLst>
                <a:ext uri="{FF2B5EF4-FFF2-40B4-BE49-F238E27FC236}">
                  <a16:creationId xmlns:a16="http://schemas.microsoft.com/office/drawing/2014/main" id="{541A0530-A21A-C574-3351-85846D64D3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2" y="1399"/>
              <a:ext cx="1880" cy="1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/>
              <a:r>
                <a:rPr lang="en-US" altLang="en-US" sz="2700">
                  <a:latin typeface="Helvetica" panose="020B0604020202020204" pitchFamily="34" charset="0"/>
                </a:rPr>
                <a:t>A machine usually supports</a:t>
              </a:r>
            </a:p>
            <a:p>
              <a:pPr algn="r" eaLnBrk="1" hangingPunct="1"/>
              <a:r>
                <a:rPr lang="en-US" altLang="en-US" sz="2700">
                  <a:latin typeface="Helvetica" panose="020B0604020202020204" pitchFamily="34" charset="0"/>
                </a:rPr>
                <a:t>pages of a few sizes</a:t>
              </a:r>
            </a:p>
            <a:p>
              <a:pPr algn="r" eaLnBrk="1" hangingPunct="1"/>
              <a:r>
                <a:rPr lang="en-US" altLang="en-US" sz="2700">
                  <a:latin typeface="Helvetica" panose="020B0604020202020204" pitchFamily="34" charset="0"/>
                </a:rPr>
                <a:t>(MIPS R4000):</a:t>
              </a:r>
            </a:p>
          </p:txBody>
        </p:sp>
        <p:pic>
          <p:nvPicPr>
            <p:cNvPr id="1215493" name="Picture 5">
              <a:extLst>
                <a:ext uri="{FF2B5EF4-FFF2-40B4-BE49-F238E27FC236}">
                  <a16:creationId xmlns:a16="http://schemas.microsoft.com/office/drawing/2014/main" id="{F08DF9F9-9CF1-30A0-5EE8-7C7B5E58DA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1" y="1239"/>
              <a:ext cx="791" cy="1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1215494" name="Group 6">
            <a:extLst>
              <a:ext uri="{FF2B5EF4-FFF2-40B4-BE49-F238E27FC236}">
                <a16:creationId xmlns:a16="http://schemas.microsoft.com/office/drawing/2014/main" id="{D788286A-0E37-891A-E8B4-6D73113B8D9B}"/>
              </a:ext>
            </a:extLst>
          </p:cNvPr>
          <p:cNvGrpSpPr>
            <a:grpSpLocks/>
          </p:cNvGrpSpPr>
          <p:nvPr/>
        </p:nvGrpSpPr>
        <p:grpSpPr bwMode="auto">
          <a:xfrm>
            <a:off x="927100" y="1009650"/>
            <a:ext cx="7531100" cy="5632450"/>
            <a:chOff x="511" y="556"/>
            <a:chExt cx="4744" cy="3548"/>
          </a:xfrm>
        </p:grpSpPr>
        <p:grpSp>
          <p:nvGrpSpPr>
            <p:cNvPr id="1215495" name="Group 7">
              <a:extLst>
                <a:ext uri="{FF2B5EF4-FFF2-40B4-BE49-F238E27FC236}">
                  <a16:creationId xmlns:a16="http://schemas.microsoft.com/office/drawing/2014/main" id="{C9B97059-9140-E979-0D58-BFCA33512B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0" y="556"/>
              <a:ext cx="872" cy="1164"/>
              <a:chOff x="1297" y="556"/>
              <a:chExt cx="872" cy="1164"/>
            </a:xfrm>
          </p:grpSpPr>
          <p:sp>
            <p:nvSpPr>
              <p:cNvPr id="1215496" name="Text Box 8">
                <a:extLst>
                  <a:ext uri="{FF2B5EF4-FFF2-40B4-BE49-F238E27FC236}">
                    <a16:creationId xmlns:a16="http://schemas.microsoft.com/office/drawing/2014/main" id="{972F5C00-3CD9-58B6-37C4-7D8D318919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7" y="556"/>
                <a:ext cx="872" cy="2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0"/>
                  </a:spcBef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spcBef>
                    <a:spcPct val="0"/>
                  </a:spcBef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spcBef>
                    <a:spcPct val="0"/>
                  </a:spcBef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spcBef>
                    <a:spcPct val="0"/>
                  </a:spcBef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spcBef>
                    <a:spcPct val="0"/>
                  </a:spcBef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ts val="1700"/>
                  </a:lnSpc>
                </a:pPr>
                <a:r>
                  <a:rPr lang="en-US" altLang="en-US" sz="1400">
                    <a:latin typeface="Arial" panose="020B0604020202020204" pitchFamily="34" charset="0"/>
                  </a:rPr>
                  <a:t>Physical</a:t>
                </a:r>
              </a:p>
              <a:p>
                <a:pPr algn="ctr" eaLnBrk="1" hangingPunct="1">
                  <a:lnSpc>
                    <a:spcPts val="1700"/>
                  </a:lnSpc>
                </a:pPr>
                <a:r>
                  <a:rPr lang="en-US" altLang="en-US" sz="1400">
                    <a:latin typeface="Arial" panose="020B0604020202020204" pitchFamily="34" charset="0"/>
                  </a:rPr>
                  <a:t>Memory Space</a:t>
                </a:r>
              </a:p>
            </p:txBody>
          </p:sp>
          <p:sp>
            <p:nvSpPr>
              <p:cNvPr id="1215497" name="Freeform 9">
                <a:extLst>
                  <a:ext uri="{FF2B5EF4-FFF2-40B4-BE49-F238E27FC236}">
                    <a16:creationId xmlns:a16="http://schemas.microsoft.com/office/drawing/2014/main" id="{87D9E79B-480A-C9A8-F00D-B811140347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960"/>
                <a:ext cx="424" cy="184"/>
              </a:xfrm>
              <a:custGeom>
                <a:avLst/>
                <a:gdLst>
                  <a:gd name="T0" fmla="+- 0 10000 10000"/>
                  <a:gd name="T1" fmla="*/ T0 w 10000"/>
                  <a:gd name="T2" fmla="+- 0 10000 10000"/>
                  <a:gd name="T3" fmla="*/ 10000 h 10000"/>
                  <a:gd name="T4" fmla="+- 0 20000 10000"/>
                  <a:gd name="T5" fmla="*/ T4 w 10000"/>
                  <a:gd name="T6" fmla="+- 0 10000 10000"/>
                  <a:gd name="T7" fmla="*/ 10000 h 10000"/>
                  <a:gd name="T8" fmla="+- 0 20000 10000"/>
                  <a:gd name="T9" fmla="*/ T8 w 10000"/>
                  <a:gd name="T10" fmla="+- 0 20000 10000"/>
                  <a:gd name="T11" fmla="*/ 20000 h 10000"/>
                  <a:gd name="T12" fmla="+- 0 10000 10000"/>
                  <a:gd name="T13" fmla="*/ T12 w 10000"/>
                  <a:gd name="T14" fmla="+- 0 20000 10000"/>
                  <a:gd name="T15" fmla="*/ 20000 h 10000"/>
                  <a:gd name="T16" fmla="+- 0 10000 10000"/>
                  <a:gd name="T17" fmla="*/ T16 w 10000"/>
                  <a:gd name="T18" fmla="+- 0 10000 10000"/>
                  <a:gd name="T19" fmla="*/ 10000 h 1000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10000" y="10000"/>
                    </a:lnTo>
                    <a:lnTo>
                      <a:pt x="0" y="10000"/>
                    </a:lnTo>
                    <a:close/>
                    <a:moveTo>
                      <a:pt x="0" y="0"/>
                    </a:moveTo>
                  </a:path>
                </a:pathLst>
              </a:custGeom>
              <a:solidFill>
                <a:srgbClr val="FFFFFF"/>
              </a:solidFill>
              <a:ln w="38100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5498" name="Freeform 10">
                <a:extLst>
                  <a:ext uri="{FF2B5EF4-FFF2-40B4-BE49-F238E27FC236}">
                    <a16:creationId xmlns:a16="http://schemas.microsoft.com/office/drawing/2014/main" id="{6B1D5317-C6B9-9674-0D0F-FD1EF98C42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1152"/>
                <a:ext cx="424" cy="184"/>
              </a:xfrm>
              <a:custGeom>
                <a:avLst/>
                <a:gdLst>
                  <a:gd name="T0" fmla="+- 0 10000 10000"/>
                  <a:gd name="T1" fmla="*/ T0 w 10000"/>
                  <a:gd name="T2" fmla="+- 0 10000 10000"/>
                  <a:gd name="T3" fmla="*/ 10000 h 10000"/>
                  <a:gd name="T4" fmla="+- 0 20000 10000"/>
                  <a:gd name="T5" fmla="*/ T4 w 10000"/>
                  <a:gd name="T6" fmla="+- 0 10000 10000"/>
                  <a:gd name="T7" fmla="*/ 10000 h 10000"/>
                  <a:gd name="T8" fmla="+- 0 20000 10000"/>
                  <a:gd name="T9" fmla="*/ T8 w 10000"/>
                  <a:gd name="T10" fmla="+- 0 20000 10000"/>
                  <a:gd name="T11" fmla="*/ 20000 h 10000"/>
                  <a:gd name="T12" fmla="+- 0 10000 10000"/>
                  <a:gd name="T13" fmla="*/ T12 w 10000"/>
                  <a:gd name="T14" fmla="+- 0 20000 10000"/>
                  <a:gd name="T15" fmla="*/ 20000 h 10000"/>
                  <a:gd name="T16" fmla="+- 0 10000 10000"/>
                  <a:gd name="T17" fmla="*/ T16 w 10000"/>
                  <a:gd name="T18" fmla="+- 0 10000 10000"/>
                  <a:gd name="T19" fmla="*/ 10000 h 1000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10000" y="10000"/>
                    </a:lnTo>
                    <a:lnTo>
                      <a:pt x="0" y="10000"/>
                    </a:lnTo>
                    <a:close/>
                    <a:moveTo>
                      <a:pt x="0" y="0"/>
                    </a:moveTo>
                  </a:path>
                </a:pathLst>
              </a:custGeom>
              <a:solidFill>
                <a:srgbClr val="FFFFFF"/>
              </a:solidFill>
              <a:ln w="38100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5499" name="Freeform 11">
                <a:extLst>
                  <a:ext uri="{FF2B5EF4-FFF2-40B4-BE49-F238E27FC236}">
                    <a16:creationId xmlns:a16="http://schemas.microsoft.com/office/drawing/2014/main" id="{2EC10BCD-5EDE-BF11-144F-066DC0CA3B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1344"/>
                <a:ext cx="424" cy="184"/>
              </a:xfrm>
              <a:custGeom>
                <a:avLst/>
                <a:gdLst>
                  <a:gd name="T0" fmla="+- 0 10000 10000"/>
                  <a:gd name="T1" fmla="*/ T0 w 10000"/>
                  <a:gd name="T2" fmla="+- 0 10000 10000"/>
                  <a:gd name="T3" fmla="*/ 10000 h 10000"/>
                  <a:gd name="T4" fmla="+- 0 20000 10000"/>
                  <a:gd name="T5" fmla="*/ T4 w 10000"/>
                  <a:gd name="T6" fmla="+- 0 10000 10000"/>
                  <a:gd name="T7" fmla="*/ 10000 h 10000"/>
                  <a:gd name="T8" fmla="+- 0 20000 10000"/>
                  <a:gd name="T9" fmla="*/ T8 w 10000"/>
                  <a:gd name="T10" fmla="+- 0 20000 10000"/>
                  <a:gd name="T11" fmla="*/ 20000 h 10000"/>
                  <a:gd name="T12" fmla="+- 0 10000 10000"/>
                  <a:gd name="T13" fmla="*/ T12 w 10000"/>
                  <a:gd name="T14" fmla="+- 0 20000 10000"/>
                  <a:gd name="T15" fmla="*/ 20000 h 10000"/>
                  <a:gd name="T16" fmla="+- 0 10000 10000"/>
                  <a:gd name="T17" fmla="*/ T16 w 10000"/>
                  <a:gd name="T18" fmla="+- 0 10000 10000"/>
                  <a:gd name="T19" fmla="*/ 10000 h 1000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10000" y="10000"/>
                    </a:lnTo>
                    <a:lnTo>
                      <a:pt x="0" y="10000"/>
                    </a:lnTo>
                    <a:close/>
                    <a:moveTo>
                      <a:pt x="0" y="0"/>
                    </a:moveTo>
                  </a:path>
                </a:pathLst>
              </a:custGeom>
              <a:solidFill>
                <a:srgbClr val="FFFFFF"/>
              </a:solidFill>
              <a:ln w="38100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5500" name="Freeform 12">
                <a:extLst>
                  <a:ext uri="{FF2B5EF4-FFF2-40B4-BE49-F238E27FC236}">
                    <a16:creationId xmlns:a16="http://schemas.microsoft.com/office/drawing/2014/main" id="{A2BD2A23-2A28-C7B1-F204-F0D236A795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1536"/>
                <a:ext cx="424" cy="184"/>
              </a:xfrm>
              <a:custGeom>
                <a:avLst/>
                <a:gdLst>
                  <a:gd name="T0" fmla="+- 0 10000 10000"/>
                  <a:gd name="T1" fmla="*/ T0 w 10000"/>
                  <a:gd name="T2" fmla="+- 0 10000 10000"/>
                  <a:gd name="T3" fmla="*/ 10000 h 10000"/>
                  <a:gd name="T4" fmla="+- 0 20000 10000"/>
                  <a:gd name="T5" fmla="*/ T4 w 10000"/>
                  <a:gd name="T6" fmla="+- 0 10000 10000"/>
                  <a:gd name="T7" fmla="*/ 10000 h 10000"/>
                  <a:gd name="T8" fmla="+- 0 20000 10000"/>
                  <a:gd name="T9" fmla="*/ T8 w 10000"/>
                  <a:gd name="T10" fmla="+- 0 20000 10000"/>
                  <a:gd name="T11" fmla="*/ 20000 h 10000"/>
                  <a:gd name="T12" fmla="+- 0 10000 10000"/>
                  <a:gd name="T13" fmla="*/ T12 w 10000"/>
                  <a:gd name="T14" fmla="+- 0 20000 10000"/>
                  <a:gd name="T15" fmla="*/ 20000 h 10000"/>
                  <a:gd name="T16" fmla="+- 0 10000 10000"/>
                  <a:gd name="T17" fmla="*/ T16 w 10000"/>
                  <a:gd name="T18" fmla="+- 0 10000 10000"/>
                  <a:gd name="T19" fmla="*/ 10000 h 1000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10000" y="10000"/>
                    </a:lnTo>
                    <a:lnTo>
                      <a:pt x="0" y="10000"/>
                    </a:lnTo>
                    <a:close/>
                    <a:moveTo>
                      <a:pt x="0" y="0"/>
                    </a:moveTo>
                  </a:path>
                </a:pathLst>
              </a:custGeom>
              <a:solidFill>
                <a:srgbClr val="FFFFFF"/>
              </a:solidFill>
              <a:ln w="38100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15501" name="Text Box 13">
              <a:extLst>
                <a:ext uri="{FF2B5EF4-FFF2-40B4-BE49-F238E27FC236}">
                  <a16:creationId xmlns:a16="http://schemas.microsoft.com/office/drawing/2014/main" id="{98746606-F7D4-4313-30AF-F09F2097AD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" y="3592"/>
              <a:ext cx="4744" cy="5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700">
                  <a:latin typeface="Helvetica" panose="020B0604020202020204" pitchFamily="34" charset="0"/>
                </a:rPr>
                <a:t>A valid page table entry codes </a:t>
              </a:r>
              <a:r>
                <a:rPr lang="en-US" altLang="en-US" sz="2700">
                  <a:solidFill>
                    <a:srgbClr val="0000FF"/>
                  </a:solidFill>
                  <a:latin typeface="Helvetica" panose="020B0604020202020204" pitchFamily="34" charset="0"/>
                </a:rPr>
                <a:t>physical memory “frame”</a:t>
              </a:r>
              <a:r>
                <a:rPr lang="en-US" altLang="en-US" sz="2700">
                  <a:latin typeface="Helvetica" panose="020B0604020202020204" pitchFamily="34" charset="0"/>
                </a:rPr>
                <a:t> address for the page</a:t>
              </a:r>
            </a:p>
          </p:txBody>
        </p:sp>
      </p:grpSp>
      <p:sp>
        <p:nvSpPr>
          <p:cNvPr id="1215502" name="Text Box 14">
            <a:extLst>
              <a:ext uri="{FF2B5EF4-FFF2-40B4-BE49-F238E27FC236}">
                <a16:creationId xmlns:a16="http://schemas.microsoft.com/office/drawing/2014/main" id="{F4926527-E567-562B-A993-57A9B7C45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3200" y="963613"/>
            <a:ext cx="5016500" cy="1052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300">
                <a:latin typeface="Helvetica" panose="020B0604020202020204" pitchFamily="34" charset="0"/>
              </a:rPr>
              <a:t>A virtual address space</a:t>
            </a:r>
          </a:p>
          <a:p>
            <a:pPr algn="ctr" eaLnBrk="1" hangingPunct="1"/>
            <a:r>
              <a:rPr lang="en-US" altLang="en-US" sz="2300">
                <a:latin typeface="Helvetica" panose="020B0604020202020204" pitchFamily="34" charset="0"/>
              </a:rPr>
              <a:t>is divided into blocks</a:t>
            </a:r>
          </a:p>
          <a:p>
            <a:pPr algn="ctr" eaLnBrk="1" hangingPunct="1"/>
            <a:r>
              <a:rPr lang="en-US" altLang="en-US" sz="2300">
                <a:latin typeface="Helvetica" panose="020B0604020202020204" pitchFamily="34" charset="0"/>
              </a:rPr>
              <a:t>of memory called </a:t>
            </a:r>
            <a:r>
              <a:rPr lang="en-US" altLang="en-US" sz="2300">
                <a:solidFill>
                  <a:srgbClr val="0000FF"/>
                </a:solidFill>
                <a:latin typeface="Helvetica" panose="020B0604020202020204" pitchFamily="34" charset="0"/>
              </a:rPr>
              <a:t>pages</a:t>
            </a:r>
          </a:p>
        </p:txBody>
      </p:sp>
      <p:grpSp>
        <p:nvGrpSpPr>
          <p:cNvPr id="1215503" name="Group 15">
            <a:extLst>
              <a:ext uri="{FF2B5EF4-FFF2-40B4-BE49-F238E27FC236}">
                <a16:creationId xmlns:a16="http://schemas.microsoft.com/office/drawing/2014/main" id="{280E3A0B-DE9B-6FA7-CC20-E8A8F7617D05}"/>
              </a:ext>
            </a:extLst>
          </p:cNvPr>
          <p:cNvGrpSpPr>
            <a:grpSpLocks/>
          </p:cNvGrpSpPr>
          <p:nvPr/>
        </p:nvGrpSpPr>
        <p:grpSpPr bwMode="auto">
          <a:xfrm>
            <a:off x="1727200" y="1993900"/>
            <a:ext cx="1574800" cy="1943100"/>
            <a:chOff x="952" y="1099"/>
            <a:chExt cx="992" cy="1224"/>
          </a:xfrm>
        </p:grpSpPr>
        <p:sp>
          <p:nvSpPr>
            <p:cNvPr id="1215504" name="Line 16">
              <a:extLst>
                <a:ext uri="{FF2B5EF4-FFF2-40B4-BE49-F238E27FC236}">
                  <a16:creationId xmlns:a16="http://schemas.microsoft.com/office/drawing/2014/main" id="{9145E101-D107-49D9-C375-558554A1144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952" y="1163"/>
              <a:ext cx="568" cy="1160"/>
            </a:xfrm>
            <a:prstGeom prst="line">
              <a:avLst/>
            </a:prstGeom>
            <a:noFill/>
            <a:ln w="38100">
              <a:solidFill>
                <a:srgbClr val="053DE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05" name="Text Box 17">
              <a:extLst>
                <a:ext uri="{FF2B5EF4-FFF2-40B4-BE49-F238E27FC236}">
                  <a16:creationId xmlns:a16="http://schemas.microsoft.com/office/drawing/2014/main" id="{5D3A7B68-A292-3D3F-39D1-FA922A3CE2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8" y="1099"/>
              <a:ext cx="376" cy="1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FF"/>
                  </a:solidFill>
                  <a:latin typeface="Helvetica" panose="020B0604020202020204" pitchFamily="34" charset="0"/>
                </a:rPr>
                <a:t>frame</a:t>
              </a:r>
            </a:p>
          </p:txBody>
        </p:sp>
      </p:grpSp>
      <p:grpSp>
        <p:nvGrpSpPr>
          <p:cNvPr id="1215506" name="Group 18">
            <a:extLst>
              <a:ext uri="{FF2B5EF4-FFF2-40B4-BE49-F238E27FC236}">
                <a16:creationId xmlns:a16="http://schemas.microsoft.com/office/drawing/2014/main" id="{2E1C2287-CEDE-020A-431D-467E59988C87}"/>
              </a:ext>
            </a:extLst>
          </p:cNvPr>
          <p:cNvGrpSpPr>
            <a:grpSpLocks/>
          </p:cNvGrpSpPr>
          <p:nvPr/>
        </p:nvGrpSpPr>
        <p:grpSpPr bwMode="auto">
          <a:xfrm>
            <a:off x="1727200" y="2286000"/>
            <a:ext cx="1574800" cy="203200"/>
            <a:chOff x="952" y="1260"/>
            <a:chExt cx="992" cy="128"/>
          </a:xfrm>
        </p:grpSpPr>
        <p:sp>
          <p:nvSpPr>
            <p:cNvPr id="1215507" name="Line 19">
              <a:extLst>
                <a:ext uri="{FF2B5EF4-FFF2-40B4-BE49-F238E27FC236}">
                  <a16:creationId xmlns:a16="http://schemas.microsoft.com/office/drawing/2014/main" id="{7B42A991-F798-35DB-6C4F-9FAF9B2C64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2" y="1332"/>
              <a:ext cx="568" cy="8"/>
            </a:xfrm>
            <a:prstGeom prst="line">
              <a:avLst/>
            </a:prstGeom>
            <a:noFill/>
            <a:ln w="38100">
              <a:solidFill>
                <a:srgbClr val="053DE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08" name="Text Box 20">
              <a:extLst>
                <a:ext uri="{FF2B5EF4-FFF2-40B4-BE49-F238E27FC236}">
                  <a16:creationId xmlns:a16="http://schemas.microsoft.com/office/drawing/2014/main" id="{77F2F554-170C-F295-9DD0-2C3C0946ED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8" y="1260"/>
              <a:ext cx="376" cy="1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FF"/>
                  </a:solidFill>
                  <a:latin typeface="Helvetica" panose="020B0604020202020204" pitchFamily="34" charset="0"/>
                </a:rPr>
                <a:t>frame</a:t>
              </a:r>
            </a:p>
          </p:txBody>
        </p:sp>
      </p:grpSp>
      <p:grpSp>
        <p:nvGrpSpPr>
          <p:cNvPr id="1215509" name="Group 21">
            <a:extLst>
              <a:ext uri="{FF2B5EF4-FFF2-40B4-BE49-F238E27FC236}">
                <a16:creationId xmlns:a16="http://schemas.microsoft.com/office/drawing/2014/main" id="{A8F6DB53-A872-E195-C270-84B0E90984C6}"/>
              </a:ext>
            </a:extLst>
          </p:cNvPr>
          <p:cNvGrpSpPr>
            <a:grpSpLocks/>
          </p:cNvGrpSpPr>
          <p:nvPr/>
        </p:nvGrpSpPr>
        <p:grpSpPr bwMode="auto">
          <a:xfrm>
            <a:off x="1727200" y="2603500"/>
            <a:ext cx="1574800" cy="1943100"/>
            <a:chOff x="952" y="1435"/>
            <a:chExt cx="992" cy="1224"/>
          </a:xfrm>
        </p:grpSpPr>
        <p:sp>
          <p:nvSpPr>
            <p:cNvPr id="1215510" name="Line 22">
              <a:extLst>
                <a:ext uri="{FF2B5EF4-FFF2-40B4-BE49-F238E27FC236}">
                  <a16:creationId xmlns:a16="http://schemas.microsoft.com/office/drawing/2014/main" id="{81A37A86-BFD7-D561-B51C-0C4D7FAE4E1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952" y="1499"/>
              <a:ext cx="568" cy="1160"/>
            </a:xfrm>
            <a:prstGeom prst="line">
              <a:avLst/>
            </a:prstGeom>
            <a:noFill/>
            <a:ln w="38100">
              <a:solidFill>
                <a:srgbClr val="053DE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11" name="Text Box 23">
              <a:extLst>
                <a:ext uri="{FF2B5EF4-FFF2-40B4-BE49-F238E27FC236}">
                  <a16:creationId xmlns:a16="http://schemas.microsoft.com/office/drawing/2014/main" id="{F9A57B01-04DE-80DB-DC20-6D8A185CCC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8" y="1435"/>
              <a:ext cx="376" cy="1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FF"/>
                  </a:solidFill>
                  <a:latin typeface="Helvetica" panose="020B0604020202020204" pitchFamily="34" charset="0"/>
                </a:rPr>
                <a:t>frame</a:t>
              </a:r>
            </a:p>
          </p:txBody>
        </p:sp>
      </p:grpSp>
      <p:grpSp>
        <p:nvGrpSpPr>
          <p:cNvPr id="1215512" name="Group 24">
            <a:extLst>
              <a:ext uri="{FF2B5EF4-FFF2-40B4-BE49-F238E27FC236}">
                <a16:creationId xmlns:a16="http://schemas.microsoft.com/office/drawing/2014/main" id="{B0D27781-7BFB-486B-4891-56FCC8445C9E}"/>
              </a:ext>
            </a:extLst>
          </p:cNvPr>
          <p:cNvGrpSpPr>
            <a:grpSpLocks/>
          </p:cNvGrpSpPr>
          <p:nvPr/>
        </p:nvGrpSpPr>
        <p:grpSpPr bwMode="auto">
          <a:xfrm>
            <a:off x="1727200" y="1689100"/>
            <a:ext cx="1574800" cy="1409700"/>
            <a:chOff x="952" y="931"/>
            <a:chExt cx="992" cy="888"/>
          </a:xfrm>
        </p:grpSpPr>
        <p:sp>
          <p:nvSpPr>
            <p:cNvPr id="1215513" name="Line 25">
              <a:extLst>
                <a:ext uri="{FF2B5EF4-FFF2-40B4-BE49-F238E27FC236}">
                  <a16:creationId xmlns:a16="http://schemas.microsoft.com/office/drawing/2014/main" id="{BCF12EBB-9185-71DC-7D87-4FB72F796AA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952" y="995"/>
              <a:ext cx="568" cy="824"/>
            </a:xfrm>
            <a:prstGeom prst="line">
              <a:avLst/>
            </a:prstGeom>
            <a:noFill/>
            <a:ln w="38100">
              <a:solidFill>
                <a:srgbClr val="053DE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14" name="Text Box 26">
              <a:extLst>
                <a:ext uri="{FF2B5EF4-FFF2-40B4-BE49-F238E27FC236}">
                  <a16:creationId xmlns:a16="http://schemas.microsoft.com/office/drawing/2014/main" id="{CCED0AF6-6CA4-1124-7E4A-4803C8861B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8" y="931"/>
              <a:ext cx="376" cy="1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FF"/>
                  </a:solidFill>
                  <a:latin typeface="Helvetica" panose="020B0604020202020204" pitchFamily="34" charset="0"/>
                </a:rPr>
                <a:t>frame</a:t>
              </a:r>
            </a:p>
          </p:txBody>
        </p:sp>
      </p:grpSp>
      <p:grpSp>
        <p:nvGrpSpPr>
          <p:cNvPr id="1215515" name="Group 27">
            <a:extLst>
              <a:ext uri="{FF2B5EF4-FFF2-40B4-BE49-F238E27FC236}">
                <a16:creationId xmlns:a16="http://schemas.microsoft.com/office/drawing/2014/main" id="{3A0F9560-5B54-D4A8-A7B7-B20CD3C8C6D3}"/>
              </a:ext>
            </a:extLst>
          </p:cNvPr>
          <p:cNvGrpSpPr>
            <a:grpSpLocks/>
          </p:cNvGrpSpPr>
          <p:nvPr/>
        </p:nvGrpSpPr>
        <p:grpSpPr bwMode="auto">
          <a:xfrm>
            <a:off x="114300" y="3683000"/>
            <a:ext cx="8026400" cy="2032000"/>
            <a:chOff x="63" y="2033"/>
            <a:chExt cx="5056" cy="1280"/>
          </a:xfrm>
        </p:grpSpPr>
        <p:sp>
          <p:nvSpPr>
            <p:cNvPr id="1215516" name="Text Box 28">
              <a:extLst>
                <a:ext uri="{FF2B5EF4-FFF2-40B4-BE49-F238E27FC236}">
                  <a16:creationId xmlns:a16="http://schemas.microsoft.com/office/drawing/2014/main" id="{457FC88C-D2FA-B9F6-9BF7-46FBFA2395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" y="2801"/>
              <a:ext cx="4584" cy="5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700">
                  <a:latin typeface="Helvetica" panose="020B0604020202020204" pitchFamily="34" charset="0"/>
                </a:rPr>
                <a:t>A page table is indexed by a </a:t>
              </a:r>
            </a:p>
            <a:p>
              <a:pPr algn="ctr" eaLnBrk="1" hangingPunct="1"/>
              <a:r>
                <a:rPr lang="en-US" altLang="en-US" sz="2700">
                  <a:solidFill>
                    <a:srgbClr val="0000FF"/>
                  </a:solidFill>
                  <a:latin typeface="Helvetica" panose="020B0604020202020204" pitchFamily="34" charset="0"/>
                </a:rPr>
                <a:t>virtual address</a:t>
              </a:r>
            </a:p>
          </p:txBody>
        </p:sp>
        <p:sp>
          <p:nvSpPr>
            <p:cNvPr id="1215517" name="Line 29">
              <a:extLst>
                <a:ext uri="{FF2B5EF4-FFF2-40B4-BE49-F238E27FC236}">
                  <a16:creationId xmlns:a16="http://schemas.microsoft.com/office/drawing/2014/main" id="{B12CE1EC-B19D-2C5B-5516-409EB3B4B9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" y="2009"/>
              <a:ext cx="3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18" name="Text Box 30">
              <a:extLst>
                <a:ext uri="{FF2B5EF4-FFF2-40B4-BE49-F238E27FC236}">
                  <a16:creationId xmlns:a16="http://schemas.microsoft.com/office/drawing/2014/main" id="{1EB72B76-AF80-C5E6-03D1-9E1984E1FD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" y="2033"/>
              <a:ext cx="504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/>
              <a:r>
                <a:rPr lang="en-US" altLang="en-US" sz="1300">
                  <a:latin typeface="Helvetica" panose="020B0604020202020204" pitchFamily="34" charset="0"/>
                </a:rPr>
                <a:t>virtual address</a:t>
              </a:r>
            </a:p>
          </p:txBody>
        </p:sp>
      </p:grpSp>
      <p:grpSp>
        <p:nvGrpSpPr>
          <p:cNvPr id="1215519" name="Group 31">
            <a:extLst>
              <a:ext uri="{FF2B5EF4-FFF2-40B4-BE49-F238E27FC236}">
                <a16:creationId xmlns:a16="http://schemas.microsoft.com/office/drawing/2014/main" id="{42517DAE-5FE7-7420-7DCB-8EAA3DF7AA62}"/>
              </a:ext>
            </a:extLst>
          </p:cNvPr>
          <p:cNvGrpSpPr>
            <a:grpSpLocks/>
          </p:cNvGrpSpPr>
          <p:nvPr/>
        </p:nvGrpSpPr>
        <p:grpSpPr bwMode="auto">
          <a:xfrm>
            <a:off x="333628" y="1073150"/>
            <a:ext cx="1799972" cy="4421188"/>
            <a:chOff x="211" y="591"/>
            <a:chExt cx="1133" cy="2785"/>
          </a:xfrm>
        </p:grpSpPr>
        <p:sp>
          <p:nvSpPr>
            <p:cNvPr id="1215520" name="Text Box 32">
              <a:extLst>
                <a:ext uri="{FF2B5EF4-FFF2-40B4-BE49-F238E27FC236}">
                  <a16:creationId xmlns:a16="http://schemas.microsoft.com/office/drawing/2014/main" id="{3B6EFD5D-5B4A-CBCD-4AED-169F12223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" y="591"/>
              <a:ext cx="696" cy="1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en-US" altLang="en-US" sz="1400">
                  <a:solidFill>
                    <a:srgbClr val="053DE8"/>
                  </a:solidFill>
                  <a:latin typeface="Arial" panose="020B0604020202020204" pitchFamily="34" charset="0"/>
                </a:rPr>
                <a:t> Page Table</a:t>
              </a:r>
            </a:p>
          </p:txBody>
        </p:sp>
        <p:sp>
          <p:nvSpPr>
            <p:cNvPr id="1215521" name="Freeform 33">
              <a:extLst>
                <a:ext uri="{FF2B5EF4-FFF2-40B4-BE49-F238E27FC236}">
                  <a16:creationId xmlns:a16="http://schemas.microsoft.com/office/drawing/2014/main" id="{E6831BC5-DE77-E061-4E80-667A5CADC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" y="955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rgbClr val="053DE8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22" name="Freeform 34">
              <a:extLst>
                <a:ext uri="{FF2B5EF4-FFF2-40B4-BE49-F238E27FC236}">
                  <a16:creationId xmlns:a16="http://schemas.microsoft.com/office/drawing/2014/main" id="{F9278A98-9279-1DB4-CD67-4858F1A09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" y="1147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rgbClr val="053DE8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23" name="Freeform 35">
              <a:extLst>
                <a:ext uri="{FF2B5EF4-FFF2-40B4-BE49-F238E27FC236}">
                  <a16:creationId xmlns:a16="http://schemas.microsoft.com/office/drawing/2014/main" id="{2D8EEAA8-C0D2-05CA-CF7E-45AE69832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" y="1339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rgbClr val="053DE8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24" name="Freeform 36">
              <a:extLst>
                <a:ext uri="{FF2B5EF4-FFF2-40B4-BE49-F238E27FC236}">
                  <a16:creationId xmlns:a16="http://schemas.microsoft.com/office/drawing/2014/main" id="{51B0E004-C142-4158-D7FA-E99D5C35A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" y="1531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rgbClr val="053DE8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25" name="Freeform 37">
              <a:extLst>
                <a:ext uri="{FF2B5EF4-FFF2-40B4-BE49-F238E27FC236}">
                  <a16:creationId xmlns:a16="http://schemas.microsoft.com/office/drawing/2014/main" id="{B61DF57D-1852-EFD8-43A0-297F3817A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" y="1723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rgbClr val="053DE8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26" name="Freeform 38">
              <a:extLst>
                <a:ext uri="{FF2B5EF4-FFF2-40B4-BE49-F238E27FC236}">
                  <a16:creationId xmlns:a16="http://schemas.microsoft.com/office/drawing/2014/main" id="{47F08B61-0EBC-9B4D-BCA8-36A31D9E8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" y="1915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rgbClr val="053DE8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27" name="Freeform 39">
              <a:extLst>
                <a:ext uri="{FF2B5EF4-FFF2-40B4-BE49-F238E27FC236}">
                  <a16:creationId xmlns:a16="http://schemas.microsoft.com/office/drawing/2014/main" id="{914A21F6-6513-251C-7147-26BEFBC13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" y="2107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rgbClr val="053DE8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28" name="Freeform 40">
              <a:extLst>
                <a:ext uri="{FF2B5EF4-FFF2-40B4-BE49-F238E27FC236}">
                  <a16:creationId xmlns:a16="http://schemas.microsoft.com/office/drawing/2014/main" id="{468524D9-8A42-015C-5BDE-2EC511235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" y="2299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rgbClr val="053DE8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29" name="Freeform 41">
              <a:extLst>
                <a:ext uri="{FF2B5EF4-FFF2-40B4-BE49-F238E27FC236}">
                  <a16:creationId xmlns:a16="http://schemas.microsoft.com/office/drawing/2014/main" id="{6479CAA1-05C7-408C-649B-73E87BF0C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" y="2491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rgbClr val="053DE8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30" name="Freeform 42">
              <a:extLst>
                <a:ext uri="{FF2B5EF4-FFF2-40B4-BE49-F238E27FC236}">
                  <a16:creationId xmlns:a16="http://schemas.microsoft.com/office/drawing/2014/main" id="{A82E160F-F110-53C7-4EA7-FB0A98ED8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" y="2683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rgbClr val="053DE8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31" name="Text Box 43">
              <a:extLst>
                <a:ext uri="{FF2B5EF4-FFF2-40B4-BE49-F238E27FC236}">
                  <a16:creationId xmlns:a16="http://schemas.microsoft.com/office/drawing/2014/main" id="{297E2C43-BB30-B0BD-C18D-8A7BB09082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" y="707"/>
              <a:ext cx="848" cy="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300">
                <a:solidFill>
                  <a:srgbClr val="0000FF"/>
                </a:solidFill>
                <a:latin typeface="Helvetica" panose="020B0604020202020204" pitchFamily="34" charset="0"/>
              </a:endParaRPr>
            </a:p>
          </p:txBody>
        </p:sp>
        <p:sp>
          <p:nvSpPr>
            <p:cNvPr id="1215532" name="Text Box 44">
              <a:extLst>
                <a:ext uri="{FF2B5EF4-FFF2-40B4-BE49-F238E27FC236}">
                  <a16:creationId xmlns:a16="http://schemas.microsoft.com/office/drawing/2014/main" id="{5A1CF2FA-C0C2-C8FC-CC91-F394704A7B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" y="2911"/>
              <a:ext cx="844" cy="4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53DE8"/>
                  </a:solidFill>
                  <a:latin typeface="Marker Felt" pitchFamily="34" charset="0"/>
                </a:rPr>
                <a:t>OS manages the page table for each process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15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15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15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15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15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15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215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15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B0DFFF6-40A0-33FD-39C2-065191233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CC7CC-C21F-485B-9D1F-4F949516FAB5}" type="datetime1">
              <a:rPr lang="en-US" altLang="en-US"/>
              <a:pPr/>
              <a:t>9/8/2025</a:t>
            </a:fld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7099985-667A-550C-BB75-92B8065C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CS252-s06, Lec 04-cache review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537E884-194F-3009-EBDD-E5306B75D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33913-F458-42C0-99E3-3041BB7CDF7B}" type="slidenum">
              <a:rPr lang="en-US" altLang="en-US"/>
              <a:pPr/>
              <a:t>65</a:t>
            </a:fld>
            <a:endParaRPr lang="en-US" altLang="en-US" b="0">
              <a:solidFill>
                <a:srgbClr val="FBBA03"/>
              </a:solidFill>
            </a:endParaRPr>
          </a:p>
        </p:txBody>
      </p:sp>
      <p:grpSp>
        <p:nvGrpSpPr>
          <p:cNvPr id="1163366" name="Group 102">
            <a:extLst>
              <a:ext uri="{FF2B5EF4-FFF2-40B4-BE49-F238E27FC236}">
                <a16:creationId xmlns:a16="http://schemas.microsoft.com/office/drawing/2014/main" id="{E89CCCA7-C07D-7CCE-ACE1-5DA166C2B61A}"/>
              </a:ext>
            </a:extLst>
          </p:cNvPr>
          <p:cNvGrpSpPr>
            <a:grpSpLocks/>
          </p:cNvGrpSpPr>
          <p:nvPr/>
        </p:nvGrpSpPr>
        <p:grpSpPr bwMode="auto">
          <a:xfrm>
            <a:off x="2190750" y="1009650"/>
            <a:ext cx="1252538" cy="1847850"/>
            <a:chOff x="1338" y="556"/>
            <a:chExt cx="789" cy="1164"/>
          </a:xfrm>
        </p:grpSpPr>
        <p:sp>
          <p:nvSpPr>
            <p:cNvPr id="1163367" name="Text Box 103">
              <a:extLst>
                <a:ext uri="{FF2B5EF4-FFF2-40B4-BE49-F238E27FC236}">
                  <a16:creationId xmlns:a16="http://schemas.microsoft.com/office/drawing/2014/main" id="{6BC17499-2D48-18A3-BF81-FE9776A505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556"/>
              <a:ext cx="789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en-US" altLang="en-US" sz="1400">
                  <a:latin typeface="Arial" panose="020B0604020202020204" pitchFamily="34" charset="0"/>
                </a:rPr>
                <a:t>Physical</a:t>
              </a:r>
            </a:p>
            <a:p>
              <a:pPr algn="ctr" eaLnBrk="1" hangingPunct="1">
                <a:lnSpc>
                  <a:spcPts val="1700"/>
                </a:lnSpc>
              </a:pPr>
              <a:r>
                <a:rPr lang="en-US" altLang="en-US" sz="1400">
                  <a:latin typeface="Arial" panose="020B0604020202020204" pitchFamily="34" charset="0"/>
                </a:rPr>
                <a:t>Memory Space</a:t>
              </a:r>
            </a:p>
          </p:txBody>
        </p:sp>
        <p:sp>
          <p:nvSpPr>
            <p:cNvPr id="1163368" name="Freeform 104">
              <a:extLst>
                <a:ext uri="{FF2B5EF4-FFF2-40B4-BE49-F238E27FC236}">
                  <a16:creationId xmlns:a16="http://schemas.microsoft.com/office/drawing/2014/main" id="{263AE435-4206-5C35-1E22-5CF2FD1A1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960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3369" name="Freeform 105">
              <a:extLst>
                <a:ext uri="{FF2B5EF4-FFF2-40B4-BE49-F238E27FC236}">
                  <a16:creationId xmlns:a16="http://schemas.microsoft.com/office/drawing/2014/main" id="{AC85A582-3834-0BD3-C1AC-28CB6A085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1152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3370" name="Freeform 106">
              <a:extLst>
                <a:ext uri="{FF2B5EF4-FFF2-40B4-BE49-F238E27FC236}">
                  <a16:creationId xmlns:a16="http://schemas.microsoft.com/office/drawing/2014/main" id="{70437F05-98A6-36F5-5DE9-D937EBF467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1344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3371" name="Freeform 107">
              <a:extLst>
                <a:ext uri="{FF2B5EF4-FFF2-40B4-BE49-F238E27FC236}">
                  <a16:creationId xmlns:a16="http://schemas.microsoft.com/office/drawing/2014/main" id="{B33739B3-E4A6-B243-78B2-5FD8812A9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1536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63266" name="Rectangle 2">
            <a:extLst>
              <a:ext uri="{FF2B5EF4-FFF2-40B4-BE49-F238E27FC236}">
                <a16:creationId xmlns:a16="http://schemas.microsoft.com/office/drawing/2014/main" id="{84CC1BB3-D50B-EF04-42C1-DDA6ECD96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5226050"/>
            <a:ext cx="8572500" cy="1125538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15000"/>
              </a:spcBef>
            </a:pPr>
            <a:r>
              <a:rPr lang="en-US" altLang="en-US" sz="2600"/>
              <a:t>Page table maps virtual page numbers to physical frames (</a:t>
            </a:r>
            <a:r>
              <a:rPr lang="en-US" altLang="en-US"/>
              <a:t>“PTE” = Page Table Entry)</a:t>
            </a:r>
          </a:p>
          <a:p>
            <a:pPr>
              <a:lnSpc>
                <a:spcPct val="85000"/>
              </a:lnSpc>
              <a:spcBef>
                <a:spcPct val="15000"/>
              </a:spcBef>
            </a:pPr>
            <a:r>
              <a:rPr lang="en-US" altLang="en-US" sz="2600"/>
              <a:t>Virtual memory =&gt; treat memory </a:t>
            </a:r>
            <a:r>
              <a:rPr lang="en-US" altLang="en-US" sz="2600">
                <a:sym typeface="Symbol" panose="05050102010706020507" pitchFamily="18" charset="2"/>
              </a:rPr>
              <a:t></a:t>
            </a:r>
            <a:r>
              <a:rPr lang="en-US" altLang="en-US" sz="2600"/>
              <a:t> cache for disk</a:t>
            </a:r>
          </a:p>
        </p:txBody>
      </p:sp>
      <p:sp>
        <p:nvSpPr>
          <p:cNvPr id="1163289" name="Rectangle 25">
            <a:extLst>
              <a:ext uri="{FF2B5EF4-FFF2-40B4-BE49-F238E27FC236}">
                <a16:creationId xmlns:a16="http://schemas.microsoft.com/office/drawing/2014/main" id="{A9FD1032-FA00-C97C-281D-A0DD16B139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191" y="530225"/>
            <a:ext cx="5749925" cy="368300"/>
          </a:xfrm>
        </p:spPr>
        <p:txBody>
          <a:bodyPr/>
          <a:lstStyle/>
          <a:p>
            <a:r>
              <a:rPr lang="en-US" altLang="en-US" sz="4000" dirty="0"/>
              <a:t>Details of Page Table</a:t>
            </a:r>
          </a:p>
        </p:txBody>
      </p:sp>
      <p:grpSp>
        <p:nvGrpSpPr>
          <p:cNvPr id="1163290" name="Group 26">
            <a:extLst>
              <a:ext uri="{FF2B5EF4-FFF2-40B4-BE49-F238E27FC236}">
                <a16:creationId xmlns:a16="http://schemas.microsoft.com/office/drawing/2014/main" id="{33B2C44D-473F-87D8-CD22-96C326FB6499}"/>
              </a:ext>
            </a:extLst>
          </p:cNvPr>
          <p:cNvGrpSpPr>
            <a:grpSpLocks/>
          </p:cNvGrpSpPr>
          <p:nvPr/>
        </p:nvGrpSpPr>
        <p:grpSpPr bwMode="auto">
          <a:xfrm>
            <a:off x="2790825" y="1358900"/>
            <a:ext cx="6189663" cy="3789363"/>
            <a:chOff x="1768" y="1536"/>
            <a:chExt cx="3899" cy="2387"/>
          </a:xfrm>
        </p:grpSpPr>
        <p:sp>
          <p:nvSpPr>
            <p:cNvPr id="1163291" name="Rectangle 27">
              <a:extLst>
                <a:ext uri="{FF2B5EF4-FFF2-40B4-BE49-F238E27FC236}">
                  <a16:creationId xmlns:a16="http://schemas.microsoft.com/office/drawing/2014/main" id="{D9F7BCA5-BA0A-6C3A-F55E-E7ED260DD1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536"/>
              <a:ext cx="1144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accent2"/>
                  </a:solidFill>
                </a:rPr>
                <a:t>Virtual Address</a:t>
              </a:r>
            </a:p>
          </p:txBody>
        </p:sp>
        <p:sp>
          <p:nvSpPr>
            <p:cNvPr id="1163292" name="Line 28">
              <a:extLst>
                <a:ext uri="{FF2B5EF4-FFF2-40B4-BE49-F238E27FC236}">
                  <a16:creationId xmlns:a16="http://schemas.microsoft.com/office/drawing/2014/main" id="{55D424E9-6254-79C3-D166-225C5765CF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8" y="2316"/>
              <a:ext cx="0" cy="8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293" name="Line 29">
              <a:extLst>
                <a:ext uri="{FF2B5EF4-FFF2-40B4-BE49-F238E27FC236}">
                  <a16:creationId xmlns:a16="http://schemas.microsoft.com/office/drawing/2014/main" id="{94DD69C2-29C8-4EF7-6C38-E2DD6B838A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4" y="2316"/>
              <a:ext cx="0" cy="8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294" name="Line 30">
              <a:extLst>
                <a:ext uri="{FF2B5EF4-FFF2-40B4-BE49-F238E27FC236}">
                  <a16:creationId xmlns:a16="http://schemas.microsoft.com/office/drawing/2014/main" id="{F2F4D0C2-1918-AC1D-F294-F70D29AC20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6" y="2508"/>
              <a:ext cx="10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295" name="Line 31">
              <a:extLst>
                <a:ext uri="{FF2B5EF4-FFF2-40B4-BE49-F238E27FC236}">
                  <a16:creationId xmlns:a16="http://schemas.microsoft.com/office/drawing/2014/main" id="{6378894C-D7AC-74B0-30FB-0621381E0D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6" y="2692"/>
              <a:ext cx="10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296" name="Line 32">
              <a:extLst>
                <a:ext uri="{FF2B5EF4-FFF2-40B4-BE49-F238E27FC236}">
                  <a16:creationId xmlns:a16="http://schemas.microsoft.com/office/drawing/2014/main" id="{BF8DE75B-C625-F37F-CAB1-760AEE7669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6" y="2908"/>
              <a:ext cx="10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297" name="Line 33">
              <a:extLst>
                <a:ext uri="{FF2B5EF4-FFF2-40B4-BE49-F238E27FC236}">
                  <a16:creationId xmlns:a16="http://schemas.microsoft.com/office/drawing/2014/main" id="{8D2527E0-1850-2289-E674-4EB925EAE9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6" y="3052"/>
              <a:ext cx="10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298" name="Line 34">
              <a:extLst>
                <a:ext uri="{FF2B5EF4-FFF2-40B4-BE49-F238E27FC236}">
                  <a16:creationId xmlns:a16="http://schemas.microsoft.com/office/drawing/2014/main" id="{8BDCFE65-27AA-858C-A960-CE6C24BAC8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" y="2516"/>
              <a:ext cx="0" cy="504"/>
            </a:xfrm>
            <a:prstGeom prst="line">
              <a:avLst/>
            </a:prstGeom>
            <a:noFill/>
            <a:ln w="25400">
              <a:pattFill prst="dkUpDiag">
                <a:fgClr>
                  <a:schemeClr val="tx1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299" name="Line 35">
              <a:extLst>
                <a:ext uri="{FF2B5EF4-FFF2-40B4-BE49-F238E27FC236}">
                  <a16:creationId xmlns:a16="http://schemas.microsoft.com/office/drawing/2014/main" id="{9EC577B2-96C3-96DD-88F2-1BD5EE2870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2516"/>
              <a:ext cx="0" cy="504"/>
            </a:xfrm>
            <a:prstGeom prst="line">
              <a:avLst/>
            </a:prstGeom>
            <a:noFill/>
            <a:ln w="25400">
              <a:pattFill prst="dkUpDiag">
                <a:fgClr>
                  <a:schemeClr val="tx1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300" name="Rectangle 36">
              <a:extLst>
                <a:ext uri="{FF2B5EF4-FFF2-40B4-BE49-F238E27FC236}">
                  <a16:creationId xmlns:a16="http://schemas.microsoft.com/office/drawing/2014/main" id="{47B7E5C8-4630-0A07-8FC7-87C9AC3D4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2280"/>
              <a:ext cx="840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 i="1">
                  <a:solidFill>
                    <a:schemeClr val="tx1"/>
                  </a:solidFill>
                </a:rPr>
                <a:t>Page Table</a:t>
              </a:r>
            </a:p>
          </p:txBody>
        </p:sp>
        <p:sp>
          <p:nvSpPr>
            <p:cNvPr id="1163301" name="Line 37">
              <a:extLst>
                <a:ext uri="{FF2B5EF4-FFF2-40B4-BE49-F238E27FC236}">
                  <a16:creationId xmlns:a16="http://schemas.microsoft.com/office/drawing/2014/main" id="{5FD72BBE-555B-A8C9-5FC5-3EE135E251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8" y="2060"/>
              <a:ext cx="0" cy="6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302" name="Line 38">
              <a:extLst>
                <a:ext uri="{FF2B5EF4-FFF2-40B4-BE49-F238E27FC236}">
                  <a16:creationId xmlns:a16="http://schemas.microsoft.com/office/drawing/2014/main" id="{EE10961D-9430-FF46-90C4-6435D2C49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6" y="2764"/>
              <a:ext cx="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303" name="Rectangle 39">
              <a:extLst>
                <a:ext uri="{FF2B5EF4-FFF2-40B4-BE49-F238E27FC236}">
                  <a16:creationId xmlns:a16="http://schemas.microsoft.com/office/drawing/2014/main" id="{F5FFD5F1-FD20-CFB3-5518-55BE6B0B7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768"/>
              <a:ext cx="424" cy="6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 b="0">
                  <a:solidFill>
                    <a:schemeClr val="tx1"/>
                  </a:solidFill>
                </a:rPr>
                <a:t>index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 b="0">
                  <a:solidFill>
                    <a:schemeClr val="tx1"/>
                  </a:solidFill>
                </a:rPr>
                <a:t>into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 b="0">
                  <a:solidFill>
                    <a:schemeClr val="tx1"/>
                  </a:solidFill>
                </a:rPr>
                <a:t>page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 b="0">
                  <a:solidFill>
                    <a:schemeClr val="tx1"/>
                  </a:solidFill>
                </a:rPr>
                <a:t>table</a:t>
              </a:r>
            </a:p>
          </p:txBody>
        </p:sp>
        <p:sp>
          <p:nvSpPr>
            <p:cNvPr id="1163304" name="Rectangle 40">
              <a:extLst>
                <a:ext uri="{FF2B5EF4-FFF2-40B4-BE49-F238E27FC236}">
                  <a16:creationId xmlns:a16="http://schemas.microsoft.com/office/drawing/2014/main" id="{29C21825-E0D7-EA8D-17A8-AB2AB84EF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8" y="2528"/>
              <a:ext cx="816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 b="0" dirty="0">
                  <a:solidFill>
                    <a:schemeClr val="tx1"/>
                  </a:solidFill>
                </a:rPr>
                <a:t>Page Table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 b="0" dirty="0">
                  <a:solidFill>
                    <a:schemeClr val="tx1"/>
                  </a:solidFill>
                </a:rPr>
                <a:t>Base Reg</a:t>
              </a:r>
            </a:p>
          </p:txBody>
        </p:sp>
        <p:sp>
          <p:nvSpPr>
            <p:cNvPr id="1163305" name="Line 41">
              <a:extLst>
                <a:ext uri="{FF2B5EF4-FFF2-40B4-BE49-F238E27FC236}">
                  <a16:creationId xmlns:a16="http://schemas.microsoft.com/office/drawing/2014/main" id="{91871CBB-18A2-0E74-1659-B8C8488355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2" y="2596"/>
              <a:ext cx="4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306" name="Rectangle 42">
              <a:extLst>
                <a:ext uri="{FF2B5EF4-FFF2-40B4-BE49-F238E27FC236}">
                  <a16:creationId xmlns:a16="http://schemas.microsoft.com/office/drawing/2014/main" id="{D7B7E35B-82ED-43C5-5365-F364F3DFC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0" y="2712"/>
              <a:ext cx="176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</a:rPr>
                <a:t>V</a:t>
              </a:r>
            </a:p>
          </p:txBody>
        </p:sp>
        <p:sp>
          <p:nvSpPr>
            <p:cNvPr id="1163307" name="Rectangle 43">
              <a:extLst>
                <a:ext uri="{FF2B5EF4-FFF2-40B4-BE49-F238E27FC236}">
                  <a16:creationId xmlns:a16="http://schemas.microsoft.com/office/drawing/2014/main" id="{883E0748-CC52-A958-EDB1-EFABBAFD5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0" y="2656"/>
              <a:ext cx="471" cy="2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</a:rPr>
                <a:t>Access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</a:rPr>
                <a:t>Rights</a:t>
              </a:r>
            </a:p>
          </p:txBody>
        </p:sp>
        <p:sp>
          <p:nvSpPr>
            <p:cNvPr id="1163308" name="Rectangle 44">
              <a:extLst>
                <a:ext uri="{FF2B5EF4-FFF2-40B4-BE49-F238E27FC236}">
                  <a16:creationId xmlns:a16="http://schemas.microsoft.com/office/drawing/2014/main" id="{211FBFDA-B2F5-437B-F790-AF1E0C36A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4" y="2728"/>
              <a:ext cx="280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accent1"/>
                  </a:solidFill>
                </a:rPr>
                <a:t>PA</a:t>
              </a:r>
              <a:endParaRPr lang="en-US" altLang="en-US" sz="1800">
                <a:solidFill>
                  <a:schemeClr val="bg2"/>
                </a:solidFill>
              </a:endParaRPr>
            </a:p>
          </p:txBody>
        </p:sp>
        <p:grpSp>
          <p:nvGrpSpPr>
            <p:cNvPr id="1163309" name="Group 45">
              <a:extLst>
                <a:ext uri="{FF2B5EF4-FFF2-40B4-BE49-F238E27FC236}">
                  <a16:creationId xmlns:a16="http://schemas.microsoft.com/office/drawing/2014/main" id="{1B5B2B1B-B654-AAFF-2BA0-CAC6D899D5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2" y="1712"/>
              <a:ext cx="1600" cy="452"/>
              <a:chOff x="2556" y="1712"/>
              <a:chExt cx="1600" cy="452"/>
            </a:xfrm>
          </p:grpSpPr>
          <p:sp>
            <p:nvSpPr>
              <p:cNvPr id="1163310" name="Rectangle 46">
                <a:extLst>
                  <a:ext uri="{FF2B5EF4-FFF2-40B4-BE49-F238E27FC236}">
                    <a16:creationId xmlns:a16="http://schemas.microsoft.com/office/drawing/2014/main" id="{1CD8FB9A-8CA7-6B7A-CE87-A3BFACECA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6" y="1868"/>
                <a:ext cx="1600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3311" name="Rectangle 47">
                <a:extLst>
                  <a:ext uri="{FF2B5EF4-FFF2-40B4-BE49-F238E27FC236}">
                    <a16:creationId xmlns:a16="http://schemas.microsoft.com/office/drawing/2014/main" id="{D320483B-3D6C-D996-4969-B37E28D763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0" y="1880"/>
                <a:ext cx="80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63500" tIns="25400" rIns="63500" bIns="25400">
                <a:spAutoFit/>
              </a:bodyPr>
              <a:lstStyle/>
              <a:p>
                <a:pPr>
                  <a:lnSpc>
                    <a:spcPct val="85000"/>
                  </a:lnSpc>
                  <a:spcBef>
                    <a:spcPct val="0"/>
                  </a:spcBef>
                </a:pPr>
                <a:r>
                  <a:rPr lang="en-US" altLang="en-US" sz="1800">
                    <a:solidFill>
                      <a:schemeClr val="accent1"/>
                    </a:solidFill>
                  </a:rPr>
                  <a:t>V page no.</a:t>
                </a:r>
              </a:p>
            </p:txBody>
          </p:sp>
          <p:sp>
            <p:nvSpPr>
              <p:cNvPr id="1163312" name="Rectangle 48">
                <a:extLst>
                  <a:ext uri="{FF2B5EF4-FFF2-40B4-BE49-F238E27FC236}">
                    <a16:creationId xmlns:a16="http://schemas.microsoft.com/office/drawing/2014/main" id="{02FED925-1B05-5E18-99C7-EDE16954E5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880"/>
                <a:ext cx="472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63500" tIns="25400" rIns="63500" bIns="25400">
                <a:spAutoFit/>
              </a:bodyPr>
              <a:lstStyle/>
              <a:p>
                <a:pPr>
                  <a:lnSpc>
                    <a:spcPct val="85000"/>
                  </a:lnSpc>
                  <a:spcBef>
                    <a:spcPct val="0"/>
                  </a:spcBef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offset</a:t>
                </a:r>
              </a:p>
            </p:txBody>
          </p:sp>
          <p:sp>
            <p:nvSpPr>
              <p:cNvPr id="1163313" name="Line 49">
                <a:extLst>
                  <a:ext uri="{FF2B5EF4-FFF2-40B4-BE49-F238E27FC236}">
                    <a16:creationId xmlns:a16="http://schemas.microsoft.com/office/drawing/2014/main" id="{75B65B5D-F3FA-5599-E4D2-9B22923BFF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2" y="186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3314" name="Rectangle 50">
                <a:extLst>
                  <a:ext uri="{FF2B5EF4-FFF2-40B4-BE49-F238E27FC236}">
                    <a16:creationId xmlns:a16="http://schemas.microsoft.com/office/drawing/2014/main" id="{A7A7BC67-7755-D02A-7243-DCD8A4D0EB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2" y="1712"/>
                <a:ext cx="240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63500" tIns="25400" rIns="63500" bIns="25400">
                <a:spAutoFit/>
              </a:bodyPr>
              <a:lstStyle/>
              <a:p>
                <a:pPr>
                  <a:lnSpc>
                    <a:spcPct val="85000"/>
                  </a:lnSpc>
                  <a:spcBef>
                    <a:spcPct val="0"/>
                  </a:spcBef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163315" name="Line 51">
                <a:extLst>
                  <a:ext uri="{FF2B5EF4-FFF2-40B4-BE49-F238E27FC236}">
                    <a16:creationId xmlns:a16="http://schemas.microsoft.com/office/drawing/2014/main" id="{AD13F5A9-7146-C723-46B5-0E1C532B3A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2" y="1780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3316" name="Line 52">
                <a:extLst>
                  <a:ext uri="{FF2B5EF4-FFF2-40B4-BE49-F238E27FC236}">
                    <a16:creationId xmlns:a16="http://schemas.microsoft.com/office/drawing/2014/main" id="{6D53DA12-4AD0-D56D-8532-3C87FEE454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84" y="1788"/>
                <a:ext cx="2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3317" name="Line 53">
                <a:extLst>
                  <a:ext uri="{FF2B5EF4-FFF2-40B4-BE49-F238E27FC236}">
                    <a16:creationId xmlns:a16="http://schemas.microsoft.com/office/drawing/2014/main" id="{87C854DC-B2D7-BDAB-DC6B-1D4E02A5CA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8" y="2052"/>
                <a:ext cx="0" cy="11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63318" name="Line 54">
              <a:extLst>
                <a:ext uri="{FF2B5EF4-FFF2-40B4-BE49-F238E27FC236}">
                  <a16:creationId xmlns:a16="http://schemas.microsoft.com/office/drawing/2014/main" id="{B6C486AD-ACB2-75E2-8199-663D97F430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2" y="2160"/>
              <a:ext cx="1588" cy="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319" name="Line 55">
              <a:extLst>
                <a:ext uri="{FF2B5EF4-FFF2-40B4-BE49-F238E27FC236}">
                  <a16:creationId xmlns:a16="http://schemas.microsoft.com/office/drawing/2014/main" id="{DBB26283-C819-7D3F-7B2A-D212118E83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0" y="2160"/>
              <a:ext cx="0" cy="11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320" name="Rectangle 56">
              <a:extLst>
                <a:ext uri="{FF2B5EF4-FFF2-40B4-BE49-F238E27FC236}">
                  <a16:creationId xmlns:a16="http://schemas.microsoft.com/office/drawing/2014/main" id="{97440609-C253-BA29-2EC2-EC2C35C69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" y="3152"/>
              <a:ext cx="896" cy="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 algn="ctr"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 b="0">
                  <a:solidFill>
                    <a:schemeClr val="tx1"/>
                  </a:solidFill>
                </a:rPr>
                <a:t>table located</a:t>
              </a:r>
            </a:p>
            <a:p>
              <a:pPr algn="ctr"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 b="0">
                  <a:solidFill>
                    <a:schemeClr val="tx1"/>
                  </a:solidFill>
                </a:rPr>
                <a:t>in physical</a:t>
              </a:r>
            </a:p>
            <a:p>
              <a:pPr algn="ctr"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 b="0">
                  <a:solidFill>
                    <a:schemeClr val="tx1"/>
                  </a:solidFill>
                </a:rPr>
                <a:t>memory</a:t>
              </a:r>
            </a:p>
          </p:txBody>
        </p:sp>
        <p:grpSp>
          <p:nvGrpSpPr>
            <p:cNvPr id="1163321" name="Group 57">
              <a:extLst>
                <a:ext uri="{FF2B5EF4-FFF2-40B4-BE49-F238E27FC236}">
                  <a16:creationId xmlns:a16="http://schemas.microsoft.com/office/drawing/2014/main" id="{F213333C-883D-2F26-EFDE-85E5169598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7" y="3316"/>
              <a:ext cx="1610" cy="374"/>
              <a:chOff x="3984" y="3708"/>
              <a:chExt cx="1610" cy="374"/>
            </a:xfrm>
          </p:grpSpPr>
          <p:sp>
            <p:nvSpPr>
              <p:cNvPr id="1163322" name="Rectangle 58">
                <a:extLst>
                  <a:ext uri="{FF2B5EF4-FFF2-40B4-BE49-F238E27FC236}">
                    <a16:creationId xmlns:a16="http://schemas.microsoft.com/office/drawing/2014/main" id="{90067B1C-D494-765E-8624-0AD3F1E84B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708"/>
                <a:ext cx="1600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3323" name="Rectangle 59">
                <a:extLst>
                  <a:ext uri="{FF2B5EF4-FFF2-40B4-BE49-F238E27FC236}">
                    <a16:creationId xmlns:a16="http://schemas.microsoft.com/office/drawing/2014/main" id="{4B151B74-4B78-C3BE-F99B-F7425455BF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8" y="3720"/>
                <a:ext cx="80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63500" tIns="25400" rIns="63500" bIns="25400">
                <a:spAutoFit/>
              </a:bodyPr>
              <a:lstStyle/>
              <a:p>
                <a:pPr>
                  <a:lnSpc>
                    <a:spcPct val="85000"/>
                  </a:lnSpc>
                  <a:spcBef>
                    <a:spcPct val="0"/>
                  </a:spcBef>
                </a:pPr>
                <a:r>
                  <a:rPr lang="en-US" altLang="en-US" sz="1800">
                    <a:solidFill>
                      <a:schemeClr val="accent1"/>
                    </a:solidFill>
                  </a:rPr>
                  <a:t>P page no.</a:t>
                </a:r>
              </a:p>
            </p:txBody>
          </p:sp>
          <p:sp>
            <p:nvSpPr>
              <p:cNvPr id="1163324" name="Rectangle 60">
                <a:extLst>
                  <a:ext uri="{FF2B5EF4-FFF2-40B4-BE49-F238E27FC236}">
                    <a16:creationId xmlns:a16="http://schemas.microsoft.com/office/drawing/2014/main" id="{9C1057A1-4D54-0420-54A6-49E4263121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76" y="3720"/>
                <a:ext cx="472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63500" tIns="25400" rIns="63500" bIns="25400">
                <a:spAutoFit/>
              </a:bodyPr>
              <a:lstStyle/>
              <a:p>
                <a:pPr>
                  <a:lnSpc>
                    <a:spcPct val="85000"/>
                  </a:lnSpc>
                  <a:spcBef>
                    <a:spcPct val="0"/>
                  </a:spcBef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offset</a:t>
                </a:r>
              </a:p>
            </p:txBody>
          </p:sp>
          <p:sp>
            <p:nvSpPr>
              <p:cNvPr id="1163325" name="Line 61">
                <a:extLst>
                  <a:ext uri="{FF2B5EF4-FFF2-40B4-BE49-F238E27FC236}">
                    <a16:creationId xmlns:a16="http://schemas.microsoft.com/office/drawing/2014/main" id="{A5CDD6E3-B4C5-F311-FC03-70A0C1C6EC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20" y="370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63326" name="Group 62">
                <a:extLst>
                  <a:ext uri="{FF2B5EF4-FFF2-40B4-BE49-F238E27FC236}">
                    <a16:creationId xmlns:a16="http://schemas.microsoft.com/office/drawing/2014/main" id="{255A3AEC-6E9A-6D85-331B-61E4318E33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22" y="3903"/>
                <a:ext cx="672" cy="179"/>
                <a:chOff x="4912" y="3552"/>
                <a:chExt cx="672" cy="179"/>
              </a:xfrm>
            </p:grpSpPr>
            <p:sp>
              <p:nvSpPr>
                <p:cNvPr id="1163327" name="Rectangle 63">
                  <a:extLst>
                    <a:ext uri="{FF2B5EF4-FFF2-40B4-BE49-F238E27FC236}">
                      <a16:creationId xmlns:a16="http://schemas.microsoft.com/office/drawing/2014/main" id="{D13969B3-F8B0-F82C-4129-FB05C064B0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40" y="3552"/>
                  <a:ext cx="240" cy="1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63500" tIns="25400" rIns="63500" bIns="25400">
                  <a:spAutoFit/>
                </a:bodyPr>
                <a:lstStyle/>
                <a:p>
                  <a:pPr>
                    <a:lnSpc>
                      <a:spcPct val="85000"/>
                    </a:lnSpc>
                    <a:spcBef>
                      <a:spcPct val="0"/>
                    </a:spcBef>
                  </a:pPr>
                  <a:r>
                    <a:rPr lang="en-US" altLang="en-US" sz="180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1163328" name="Line 64">
                  <a:extLst>
                    <a:ext uri="{FF2B5EF4-FFF2-40B4-BE49-F238E27FC236}">
                      <a16:creationId xmlns:a16="http://schemas.microsoft.com/office/drawing/2014/main" id="{3D2A7EE1-1A3C-1F78-A07E-A60A6855A2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60" y="3620"/>
                  <a:ext cx="22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63329" name="Line 65">
                  <a:extLst>
                    <a:ext uri="{FF2B5EF4-FFF2-40B4-BE49-F238E27FC236}">
                      <a16:creationId xmlns:a16="http://schemas.microsoft.com/office/drawing/2014/main" id="{8C2B8959-B231-F56C-F87F-FE55151702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912" y="3628"/>
                  <a:ext cx="272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163330" name="Freeform 66">
              <a:extLst>
                <a:ext uri="{FF2B5EF4-FFF2-40B4-BE49-F238E27FC236}">
                  <a16:creationId xmlns:a16="http://schemas.microsoft.com/office/drawing/2014/main" id="{C7DBC1AD-09FE-E481-0F1F-6EB8DAC3F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2784"/>
              <a:ext cx="384" cy="528"/>
            </a:xfrm>
            <a:custGeom>
              <a:avLst/>
              <a:gdLst>
                <a:gd name="T0" fmla="*/ 0 w 384"/>
                <a:gd name="T1" fmla="*/ 0 h 528"/>
                <a:gd name="T2" fmla="*/ 384 w 384"/>
                <a:gd name="T3" fmla="*/ 0 h 528"/>
                <a:gd name="T4" fmla="*/ 384 w 384"/>
                <a:gd name="T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4" h="528">
                  <a:moveTo>
                    <a:pt x="0" y="0"/>
                  </a:moveTo>
                  <a:lnTo>
                    <a:pt x="384" y="0"/>
                  </a:lnTo>
                  <a:lnTo>
                    <a:pt x="384" y="52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331" name="Rectangle 67">
              <a:extLst>
                <a:ext uri="{FF2B5EF4-FFF2-40B4-BE49-F238E27FC236}">
                  <a16:creationId xmlns:a16="http://schemas.microsoft.com/office/drawing/2014/main" id="{41370F9D-691A-E9EE-C5E7-E2E535D21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3744"/>
              <a:ext cx="1280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accent2"/>
                  </a:solidFill>
                </a:rPr>
                <a:t>Physical Address</a:t>
              </a:r>
            </a:p>
          </p:txBody>
        </p:sp>
      </p:grpSp>
      <p:sp>
        <p:nvSpPr>
          <p:cNvPr id="1163333" name="Line 69">
            <a:extLst>
              <a:ext uri="{FF2B5EF4-FFF2-40B4-BE49-F238E27FC236}">
                <a16:creationId xmlns:a16="http://schemas.microsoft.com/office/drawing/2014/main" id="{C646368A-0901-4736-9C7F-4AF5265FBD37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1531938" y="2095500"/>
            <a:ext cx="901700" cy="1841500"/>
          </a:xfrm>
          <a:prstGeom prst="line">
            <a:avLst/>
          </a:prstGeom>
          <a:noFill/>
          <a:ln w="38100">
            <a:solidFill>
              <a:srgbClr val="053DE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34" name="Text Box 70">
            <a:extLst>
              <a:ext uri="{FF2B5EF4-FFF2-40B4-BE49-F238E27FC236}">
                <a16:creationId xmlns:a16="http://schemas.microsoft.com/office/drawing/2014/main" id="{6304B098-BEC9-5EB3-EDA1-07ACA362C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9838" y="1993900"/>
            <a:ext cx="596900" cy="19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FF"/>
                </a:solidFill>
                <a:latin typeface="Helvetica" panose="020B0604020202020204" pitchFamily="34" charset="0"/>
              </a:rPr>
              <a:t>frame</a:t>
            </a:r>
          </a:p>
        </p:txBody>
      </p:sp>
      <p:sp>
        <p:nvSpPr>
          <p:cNvPr id="1163336" name="Line 72">
            <a:extLst>
              <a:ext uri="{FF2B5EF4-FFF2-40B4-BE49-F238E27FC236}">
                <a16:creationId xmlns:a16="http://schemas.microsoft.com/office/drawing/2014/main" id="{27F23F88-6A14-F3E9-90E4-28CBD0D583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1938" y="2400300"/>
            <a:ext cx="901700" cy="12700"/>
          </a:xfrm>
          <a:prstGeom prst="line">
            <a:avLst/>
          </a:prstGeom>
          <a:noFill/>
          <a:ln w="38100">
            <a:solidFill>
              <a:srgbClr val="053DE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37" name="Text Box 73">
            <a:extLst>
              <a:ext uri="{FF2B5EF4-FFF2-40B4-BE49-F238E27FC236}">
                <a16:creationId xmlns:a16="http://schemas.microsoft.com/office/drawing/2014/main" id="{1CF6ABA6-AFD4-F8AE-3814-6F2B2F2C5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9838" y="2286000"/>
            <a:ext cx="596900" cy="19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FF"/>
                </a:solidFill>
                <a:latin typeface="Helvetica" panose="020B0604020202020204" pitchFamily="34" charset="0"/>
              </a:rPr>
              <a:t>frame</a:t>
            </a:r>
          </a:p>
        </p:txBody>
      </p:sp>
      <p:sp>
        <p:nvSpPr>
          <p:cNvPr id="1163339" name="Line 75">
            <a:extLst>
              <a:ext uri="{FF2B5EF4-FFF2-40B4-BE49-F238E27FC236}">
                <a16:creationId xmlns:a16="http://schemas.microsoft.com/office/drawing/2014/main" id="{9595E2A5-A804-A592-AC8F-68902214CEF6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1531938" y="2705100"/>
            <a:ext cx="901700" cy="1841500"/>
          </a:xfrm>
          <a:prstGeom prst="line">
            <a:avLst/>
          </a:prstGeom>
          <a:noFill/>
          <a:ln w="38100">
            <a:solidFill>
              <a:srgbClr val="053DE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40" name="Text Box 76">
            <a:extLst>
              <a:ext uri="{FF2B5EF4-FFF2-40B4-BE49-F238E27FC236}">
                <a16:creationId xmlns:a16="http://schemas.microsoft.com/office/drawing/2014/main" id="{1D54D5FC-C1AC-E3AF-BBE9-199525584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9838" y="2603500"/>
            <a:ext cx="596900" cy="19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FF"/>
                </a:solidFill>
                <a:latin typeface="Helvetica" panose="020B0604020202020204" pitchFamily="34" charset="0"/>
              </a:rPr>
              <a:t>frame</a:t>
            </a:r>
          </a:p>
        </p:txBody>
      </p:sp>
      <p:sp>
        <p:nvSpPr>
          <p:cNvPr id="1163342" name="Line 78">
            <a:extLst>
              <a:ext uri="{FF2B5EF4-FFF2-40B4-BE49-F238E27FC236}">
                <a16:creationId xmlns:a16="http://schemas.microsoft.com/office/drawing/2014/main" id="{DF6A3F64-0F31-3BDC-439D-9EA3A5F49865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1531938" y="1790700"/>
            <a:ext cx="901700" cy="1308100"/>
          </a:xfrm>
          <a:prstGeom prst="line">
            <a:avLst/>
          </a:prstGeom>
          <a:noFill/>
          <a:ln w="38100">
            <a:solidFill>
              <a:srgbClr val="053DE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43" name="Text Box 79">
            <a:extLst>
              <a:ext uri="{FF2B5EF4-FFF2-40B4-BE49-F238E27FC236}">
                <a16:creationId xmlns:a16="http://schemas.microsoft.com/office/drawing/2014/main" id="{D071FF60-F49C-6272-65A5-BEA554731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9838" y="1689100"/>
            <a:ext cx="596900" cy="19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FF"/>
                </a:solidFill>
                <a:latin typeface="Helvetica" panose="020B0604020202020204" pitchFamily="34" charset="0"/>
              </a:rPr>
              <a:t>frame</a:t>
            </a:r>
          </a:p>
        </p:txBody>
      </p:sp>
      <p:sp>
        <p:nvSpPr>
          <p:cNvPr id="1163346" name="Line 82">
            <a:extLst>
              <a:ext uri="{FF2B5EF4-FFF2-40B4-BE49-F238E27FC236}">
                <a16:creationId xmlns:a16="http://schemas.microsoft.com/office/drawing/2014/main" id="{7E6B5246-88EF-0A66-E716-C8DB2C2F7E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638" y="3644900"/>
            <a:ext cx="6223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47" name="Text Box 83">
            <a:extLst>
              <a:ext uri="{FF2B5EF4-FFF2-40B4-BE49-F238E27FC236}">
                <a16:creationId xmlns:a16="http://schemas.microsoft.com/office/drawing/2014/main" id="{CF4DE8A4-2647-6490-2750-A87AEC020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80963" y="3683000"/>
            <a:ext cx="800101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r>
              <a:rPr lang="en-US" altLang="en-US" sz="1300">
                <a:latin typeface="Helvetica" panose="020B0604020202020204" pitchFamily="34" charset="0"/>
              </a:rPr>
              <a:t>virtual address</a:t>
            </a:r>
          </a:p>
        </p:txBody>
      </p:sp>
      <p:sp>
        <p:nvSpPr>
          <p:cNvPr id="1163349" name="Text Box 85">
            <a:extLst>
              <a:ext uri="{FF2B5EF4-FFF2-40B4-BE49-F238E27FC236}">
                <a16:creationId xmlns:a16="http://schemas.microsoft.com/office/drawing/2014/main" id="{71C03D7A-C1DF-AD78-75F4-41E01A489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1073150"/>
            <a:ext cx="984250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0"/>
              </a:spcBef>
              <a:tabLst>
                <a:tab pos="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en-US" altLang="en-US" sz="1400">
                <a:solidFill>
                  <a:srgbClr val="053DE8"/>
                </a:solidFill>
                <a:latin typeface="Arial" panose="020B0604020202020204" pitchFamily="34" charset="0"/>
              </a:rPr>
              <a:t> Page Table</a:t>
            </a:r>
          </a:p>
        </p:txBody>
      </p:sp>
      <p:sp>
        <p:nvSpPr>
          <p:cNvPr id="1163350" name="Freeform 86">
            <a:extLst>
              <a:ext uri="{FF2B5EF4-FFF2-40B4-BE49-F238E27FC236}">
                <a16:creationId xmlns:a16="http://schemas.microsoft.com/office/drawing/2014/main" id="{6DFB15ED-CFFD-1AD7-D7AF-626037E0D297}"/>
              </a:ext>
            </a:extLst>
          </p:cNvPr>
          <p:cNvSpPr>
            <a:spLocks/>
          </p:cNvSpPr>
          <p:nvPr/>
        </p:nvSpPr>
        <p:spPr bwMode="auto">
          <a:xfrm>
            <a:off x="844550" y="1651000"/>
            <a:ext cx="674688" cy="292100"/>
          </a:xfrm>
          <a:custGeom>
            <a:avLst/>
            <a:gdLst>
              <a:gd name="T0" fmla="+- 0 10000 10000"/>
              <a:gd name="T1" fmla="*/ T0 w 10000"/>
              <a:gd name="T2" fmla="+- 0 10000 10000"/>
              <a:gd name="T3" fmla="*/ 10000 h 10000"/>
              <a:gd name="T4" fmla="+- 0 20000 10000"/>
              <a:gd name="T5" fmla="*/ T4 w 10000"/>
              <a:gd name="T6" fmla="+- 0 10000 10000"/>
              <a:gd name="T7" fmla="*/ 10000 h 10000"/>
              <a:gd name="T8" fmla="+- 0 20000 10000"/>
              <a:gd name="T9" fmla="*/ T8 w 10000"/>
              <a:gd name="T10" fmla="+- 0 20000 10000"/>
              <a:gd name="T11" fmla="*/ 20000 h 10000"/>
              <a:gd name="T12" fmla="+- 0 10000 10000"/>
              <a:gd name="T13" fmla="*/ T12 w 10000"/>
              <a:gd name="T14" fmla="+- 0 20000 10000"/>
              <a:gd name="T15" fmla="*/ 20000 h 10000"/>
              <a:gd name="T16" fmla="+- 0 10000 10000"/>
              <a:gd name="T17" fmla="*/ T16 w 10000"/>
              <a:gd name="T18" fmla="+- 0 10000 10000"/>
              <a:gd name="T19" fmla="*/ 10000 h 10000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38100">
            <a:solidFill>
              <a:srgbClr val="053DE8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51" name="Freeform 87">
            <a:extLst>
              <a:ext uri="{FF2B5EF4-FFF2-40B4-BE49-F238E27FC236}">
                <a16:creationId xmlns:a16="http://schemas.microsoft.com/office/drawing/2014/main" id="{29004723-5C61-F179-E0C4-221B03839AF8}"/>
              </a:ext>
            </a:extLst>
          </p:cNvPr>
          <p:cNvSpPr>
            <a:spLocks/>
          </p:cNvSpPr>
          <p:nvPr/>
        </p:nvSpPr>
        <p:spPr bwMode="auto">
          <a:xfrm>
            <a:off x="844550" y="1955800"/>
            <a:ext cx="674688" cy="292100"/>
          </a:xfrm>
          <a:custGeom>
            <a:avLst/>
            <a:gdLst>
              <a:gd name="T0" fmla="+- 0 10000 10000"/>
              <a:gd name="T1" fmla="*/ T0 w 10000"/>
              <a:gd name="T2" fmla="+- 0 10000 10000"/>
              <a:gd name="T3" fmla="*/ 10000 h 10000"/>
              <a:gd name="T4" fmla="+- 0 20000 10000"/>
              <a:gd name="T5" fmla="*/ T4 w 10000"/>
              <a:gd name="T6" fmla="+- 0 10000 10000"/>
              <a:gd name="T7" fmla="*/ 10000 h 10000"/>
              <a:gd name="T8" fmla="+- 0 20000 10000"/>
              <a:gd name="T9" fmla="*/ T8 w 10000"/>
              <a:gd name="T10" fmla="+- 0 20000 10000"/>
              <a:gd name="T11" fmla="*/ 20000 h 10000"/>
              <a:gd name="T12" fmla="+- 0 10000 10000"/>
              <a:gd name="T13" fmla="*/ T12 w 10000"/>
              <a:gd name="T14" fmla="+- 0 20000 10000"/>
              <a:gd name="T15" fmla="*/ 20000 h 10000"/>
              <a:gd name="T16" fmla="+- 0 10000 10000"/>
              <a:gd name="T17" fmla="*/ T16 w 10000"/>
              <a:gd name="T18" fmla="+- 0 10000 10000"/>
              <a:gd name="T19" fmla="*/ 10000 h 10000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38100">
            <a:solidFill>
              <a:srgbClr val="053DE8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52" name="Freeform 88">
            <a:extLst>
              <a:ext uri="{FF2B5EF4-FFF2-40B4-BE49-F238E27FC236}">
                <a16:creationId xmlns:a16="http://schemas.microsoft.com/office/drawing/2014/main" id="{80F4E648-AD78-FD71-F257-1E4471257C92}"/>
              </a:ext>
            </a:extLst>
          </p:cNvPr>
          <p:cNvSpPr>
            <a:spLocks/>
          </p:cNvSpPr>
          <p:nvPr/>
        </p:nvSpPr>
        <p:spPr bwMode="auto">
          <a:xfrm>
            <a:off x="844550" y="2260600"/>
            <a:ext cx="674688" cy="292100"/>
          </a:xfrm>
          <a:custGeom>
            <a:avLst/>
            <a:gdLst>
              <a:gd name="T0" fmla="+- 0 10000 10000"/>
              <a:gd name="T1" fmla="*/ T0 w 10000"/>
              <a:gd name="T2" fmla="+- 0 10000 10000"/>
              <a:gd name="T3" fmla="*/ 10000 h 10000"/>
              <a:gd name="T4" fmla="+- 0 20000 10000"/>
              <a:gd name="T5" fmla="*/ T4 w 10000"/>
              <a:gd name="T6" fmla="+- 0 10000 10000"/>
              <a:gd name="T7" fmla="*/ 10000 h 10000"/>
              <a:gd name="T8" fmla="+- 0 20000 10000"/>
              <a:gd name="T9" fmla="*/ T8 w 10000"/>
              <a:gd name="T10" fmla="+- 0 20000 10000"/>
              <a:gd name="T11" fmla="*/ 20000 h 10000"/>
              <a:gd name="T12" fmla="+- 0 10000 10000"/>
              <a:gd name="T13" fmla="*/ T12 w 10000"/>
              <a:gd name="T14" fmla="+- 0 20000 10000"/>
              <a:gd name="T15" fmla="*/ 20000 h 10000"/>
              <a:gd name="T16" fmla="+- 0 10000 10000"/>
              <a:gd name="T17" fmla="*/ T16 w 10000"/>
              <a:gd name="T18" fmla="+- 0 10000 10000"/>
              <a:gd name="T19" fmla="*/ 10000 h 10000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38100">
            <a:solidFill>
              <a:srgbClr val="053DE8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53" name="Freeform 89">
            <a:extLst>
              <a:ext uri="{FF2B5EF4-FFF2-40B4-BE49-F238E27FC236}">
                <a16:creationId xmlns:a16="http://schemas.microsoft.com/office/drawing/2014/main" id="{D24CB02B-02AC-9B89-844D-D99F6BE51E9C}"/>
              </a:ext>
            </a:extLst>
          </p:cNvPr>
          <p:cNvSpPr>
            <a:spLocks/>
          </p:cNvSpPr>
          <p:nvPr/>
        </p:nvSpPr>
        <p:spPr bwMode="auto">
          <a:xfrm>
            <a:off x="844550" y="2565400"/>
            <a:ext cx="674688" cy="292100"/>
          </a:xfrm>
          <a:custGeom>
            <a:avLst/>
            <a:gdLst>
              <a:gd name="T0" fmla="+- 0 10000 10000"/>
              <a:gd name="T1" fmla="*/ T0 w 10000"/>
              <a:gd name="T2" fmla="+- 0 10000 10000"/>
              <a:gd name="T3" fmla="*/ 10000 h 10000"/>
              <a:gd name="T4" fmla="+- 0 20000 10000"/>
              <a:gd name="T5" fmla="*/ T4 w 10000"/>
              <a:gd name="T6" fmla="+- 0 10000 10000"/>
              <a:gd name="T7" fmla="*/ 10000 h 10000"/>
              <a:gd name="T8" fmla="+- 0 20000 10000"/>
              <a:gd name="T9" fmla="*/ T8 w 10000"/>
              <a:gd name="T10" fmla="+- 0 20000 10000"/>
              <a:gd name="T11" fmla="*/ 20000 h 10000"/>
              <a:gd name="T12" fmla="+- 0 10000 10000"/>
              <a:gd name="T13" fmla="*/ T12 w 10000"/>
              <a:gd name="T14" fmla="+- 0 20000 10000"/>
              <a:gd name="T15" fmla="*/ 20000 h 10000"/>
              <a:gd name="T16" fmla="+- 0 10000 10000"/>
              <a:gd name="T17" fmla="*/ T16 w 10000"/>
              <a:gd name="T18" fmla="+- 0 10000 10000"/>
              <a:gd name="T19" fmla="*/ 10000 h 10000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38100">
            <a:solidFill>
              <a:srgbClr val="053DE8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54" name="Freeform 90">
            <a:extLst>
              <a:ext uri="{FF2B5EF4-FFF2-40B4-BE49-F238E27FC236}">
                <a16:creationId xmlns:a16="http://schemas.microsoft.com/office/drawing/2014/main" id="{15BD8617-84E2-F7BA-1E84-BD3D49382731}"/>
              </a:ext>
            </a:extLst>
          </p:cNvPr>
          <p:cNvSpPr>
            <a:spLocks/>
          </p:cNvSpPr>
          <p:nvPr/>
        </p:nvSpPr>
        <p:spPr bwMode="auto">
          <a:xfrm>
            <a:off x="844550" y="2870200"/>
            <a:ext cx="674688" cy="292100"/>
          </a:xfrm>
          <a:custGeom>
            <a:avLst/>
            <a:gdLst>
              <a:gd name="T0" fmla="+- 0 10000 10000"/>
              <a:gd name="T1" fmla="*/ T0 w 10000"/>
              <a:gd name="T2" fmla="+- 0 10000 10000"/>
              <a:gd name="T3" fmla="*/ 10000 h 10000"/>
              <a:gd name="T4" fmla="+- 0 20000 10000"/>
              <a:gd name="T5" fmla="*/ T4 w 10000"/>
              <a:gd name="T6" fmla="+- 0 10000 10000"/>
              <a:gd name="T7" fmla="*/ 10000 h 10000"/>
              <a:gd name="T8" fmla="+- 0 20000 10000"/>
              <a:gd name="T9" fmla="*/ T8 w 10000"/>
              <a:gd name="T10" fmla="+- 0 20000 10000"/>
              <a:gd name="T11" fmla="*/ 20000 h 10000"/>
              <a:gd name="T12" fmla="+- 0 10000 10000"/>
              <a:gd name="T13" fmla="*/ T12 w 10000"/>
              <a:gd name="T14" fmla="+- 0 20000 10000"/>
              <a:gd name="T15" fmla="*/ 20000 h 10000"/>
              <a:gd name="T16" fmla="+- 0 10000 10000"/>
              <a:gd name="T17" fmla="*/ T16 w 10000"/>
              <a:gd name="T18" fmla="+- 0 10000 10000"/>
              <a:gd name="T19" fmla="*/ 10000 h 10000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38100">
            <a:solidFill>
              <a:srgbClr val="053DE8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55" name="Freeform 91">
            <a:extLst>
              <a:ext uri="{FF2B5EF4-FFF2-40B4-BE49-F238E27FC236}">
                <a16:creationId xmlns:a16="http://schemas.microsoft.com/office/drawing/2014/main" id="{AD6C8C9F-E940-9607-3BA2-A026C4A3B509}"/>
              </a:ext>
            </a:extLst>
          </p:cNvPr>
          <p:cNvSpPr>
            <a:spLocks/>
          </p:cNvSpPr>
          <p:nvPr/>
        </p:nvSpPr>
        <p:spPr bwMode="auto">
          <a:xfrm>
            <a:off x="844550" y="3175000"/>
            <a:ext cx="674688" cy="292100"/>
          </a:xfrm>
          <a:custGeom>
            <a:avLst/>
            <a:gdLst>
              <a:gd name="T0" fmla="+- 0 10000 10000"/>
              <a:gd name="T1" fmla="*/ T0 w 10000"/>
              <a:gd name="T2" fmla="+- 0 10000 10000"/>
              <a:gd name="T3" fmla="*/ 10000 h 10000"/>
              <a:gd name="T4" fmla="+- 0 20000 10000"/>
              <a:gd name="T5" fmla="*/ T4 w 10000"/>
              <a:gd name="T6" fmla="+- 0 10000 10000"/>
              <a:gd name="T7" fmla="*/ 10000 h 10000"/>
              <a:gd name="T8" fmla="+- 0 20000 10000"/>
              <a:gd name="T9" fmla="*/ T8 w 10000"/>
              <a:gd name="T10" fmla="+- 0 20000 10000"/>
              <a:gd name="T11" fmla="*/ 20000 h 10000"/>
              <a:gd name="T12" fmla="+- 0 10000 10000"/>
              <a:gd name="T13" fmla="*/ T12 w 10000"/>
              <a:gd name="T14" fmla="+- 0 20000 10000"/>
              <a:gd name="T15" fmla="*/ 20000 h 10000"/>
              <a:gd name="T16" fmla="+- 0 10000 10000"/>
              <a:gd name="T17" fmla="*/ T16 w 10000"/>
              <a:gd name="T18" fmla="+- 0 10000 10000"/>
              <a:gd name="T19" fmla="*/ 10000 h 10000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38100">
            <a:solidFill>
              <a:srgbClr val="053DE8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56" name="Freeform 92">
            <a:extLst>
              <a:ext uri="{FF2B5EF4-FFF2-40B4-BE49-F238E27FC236}">
                <a16:creationId xmlns:a16="http://schemas.microsoft.com/office/drawing/2014/main" id="{6D9E49D0-1540-0C48-B383-0F40C96695EB}"/>
              </a:ext>
            </a:extLst>
          </p:cNvPr>
          <p:cNvSpPr>
            <a:spLocks/>
          </p:cNvSpPr>
          <p:nvPr/>
        </p:nvSpPr>
        <p:spPr bwMode="auto">
          <a:xfrm>
            <a:off x="844550" y="3479800"/>
            <a:ext cx="674688" cy="292100"/>
          </a:xfrm>
          <a:custGeom>
            <a:avLst/>
            <a:gdLst>
              <a:gd name="T0" fmla="+- 0 10000 10000"/>
              <a:gd name="T1" fmla="*/ T0 w 10000"/>
              <a:gd name="T2" fmla="+- 0 10000 10000"/>
              <a:gd name="T3" fmla="*/ 10000 h 10000"/>
              <a:gd name="T4" fmla="+- 0 20000 10000"/>
              <a:gd name="T5" fmla="*/ T4 w 10000"/>
              <a:gd name="T6" fmla="+- 0 10000 10000"/>
              <a:gd name="T7" fmla="*/ 10000 h 10000"/>
              <a:gd name="T8" fmla="+- 0 20000 10000"/>
              <a:gd name="T9" fmla="*/ T8 w 10000"/>
              <a:gd name="T10" fmla="+- 0 20000 10000"/>
              <a:gd name="T11" fmla="*/ 20000 h 10000"/>
              <a:gd name="T12" fmla="+- 0 10000 10000"/>
              <a:gd name="T13" fmla="*/ T12 w 10000"/>
              <a:gd name="T14" fmla="+- 0 20000 10000"/>
              <a:gd name="T15" fmla="*/ 20000 h 10000"/>
              <a:gd name="T16" fmla="+- 0 10000 10000"/>
              <a:gd name="T17" fmla="*/ T16 w 10000"/>
              <a:gd name="T18" fmla="+- 0 10000 10000"/>
              <a:gd name="T19" fmla="*/ 10000 h 10000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38100">
            <a:solidFill>
              <a:srgbClr val="053DE8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57" name="Freeform 93">
            <a:extLst>
              <a:ext uri="{FF2B5EF4-FFF2-40B4-BE49-F238E27FC236}">
                <a16:creationId xmlns:a16="http://schemas.microsoft.com/office/drawing/2014/main" id="{37BEBC4A-36DE-7CFA-9CE3-3F04C55364E5}"/>
              </a:ext>
            </a:extLst>
          </p:cNvPr>
          <p:cNvSpPr>
            <a:spLocks/>
          </p:cNvSpPr>
          <p:nvPr/>
        </p:nvSpPr>
        <p:spPr bwMode="auto">
          <a:xfrm>
            <a:off x="844550" y="3784600"/>
            <a:ext cx="674688" cy="292100"/>
          </a:xfrm>
          <a:custGeom>
            <a:avLst/>
            <a:gdLst>
              <a:gd name="T0" fmla="+- 0 10000 10000"/>
              <a:gd name="T1" fmla="*/ T0 w 10000"/>
              <a:gd name="T2" fmla="+- 0 10000 10000"/>
              <a:gd name="T3" fmla="*/ 10000 h 10000"/>
              <a:gd name="T4" fmla="+- 0 20000 10000"/>
              <a:gd name="T5" fmla="*/ T4 w 10000"/>
              <a:gd name="T6" fmla="+- 0 10000 10000"/>
              <a:gd name="T7" fmla="*/ 10000 h 10000"/>
              <a:gd name="T8" fmla="+- 0 20000 10000"/>
              <a:gd name="T9" fmla="*/ T8 w 10000"/>
              <a:gd name="T10" fmla="+- 0 20000 10000"/>
              <a:gd name="T11" fmla="*/ 20000 h 10000"/>
              <a:gd name="T12" fmla="+- 0 10000 10000"/>
              <a:gd name="T13" fmla="*/ T12 w 10000"/>
              <a:gd name="T14" fmla="+- 0 20000 10000"/>
              <a:gd name="T15" fmla="*/ 20000 h 10000"/>
              <a:gd name="T16" fmla="+- 0 10000 10000"/>
              <a:gd name="T17" fmla="*/ T16 w 10000"/>
              <a:gd name="T18" fmla="+- 0 10000 10000"/>
              <a:gd name="T19" fmla="*/ 10000 h 10000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38100">
            <a:solidFill>
              <a:srgbClr val="053DE8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58" name="Freeform 94">
            <a:extLst>
              <a:ext uri="{FF2B5EF4-FFF2-40B4-BE49-F238E27FC236}">
                <a16:creationId xmlns:a16="http://schemas.microsoft.com/office/drawing/2014/main" id="{40CEAEF4-F463-91A1-1ED4-BC78259849AC}"/>
              </a:ext>
            </a:extLst>
          </p:cNvPr>
          <p:cNvSpPr>
            <a:spLocks/>
          </p:cNvSpPr>
          <p:nvPr/>
        </p:nvSpPr>
        <p:spPr bwMode="auto">
          <a:xfrm>
            <a:off x="844550" y="4089400"/>
            <a:ext cx="674688" cy="292100"/>
          </a:xfrm>
          <a:custGeom>
            <a:avLst/>
            <a:gdLst>
              <a:gd name="T0" fmla="+- 0 10000 10000"/>
              <a:gd name="T1" fmla="*/ T0 w 10000"/>
              <a:gd name="T2" fmla="+- 0 10000 10000"/>
              <a:gd name="T3" fmla="*/ 10000 h 10000"/>
              <a:gd name="T4" fmla="+- 0 20000 10000"/>
              <a:gd name="T5" fmla="*/ T4 w 10000"/>
              <a:gd name="T6" fmla="+- 0 10000 10000"/>
              <a:gd name="T7" fmla="*/ 10000 h 10000"/>
              <a:gd name="T8" fmla="+- 0 20000 10000"/>
              <a:gd name="T9" fmla="*/ T8 w 10000"/>
              <a:gd name="T10" fmla="+- 0 20000 10000"/>
              <a:gd name="T11" fmla="*/ 20000 h 10000"/>
              <a:gd name="T12" fmla="+- 0 10000 10000"/>
              <a:gd name="T13" fmla="*/ T12 w 10000"/>
              <a:gd name="T14" fmla="+- 0 20000 10000"/>
              <a:gd name="T15" fmla="*/ 20000 h 10000"/>
              <a:gd name="T16" fmla="+- 0 10000 10000"/>
              <a:gd name="T17" fmla="*/ T16 w 10000"/>
              <a:gd name="T18" fmla="+- 0 10000 10000"/>
              <a:gd name="T19" fmla="*/ 10000 h 10000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38100">
            <a:solidFill>
              <a:srgbClr val="053DE8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59" name="Freeform 95">
            <a:extLst>
              <a:ext uri="{FF2B5EF4-FFF2-40B4-BE49-F238E27FC236}">
                <a16:creationId xmlns:a16="http://schemas.microsoft.com/office/drawing/2014/main" id="{47AB1EE2-A26A-9D08-EA28-5587DB65334B}"/>
              </a:ext>
            </a:extLst>
          </p:cNvPr>
          <p:cNvSpPr>
            <a:spLocks/>
          </p:cNvSpPr>
          <p:nvPr/>
        </p:nvSpPr>
        <p:spPr bwMode="auto">
          <a:xfrm>
            <a:off x="844550" y="4394200"/>
            <a:ext cx="674688" cy="292100"/>
          </a:xfrm>
          <a:custGeom>
            <a:avLst/>
            <a:gdLst>
              <a:gd name="T0" fmla="+- 0 10000 10000"/>
              <a:gd name="T1" fmla="*/ T0 w 10000"/>
              <a:gd name="T2" fmla="+- 0 10000 10000"/>
              <a:gd name="T3" fmla="*/ 10000 h 10000"/>
              <a:gd name="T4" fmla="+- 0 20000 10000"/>
              <a:gd name="T5" fmla="*/ T4 w 10000"/>
              <a:gd name="T6" fmla="+- 0 10000 10000"/>
              <a:gd name="T7" fmla="*/ 10000 h 10000"/>
              <a:gd name="T8" fmla="+- 0 20000 10000"/>
              <a:gd name="T9" fmla="*/ T8 w 10000"/>
              <a:gd name="T10" fmla="+- 0 20000 10000"/>
              <a:gd name="T11" fmla="*/ 20000 h 10000"/>
              <a:gd name="T12" fmla="+- 0 10000 10000"/>
              <a:gd name="T13" fmla="*/ T12 w 10000"/>
              <a:gd name="T14" fmla="+- 0 20000 10000"/>
              <a:gd name="T15" fmla="*/ 20000 h 10000"/>
              <a:gd name="T16" fmla="+- 0 10000 10000"/>
              <a:gd name="T17" fmla="*/ T16 w 10000"/>
              <a:gd name="T18" fmla="+- 0 10000 10000"/>
              <a:gd name="T19" fmla="*/ 10000 h 10000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38100">
            <a:solidFill>
              <a:srgbClr val="053DE8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60" name="Text Box 96">
            <a:extLst>
              <a:ext uri="{FF2B5EF4-FFF2-40B4-BE49-F238E27FC236}">
                <a16:creationId xmlns:a16="http://schemas.microsoft.com/office/drawing/2014/main" id="{0B9EBD70-B3AE-283D-73AF-AF06A634C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" y="1257300"/>
            <a:ext cx="1347788" cy="19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300">
              <a:solidFill>
                <a:srgbClr val="0000FF"/>
              </a:solidFill>
              <a:latin typeface="Helvetica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346" name="Rectangle 2">
            <a:extLst>
              <a:ext uri="{FF2B5EF4-FFF2-40B4-BE49-F238E27FC236}">
                <a16:creationId xmlns:a16="http://schemas.microsoft.com/office/drawing/2014/main" id="{AFC04CBD-97FE-7747-91DA-E52FF4846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0700" y="38100"/>
            <a:ext cx="8369300" cy="812800"/>
          </a:xfrm>
          <a:noFill/>
        </p:spPr>
        <p:txBody>
          <a:bodyPr/>
          <a:lstStyle/>
          <a:p>
            <a:pPr marL="25400">
              <a:tabLst>
                <a:tab pos="317500" algn="l"/>
                <a:tab pos="1231900" algn="l"/>
                <a:tab pos="2146300" algn="l"/>
                <a:tab pos="3060700" algn="l"/>
                <a:tab pos="3975100" algn="l"/>
                <a:tab pos="4889500" algn="l"/>
                <a:tab pos="5803900" algn="l"/>
              </a:tabLst>
            </a:pPr>
            <a:r>
              <a:rPr lang="en-US" altLang="en-US" sz="3600" dirty="0"/>
              <a:t>VM and Disk: Page replacement policy</a:t>
            </a:r>
          </a:p>
        </p:txBody>
      </p:sp>
      <p:grpSp>
        <p:nvGrpSpPr>
          <p:cNvPr id="1209347" name="Group 3">
            <a:extLst>
              <a:ext uri="{FF2B5EF4-FFF2-40B4-BE49-F238E27FC236}">
                <a16:creationId xmlns:a16="http://schemas.microsoft.com/office/drawing/2014/main" id="{6C217B3A-60CB-59E8-932B-D6CDC6F6BFCC}"/>
              </a:ext>
            </a:extLst>
          </p:cNvPr>
          <p:cNvGrpSpPr>
            <a:grpSpLocks/>
          </p:cNvGrpSpPr>
          <p:nvPr/>
        </p:nvGrpSpPr>
        <p:grpSpPr bwMode="auto">
          <a:xfrm>
            <a:off x="6076950" y="768350"/>
            <a:ext cx="2919413" cy="2324100"/>
            <a:chOff x="3352" y="423"/>
            <a:chExt cx="1839" cy="1464"/>
          </a:xfrm>
        </p:grpSpPr>
        <p:sp>
          <p:nvSpPr>
            <p:cNvPr id="1209348" name="Line 4">
              <a:extLst>
                <a:ext uri="{FF2B5EF4-FFF2-40B4-BE49-F238E27FC236}">
                  <a16:creationId xmlns:a16="http://schemas.microsoft.com/office/drawing/2014/main" id="{1A1567FA-45C0-C9E9-72A6-02C556B020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823"/>
              <a:ext cx="1828" cy="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49" name="Line 5">
              <a:extLst>
                <a:ext uri="{FF2B5EF4-FFF2-40B4-BE49-F238E27FC236}">
                  <a16:creationId xmlns:a16="http://schemas.microsoft.com/office/drawing/2014/main" id="{BC03C3F8-5021-784A-9DB4-6737DA1F89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999"/>
              <a:ext cx="1831" cy="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50" name="Line 6">
              <a:extLst>
                <a:ext uri="{FF2B5EF4-FFF2-40B4-BE49-F238E27FC236}">
                  <a16:creationId xmlns:a16="http://schemas.microsoft.com/office/drawing/2014/main" id="{1951962F-6724-4142-7733-F4419E405D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175"/>
              <a:ext cx="1800" cy="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51" name="Line 7">
              <a:extLst>
                <a:ext uri="{FF2B5EF4-FFF2-40B4-BE49-F238E27FC236}">
                  <a16:creationId xmlns:a16="http://schemas.microsoft.com/office/drawing/2014/main" id="{59FD245D-8E18-AAEE-5281-D5DD96B055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327"/>
              <a:ext cx="1784" cy="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52" name="Line 8">
              <a:extLst>
                <a:ext uri="{FF2B5EF4-FFF2-40B4-BE49-F238E27FC236}">
                  <a16:creationId xmlns:a16="http://schemas.microsoft.com/office/drawing/2014/main" id="{ED4A5A08-5121-BCB2-7E19-B7FE3A9F1C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03"/>
              <a:ext cx="1784" cy="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53" name="Line 9">
              <a:extLst>
                <a:ext uri="{FF2B5EF4-FFF2-40B4-BE49-F238E27FC236}">
                  <a16:creationId xmlns:a16="http://schemas.microsoft.com/office/drawing/2014/main" id="{D60C5CDB-3EBD-92C5-6D37-15B3C377D7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679"/>
              <a:ext cx="1784" cy="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54" name="Line 10">
              <a:extLst>
                <a:ext uri="{FF2B5EF4-FFF2-40B4-BE49-F238E27FC236}">
                  <a16:creationId xmlns:a16="http://schemas.microsoft.com/office/drawing/2014/main" id="{94A9E866-3CB0-5351-850A-7656DEA444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6" y="655"/>
              <a:ext cx="8" cy="12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55" name="Line 11">
              <a:extLst>
                <a:ext uri="{FF2B5EF4-FFF2-40B4-BE49-F238E27FC236}">
                  <a16:creationId xmlns:a16="http://schemas.microsoft.com/office/drawing/2014/main" id="{5CFBD77B-C2CB-005E-31C6-DB091B9973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671"/>
              <a:ext cx="8" cy="1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56" name="Text Box 12">
              <a:extLst>
                <a:ext uri="{FF2B5EF4-FFF2-40B4-BE49-F238E27FC236}">
                  <a16:creationId xmlns:a16="http://schemas.microsoft.com/office/drawing/2014/main" id="{A0F2C996-5B32-645D-5E73-FE5647834B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2" y="855"/>
              <a:ext cx="208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18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...</a:t>
              </a:r>
            </a:p>
          </p:txBody>
        </p:sp>
        <p:sp>
          <p:nvSpPr>
            <p:cNvPr id="1209357" name="Text Box 13">
              <a:extLst>
                <a:ext uri="{FF2B5EF4-FFF2-40B4-BE49-F238E27FC236}">
                  <a16:creationId xmlns:a16="http://schemas.microsoft.com/office/drawing/2014/main" id="{2A642A56-5975-38D1-CEA9-7C96D45F47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6" y="423"/>
              <a:ext cx="832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1900"/>
                </a:lnSpc>
              </a:pPr>
              <a:r>
                <a:rPr lang="en-US" altLang="en-US" sz="1800">
                  <a:latin typeface="Helvetica" panose="020B0604020202020204" pitchFamily="34" charset="0"/>
                </a:rPr>
                <a:t>Page Table</a:t>
              </a:r>
            </a:p>
          </p:txBody>
        </p:sp>
        <p:sp>
          <p:nvSpPr>
            <p:cNvPr id="1209358" name="Text Box 14">
              <a:extLst>
                <a:ext uri="{FF2B5EF4-FFF2-40B4-BE49-F238E27FC236}">
                  <a16:creationId xmlns:a16="http://schemas.microsoft.com/office/drawing/2014/main" id="{C08B1E73-0630-6D78-2188-647A5D9F2B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4" y="847"/>
              <a:ext cx="500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18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1     0</a:t>
              </a:r>
            </a:p>
          </p:txBody>
        </p:sp>
        <p:sp>
          <p:nvSpPr>
            <p:cNvPr id="1209359" name="Line 15">
              <a:extLst>
                <a:ext uri="{FF2B5EF4-FFF2-40B4-BE49-F238E27FC236}">
                  <a16:creationId xmlns:a16="http://schemas.microsoft.com/office/drawing/2014/main" id="{2F30D5EE-9284-3049-4F0C-911FD54BDE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" y="671"/>
              <a:ext cx="8" cy="1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60" name="Text Box 16">
              <a:extLst>
                <a:ext uri="{FF2B5EF4-FFF2-40B4-BE49-F238E27FC236}">
                  <a16:creationId xmlns:a16="http://schemas.microsoft.com/office/drawing/2014/main" id="{FE6991D7-B246-73AC-62FA-89B4408A09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4" y="600"/>
              <a:ext cx="344" cy="1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1500"/>
                </a:lnSpc>
              </a:pPr>
              <a:r>
                <a:rPr lang="en-US" altLang="en-US" sz="1400" dirty="0">
                  <a:latin typeface="Arial" panose="020B0604020202020204" pitchFamily="34" charset="0"/>
                </a:rPr>
                <a:t>used</a:t>
              </a:r>
            </a:p>
          </p:txBody>
        </p:sp>
        <p:sp>
          <p:nvSpPr>
            <p:cNvPr id="1209361" name="Text Box 17">
              <a:extLst>
                <a:ext uri="{FF2B5EF4-FFF2-40B4-BE49-F238E27FC236}">
                  <a16:creationId xmlns:a16="http://schemas.microsoft.com/office/drawing/2014/main" id="{FB268A54-A74E-3D56-D45D-55745C7D25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8" y="601"/>
              <a:ext cx="328" cy="1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1500"/>
                </a:lnSpc>
              </a:pPr>
              <a:r>
                <a:rPr lang="en-US" altLang="en-US" sz="1400" dirty="0">
                  <a:latin typeface="Arial" panose="020B0604020202020204" pitchFamily="34" charset="0"/>
                </a:rPr>
                <a:t>dirty</a:t>
              </a:r>
            </a:p>
          </p:txBody>
        </p:sp>
        <p:sp>
          <p:nvSpPr>
            <p:cNvPr id="1209362" name="Text Box 18">
              <a:extLst>
                <a:ext uri="{FF2B5EF4-FFF2-40B4-BE49-F238E27FC236}">
                  <a16:creationId xmlns:a16="http://schemas.microsoft.com/office/drawing/2014/main" id="{A91CB9D5-7E35-30D7-818A-9080B90830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4" y="1019"/>
              <a:ext cx="500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18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1     0</a:t>
              </a:r>
            </a:p>
          </p:txBody>
        </p:sp>
        <p:sp>
          <p:nvSpPr>
            <p:cNvPr id="1209363" name="Text Box 19">
              <a:extLst>
                <a:ext uri="{FF2B5EF4-FFF2-40B4-BE49-F238E27FC236}">
                  <a16:creationId xmlns:a16="http://schemas.microsoft.com/office/drawing/2014/main" id="{E72C6F49-E4C8-AC25-0A38-A17AFB4AF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4" y="1187"/>
              <a:ext cx="500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18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0     1</a:t>
              </a:r>
            </a:p>
          </p:txBody>
        </p:sp>
        <p:sp>
          <p:nvSpPr>
            <p:cNvPr id="1209364" name="Text Box 20">
              <a:extLst>
                <a:ext uri="{FF2B5EF4-FFF2-40B4-BE49-F238E27FC236}">
                  <a16:creationId xmlns:a16="http://schemas.microsoft.com/office/drawing/2014/main" id="{0A3F6241-8A12-7170-1ED2-ABBEC07408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4" y="1355"/>
              <a:ext cx="500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18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1     1</a:t>
              </a:r>
            </a:p>
          </p:txBody>
        </p:sp>
        <p:sp>
          <p:nvSpPr>
            <p:cNvPr id="1209365" name="Text Box 21">
              <a:extLst>
                <a:ext uri="{FF2B5EF4-FFF2-40B4-BE49-F238E27FC236}">
                  <a16:creationId xmlns:a16="http://schemas.microsoft.com/office/drawing/2014/main" id="{55E8FB55-26AB-ADC7-FE3A-CD261A9C72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4" y="1547"/>
              <a:ext cx="500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18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0     0</a:t>
              </a:r>
            </a:p>
          </p:txBody>
        </p:sp>
      </p:grpSp>
      <p:sp>
        <p:nvSpPr>
          <p:cNvPr id="1209366" name="Freeform 22">
            <a:extLst>
              <a:ext uri="{FF2B5EF4-FFF2-40B4-BE49-F238E27FC236}">
                <a16:creationId xmlns:a16="http://schemas.microsoft.com/office/drawing/2014/main" id="{36BD187D-0639-52E8-6DDD-41FE5D953D81}"/>
              </a:ext>
            </a:extLst>
          </p:cNvPr>
          <p:cNvSpPr>
            <a:spLocks/>
          </p:cNvSpPr>
          <p:nvPr/>
        </p:nvSpPr>
        <p:spPr bwMode="auto">
          <a:xfrm>
            <a:off x="939800" y="1639888"/>
            <a:ext cx="2971800" cy="2895600"/>
          </a:xfrm>
          <a:custGeom>
            <a:avLst/>
            <a:gdLst>
              <a:gd name="T0" fmla="+- 0 15000 10000"/>
              <a:gd name="T1" fmla="*/ T0 w 10000"/>
              <a:gd name="T2" fmla="+- 0 10000 10000"/>
              <a:gd name="T3" fmla="*/ 10000 h 10000"/>
              <a:gd name="T4" fmla="+- 0 10000 10000"/>
              <a:gd name="T5" fmla="*/ T4 w 10000"/>
              <a:gd name="T6" fmla="+- 0 15000 10000"/>
              <a:gd name="T7" fmla="*/ 15000 h 10000"/>
              <a:gd name="T8" fmla="+- 0 15000 10000"/>
              <a:gd name="T9" fmla="*/ T8 w 10000"/>
              <a:gd name="T10" fmla="+- 0 20000 10000"/>
              <a:gd name="T11" fmla="*/ 20000 h 10000"/>
              <a:gd name="T12" fmla="+- 0 20000 10000"/>
              <a:gd name="T13" fmla="*/ T12 w 10000"/>
              <a:gd name="T14" fmla="+- 0 15000 10000"/>
              <a:gd name="T15" fmla="*/ 15000 h 10000"/>
              <a:gd name="T16" fmla="+- 0 15000 10000"/>
              <a:gd name="T17" fmla="*/ T16 w 10000"/>
              <a:gd name="T18" fmla="+- 0 10000 10000"/>
              <a:gd name="T19" fmla="*/ 10000 h 10000"/>
              <a:gd name="T20" fmla="+- 0 15000 10000"/>
              <a:gd name="T21" fmla="*/ T20 w 10000"/>
              <a:gd name="T22" fmla="+- 0 10000 10000"/>
              <a:gd name="T23" fmla="*/ 10000 h 10000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  <a:cxn ang="0">
                <a:pos x="T21" y="T23"/>
              </a:cxn>
            </a:cxnLst>
            <a:rect l="0" t="0" r="r" b="b"/>
            <a:pathLst>
              <a:path w="10000" h="10000">
                <a:moveTo>
                  <a:pt x="5000" y="0"/>
                </a:moveTo>
                <a:cubicBezTo>
                  <a:pt x="2238" y="0"/>
                  <a:pt x="0" y="2238"/>
                  <a:pt x="0" y="5000"/>
                </a:cubicBezTo>
                <a:cubicBezTo>
                  <a:pt x="0" y="7761"/>
                  <a:pt x="2238" y="10000"/>
                  <a:pt x="5000" y="10000"/>
                </a:cubicBezTo>
                <a:cubicBezTo>
                  <a:pt x="7761" y="10000"/>
                  <a:pt x="10000" y="7761"/>
                  <a:pt x="10000" y="5000"/>
                </a:cubicBezTo>
                <a:cubicBezTo>
                  <a:pt x="10000" y="2238"/>
                  <a:pt x="7761" y="0"/>
                  <a:pt x="5000" y="0"/>
                </a:cubicBezTo>
                <a:close/>
                <a:moveTo>
                  <a:pt x="5000" y="0"/>
                </a:moveTo>
              </a:path>
            </a:pathLst>
          </a:custGeom>
          <a:noFill/>
          <a:ln w="762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9367" name="Text Box 23">
            <a:extLst>
              <a:ext uri="{FF2B5EF4-FFF2-40B4-BE49-F238E27FC236}">
                <a16:creationId xmlns:a16="http://schemas.microsoft.com/office/drawing/2014/main" id="{F70D1159-C03F-F49A-2B28-E6EEE10CD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0" y="2700338"/>
            <a:ext cx="2235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0"/>
              </a:spcBef>
              <a:tabLst>
                <a:tab pos="0" algn="l"/>
                <a:tab pos="914400" algn="l"/>
                <a:tab pos="1828800" algn="l"/>
                <a:tab pos="2743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0" algn="l"/>
                <a:tab pos="914400" algn="l"/>
                <a:tab pos="1828800" algn="l"/>
                <a:tab pos="2743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0" algn="l"/>
                <a:tab pos="914400" algn="l"/>
                <a:tab pos="1828800" algn="l"/>
                <a:tab pos="2743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0" algn="l"/>
                <a:tab pos="914400" algn="l"/>
                <a:tab pos="1828800" algn="l"/>
                <a:tab pos="2743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0" algn="l"/>
                <a:tab pos="914400" algn="l"/>
                <a:tab pos="1828800" algn="l"/>
                <a:tab pos="2743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2900"/>
              </a:lnSpc>
            </a:pPr>
            <a:r>
              <a:rPr lang="en-US" altLang="en-US" b="0">
                <a:latin typeface="Arial" panose="020B0604020202020204" pitchFamily="34" charset="0"/>
              </a:rPr>
              <a:t>Set of all pages</a:t>
            </a:r>
          </a:p>
          <a:p>
            <a:pPr algn="ctr" eaLnBrk="1" hangingPunct="1">
              <a:lnSpc>
                <a:spcPts val="2900"/>
              </a:lnSpc>
            </a:pPr>
            <a:r>
              <a:rPr lang="en-US" altLang="en-US" b="0">
                <a:latin typeface="Arial" panose="020B0604020202020204" pitchFamily="34" charset="0"/>
              </a:rPr>
              <a:t>in Memory</a:t>
            </a:r>
          </a:p>
        </p:txBody>
      </p:sp>
      <p:sp>
        <p:nvSpPr>
          <p:cNvPr id="1209368" name="Text Box 24">
            <a:extLst>
              <a:ext uri="{FF2B5EF4-FFF2-40B4-BE49-F238E27FC236}">
                <a16:creationId xmlns:a16="http://schemas.microsoft.com/office/drawing/2014/main" id="{79B67499-D6BA-7626-D200-F8D73E346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446338"/>
            <a:ext cx="11430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1200" b="0">
              <a:solidFill>
                <a:schemeClr val="tx1"/>
              </a:solidFill>
              <a:latin typeface="Helvetica" panose="020B0604020202020204" pitchFamily="34" charset="0"/>
            </a:endParaRPr>
          </a:p>
        </p:txBody>
      </p:sp>
      <p:grpSp>
        <p:nvGrpSpPr>
          <p:cNvPr id="1209369" name="Group 25">
            <a:extLst>
              <a:ext uri="{FF2B5EF4-FFF2-40B4-BE49-F238E27FC236}">
                <a16:creationId xmlns:a16="http://schemas.microsoft.com/office/drawing/2014/main" id="{C6AB5056-513F-98B8-5CFB-92F63CF2DEB4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2870200"/>
            <a:ext cx="2387600" cy="1339850"/>
            <a:chOff x="2016" y="1582"/>
            <a:chExt cx="1504" cy="844"/>
          </a:xfrm>
        </p:grpSpPr>
        <p:sp>
          <p:nvSpPr>
            <p:cNvPr id="1209370" name="Line 26">
              <a:extLst>
                <a:ext uri="{FF2B5EF4-FFF2-40B4-BE49-F238E27FC236}">
                  <a16:creationId xmlns:a16="http://schemas.microsoft.com/office/drawing/2014/main" id="{450F1408-422B-2299-2310-7FF166CB1A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0" y="1582"/>
              <a:ext cx="616" cy="113"/>
            </a:xfrm>
            <a:prstGeom prst="line">
              <a:avLst/>
            </a:prstGeom>
            <a:noFill/>
            <a:ln w="76200">
              <a:solidFill>
                <a:srgbClr val="FB012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71" name="Text Box 27">
              <a:extLst>
                <a:ext uri="{FF2B5EF4-FFF2-40B4-BE49-F238E27FC236}">
                  <a16:creationId xmlns:a16="http://schemas.microsoft.com/office/drawing/2014/main" id="{41A2146C-40C4-219F-1202-6008E00030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5" y="1802"/>
              <a:ext cx="1145" cy="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r>
                <a:rPr lang="en-US" altLang="en-US" sz="1800">
                  <a:solidFill>
                    <a:srgbClr val="FB0128"/>
                  </a:solidFill>
                  <a:latin typeface="Arial" panose="020B0604020202020204" pitchFamily="34" charset="0"/>
                </a:rPr>
                <a:t>Tail pointer:</a:t>
              </a:r>
              <a:endParaRPr lang="en-US" altLang="en-US" sz="1800">
                <a:latin typeface="Arial" panose="020B0604020202020204" pitchFamily="34" charset="0"/>
              </a:endParaRPr>
            </a:p>
            <a:p>
              <a:pPr eaLnBrk="1" hangingPunct="1">
                <a:lnSpc>
                  <a:spcPts val="22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Clear the used</a:t>
              </a:r>
            </a:p>
            <a:p>
              <a:pPr eaLnBrk="1" hangingPunct="1">
                <a:lnSpc>
                  <a:spcPts val="22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bit in the</a:t>
              </a:r>
            </a:p>
            <a:p>
              <a:pPr eaLnBrk="1" hangingPunct="1">
                <a:lnSpc>
                  <a:spcPts val="22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page table</a:t>
              </a:r>
            </a:p>
          </p:txBody>
        </p:sp>
        <p:sp>
          <p:nvSpPr>
            <p:cNvPr id="1209372" name="Line 28">
              <a:extLst>
                <a:ext uri="{FF2B5EF4-FFF2-40B4-BE49-F238E27FC236}">
                  <a16:creationId xmlns:a16="http://schemas.microsoft.com/office/drawing/2014/main" id="{42ACC391-DC29-C579-CE45-CF4000CECE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1718"/>
              <a:ext cx="40" cy="27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09373" name="Group 29">
            <a:extLst>
              <a:ext uri="{FF2B5EF4-FFF2-40B4-BE49-F238E27FC236}">
                <a16:creationId xmlns:a16="http://schemas.microsoft.com/office/drawing/2014/main" id="{2D3345E3-AEC8-C89B-520B-F54F30D881CA}"/>
              </a:ext>
            </a:extLst>
          </p:cNvPr>
          <p:cNvGrpSpPr>
            <a:grpSpLocks/>
          </p:cNvGrpSpPr>
          <p:nvPr/>
        </p:nvGrpSpPr>
        <p:grpSpPr bwMode="auto">
          <a:xfrm>
            <a:off x="166688" y="3292475"/>
            <a:ext cx="8509000" cy="3054350"/>
            <a:chOff x="91" y="1814"/>
            <a:chExt cx="5360" cy="1924"/>
          </a:xfrm>
        </p:grpSpPr>
        <p:sp>
          <p:nvSpPr>
            <p:cNvPr id="1209374" name="Line 30">
              <a:extLst>
                <a:ext uri="{FF2B5EF4-FFF2-40B4-BE49-F238E27FC236}">
                  <a16:creationId xmlns:a16="http://schemas.microsoft.com/office/drawing/2014/main" id="{CC3BFD4C-EADE-DE74-33AF-EDAF3AF458A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70" y="2117"/>
              <a:ext cx="376" cy="127"/>
            </a:xfrm>
            <a:prstGeom prst="line">
              <a:avLst/>
            </a:prstGeom>
            <a:noFill/>
            <a:ln w="76200">
              <a:solidFill>
                <a:srgbClr val="FB012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75" name="Text Box 31">
              <a:extLst>
                <a:ext uri="{FF2B5EF4-FFF2-40B4-BE49-F238E27FC236}">
                  <a16:creationId xmlns:a16="http://schemas.microsoft.com/office/drawing/2014/main" id="{FDDBAF45-6BDD-D433-8B12-7D96D8062C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" y="2457"/>
              <a:ext cx="1423" cy="1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r>
                <a:rPr lang="en-US" altLang="en-US" sz="1800">
                  <a:solidFill>
                    <a:srgbClr val="FB0128"/>
                  </a:solidFill>
                  <a:latin typeface="Arial" panose="020B0604020202020204" pitchFamily="34" charset="0"/>
                </a:rPr>
                <a:t>Head pointer</a:t>
              </a:r>
              <a:endParaRPr lang="en-US" altLang="en-US" sz="1800">
                <a:latin typeface="Arial" panose="020B0604020202020204" pitchFamily="34" charset="0"/>
              </a:endParaRPr>
            </a:p>
            <a:p>
              <a:pPr eaLnBrk="1" hangingPunct="1">
                <a:lnSpc>
                  <a:spcPts val="22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Place pages on free list if used bit</a:t>
              </a:r>
            </a:p>
            <a:p>
              <a:pPr eaLnBrk="1" hangingPunct="1">
                <a:lnSpc>
                  <a:spcPts val="22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is still clear.</a:t>
              </a:r>
            </a:p>
            <a:p>
              <a:pPr eaLnBrk="1" hangingPunct="1">
                <a:lnSpc>
                  <a:spcPts val="22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Schedule pages with dirty bit set to</a:t>
              </a:r>
            </a:p>
            <a:p>
              <a:pPr eaLnBrk="1" hangingPunct="1">
                <a:lnSpc>
                  <a:spcPts val="22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be written to disk.</a:t>
              </a:r>
            </a:p>
            <a:p>
              <a:pPr eaLnBrk="1" hangingPunct="1">
                <a:lnSpc>
                  <a:spcPts val="2200"/>
                </a:lnSpc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209376" name="Freeform 32">
              <a:extLst>
                <a:ext uri="{FF2B5EF4-FFF2-40B4-BE49-F238E27FC236}">
                  <a16:creationId xmlns:a16="http://schemas.microsoft.com/office/drawing/2014/main" id="{E512DA83-3B4A-9261-8D6D-8048A73AC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1852"/>
              <a:ext cx="624" cy="1392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77" name="Text Box 33">
              <a:extLst>
                <a:ext uri="{FF2B5EF4-FFF2-40B4-BE49-F238E27FC236}">
                  <a16:creationId xmlns:a16="http://schemas.microsoft.com/office/drawing/2014/main" id="{4B1F1752-52D3-BDF3-B617-7DCC6CE6D8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0" y="2440"/>
              <a:ext cx="560" cy="1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ts val="2200"/>
                </a:lnSpc>
              </a:pPr>
              <a:r>
                <a:rPr lang="en-US" altLang="en-US" sz="1800" b="0">
                  <a:latin typeface="Arial" panose="020B0604020202020204" pitchFamily="34" charset="0"/>
                </a:rPr>
                <a:t>Freelist</a:t>
              </a:r>
            </a:p>
          </p:txBody>
        </p:sp>
        <p:sp>
          <p:nvSpPr>
            <p:cNvPr id="1209378" name="Freeform 34">
              <a:extLst>
                <a:ext uri="{FF2B5EF4-FFF2-40B4-BE49-F238E27FC236}">
                  <a16:creationId xmlns:a16="http://schemas.microsoft.com/office/drawing/2014/main" id="{E46F48B0-D562-871C-FEF1-2FA01F7894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4" y="1814"/>
              <a:ext cx="3120" cy="1184"/>
            </a:xfrm>
            <a:custGeom>
              <a:avLst/>
              <a:gdLst>
                <a:gd name="T0" fmla="+- 0 10000 10000"/>
                <a:gd name="T1" fmla="*/ T0 w 10000"/>
                <a:gd name="T2" fmla="+- 0 17212 10373"/>
                <a:gd name="T3" fmla="*/ 17212 h 8980"/>
                <a:gd name="T4" fmla="+- 0 15076 10000"/>
                <a:gd name="T5" fmla="*/ T4 w 10000"/>
                <a:gd name="T6" fmla="+- 0 19030 10373"/>
                <a:gd name="T7" fmla="*/ 19030 h 8980"/>
                <a:gd name="T8" fmla="+- 0 18461 10000"/>
                <a:gd name="T9" fmla="*/ T8 w 10000"/>
                <a:gd name="T10" fmla="+- 0 11393 10373"/>
                <a:gd name="T11" fmla="*/ 11393 h 8980"/>
                <a:gd name="T12" fmla="+- 0 20000 10000"/>
                <a:gd name="T13" fmla="*/ T12 w 10000"/>
                <a:gd name="T14" fmla="+- 0 10666 10373"/>
                <a:gd name="T15" fmla="*/ 10666 h 898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0000" h="8980">
                  <a:moveTo>
                    <a:pt x="0" y="6839"/>
                  </a:moveTo>
                  <a:cubicBezTo>
                    <a:pt x="1833" y="8233"/>
                    <a:pt x="3666" y="9627"/>
                    <a:pt x="5076" y="8657"/>
                  </a:cubicBezTo>
                  <a:cubicBezTo>
                    <a:pt x="6487" y="7687"/>
                    <a:pt x="7641" y="2414"/>
                    <a:pt x="8461" y="1020"/>
                  </a:cubicBezTo>
                  <a:cubicBezTo>
                    <a:pt x="9282" y="-373"/>
                    <a:pt x="9641" y="-40"/>
                    <a:pt x="10000" y="293"/>
                  </a:cubicBezTo>
                </a:path>
              </a:pathLst>
            </a:custGeom>
            <a:noFill/>
            <a:ln w="63500">
              <a:solidFill>
                <a:srgbClr val="053DE8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79" name="Line 35">
              <a:extLst>
                <a:ext uri="{FF2B5EF4-FFF2-40B4-BE49-F238E27FC236}">
                  <a16:creationId xmlns:a16="http://schemas.microsoft.com/office/drawing/2014/main" id="{35CE12BE-32D0-5E07-E01B-78DB2C8480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4" y="3244"/>
              <a:ext cx="8" cy="288"/>
            </a:xfrm>
            <a:prstGeom prst="line">
              <a:avLst/>
            </a:prstGeom>
            <a:noFill/>
            <a:ln w="63500">
              <a:solidFill>
                <a:srgbClr val="053DE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80" name="Text Box 36">
              <a:extLst>
                <a:ext uri="{FF2B5EF4-FFF2-40B4-BE49-F238E27FC236}">
                  <a16:creationId xmlns:a16="http://schemas.microsoft.com/office/drawing/2014/main" id="{A672FA8B-7A1A-4259-C3EB-3E8FFCE069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1" y="3514"/>
              <a:ext cx="1080" cy="2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2900"/>
                </a:lnSpc>
              </a:pPr>
              <a:r>
                <a:rPr lang="en-US" altLang="en-US" b="0">
                  <a:solidFill>
                    <a:srgbClr val="053DE8"/>
                  </a:solidFill>
                  <a:latin typeface="Arial" panose="020B0604020202020204" pitchFamily="34" charset="0"/>
                </a:rPr>
                <a:t>Free Pages</a:t>
              </a:r>
            </a:p>
          </p:txBody>
        </p:sp>
        <p:sp>
          <p:nvSpPr>
            <p:cNvPr id="1209381" name="Line 37">
              <a:extLst>
                <a:ext uri="{FF2B5EF4-FFF2-40B4-BE49-F238E27FC236}">
                  <a16:creationId xmlns:a16="http://schemas.microsoft.com/office/drawing/2014/main" id="{0CEC4DE0-2118-2D4D-2D72-CD8196BF12E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714" y="1836"/>
              <a:ext cx="128" cy="28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09382" name="Text Box 38">
            <a:extLst>
              <a:ext uri="{FF2B5EF4-FFF2-40B4-BE49-F238E27FC236}">
                <a16:creationId xmlns:a16="http://schemas.microsoft.com/office/drawing/2014/main" id="{0DC221F2-3C4C-7949-E489-B48A816E6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0" y="1101725"/>
            <a:ext cx="17272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700">
                <a:solidFill>
                  <a:srgbClr val="053DE8"/>
                </a:solidFill>
                <a:latin typeface="Marker Felt" pitchFamily="34" charset="0"/>
              </a:rPr>
              <a:t>Dirty bit: page written.</a:t>
            </a:r>
          </a:p>
          <a:p>
            <a:pPr algn="ctr" eaLnBrk="1" hangingPunct="1"/>
            <a:endParaRPr lang="en-US" altLang="en-US" sz="1700">
              <a:solidFill>
                <a:srgbClr val="053DE8"/>
              </a:solidFill>
              <a:latin typeface="Marker Felt" pitchFamily="34" charset="0"/>
            </a:endParaRPr>
          </a:p>
          <a:p>
            <a:pPr algn="ctr" eaLnBrk="1" hangingPunct="1"/>
            <a:r>
              <a:rPr lang="en-US" altLang="en-US" sz="1700">
                <a:solidFill>
                  <a:srgbClr val="053DE8"/>
                </a:solidFill>
                <a:latin typeface="Marker Felt" pitchFamily="34" charset="0"/>
              </a:rPr>
              <a:t>Used bit: set to</a:t>
            </a:r>
          </a:p>
          <a:p>
            <a:pPr algn="ctr" eaLnBrk="1" hangingPunct="1"/>
            <a:r>
              <a:rPr lang="en-US" altLang="en-US" sz="1700">
                <a:solidFill>
                  <a:srgbClr val="053DE8"/>
                </a:solidFill>
                <a:latin typeface="Marker Felt" pitchFamily="34" charset="0"/>
              </a:rPr>
              <a:t>1 on any reference</a:t>
            </a:r>
          </a:p>
        </p:txBody>
      </p:sp>
      <p:sp>
        <p:nvSpPr>
          <p:cNvPr id="1209383" name="Text Box 39">
            <a:extLst>
              <a:ext uri="{FF2B5EF4-FFF2-40B4-BE49-F238E27FC236}">
                <a16:creationId xmlns:a16="http://schemas.microsoft.com/office/drawing/2014/main" id="{3244C469-7C60-12EC-4635-FED13604B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6900" y="5483225"/>
            <a:ext cx="31496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500">
                <a:solidFill>
                  <a:srgbClr val="053DE8"/>
                </a:solidFill>
                <a:latin typeface="Marker Felt" pitchFamily="34" charset="0"/>
              </a:rPr>
              <a:t>Architect’s role: support setting dirty and used bits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09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09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09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09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09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9382" grpId="0" autoUpdateAnimBg="0"/>
      <p:bldP spid="1209383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22" name="Rectangle 2">
            <a:extLst>
              <a:ext uri="{FF2B5EF4-FFF2-40B4-BE49-F238E27FC236}">
                <a16:creationId xmlns:a16="http://schemas.microsoft.com/office/drawing/2014/main" id="{7CAFBF89-11FE-79F7-7C87-58855D9FA1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0700" y="176213"/>
            <a:ext cx="7874000" cy="812800"/>
          </a:xfrm>
          <a:noFill/>
        </p:spPr>
        <p:txBody>
          <a:bodyPr/>
          <a:lstStyle/>
          <a:p>
            <a:pPr marL="25400">
              <a:tabLst>
                <a:tab pos="317500" algn="l"/>
                <a:tab pos="1231900" algn="l"/>
                <a:tab pos="2146300" algn="l"/>
                <a:tab pos="3060700" algn="l"/>
                <a:tab pos="3975100" algn="l"/>
                <a:tab pos="4889500" algn="l"/>
                <a:tab pos="5803900" algn="l"/>
              </a:tabLst>
            </a:pPr>
            <a:r>
              <a:rPr lang="en-US" altLang="en-US" sz="3600" dirty="0"/>
              <a:t>Page tables may not fit in memory!</a:t>
            </a:r>
          </a:p>
        </p:txBody>
      </p:sp>
      <p:sp>
        <p:nvSpPr>
          <p:cNvPr id="1208323" name="Freeform 3">
            <a:extLst>
              <a:ext uri="{FF2B5EF4-FFF2-40B4-BE49-F238E27FC236}">
                <a16:creationId xmlns:a16="http://schemas.microsoft.com/office/drawing/2014/main" id="{16DA9DB7-6465-657F-75DF-06369848AE8D}"/>
              </a:ext>
            </a:extLst>
          </p:cNvPr>
          <p:cNvSpPr>
            <a:spLocks/>
          </p:cNvSpPr>
          <p:nvPr/>
        </p:nvSpPr>
        <p:spPr bwMode="auto">
          <a:xfrm>
            <a:off x="279400" y="1250950"/>
            <a:ext cx="857250" cy="768350"/>
          </a:xfrm>
          <a:custGeom>
            <a:avLst/>
            <a:gdLst>
              <a:gd name="T0" fmla="+- 0 10000 10000"/>
              <a:gd name="T1" fmla="*/ T0 w 10000"/>
              <a:gd name="T2" fmla="+- 0 10000 10000"/>
              <a:gd name="T3" fmla="*/ 10000 h 10000"/>
              <a:gd name="T4" fmla="+- 0 20000 10000"/>
              <a:gd name="T5" fmla="*/ T4 w 10000"/>
              <a:gd name="T6" fmla="+- 0 10000 10000"/>
              <a:gd name="T7" fmla="*/ 10000 h 10000"/>
              <a:gd name="T8" fmla="+- 0 20000 10000"/>
              <a:gd name="T9" fmla="*/ T8 w 10000"/>
              <a:gd name="T10" fmla="+- 0 20000 10000"/>
              <a:gd name="T11" fmla="*/ 20000 h 10000"/>
              <a:gd name="T12" fmla="+- 0 10000 10000"/>
              <a:gd name="T13" fmla="*/ T12 w 10000"/>
              <a:gd name="T14" fmla="+- 0 20000 10000"/>
              <a:gd name="T15" fmla="*/ 20000 h 10000"/>
              <a:gd name="T16" fmla="+- 0 10000 10000"/>
              <a:gd name="T17" fmla="*/ T16 w 10000"/>
              <a:gd name="T18" fmla="+- 0 10000 10000"/>
              <a:gd name="T19" fmla="*/ 10000 h 10000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9525">
            <a:solidFill>
              <a:srgbClr val="FFFFFF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324" name="Text Box 4">
            <a:extLst>
              <a:ext uri="{FF2B5EF4-FFF2-40B4-BE49-F238E27FC236}">
                <a16:creationId xmlns:a16="http://schemas.microsoft.com/office/drawing/2014/main" id="{B13B1EDA-5534-3B5A-7AAD-C64C54D64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8275" y="1081088"/>
            <a:ext cx="6235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300" dirty="0">
                <a:latin typeface="Helvetica" panose="020B0604020202020204" pitchFamily="34" charset="0"/>
              </a:rPr>
              <a:t>A table for 4KB pages for a 32-bit address space has 1M entries </a:t>
            </a:r>
          </a:p>
        </p:txBody>
      </p:sp>
      <p:sp>
        <p:nvSpPr>
          <p:cNvPr id="1208325" name="Text Box 5">
            <a:extLst>
              <a:ext uri="{FF2B5EF4-FFF2-40B4-BE49-F238E27FC236}">
                <a16:creationId xmlns:a16="http://schemas.microsoft.com/office/drawing/2014/main" id="{59CAC428-679E-56D8-A4AA-71F0871BD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1752600"/>
            <a:ext cx="81534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700">
                <a:solidFill>
                  <a:srgbClr val="0000FF"/>
                </a:solidFill>
                <a:latin typeface="Helvetica" panose="020B0604020202020204" pitchFamily="34" charset="0"/>
              </a:rPr>
              <a:t>Each process needs its own address space!</a:t>
            </a:r>
          </a:p>
        </p:txBody>
      </p:sp>
      <p:grpSp>
        <p:nvGrpSpPr>
          <p:cNvPr id="1208326" name="Group 6">
            <a:extLst>
              <a:ext uri="{FF2B5EF4-FFF2-40B4-BE49-F238E27FC236}">
                <a16:creationId xmlns:a16="http://schemas.microsoft.com/office/drawing/2014/main" id="{6A1C72EA-CB92-D9D7-5DCA-7B3AB8F8EAEA}"/>
              </a:ext>
            </a:extLst>
          </p:cNvPr>
          <p:cNvGrpSpPr>
            <a:grpSpLocks/>
          </p:cNvGrpSpPr>
          <p:nvPr/>
        </p:nvGrpSpPr>
        <p:grpSpPr bwMode="auto">
          <a:xfrm>
            <a:off x="279400" y="3276600"/>
            <a:ext cx="4178300" cy="984250"/>
            <a:chOff x="154" y="1806"/>
            <a:chExt cx="2632" cy="620"/>
          </a:xfrm>
        </p:grpSpPr>
        <p:grpSp>
          <p:nvGrpSpPr>
            <p:cNvPr id="1208327" name="Group 7">
              <a:extLst>
                <a:ext uri="{FF2B5EF4-FFF2-40B4-BE49-F238E27FC236}">
                  <a16:creationId xmlns:a16="http://schemas.microsoft.com/office/drawing/2014/main" id="{6EF4B0F3-3AB4-20E3-D812-E7BCAA69DD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" y="2106"/>
              <a:ext cx="2064" cy="320"/>
              <a:chOff x="402" y="2068"/>
              <a:chExt cx="2064" cy="320"/>
            </a:xfrm>
          </p:grpSpPr>
          <p:sp>
            <p:nvSpPr>
              <p:cNvPr id="1208328" name="Freeform 8">
                <a:extLst>
                  <a:ext uri="{FF2B5EF4-FFF2-40B4-BE49-F238E27FC236}">
                    <a16:creationId xmlns:a16="http://schemas.microsoft.com/office/drawing/2014/main" id="{62D83168-C67E-D133-4246-4A02015751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" y="2204"/>
                <a:ext cx="616" cy="184"/>
              </a:xfrm>
              <a:custGeom>
                <a:avLst/>
                <a:gdLst>
                  <a:gd name="T0" fmla="+- 0 10000 10000"/>
                  <a:gd name="T1" fmla="*/ T0 w 10000"/>
                  <a:gd name="T2" fmla="+- 0 10000 10000"/>
                  <a:gd name="T3" fmla="*/ 10000 h 10000"/>
                  <a:gd name="T4" fmla="+- 0 20000 10000"/>
                  <a:gd name="T5" fmla="*/ T4 w 10000"/>
                  <a:gd name="T6" fmla="+- 0 10000 10000"/>
                  <a:gd name="T7" fmla="*/ 10000 h 10000"/>
                  <a:gd name="T8" fmla="+- 0 20000 10000"/>
                  <a:gd name="T9" fmla="*/ T8 w 10000"/>
                  <a:gd name="T10" fmla="+- 0 20000 10000"/>
                  <a:gd name="T11" fmla="*/ 20000 h 10000"/>
                  <a:gd name="T12" fmla="+- 0 10000 10000"/>
                  <a:gd name="T13" fmla="*/ T12 w 10000"/>
                  <a:gd name="T14" fmla="+- 0 20000 10000"/>
                  <a:gd name="T15" fmla="*/ 20000 h 10000"/>
                  <a:gd name="T16" fmla="+- 0 10000 10000"/>
                  <a:gd name="T17" fmla="*/ T16 w 10000"/>
                  <a:gd name="T18" fmla="+- 0 10000 10000"/>
                  <a:gd name="T19" fmla="*/ 10000 h 1000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10000" y="10000"/>
                    </a:lnTo>
                    <a:lnTo>
                      <a:pt x="0" y="10000"/>
                    </a:lnTo>
                    <a:close/>
                    <a:moveTo>
                      <a:pt x="0" y="0"/>
                    </a:move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8329" name="Freeform 9">
                <a:extLst>
                  <a:ext uri="{FF2B5EF4-FFF2-40B4-BE49-F238E27FC236}">
                    <a16:creationId xmlns:a16="http://schemas.microsoft.com/office/drawing/2014/main" id="{0E9A9732-14A5-1FB9-53DC-64B1B0EC23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8" y="2204"/>
                <a:ext cx="616" cy="184"/>
              </a:xfrm>
              <a:custGeom>
                <a:avLst/>
                <a:gdLst>
                  <a:gd name="T0" fmla="+- 0 10000 10000"/>
                  <a:gd name="T1" fmla="*/ T0 w 10000"/>
                  <a:gd name="T2" fmla="+- 0 10000 10000"/>
                  <a:gd name="T3" fmla="*/ 10000 h 10000"/>
                  <a:gd name="T4" fmla="+- 0 20000 10000"/>
                  <a:gd name="T5" fmla="*/ T4 w 10000"/>
                  <a:gd name="T6" fmla="+- 0 10000 10000"/>
                  <a:gd name="T7" fmla="*/ 10000 h 10000"/>
                  <a:gd name="T8" fmla="+- 0 20000 10000"/>
                  <a:gd name="T9" fmla="*/ T8 w 10000"/>
                  <a:gd name="T10" fmla="+- 0 20000 10000"/>
                  <a:gd name="T11" fmla="*/ 20000 h 10000"/>
                  <a:gd name="T12" fmla="+- 0 10000 10000"/>
                  <a:gd name="T13" fmla="*/ T12 w 10000"/>
                  <a:gd name="T14" fmla="+- 0 20000 10000"/>
                  <a:gd name="T15" fmla="*/ 20000 h 10000"/>
                  <a:gd name="T16" fmla="+- 0 10000 10000"/>
                  <a:gd name="T17" fmla="*/ T16 w 10000"/>
                  <a:gd name="T18" fmla="+- 0 10000 10000"/>
                  <a:gd name="T19" fmla="*/ 10000 h 1000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10000" y="10000"/>
                    </a:lnTo>
                    <a:lnTo>
                      <a:pt x="0" y="10000"/>
                    </a:lnTo>
                    <a:close/>
                    <a:moveTo>
                      <a:pt x="0" y="0"/>
                    </a:move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8330" name="Freeform 10">
                <a:extLst>
                  <a:ext uri="{FF2B5EF4-FFF2-40B4-BE49-F238E27FC236}">
                    <a16:creationId xmlns:a16="http://schemas.microsoft.com/office/drawing/2014/main" id="{F2D85959-4BC2-5BCA-13F8-9218DFB326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2" y="2204"/>
                <a:ext cx="712" cy="184"/>
              </a:xfrm>
              <a:custGeom>
                <a:avLst/>
                <a:gdLst>
                  <a:gd name="T0" fmla="+- 0 10000 10000"/>
                  <a:gd name="T1" fmla="*/ T0 w 10000"/>
                  <a:gd name="T2" fmla="+- 0 10000 10000"/>
                  <a:gd name="T3" fmla="*/ 10000 h 10000"/>
                  <a:gd name="T4" fmla="+- 0 20000 10000"/>
                  <a:gd name="T5" fmla="*/ T4 w 10000"/>
                  <a:gd name="T6" fmla="+- 0 10000 10000"/>
                  <a:gd name="T7" fmla="*/ 10000 h 10000"/>
                  <a:gd name="T8" fmla="+- 0 20000 10000"/>
                  <a:gd name="T9" fmla="*/ T8 w 10000"/>
                  <a:gd name="T10" fmla="+- 0 20000 10000"/>
                  <a:gd name="T11" fmla="*/ 20000 h 10000"/>
                  <a:gd name="T12" fmla="+- 0 10000 10000"/>
                  <a:gd name="T13" fmla="*/ T12 w 10000"/>
                  <a:gd name="T14" fmla="+- 0 20000 10000"/>
                  <a:gd name="T15" fmla="*/ 20000 h 10000"/>
                  <a:gd name="T16" fmla="+- 0 10000 10000"/>
                  <a:gd name="T17" fmla="*/ T16 w 10000"/>
                  <a:gd name="T18" fmla="+- 0 10000 10000"/>
                  <a:gd name="T19" fmla="*/ 10000 h 1000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10000" y="10000"/>
                    </a:lnTo>
                    <a:lnTo>
                      <a:pt x="0" y="10000"/>
                    </a:lnTo>
                    <a:close/>
                    <a:moveTo>
                      <a:pt x="0" y="0"/>
                    </a:move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8331" name="Text Box 11">
                <a:extLst>
                  <a:ext uri="{FF2B5EF4-FFF2-40B4-BE49-F238E27FC236}">
                    <a16:creationId xmlns:a16="http://schemas.microsoft.com/office/drawing/2014/main" id="{18043B14-6703-16FA-9980-2030C23D90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6" y="2228"/>
                <a:ext cx="544" cy="1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ts val="1500"/>
                  </a:lnSpc>
                </a:pPr>
                <a:r>
                  <a:rPr lang="en-US" altLang="en-US" sz="1400">
                    <a:latin typeface="Arial" panose="020B0604020202020204" pitchFamily="34" charset="0"/>
                  </a:rPr>
                  <a:t>P1 index</a:t>
                </a:r>
              </a:p>
            </p:txBody>
          </p:sp>
          <p:sp>
            <p:nvSpPr>
              <p:cNvPr id="1208332" name="Text Box 12">
                <a:extLst>
                  <a:ext uri="{FF2B5EF4-FFF2-40B4-BE49-F238E27FC236}">
                    <a16:creationId xmlns:a16="http://schemas.microsoft.com/office/drawing/2014/main" id="{66497C9D-2806-55BE-3DDE-35329B3171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0" y="2228"/>
                <a:ext cx="544" cy="1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ts val="1500"/>
                  </a:lnSpc>
                </a:pPr>
                <a:r>
                  <a:rPr lang="en-US" altLang="en-US" sz="1400">
                    <a:latin typeface="Arial" panose="020B0604020202020204" pitchFamily="34" charset="0"/>
                  </a:rPr>
                  <a:t>P2 index</a:t>
                </a:r>
              </a:p>
            </p:txBody>
          </p:sp>
          <p:sp>
            <p:nvSpPr>
              <p:cNvPr id="1208333" name="Text Box 13">
                <a:extLst>
                  <a:ext uri="{FF2B5EF4-FFF2-40B4-BE49-F238E27FC236}">
                    <a16:creationId xmlns:a16="http://schemas.microsoft.com/office/drawing/2014/main" id="{3D6231DB-003F-7366-6B85-2E3F28C235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2" y="2228"/>
                <a:ext cx="510" cy="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0"/>
                  </a:spcBef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spcBef>
                    <a:spcPct val="0"/>
                  </a:spcBef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spcBef>
                    <a:spcPct val="0"/>
                  </a:spcBef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spcBef>
                    <a:spcPct val="0"/>
                  </a:spcBef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spcBef>
                    <a:spcPct val="0"/>
                  </a:spcBef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ts val="1500"/>
                  </a:lnSpc>
                </a:pPr>
                <a:r>
                  <a:rPr lang="en-US" altLang="en-US" sz="1200" dirty="0">
                    <a:latin typeface="Arial" panose="020B0604020202020204" pitchFamily="34" charset="0"/>
                  </a:rPr>
                  <a:t>Page Offset</a:t>
                </a:r>
              </a:p>
            </p:txBody>
          </p:sp>
          <p:sp>
            <p:nvSpPr>
              <p:cNvPr id="1208334" name="Text Box 14">
                <a:extLst>
                  <a:ext uri="{FF2B5EF4-FFF2-40B4-BE49-F238E27FC236}">
                    <a16:creationId xmlns:a16="http://schemas.microsoft.com/office/drawing/2014/main" id="{20E4DDAB-2D4B-3D8B-E542-42CAE8C05D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2" y="2068"/>
                <a:ext cx="208" cy="1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ts val="1500"/>
                  </a:lnSpc>
                </a:pPr>
                <a:r>
                  <a:rPr lang="en-US" altLang="en-US" sz="1400">
                    <a:latin typeface="Arial" panose="020B0604020202020204" pitchFamily="34" charset="0"/>
                  </a:rPr>
                  <a:t>31</a:t>
                </a:r>
              </a:p>
            </p:txBody>
          </p:sp>
          <p:sp>
            <p:nvSpPr>
              <p:cNvPr id="1208335" name="Text Box 15">
                <a:extLst>
                  <a:ext uri="{FF2B5EF4-FFF2-40B4-BE49-F238E27FC236}">
                    <a16:creationId xmlns:a16="http://schemas.microsoft.com/office/drawing/2014/main" id="{A47192DB-CACB-AAE8-9107-EBF804AAA7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06" y="2068"/>
                <a:ext cx="208" cy="1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ts val="1500"/>
                  </a:lnSpc>
                </a:pPr>
                <a:r>
                  <a:rPr lang="en-US" altLang="en-US" sz="1400">
                    <a:latin typeface="Arial" panose="020B0604020202020204" pitchFamily="34" charset="0"/>
                  </a:rPr>
                  <a:t>12</a:t>
                </a:r>
              </a:p>
            </p:txBody>
          </p:sp>
          <p:sp>
            <p:nvSpPr>
              <p:cNvPr id="1208336" name="Text Box 16">
                <a:extLst>
                  <a:ext uri="{FF2B5EF4-FFF2-40B4-BE49-F238E27FC236}">
                    <a16:creationId xmlns:a16="http://schemas.microsoft.com/office/drawing/2014/main" id="{5AD2980B-34D2-0E4B-8546-914428F77B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4" y="2068"/>
                <a:ext cx="208" cy="1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ts val="1500"/>
                  </a:lnSpc>
                </a:pPr>
                <a:r>
                  <a:rPr lang="en-US" altLang="en-US" sz="1400">
                    <a:latin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208337" name="Text Box 17">
                <a:extLst>
                  <a:ext uri="{FF2B5EF4-FFF2-40B4-BE49-F238E27FC236}">
                    <a16:creationId xmlns:a16="http://schemas.microsoft.com/office/drawing/2014/main" id="{907A7C54-6C69-49D7-E125-FB07197259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22" y="2068"/>
                <a:ext cx="144" cy="1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ts val="1500"/>
                  </a:lnSpc>
                </a:pPr>
                <a:r>
                  <a:rPr lang="en-US" altLang="en-US" sz="1400">
                    <a:latin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1208338" name="Text Box 18">
                <a:extLst>
                  <a:ext uri="{FF2B5EF4-FFF2-40B4-BE49-F238E27FC236}">
                    <a16:creationId xmlns:a16="http://schemas.microsoft.com/office/drawing/2014/main" id="{DCB96E0C-0180-EBCC-4940-D1A6373BF8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" y="2068"/>
                <a:ext cx="208" cy="1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ts val="1500"/>
                  </a:lnSpc>
                </a:pPr>
                <a:r>
                  <a:rPr lang="en-US" altLang="en-US" sz="1400">
                    <a:latin typeface="Arial" panose="020B0604020202020204" pitchFamily="34" charset="0"/>
                  </a:rPr>
                  <a:t>21</a:t>
                </a:r>
              </a:p>
            </p:txBody>
          </p:sp>
          <p:sp>
            <p:nvSpPr>
              <p:cNvPr id="1208339" name="Text Box 19">
                <a:extLst>
                  <a:ext uri="{FF2B5EF4-FFF2-40B4-BE49-F238E27FC236}">
                    <a16:creationId xmlns:a16="http://schemas.microsoft.com/office/drawing/2014/main" id="{868CC795-E7F9-8372-231C-45DC26BEDC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2" y="2068"/>
                <a:ext cx="208" cy="1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ts val="1500"/>
                  </a:lnSpc>
                </a:pPr>
                <a:r>
                  <a:rPr lang="en-US" altLang="en-US" sz="1400">
                    <a:latin typeface="Arial" panose="020B0604020202020204" pitchFamily="34" charset="0"/>
                  </a:rPr>
                  <a:t>22</a:t>
                </a:r>
              </a:p>
            </p:txBody>
          </p:sp>
        </p:grpSp>
        <p:sp>
          <p:nvSpPr>
            <p:cNvPr id="1208340" name="Text Box 20">
              <a:extLst>
                <a:ext uri="{FF2B5EF4-FFF2-40B4-BE49-F238E27FC236}">
                  <a16:creationId xmlns:a16="http://schemas.microsoft.com/office/drawing/2014/main" id="{E7DD6BE5-7122-A142-14E7-1E3D15AF2C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" y="1806"/>
              <a:ext cx="2632" cy="1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900" dirty="0">
                  <a:solidFill>
                    <a:srgbClr val="0000FF"/>
                  </a:solidFill>
                  <a:latin typeface="Helvetica" panose="020B0604020202020204" pitchFamily="34" charset="0"/>
                </a:rPr>
                <a:t>32-bit virtual address</a:t>
              </a:r>
            </a:p>
          </p:txBody>
        </p:sp>
      </p:grpSp>
      <p:sp>
        <p:nvSpPr>
          <p:cNvPr id="1208341" name="Text Box 21">
            <a:extLst>
              <a:ext uri="{FF2B5EF4-FFF2-40B4-BE49-F238E27FC236}">
                <a16:creationId xmlns:a16="http://schemas.microsoft.com/office/drawing/2014/main" id="{26D83D40-A6F9-843E-2332-DA83091B1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7000" y="4724400"/>
            <a:ext cx="5003800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900">
                <a:latin typeface="Helvetica" panose="020B0604020202020204" pitchFamily="34" charset="0"/>
              </a:rPr>
              <a:t>Top-level table wired in main memory</a:t>
            </a:r>
          </a:p>
        </p:txBody>
      </p:sp>
      <p:sp>
        <p:nvSpPr>
          <p:cNvPr id="1208342" name="Text Box 22">
            <a:extLst>
              <a:ext uri="{FF2B5EF4-FFF2-40B4-BE49-F238E27FC236}">
                <a16:creationId xmlns:a16="http://schemas.microsoft.com/office/drawing/2014/main" id="{AB43FBAF-3469-0ED9-4B65-718F6EC18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" y="5219700"/>
            <a:ext cx="4610100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900">
                <a:solidFill>
                  <a:srgbClr val="0000FF"/>
                </a:solidFill>
                <a:latin typeface="Helvetica" panose="020B0604020202020204" pitchFamily="34" charset="0"/>
              </a:rPr>
              <a:t>Subset of 1024 second-level tables in main memory; rest are on disk or unallocated </a:t>
            </a:r>
          </a:p>
        </p:txBody>
      </p:sp>
      <p:grpSp>
        <p:nvGrpSpPr>
          <p:cNvPr id="1208343" name="Group 23">
            <a:extLst>
              <a:ext uri="{FF2B5EF4-FFF2-40B4-BE49-F238E27FC236}">
                <a16:creationId xmlns:a16="http://schemas.microsoft.com/office/drawing/2014/main" id="{C4694C2E-0407-8C23-CA04-705729BE433E}"/>
              </a:ext>
            </a:extLst>
          </p:cNvPr>
          <p:cNvGrpSpPr>
            <a:grpSpLocks/>
          </p:cNvGrpSpPr>
          <p:nvPr/>
        </p:nvGrpSpPr>
        <p:grpSpPr bwMode="auto">
          <a:xfrm>
            <a:off x="279400" y="2217738"/>
            <a:ext cx="8494713" cy="4498975"/>
            <a:chOff x="154" y="1222"/>
            <a:chExt cx="5351" cy="2834"/>
          </a:xfrm>
        </p:grpSpPr>
        <p:sp>
          <p:nvSpPr>
            <p:cNvPr id="1208344" name="Text Box 24">
              <a:extLst>
                <a:ext uri="{FF2B5EF4-FFF2-40B4-BE49-F238E27FC236}">
                  <a16:creationId xmlns:a16="http://schemas.microsoft.com/office/drawing/2014/main" id="{F8DCB383-7B0E-785D-1329-FED9EE05D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" y="1393"/>
              <a:ext cx="2632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700">
                  <a:latin typeface="Helvetica" panose="020B0604020202020204" pitchFamily="34" charset="0"/>
                </a:rPr>
                <a:t>Two-level Page Tables</a:t>
              </a:r>
            </a:p>
          </p:txBody>
        </p:sp>
        <p:grpSp>
          <p:nvGrpSpPr>
            <p:cNvPr id="1208345" name="Group 25">
              <a:extLst>
                <a:ext uri="{FF2B5EF4-FFF2-40B4-BE49-F238E27FC236}">
                  <a16:creationId xmlns:a16="http://schemas.microsoft.com/office/drawing/2014/main" id="{996820B7-1040-C66B-ADF6-BAAB2F2816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0" y="1222"/>
              <a:ext cx="2755" cy="2834"/>
              <a:chOff x="2425" y="1222"/>
              <a:chExt cx="2755" cy="2834"/>
            </a:xfrm>
          </p:grpSpPr>
          <p:pic>
            <p:nvPicPr>
              <p:cNvPr id="1208346" name="Picture 26">
                <a:extLst>
                  <a:ext uri="{FF2B5EF4-FFF2-40B4-BE49-F238E27FC236}">
                    <a16:creationId xmlns:a16="http://schemas.microsoft.com/office/drawing/2014/main" id="{81CE268E-FE77-BE61-C4AE-1BF41389A6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25" y="1222"/>
                <a:ext cx="2455" cy="2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1208347" name="Freeform 27">
                <a:extLst>
                  <a:ext uri="{FF2B5EF4-FFF2-40B4-BE49-F238E27FC236}">
                    <a16:creationId xmlns:a16="http://schemas.microsoft.com/office/drawing/2014/main" id="{F4F7DBAD-5872-143D-A408-CC9AA66585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5" y="1765"/>
                <a:ext cx="468" cy="496"/>
              </a:xfrm>
              <a:custGeom>
                <a:avLst/>
                <a:gdLst>
                  <a:gd name="T0" fmla="+- 0 10000 10000"/>
                  <a:gd name="T1" fmla="*/ T0 w 10000"/>
                  <a:gd name="T2" fmla="+- 0 10000 10000"/>
                  <a:gd name="T3" fmla="*/ 10000 h 10000"/>
                  <a:gd name="T4" fmla="+- 0 20000 10000"/>
                  <a:gd name="T5" fmla="*/ T4 w 10000"/>
                  <a:gd name="T6" fmla="+- 0 10000 10000"/>
                  <a:gd name="T7" fmla="*/ 10000 h 10000"/>
                  <a:gd name="T8" fmla="+- 0 20000 10000"/>
                  <a:gd name="T9" fmla="*/ T8 w 10000"/>
                  <a:gd name="T10" fmla="+- 0 20000 10000"/>
                  <a:gd name="T11" fmla="*/ 20000 h 10000"/>
                  <a:gd name="T12" fmla="+- 0 10000 10000"/>
                  <a:gd name="T13" fmla="*/ T12 w 10000"/>
                  <a:gd name="T14" fmla="+- 0 20000 10000"/>
                  <a:gd name="T15" fmla="*/ 20000 h 10000"/>
                  <a:gd name="T16" fmla="+- 0 10000 10000"/>
                  <a:gd name="T17" fmla="*/ T16 w 10000"/>
                  <a:gd name="T18" fmla="+- 0 10000 10000"/>
                  <a:gd name="T19" fmla="*/ 10000 h 1000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10000" y="10000"/>
                    </a:lnTo>
                    <a:lnTo>
                      <a:pt x="0" y="10000"/>
                    </a:lnTo>
                    <a:close/>
                    <a:moveTo>
                      <a:pt x="0" y="0"/>
                    </a:moveTo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8348" name="Freeform 28">
                <a:extLst>
                  <a:ext uri="{FF2B5EF4-FFF2-40B4-BE49-F238E27FC236}">
                    <a16:creationId xmlns:a16="http://schemas.microsoft.com/office/drawing/2014/main" id="{4B52A7B7-F9AA-BBBA-2374-EFBFFA95DC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1" y="3669"/>
                <a:ext cx="672" cy="384"/>
              </a:xfrm>
              <a:custGeom>
                <a:avLst/>
                <a:gdLst>
                  <a:gd name="T0" fmla="+- 0 10000 10000"/>
                  <a:gd name="T1" fmla="*/ T0 w 10000"/>
                  <a:gd name="T2" fmla="+- 0 10000 10000"/>
                  <a:gd name="T3" fmla="*/ 10000 h 10000"/>
                  <a:gd name="T4" fmla="+- 0 20000 10000"/>
                  <a:gd name="T5" fmla="*/ T4 w 10000"/>
                  <a:gd name="T6" fmla="+- 0 10000 10000"/>
                  <a:gd name="T7" fmla="*/ 10000 h 10000"/>
                  <a:gd name="T8" fmla="+- 0 20000 10000"/>
                  <a:gd name="T9" fmla="*/ T8 w 10000"/>
                  <a:gd name="T10" fmla="+- 0 20000 10000"/>
                  <a:gd name="T11" fmla="*/ 20000 h 10000"/>
                  <a:gd name="T12" fmla="+- 0 10000 10000"/>
                  <a:gd name="T13" fmla="*/ T12 w 10000"/>
                  <a:gd name="T14" fmla="+- 0 20000 10000"/>
                  <a:gd name="T15" fmla="*/ 20000 h 10000"/>
                  <a:gd name="T16" fmla="+- 0 10000 10000"/>
                  <a:gd name="T17" fmla="*/ T16 w 10000"/>
                  <a:gd name="T18" fmla="+- 0 10000 10000"/>
                  <a:gd name="T19" fmla="*/ 10000 h 1000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10000" y="10000"/>
                    </a:lnTo>
                    <a:lnTo>
                      <a:pt x="0" y="10000"/>
                    </a:lnTo>
                    <a:close/>
                    <a:moveTo>
                      <a:pt x="0" y="0"/>
                    </a:moveTo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0C1C-B9DC-C147-9AF6-8247FECD9DFD}" type="slidenum">
              <a:rPr lang="en-US"/>
              <a:pPr/>
              <a:t>68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24066" name="Rectangle 2" descr="40%"/>
          <p:cNvSpPr>
            <a:spLocks noChangeArrowheads="1"/>
          </p:cNvSpPr>
          <p:nvPr/>
        </p:nvSpPr>
        <p:spPr bwMode="auto">
          <a:xfrm>
            <a:off x="7594600" y="846137"/>
            <a:ext cx="914400" cy="990600"/>
          </a:xfrm>
          <a:prstGeom prst="rect">
            <a:avLst/>
          </a:prstGeom>
          <a:pattFill prst="pct40">
            <a:fgClr>
              <a:schemeClr val="accent1"/>
            </a:fgClr>
            <a:bgClr>
              <a:srgbClr val="FFFFFF"/>
            </a:bgClr>
          </a:patt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594600" y="858837"/>
            <a:ext cx="901700" cy="965200"/>
            <a:chOff x="4784" y="584"/>
            <a:chExt cx="568" cy="608"/>
          </a:xfrm>
        </p:grpSpPr>
        <p:sp>
          <p:nvSpPr>
            <p:cNvPr id="1624068" name="Rectangle 4" descr="40%"/>
            <p:cNvSpPr>
              <a:spLocks noChangeArrowheads="1"/>
            </p:cNvSpPr>
            <p:nvPr/>
          </p:nvSpPr>
          <p:spPr bwMode="auto">
            <a:xfrm>
              <a:off x="4784" y="584"/>
              <a:ext cx="568" cy="608"/>
            </a:xfrm>
            <a:prstGeom prst="rect">
              <a:avLst/>
            </a:prstGeom>
            <a:pattFill prst="pct40">
              <a:fgClr>
                <a:schemeClr val="accent1"/>
              </a:fgClr>
              <a:bgClr>
                <a:srgbClr val="FFFFFF"/>
              </a:bgClr>
            </a:patt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4069" name="Line 5" descr="40%"/>
            <p:cNvSpPr>
              <a:spLocks noChangeShapeType="1"/>
            </p:cNvSpPr>
            <p:nvPr/>
          </p:nvSpPr>
          <p:spPr bwMode="auto">
            <a:xfrm>
              <a:off x="4784" y="890"/>
              <a:ext cx="5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4070" name="Line 6" descr="40%"/>
            <p:cNvSpPr>
              <a:spLocks noChangeShapeType="1"/>
            </p:cNvSpPr>
            <p:nvPr/>
          </p:nvSpPr>
          <p:spPr bwMode="auto">
            <a:xfrm>
              <a:off x="4784" y="1050"/>
              <a:ext cx="5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4071" name="Line 7" descr="40%"/>
            <p:cNvSpPr>
              <a:spLocks noChangeShapeType="1"/>
            </p:cNvSpPr>
            <p:nvPr/>
          </p:nvSpPr>
          <p:spPr bwMode="auto">
            <a:xfrm>
              <a:off x="4784" y="731"/>
              <a:ext cx="5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24072" name="Rectangle 8" descr="40%"/>
          <p:cNvSpPr>
            <a:spLocks noChangeArrowheads="1"/>
          </p:cNvSpPr>
          <p:nvPr/>
        </p:nvSpPr>
        <p:spPr bwMode="auto">
          <a:xfrm>
            <a:off x="7594600" y="1912937"/>
            <a:ext cx="914400" cy="990600"/>
          </a:xfrm>
          <a:prstGeom prst="rect">
            <a:avLst/>
          </a:prstGeom>
          <a:pattFill prst="pct40">
            <a:fgClr>
              <a:schemeClr val="accent1"/>
            </a:fgClr>
            <a:bgClr>
              <a:srgbClr val="FFFFFF"/>
            </a:bgClr>
          </a:patt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73" name="Rectangle 9" descr="40%"/>
          <p:cNvSpPr>
            <a:spLocks noChangeArrowheads="1"/>
          </p:cNvSpPr>
          <p:nvPr/>
        </p:nvSpPr>
        <p:spPr bwMode="auto">
          <a:xfrm>
            <a:off x="7594600" y="1925637"/>
            <a:ext cx="901700" cy="965200"/>
          </a:xfrm>
          <a:prstGeom prst="rect">
            <a:avLst/>
          </a:prstGeom>
          <a:pattFill prst="pct40">
            <a:fgClr>
              <a:schemeClr val="accent1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74" name="Line 10" descr="40%"/>
          <p:cNvSpPr>
            <a:spLocks noChangeShapeType="1"/>
          </p:cNvSpPr>
          <p:nvPr/>
        </p:nvSpPr>
        <p:spPr bwMode="auto">
          <a:xfrm>
            <a:off x="7594600" y="2411412"/>
            <a:ext cx="89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75" name="Line 11" descr="40%"/>
          <p:cNvSpPr>
            <a:spLocks noChangeShapeType="1"/>
          </p:cNvSpPr>
          <p:nvPr/>
        </p:nvSpPr>
        <p:spPr bwMode="auto">
          <a:xfrm>
            <a:off x="7594600" y="2665412"/>
            <a:ext cx="89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76" name="Line 12" descr="40%"/>
          <p:cNvSpPr>
            <a:spLocks noChangeShapeType="1"/>
          </p:cNvSpPr>
          <p:nvPr/>
        </p:nvSpPr>
        <p:spPr bwMode="auto">
          <a:xfrm>
            <a:off x="7594600" y="2159000"/>
            <a:ext cx="89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77" name="Rectangle 13" descr="40%"/>
          <p:cNvSpPr>
            <a:spLocks noChangeArrowheads="1"/>
          </p:cNvSpPr>
          <p:nvPr/>
        </p:nvSpPr>
        <p:spPr bwMode="auto">
          <a:xfrm>
            <a:off x="7594600" y="2154237"/>
            <a:ext cx="904875" cy="257175"/>
          </a:xfrm>
          <a:prstGeom prst="rect">
            <a:avLst/>
          </a:prstGeom>
          <a:pattFill prst="pct40">
            <a:fgClr>
              <a:schemeClr val="accent1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78" name="Rectangle 14" descr="Wide upward diagonal"/>
          <p:cNvSpPr>
            <a:spLocks noChangeArrowheads="1"/>
          </p:cNvSpPr>
          <p:nvPr/>
        </p:nvSpPr>
        <p:spPr bwMode="auto">
          <a:xfrm>
            <a:off x="5372100" y="1570037"/>
            <a:ext cx="901700" cy="508000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FFFFFF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24079" name="Rectangle 15" descr="40%"/>
          <p:cNvSpPr>
            <a:spLocks noChangeArrowheads="1"/>
          </p:cNvSpPr>
          <p:nvPr/>
        </p:nvSpPr>
        <p:spPr bwMode="auto">
          <a:xfrm>
            <a:off x="5384800" y="1087437"/>
            <a:ext cx="901700" cy="508000"/>
          </a:xfrm>
          <a:prstGeom prst="rect">
            <a:avLst/>
          </a:prstGeom>
          <a:pattFill prst="pct40">
            <a:fgClr>
              <a:srgbClr val="FFA74F"/>
            </a:fgClr>
            <a:bgClr>
              <a:srgbClr val="FFFFFF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24080" name="Rectangle 16" descr="Wide upward diagonal"/>
          <p:cNvSpPr>
            <a:spLocks noChangeArrowheads="1"/>
          </p:cNvSpPr>
          <p:nvPr/>
        </p:nvSpPr>
        <p:spPr bwMode="auto">
          <a:xfrm>
            <a:off x="5359400" y="3830637"/>
            <a:ext cx="898525" cy="244475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81" name="Rectangle 17" descr="Wide upward diagonal"/>
          <p:cNvSpPr>
            <a:spLocks noChangeArrowheads="1"/>
          </p:cNvSpPr>
          <p:nvPr/>
        </p:nvSpPr>
        <p:spPr bwMode="auto">
          <a:xfrm>
            <a:off x="5359400" y="4059237"/>
            <a:ext cx="898525" cy="244475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82" name="Rectangle 18"/>
          <p:cNvSpPr>
            <a:spLocks noChangeArrowheads="1"/>
          </p:cNvSpPr>
          <p:nvPr/>
        </p:nvSpPr>
        <p:spPr bwMode="auto">
          <a:xfrm>
            <a:off x="5359400" y="3602037"/>
            <a:ext cx="898525" cy="244475"/>
          </a:xfrm>
          <a:prstGeom prst="rect">
            <a:avLst/>
          </a:prstGeom>
          <a:solidFill>
            <a:srgbClr val="FFCC6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83" name="Rectangle 19"/>
          <p:cNvSpPr>
            <a:spLocks noChangeArrowheads="1"/>
          </p:cNvSpPr>
          <p:nvPr/>
        </p:nvSpPr>
        <p:spPr bwMode="auto">
          <a:xfrm>
            <a:off x="5359400" y="4287837"/>
            <a:ext cx="898525" cy="244475"/>
          </a:xfrm>
          <a:prstGeom prst="rect">
            <a:avLst/>
          </a:prstGeom>
          <a:solidFill>
            <a:srgbClr val="FFCC6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84" name="Rectangle 20"/>
          <p:cNvSpPr>
            <a:spLocks noChangeArrowheads="1"/>
          </p:cNvSpPr>
          <p:nvPr/>
        </p:nvSpPr>
        <p:spPr bwMode="auto">
          <a:xfrm>
            <a:off x="1536700" y="1404937"/>
            <a:ext cx="2921000" cy="292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85" name="Line 21"/>
          <p:cNvSpPr>
            <a:spLocks noChangeShapeType="1"/>
          </p:cNvSpPr>
          <p:nvPr/>
        </p:nvSpPr>
        <p:spPr bwMode="auto">
          <a:xfrm>
            <a:off x="6248400" y="2687637"/>
            <a:ext cx="13462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7594600" y="2992437"/>
            <a:ext cx="901700" cy="965200"/>
            <a:chOff x="4784" y="1928"/>
            <a:chExt cx="568" cy="608"/>
          </a:xfrm>
        </p:grpSpPr>
        <p:sp>
          <p:nvSpPr>
            <p:cNvPr id="1624087" name="Rectangle 23"/>
            <p:cNvSpPr>
              <a:spLocks noChangeArrowheads="1"/>
            </p:cNvSpPr>
            <p:nvPr/>
          </p:nvSpPr>
          <p:spPr bwMode="auto">
            <a:xfrm>
              <a:off x="4784" y="1928"/>
              <a:ext cx="568" cy="60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4088" name="Line 24"/>
            <p:cNvSpPr>
              <a:spLocks noChangeShapeType="1"/>
            </p:cNvSpPr>
            <p:nvPr/>
          </p:nvSpPr>
          <p:spPr bwMode="auto">
            <a:xfrm>
              <a:off x="4784" y="2234"/>
              <a:ext cx="5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4089" name="Line 25"/>
            <p:cNvSpPr>
              <a:spLocks noChangeShapeType="1"/>
            </p:cNvSpPr>
            <p:nvPr/>
          </p:nvSpPr>
          <p:spPr bwMode="auto">
            <a:xfrm>
              <a:off x="4784" y="2394"/>
              <a:ext cx="5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4090" name="Line 26"/>
            <p:cNvSpPr>
              <a:spLocks noChangeShapeType="1"/>
            </p:cNvSpPr>
            <p:nvPr/>
          </p:nvSpPr>
          <p:spPr bwMode="auto">
            <a:xfrm>
              <a:off x="4784" y="2075"/>
              <a:ext cx="5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7594600" y="5126037"/>
            <a:ext cx="901700" cy="965200"/>
            <a:chOff x="4784" y="3272"/>
            <a:chExt cx="568" cy="608"/>
          </a:xfrm>
        </p:grpSpPr>
        <p:sp>
          <p:nvSpPr>
            <p:cNvPr id="1624092" name="Rectangle 28"/>
            <p:cNvSpPr>
              <a:spLocks noChangeArrowheads="1"/>
            </p:cNvSpPr>
            <p:nvPr/>
          </p:nvSpPr>
          <p:spPr bwMode="auto">
            <a:xfrm>
              <a:off x="4784" y="3272"/>
              <a:ext cx="568" cy="60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4093" name="Line 29"/>
            <p:cNvSpPr>
              <a:spLocks noChangeShapeType="1"/>
            </p:cNvSpPr>
            <p:nvPr/>
          </p:nvSpPr>
          <p:spPr bwMode="auto">
            <a:xfrm>
              <a:off x="4784" y="3578"/>
              <a:ext cx="5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4094" name="Line 30"/>
            <p:cNvSpPr>
              <a:spLocks noChangeShapeType="1"/>
            </p:cNvSpPr>
            <p:nvPr/>
          </p:nvSpPr>
          <p:spPr bwMode="auto">
            <a:xfrm>
              <a:off x="4784" y="3738"/>
              <a:ext cx="5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4095" name="Line 31"/>
            <p:cNvSpPr>
              <a:spLocks noChangeShapeType="1"/>
            </p:cNvSpPr>
            <p:nvPr/>
          </p:nvSpPr>
          <p:spPr bwMode="auto">
            <a:xfrm>
              <a:off x="4784" y="3419"/>
              <a:ext cx="5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24096" name="Rectangle 32"/>
          <p:cNvSpPr>
            <a:spLocks noGrp="1" noChangeArrowheads="1"/>
          </p:cNvSpPr>
          <p:nvPr>
            <p:ph type="title"/>
          </p:nvPr>
        </p:nvSpPr>
        <p:spPr>
          <a:xfrm>
            <a:off x="250825" y="76200"/>
            <a:ext cx="7648575" cy="666750"/>
          </a:xfrm>
          <a:noFill/>
          <a:ln/>
        </p:spPr>
        <p:txBody>
          <a:bodyPr lIns="90488" tIns="44450" rIns="90488" bIns="44450"/>
          <a:lstStyle/>
          <a:p>
            <a:r>
              <a:rPr lang="en-US" altLang="ko-KR">
                <a:ea typeface="굴림" charset="-127"/>
                <a:cs typeface="굴림" charset="-127"/>
              </a:rPr>
              <a:t>Hierarchical Page Table</a:t>
            </a:r>
          </a:p>
        </p:txBody>
      </p:sp>
      <p:sp>
        <p:nvSpPr>
          <p:cNvPr id="1624097" name="Rectangle 33"/>
          <p:cNvSpPr>
            <a:spLocks noChangeArrowheads="1"/>
          </p:cNvSpPr>
          <p:nvPr/>
        </p:nvSpPr>
        <p:spPr bwMode="auto">
          <a:xfrm>
            <a:off x="5384800" y="2319337"/>
            <a:ext cx="876300" cy="9779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98" name="Rectangle 34"/>
          <p:cNvSpPr>
            <a:spLocks noChangeArrowheads="1"/>
          </p:cNvSpPr>
          <p:nvPr/>
        </p:nvSpPr>
        <p:spPr bwMode="auto">
          <a:xfrm>
            <a:off x="3327400" y="2611437"/>
            <a:ext cx="927100" cy="9906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99" name="Rectangle 35"/>
          <p:cNvSpPr>
            <a:spLocks noChangeArrowheads="1"/>
          </p:cNvSpPr>
          <p:nvPr/>
        </p:nvSpPr>
        <p:spPr bwMode="auto">
          <a:xfrm>
            <a:off x="3127375" y="3719512"/>
            <a:ext cx="1435100" cy="6381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Level 1 </a:t>
            </a:r>
          </a:p>
          <a:p>
            <a:pPr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Page Table</a:t>
            </a:r>
          </a:p>
        </p:txBody>
      </p:sp>
      <p:sp>
        <p:nvSpPr>
          <p:cNvPr id="1624100" name="Rectangle 36"/>
          <p:cNvSpPr>
            <a:spLocks noChangeArrowheads="1"/>
          </p:cNvSpPr>
          <p:nvPr/>
        </p:nvSpPr>
        <p:spPr bwMode="auto">
          <a:xfrm>
            <a:off x="5106988" y="4633912"/>
            <a:ext cx="1624012" cy="6683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Level 2</a:t>
            </a:r>
          </a:p>
          <a:p>
            <a:pPr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Page Tables</a:t>
            </a:r>
            <a:r>
              <a:rPr lang="en-US" altLang="ko-KR" sz="2000" b="1">
                <a:solidFill>
                  <a:schemeClr val="accent2"/>
                </a:solidFill>
                <a:ea typeface="굴림" charset="-127"/>
                <a:cs typeface="굴림" charset="-127"/>
              </a:rPr>
              <a:t> </a:t>
            </a:r>
          </a:p>
        </p:txBody>
      </p:sp>
      <p:sp>
        <p:nvSpPr>
          <p:cNvPr id="1624101" name="Line 37"/>
          <p:cNvSpPr>
            <a:spLocks noChangeShapeType="1"/>
          </p:cNvSpPr>
          <p:nvPr/>
        </p:nvSpPr>
        <p:spPr bwMode="auto">
          <a:xfrm flipV="1">
            <a:off x="4241800" y="2078037"/>
            <a:ext cx="1149350" cy="698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02" name="Rectangle 38"/>
          <p:cNvSpPr>
            <a:spLocks noChangeArrowheads="1"/>
          </p:cNvSpPr>
          <p:nvPr/>
        </p:nvSpPr>
        <p:spPr bwMode="auto">
          <a:xfrm>
            <a:off x="5384800" y="1087437"/>
            <a:ext cx="889000" cy="965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03" name="Rectangle 39"/>
          <p:cNvSpPr>
            <a:spLocks noChangeArrowheads="1"/>
          </p:cNvSpPr>
          <p:nvPr/>
        </p:nvSpPr>
        <p:spPr bwMode="auto">
          <a:xfrm>
            <a:off x="7594600" y="4046537"/>
            <a:ext cx="914400" cy="9906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04" name="Rectangle 40" descr="40%"/>
          <p:cNvSpPr>
            <a:spLocks noChangeArrowheads="1"/>
          </p:cNvSpPr>
          <p:nvPr/>
        </p:nvSpPr>
        <p:spPr bwMode="auto">
          <a:xfrm>
            <a:off x="7594600" y="4059237"/>
            <a:ext cx="901700" cy="965200"/>
          </a:xfrm>
          <a:prstGeom prst="rect">
            <a:avLst/>
          </a:prstGeom>
          <a:pattFill prst="pct40">
            <a:fgClr>
              <a:schemeClr val="accent1"/>
            </a:fgClr>
            <a:bgClr>
              <a:schemeClr val="bg1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05" name="Line 41"/>
          <p:cNvSpPr>
            <a:spLocks noChangeShapeType="1"/>
          </p:cNvSpPr>
          <p:nvPr/>
        </p:nvSpPr>
        <p:spPr bwMode="auto">
          <a:xfrm>
            <a:off x="7594600" y="4545012"/>
            <a:ext cx="89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06" name="Line 42"/>
          <p:cNvSpPr>
            <a:spLocks noChangeShapeType="1"/>
          </p:cNvSpPr>
          <p:nvPr/>
        </p:nvSpPr>
        <p:spPr bwMode="auto">
          <a:xfrm>
            <a:off x="7594600" y="4799012"/>
            <a:ext cx="89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07" name="Line 43"/>
          <p:cNvSpPr>
            <a:spLocks noChangeShapeType="1"/>
          </p:cNvSpPr>
          <p:nvPr/>
        </p:nvSpPr>
        <p:spPr bwMode="auto">
          <a:xfrm>
            <a:off x="7594600" y="4292600"/>
            <a:ext cx="89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08" name="Line 44"/>
          <p:cNvSpPr>
            <a:spLocks noChangeShapeType="1"/>
          </p:cNvSpPr>
          <p:nvPr/>
        </p:nvSpPr>
        <p:spPr bwMode="auto">
          <a:xfrm flipV="1">
            <a:off x="4191000" y="3297237"/>
            <a:ext cx="1143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09" name="Line 45"/>
          <p:cNvSpPr>
            <a:spLocks noChangeShapeType="1"/>
          </p:cNvSpPr>
          <p:nvPr/>
        </p:nvSpPr>
        <p:spPr bwMode="auto">
          <a:xfrm>
            <a:off x="4227513" y="3495675"/>
            <a:ext cx="1106487" cy="1020762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10" name="Line 46"/>
          <p:cNvSpPr>
            <a:spLocks noChangeShapeType="1"/>
          </p:cNvSpPr>
          <p:nvPr/>
        </p:nvSpPr>
        <p:spPr bwMode="auto">
          <a:xfrm>
            <a:off x="6248400" y="1239837"/>
            <a:ext cx="13716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11" name="Line 47"/>
          <p:cNvSpPr>
            <a:spLocks noChangeShapeType="1"/>
          </p:cNvSpPr>
          <p:nvPr/>
        </p:nvSpPr>
        <p:spPr bwMode="auto">
          <a:xfrm>
            <a:off x="6248400" y="1392237"/>
            <a:ext cx="1295400" cy="3276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12" name="Line 48"/>
          <p:cNvSpPr>
            <a:spLocks noChangeShapeType="1"/>
          </p:cNvSpPr>
          <p:nvPr/>
        </p:nvSpPr>
        <p:spPr bwMode="auto">
          <a:xfrm>
            <a:off x="6172200" y="3221037"/>
            <a:ext cx="1371600" cy="3810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13" name="Line 49"/>
          <p:cNvSpPr>
            <a:spLocks noChangeShapeType="1"/>
          </p:cNvSpPr>
          <p:nvPr/>
        </p:nvSpPr>
        <p:spPr bwMode="auto">
          <a:xfrm>
            <a:off x="6248400" y="4440237"/>
            <a:ext cx="1295400" cy="12192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14" name="Rectangle 50"/>
          <p:cNvSpPr>
            <a:spLocks noChangeArrowheads="1"/>
          </p:cNvSpPr>
          <p:nvPr/>
        </p:nvSpPr>
        <p:spPr bwMode="auto">
          <a:xfrm>
            <a:off x="6045200" y="5900737"/>
            <a:ext cx="1465263" cy="3333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b="1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Data Pages</a:t>
            </a:r>
          </a:p>
        </p:txBody>
      </p:sp>
      <p:sp>
        <p:nvSpPr>
          <p:cNvPr id="1624115" name="Rectangle 51"/>
          <p:cNvSpPr>
            <a:spLocks noChangeArrowheads="1"/>
          </p:cNvSpPr>
          <p:nvPr/>
        </p:nvSpPr>
        <p:spPr bwMode="auto">
          <a:xfrm>
            <a:off x="696913" y="4973637"/>
            <a:ext cx="3309937" cy="6381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page in primary memory </a:t>
            </a:r>
          </a:p>
          <a:p>
            <a:pPr algn="l"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page in secondary memory</a:t>
            </a:r>
          </a:p>
        </p:txBody>
      </p:sp>
      <p:sp>
        <p:nvSpPr>
          <p:cNvPr id="1624116" name="Rectangle 52"/>
          <p:cNvSpPr>
            <a:spLocks noChangeArrowheads="1"/>
          </p:cNvSpPr>
          <p:nvPr/>
        </p:nvSpPr>
        <p:spPr bwMode="auto">
          <a:xfrm>
            <a:off x="201613" y="5354637"/>
            <a:ext cx="476250" cy="301625"/>
          </a:xfrm>
          <a:prstGeom prst="rect">
            <a:avLst/>
          </a:prstGeom>
          <a:solidFill>
            <a:srgbClr val="FFCC66"/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17" name="Rectangle 53"/>
          <p:cNvSpPr>
            <a:spLocks noChangeArrowheads="1"/>
          </p:cNvSpPr>
          <p:nvPr/>
        </p:nvSpPr>
        <p:spPr bwMode="auto">
          <a:xfrm>
            <a:off x="169863" y="2627312"/>
            <a:ext cx="2408237" cy="6381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Root of the Current</a:t>
            </a:r>
          </a:p>
          <a:p>
            <a:pPr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Page Table</a:t>
            </a:r>
          </a:p>
        </p:txBody>
      </p:sp>
      <p:sp>
        <p:nvSpPr>
          <p:cNvPr id="1624118" name="Line 54"/>
          <p:cNvSpPr>
            <a:spLocks noChangeShapeType="1"/>
          </p:cNvSpPr>
          <p:nvPr/>
        </p:nvSpPr>
        <p:spPr bwMode="auto">
          <a:xfrm>
            <a:off x="2133600" y="3500437"/>
            <a:ext cx="121920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19" name="Line 55"/>
          <p:cNvSpPr>
            <a:spLocks noChangeShapeType="1"/>
          </p:cNvSpPr>
          <p:nvPr/>
        </p:nvSpPr>
        <p:spPr bwMode="auto">
          <a:xfrm flipH="1" flipV="1">
            <a:off x="3186113" y="3286125"/>
            <a:ext cx="0" cy="30480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20" name="Line 56"/>
          <p:cNvSpPr>
            <a:spLocks noChangeShapeType="1"/>
          </p:cNvSpPr>
          <p:nvPr/>
        </p:nvSpPr>
        <p:spPr bwMode="auto">
          <a:xfrm flipH="1" flipV="1">
            <a:off x="5257800" y="2687637"/>
            <a:ext cx="0" cy="496888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21" name="Line 57"/>
          <p:cNvSpPr>
            <a:spLocks noChangeShapeType="1"/>
          </p:cNvSpPr>
          <p:nvPr/>
        </p:nvSpPr>
        <p:spPr bwMode="auto">
          <a:xfrm>
            <a:off x="7467600" y="2192337"/>
            <a:ext cx="0" cy="59690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22" name="Rectangle 58"/>
          <p:cNvSpPr>
            <a:spLocks noChangeArrowheads="1"/>
          </p:cNvSpPr>
          <p:nvPr/>
        </p:nvSpPr>
        <p:spPr bwMode="auto">
          <a:xfrm>
            <a:off x="2743200" y="3221037"/>
            <a:ext cx="468313" cy="3333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b="1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p1</a:t>
            </a:r>
          </a:p>
        </p:txBody>
      </p:sp>
      <p:sp>
        <p:nvSpPr>
          <p:cNvPr id="1624123" name="Rectangle 59"/>
          <p:cNvSpPr>
            <a:spLocks noChangeArrowheads="1"/>
          </p:cNvSpPr>
          <p:nvPr/>
        </p:nvSpPr>
        <p:spPr bwMode="auto">
          <a:xfrm>
            <a:off x="6664325" y="2344737"/>
            <a:ext cx="839788" cy="3333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b="1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offset</a:t>
            </a:r>
          </a:p>
        </p:txBody>
      </p:sp>
      <p:sp>
        <p:nvSpPr>
          <p:cNvPr id="1624124" name="Rectangle 60"/>
          <p:cNvSpPr>
            <a:spLocks noChangeArrowheads="1"/>
          </p:cNvSpPr>
          <p:nvPr/>
        </p:nvSpPr>
        <p:spPr bwMode="auto">
          <a:xfrm>
            <a:off x="4800600" y="2819400"/>
            <a:ext cx="468313" cy="3333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b="1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p2</a:t>
            </a:r>
          </a:p>
        </p:txBody>
      </p:sp>
      <p:sp>
        <p:nvSpPr>
          <p:cNvPr id="1624125" name="Rectangle 61"/>
          <p:cNvSpPr>
            <a:spLocks noChangeArrowheads="1"/>
          </p:cNvSpPr>
          <p:nvPr/>
        </p:nvSpPr>
        <p:spPr bwMode="auto">
          <a:xfrm>
            <a:off x="228600" y="782637"/>
            <a:ext cx="2119313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Virtual Address</a:t>
            </a:r>
          </a:p>
        </p:txBody>
      </p:sp>
      <p:sp>
        <p:nvSpPr>
          <p:cNvPr id="1624126" name="Rectangle 62"/>
          <p:cNvSpPr>
            <a:spLocks noChangeArrowheads="1"/>
          </p:cNvSpPr>
          <p:nvPr/>
        </p:nvSpPr>
        <p:spPr bwMode="auto">
          <a:xfrm>
            <a:off x="695325" y="3678237"/>
            <a:ext cx="1522413" cy="6985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(Processor</a:t>
            </a:r>
          </a:p>
          <a:p>
            <a:pPr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Register)</a:t>
            </a:r>
          </a:p>
        </p:txBody>
      </p:sp>
      <p:sp>
        <p:nvSpPr>
          <p:cNvPr id="1624127" name="Rectangle 63" descr="Wide upward diagonal"/>
          <p:cNvSpPr>
            <a:spLocks noChangeArrowheads="1"/>
          </p:cNvSpPr>
          <p:nvPr/>
        </p:nvSpPr>
        <p:spPr bwMode="auto">
          <a:xfrm>
            <a:off x="241300" y="5797550"/>
            <a:ext cx="406400" cy="228600"/>
          </a:xfrm>
          <a:prstGeom prst="rect">
            <a:avLst/>
          </a:prstGeom>
          <a:pattFill prst="wdUpDiag">
            <a:fgClr>
              <a:srgbClr val="000000"/>
            </a:fgClr>
            <a:bgClr>
              <a:schemeClr val="bg1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28" name="Rectangle 64"/>
          <p:cNvSpPr>
            <a:spLocks noChangeArrowheads="1"/>
          </p:cNvSpPr>
          <p:nvPr/>
        </p:nvSpPr>
        <p:spPr bwMode="auto">
          <a:xfrm>
            <a:off x="671513" y="5735637"/>
            <a:ext cx="3182937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18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PTE of a nonexistent page</a:t>
            </a:r>
          </a:p>
        </p:txBody>
      </p:sp>
      <p:sp>
        <p:nvSpPr>
          <p:cNvPr id="1624129" name="Rectangle 65" descr="Wide upward diagonal"/>
          <p:cNvSpPr>
            <a:spLocks noChangeArrowheads="1"/>
          </p:cNvSpPr>
          <p:nvPr/>
        </p:nvSpPr>
        <p:spPr bwMode="auto">
          <a:xfrm>
            <a:off x="3352800" y="2992437"/>
            <a:ext cx="914400" cy="244475"/>
          </a:xfrm>
          <a:prstGeom prst="rect">
            <a:avLst/>
          </a:prstGeom>
          <a:pattFill prst="wdUpDiag">
            <a:fgClr>
              <a:srgbClr val="000000"/>
            </a:fgClr>
            <a:bgClr>
              <a:schemeClr val="bg1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30" name="Rectangle 66"/>
          <p:cNvSpPr>
            <a:spLocks noChangeArrowheads="1"/>
          </p:cNvSpPr>
          <p:nvPr/>
        </p:nvSpPr>
        <p:spPr bwMode="auto">
          <a:xfrm>
            <a:off x="3352800" y="2763837"/>
            <a:ext cx="914400" cy="24447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31" name="Rectangle 67" descr="40%"/>
          <p:cNvSpPr>
            <a:spLocks noChangeArrowheads="1"/>
          </p:cNvSpPr>
          <p:nvPr/>
        </p:nvSpPr>
        <p:spPr bwMode="auto">
          <a:xfrm>
            <a:off x="3352800" y="3449637"/>
            <a:ext cx="914400" cy="228600"/>
          </a:xfrm>
          <a:prstGeom prst="rect">
            <a:avLst/>
          </a:prstGeom>
          <a:pattFill prst="pct40">
            <a:fgClr>
              <a:srgbClr val="FFA74F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32" name="Rectangle 68"/>
          <p:cNvSpPr>
            <a:spLocks noChangeArrowheads="1"/>
          </p:cNvSpPr>
          <p:nvPr/>
        </p:nvSpPr>
        <p:spPr bwMode="auto">
          <a:xfrm>
            <a:off x="3352800" y="3221037"/>
            <a:ext cx="914400" cy="244475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33" name="Rectangle 69"/>
          <p:cNvSpPr>
            <a:spLocks noChangeArrowheads="1"/>
          </p:cNvSpPr>
          <p:nvPr/>
        </p:nvSpPr>
        <p:spPr bwMode="auto">
          <a:xfrm>
            <a:off x="5334000" y="2840037"/>
            <a:ext cx="898525" cy="244475"/>
          </a:xfrm>
          <a:prstGeom prst="rect">
            <a:avLst/>
          </a:prstGeom>
          <a:solidFill>
            <a:srgbClr val="FFCC6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34" name="Rectangle 70" descr="Wide upward diagonal"/>
          <p:cNvSpPr>
            <a:spLocks noChangeArrowheads="1"/>
          </p:cNvSpPr>
          <p:nvPr/>
        </p:nvSpPr>
        <p:spPr bwMode="auto">
          <a:xfrm>
            <a:off x="5334000" y="2382837"/>
            <a:ext cx="898525" cy="244475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35" name="Rectangle 71" descr="40%"/>
          <p:cNvSpPr>
            <a:spLocks noChangeArrowheads="1"/>
          </p:cNvSpPr>
          <p:nvPr/>
        </p:nvSpPr>
        <p:spPr bwMode="auto">
          <a:xfrm>
            <a:off x="5334000" y="2611437"/>
            <a:ext cx="898525" cy="244475"/>
          </a:xfrm>
          <a:prstGeom prst="rect">
            <a:avLst/>
          </a:prstGeom>
          <a:pattFill prst="pct40">
            <a:fgClr>
              <a:srgbClr val="FFA74F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36" name="Rectangle 72"/>
          <p:cNvSpPr>
            <a:spLocks noChangeArrowheads="1"/>
          </p:cNvSpPr>
          <p:nvPr/>
        </p:nvSpPr>
        <p:spPr bwMode="auto">
          <a:xfrm>
            <a:off x="5334000" y="3068637"/>
            <a:ext cx="898525" cy="244475"/>
          </a:xfrm>
          <a:prstGeom prst="rect">
            <a:avLst/>
          </a:prstGeom>
          <a:solidFill>
            <a:srgbClr val="FFCC6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37" name="Rectangle 73"/>
          <p:cNvSpPr>
            <a:spLocks noChangeArrowheads="1"/>
          </p:cNvSpPr>
          <p:nvPr/>
        </p:nvSpPr>
        <p:spPr bwMode="auto">
          <a:xfrm>
            <a:off x="5384800" y="1100137"/>
            <a:ext cx="901700" cy="965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38" name="Line 74"/>
          <p:cNvSpPr>
            <a:spLocks noChangeShapeType="1"/>
          </p:cNvSpPr>
          <p:nvPr/>
        </p:nvSpPr>
        <p:spPr bwMode="auto">
          <a:xfrm>
            <a:off x="5384800" y="1585912"/>
            <a:ext cx="89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39" name="Line 75"/>
          <p:cNvSpPr>
            <a:spLocks noChangeShapeType="1"/>
          </p:cNvSpPr>
          <p:nvPr/>
        </p:nvSpPr>
        <p:spPr bwMode="auto">
          <a:xfrm>
            <a:off x="5384800" y="1839912"/>
            <a:ext cx="89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40" name="Line 76"/>
          <p:cNvSpPr>
            <a:spLocks noChangeShapeType="1"/>
          </p:cNvSpPr>
          <p:nvPr/>
        </p:nvSpPr>
        <p:spPr bwMode="auto">
          <a:xfrm>
            <a:off x="5384800" y="1333500"/>
            <a:ext cx="89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41" name="Line 77"/>
          <p:cNvSpPr>
            <a:spLocks noChangeShapeType="1"/>
          </p:cNvSpPr>
          <p:nvPr/>
        </p:nvSpPr>
        <p:spPr bwMode="auto">
          <a:xfrm>
            <a:off x="3390900" y="1417637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42" name="Line 78"/>
          <p:cNvSpPr>
            <a:spLocks noChangeShapeType="1"/>
          </p:cNvSpPr>
          <p:nvPr/>
        </p:nvSpPr>
        <p:spPr bwMode="auto">
          <a:xfrm>
            <a:off x="2438400" y="1417637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43" name="Rectangle 79"/>
          <p:cNvSpPr>
            <a:spLocks noChangeArrowheads="1"/>
          </p:cNvSpPr>
          <p:nvPr/>
        </p:nvSpPr>
        <p:spPr bwMode="auto">
          <a:xfrm>
            <a:off x="1751013" y="1357312"/>
            <a:ext cx="2722562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p1</a:t>
            </a:r>
            <a:r>
              <a:rPr lang="en-US" altLang="ko-KR" sz="1800">
                <a:solidFill>
                  <a:schemeClr val="accent2"/>
                </a:solidFill>
                <a:ea typeface="굴림" charset="-127"/>
                <a:cs typeface="굴림" charset="-127"/>
              </a:rPr>
              <a:t>          </a:t>
            </a: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p2   </a:t>
            </a:r>
            <a:r>
              <a:rPr lang="en-US" altLang="ko-KR" sz="1800">
                <a:solidFill>
                  <a:schemeClr val="accent2"/>
                </a:solidFill>
                <a:ea typeface="굴림" charset="-127"/>
                <a:cs typeface="굴림" charset="-127"/>
              </a:rPr>
              <a:t>       </a:t>
            </a: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offset</a:t>
            </a:r>
          </a:p>
        </p:txBody>
      </p:sp>
      <p:sp>
        <p:nvSpPr>
          <p:cNvPr id="1624144" name="Text Box 80"/>
          <p:cNvSpPr txBox="1">
            <a:spLocks noChangeArrowheads="1"/>
          </p:cNvSpPr>
          <p:nvPr/>
        </p:nvSpPr>
        <p:spPr bwMode="auto">
          <a:xfrm>
            <a:off x="4267200" y="1084262"/>
            <a:ext cx="312738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0</a:t>
            </a:r>
          </a:p>
        </p:txBody>
      </p:sp>
      <p:sp>
        <p:nvSpPr>
          <p:cNvPr id="1624145" name="Text Box 81"/>
          <p:cNvSpPr txBox="1">
            <a:spLocks noChangeArrowheads="1"/>
          </p:cNvSpPr>
          <p:nvPr/>
        </p:nvSpPr>
        <p:spPr bwMode="auto">
          <a:xfrm>
            <a:off x="3352800" y="1087437"/>
            <a:ext cx="4572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11</a:t>
            </a:r>
          </a:p>
        </p:txBody>
      </p:sp>
      <p:sp>
        <p:nvSpPr>
          <p:cNvPr id="1624146" name="Text Box 82"/>
          <p:cNvSpPr txBox="1">
            <a:spLocks noChangeArrowheads="1"/>
          </p:cNvSpPr>
          <p:nvPr/>
        </p:nvSpPr>
        <p:spPr bwMode="auto">
          <a:xfrm>
            <a:off x="3048000" y="1087437"/>
            <a:ext cx="4572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12</a:t>
            </a:r>
          </a:p>
        </p:txBody>
      </p:sp>
      <p:sp>
        <p:nvSpPr>
          <p:cNvPr id="1624147" name="Text Box 83"/>
          <p:cNvSpPr txBox="1">
            <a:spLocks noChangeArrowheads="1"/>
          </p:cNvSpPr>
          <p:nvPr/>
        </p:nvSpPr>
        <p:spPr bwMode="auto">
          <a:xfrm>
            <a:off x="2362200" y="1087437"/>
            <a:ext cx="4572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21</a:t>
            </a:r>
          </a:p>
        </p:txBody>
      </p:sp>
      <p:sp>
        <p:nvSpPr>
          <p:cNvPr id="1624148" name="Text Box 84"/>
          <p:cNvSpPr txBox="1">
            <a:spLocks noChangeArrowheads="1"/>
          </p:cNvSpPr>
          <p:nvPr/>
        </p:nvSpPr>
        <p:spPr bwMode="auto">
          <a:xfrm>
            <a:off x="2057400" y="1087437"/>
            <a:ext cx="4572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22</a:t>
            </a:r>
          </a:p>
        </p:txBody>
      </p:sp>
      <p:sp>
        <p:nvSpPr>
          <p:cNvPr id="1624149" name="Text Box 85"/>
          <p:cNvSpPr txBox="1">
            <a:spLocks noChangeArrowheads="1"/>
          </p:cNvSpPr>
          <p:nvPr/>
        </p:nvSpPr>
        <p:spPr bwMode="auto">
          <a:xfrm>
            <a:off x="1447800" y="1087437"/>
            <a:ext cx="4572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31</a:t>
            </a:r>
          </a:p>
        </p:txBody>
      </p:sp>
      <p:sp>
        <p:nvSpPr>
          <p:cNvPr id="1624150" name="AutoShape 86"/>
          <p:cNvSpPr>
            <a:spLocks/>
          </p:cNvSpPr>
          <p:nvPr/>
        </p:nvSpPr>
        <p:spPr bwMode="auto">
          <a:xfrm rot="5400000">
            <a:off x="1828800" y="1468437"/>
            <a:ext cx="304800" cy="914400"/>
          </a:xfrm>
          <a:prstGeom prst="rightBrace">
            <a:avLst>
              <a:gd name="adj1" fmla="val 34375"/>
              <a:gd name="adj2" fmla="val 50000"/>
            </a:avLst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51" name="Text Box 87"/>
          <p:cNvSpPr txBox="1">
            <a:spLocks noChangeArrowheads="1"/>
          </p:cNvSpPr>
          <p:nvPr/>
        </p:nvSpPr>
        <p:spPr bwMode="auto">
          <a:xfrm>
            <a:off x="1384300" y="1973262"/>
            <a:ext cx="1158875" cy="641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18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10-bit</a:t>
            </a:r>
          </a:p>
          <a:p>
            <a:pPr>
              <a:spcBef>
                <a:spcPct val="0"/>
              </a:spcBef>
            </a:pPr>
            <a:r>
              <a:rPr lang="en-US" altLang="ko-KR" sz="18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L1 index</a:t>
            </a:r>
          </a:p>
        </p:txBody>
      </p:sp>
      <p:sp>
        <p:nvSpPr>
          <p:cNvPr id="1624152" name="AutoShape 88"/>
          <p:cNvSpPr>
            <a:spLocks/>
          </p:cNvSpPr>
          <p:nvPr/>
        </p:nvSpPr>
        <p:spPr bwMode="auto">
          <a:xfrm rot="5400000">
            <a:off x="2743200" y="1468437"/>
            <a:ext cx="304800" cy="914400"/>
          </a:xfrm>
          <a:prstGeom prst="rightBrace">
            <a:avLst>
              <a:gd name="adj1" fmla="val 34375"/>
              <a:gd name="adj2" fmla="val 50000"/>
            </a:avLst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53" name="Text Box 89"/>
          <p:cNvSpPr txBox="1">
            <a:spLocks noChangeArrowheads="1"/>
          </p:cNvSpPr>
          <p:nvPr/>
        </p:nvSpPr>
        <p:spPr bwMode="auto">
          <a:xfrm>
            <a:off x="2451100" y="1973262"/>
            <a:ext cx="1158875" cy="641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10-bit </a:t>
            </a:r>
          </a:p>
          <a:p>
            <a:pPr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L2 index</a:t>
            </a:r>
          </a:p>
        </p:txBody>
      </p:sp>
      <p:sp>
        <p:nvSpPr>
          <p:cNvPr id="1624154" name="Rectangle 90" descr="40%"/>
          <p:cNvSpPr>
            <a:spLocks noChangeArrowheads="1"/>
          </p:cNvSpPr>
          <p:nvPr/>
        </p:nvSpPr>
        <p:spPr bwMode="auto">
          <a:xfrm>
            <a:off x="188913" y="5011737"/>
            <a:ext cx="476250" cy="301625"/>
          </a:xfrm>
          <a:prstGeom prst="rect">
            <a:avLst/>
          </a:prstGeom>
          <a:pattFill prst="pct40">
            <a:fgClr>
              <a:srgbClr val="FFCC66"/>
            </a:fgClr>
            <a:bgClr>
              <a:srgbClr val="FFFFFF"/>
            </a:bgClr>
          </a:patt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55" name="Rectangle 91" descr="40%"/>
          <p:cNvSpPr>
            <a:spLocks noChangeArrowheads="1"/>
          </p:cNvSpPr>
          <p:nvPr/>
        </p:nvSpPr>
        <p:spPr bwMode="auto">
          <a:xfrm>
            <a:off x="3352800" y="3221037"/>
            <a:ext cx="914400" cy="228600"/>
          </a:xfrm>
          <a:prstGeom prst="rect">
            <a:avLst/>
          </a:prstGeom>
          <a:pattFill prst="pct40">
            <a:fgClr>
              <a:srgbClr val="FFA74F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56" name="Rectangle 92" descr="40%"/>
          <p:cNvSpPr>
            <a:spLocks noChangeArrowheads="1"/>
          </p:cNvSpPr>
          <p:nvPr/>
        </p:nvSpPr>
        <p:spPr bwMode="auto">
          <a:xfrm>
            <a:off x="3352800" y="2776537"/>
            <a:ext cx="914400" cy="228600"/>
          </a:xfrm>
          <a:prstGeom prst="rect">
            <a:avLst/>
          </a:prstGeom>
          <a:pattFill prst="pct40">
            <a:fgClr>
              <a:srgbClr val="FFA74F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57" name="Rectangle 93" descr="40%"/>
          <p:cNvSpPr>
            <a:spLocks noChangeArrowheads="1"/>
          </p:cNvSpPr>
          <p:nvPr/>
        </p:nvSpPr>
        <p:spPr bwMode="auto">
          <a:xfrm>
            <a:off x="1206500" y="3360737"/>
            <a:ext cx="914400" cy="228600"/>
          </a:xfrm>
          <a:prstGeom prst="rect">
            <a:avLst/>
          </a:prstGeom>
          <a:pattFill prst="pct40">
            <a:fgClr>
              <a:srgbClr val="FFA74F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Rectangle 46"/>
          <p:cNvSpPr>
            <a:spLocks noChangeArrowheads="1"/>
          </p:cNvSpPr>
          <p:nvPr/>
        </p:nvSpPr>
        <p:spPr bwMode="auto">
          <a:xfrm rot="16200000">
            <a:off x="7556500" y="3187700"/>
            <a:ext cx="2322513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Physical Memory</a:t>
            </a:r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Inverted Page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579296" cy="5524723"/>
          </a:xfrm>
        </p:spPr>
        <p:txBody>
          <a:bodyPr/>
          <a:lstStyle/>
          <a:p>
            <a:r>
              <a:rPr lang="en-US" sz="2400" dirty="0"/>
              <a:t>Hierarchical page table</a:t>
            </a:r>
          </a:p>
          <a:p>
            <a:pPr lvl="1"/>
            <a:r>
              <a:rPr lang="en-US" sz="2000" dirty="0"/>
              <a:t>Each process has its own set of page tables</a:t>
            </a:r>
          </a:p>
          <a:p>
            <a:pPr lvl="1"/>
            <a:r>
              <a:rPr lang="en-US" sz="2000" dirty="0"/>
              <a:t>A lot of page table entries are still empty</a:t>
            </a:r>
          </a:p>
          <a:p>
            <a:r>
              <a:rPr lang="en-US" sz="2400" dirty="0"/>
              <a:t>Inverted page tables</a:t>
            </a:r>
          </a:p>
          <a:p>
            <a:pPr lvl="1"/>
            <a:r>
              <a:rPr lang="en-US" sz="2000" dirty="0"/>
              <a:t>Inverted page table</a:t>
            </a:r>
            <a:r>
              <a:rPr lang="en-US" sz="2000" i="1" dirty="0"/>
              <a:t> </a:t>
            </a:r>
            <a:r>
              <a:rPr lang="en-US" sz="2000" dirty="0"/>
              <a:t>has one entry per physical page frame</a:t>
            </a:r>
          </a:p>
          <a:p>
            <a:pPr lvl="2"/>
            <a:r>
              <a:rPr lang="en-US" sz="1800" dirty="0"/>
              <a:t>That it is shared by all processes</a:t>
            </a:r>
          </a:p>
          <a:p>
            <a:pPr lvl="1"/>
            <a:r>
              <a:rPr lang="en-US" sz="2000" dirty="0"/>
              <a:t>Motivation</a:t>
            </a:r>
          </a:p>
          <a:p>
            <a:pPr lvl="2"/>
            <a:r>
              <a:rPr lang="en-US" sz="1800" dirty="0"/>
              <a:t>There cannot be more valid page-table entries than there are page frames</a:t>
            </a:r>
          </a:p>
          <a:p>
            <a:pPr lvl="1"/>
            <a:r>
              <a:rPr lang="en-US" sz="2000" dirty="0"/>
              <a:t>Size of page table</a:t>
            </a:r>
          </a:p>
          <a:p>
            <a:pPr lvl="2"/>
            <a:r>
              <a:rPr lang="en-US" sz="1800" dirty="0"/>
              <a:t>Proportional to number of page frames</a:t>
            </a:r>
          </a:p>
          <a:p>
            <a:pPr lvl="2"/>
            <a:r>
              <a:rPr lang="en-US" sz="1800" dirty="0"/>
              <a:t>Not to number of pages</a:t>
            </a:r>
          </a:p>
          <a:p>
            <a:pPr lvl="1"/>
            <a:r>
              <a:rPr lang="en-US" sz="2000" dirty="0"/>
              <a:t>Shared by all processes</a:t>
            </a:r>
          </a:p>
          <a:p>
            <a:pPr lvl="2"/>
            <a:r>
              <a:rPr lang="en-US" sz="1800" dirty="0"/>
              <a:t>Virtual page number is hashed to obtain one entry in inverted page table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22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Inverted Page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Synonyms</a:t>
            </a:r>
          </a:p>
          <a:p>
            <a:pPr lvl="1"/>
            <a:r>
              <a:rPr lang="en-US" dirty="0"/>
              <a:t>Solved since page table is shared</a:t>
            </a:r>
          </a:p>
          <a:p>
            <a:pPr lvl="1"/>
            <a:r>
              <a:rPr lang="en-US" dirty="0"/>
              <a:t>All processes refer to same page with same VA</a:t>
            </a:r>
          </a:p>
          <a:p>
            <a:pPr lvl="1"/>
            <a:r>
              <a:rPr lang="en-US" dirty="0"/>
              <a:t>Per process access rights</a:t>
            </a:r>
          </a:p>
          <a:p>
            <a:pPr lvl="2"/>
            <a:r>
              <a:rPr lang="en-US" dirty="0"/>
              <a:t>Solved by memory segmentation</a:t>
            </a:r>
          </a:p>
          <a:p>
            <a:pPr lvl="2"/>
            <a:r>
              <a:rPr lang="en-US" dirty="0"/>
              <a:t>Each VA points to a memory segment private to a process</a:t>
            </a:r>
          </a:p>
          <a:p>
            <a:pPr lvl="2"/>
            <a:r>
              <a:rPr lang="en-US" dirty="0"/>
              <a:t>But segments are paged in a unique virtual space shared by all processes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8747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3ADB8-9631-D986-9704-B908393EB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Translation Lookaside Buffer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254E5-2337-70CF-73B6-CAE349B25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0D3878-7D33-394A-D78D-31B13A2DF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B2B91D-F905-163B-F335-58680DFFC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529" y="1185043"/>
            <a:ext cx="7086936" cy="492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2712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9F8F-B68F-E348-AB5E-213A526F8E08}" type="slidenum">
              <a:rPr lang="en-US"/>
              <a:pPr/>
              <a:t>72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9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639175" cy="831850"/>
          </a:xfrm>
        </p:spPr>
        <p:txBody>
          <a:bodyPr/>
          <a:lstStyle/>
          <a:p>
            <a:r>
              <a:rPr lang="en-US" sz="3600"/>
              <a:t>Page-Based Virtual-Memory Machine</a:t>
            </a:r>
            <a:br>
              <a:rPr lang="en-US" sz="3600"/>
            </a:br>
            <a:r>
              <a:rPr lang="en-US" sz="1800"/>
              <a:t>(Hardware Page-Table Walk)</a:t>
            </a:r>
            <a:endParaRPr lang="en-US" sz="3600"/>
          </a:p>
        </p:txBody>
      </p:sp>
      <p:sp>
        <p:nvSpPr>
          <p:cNvPr id="1691652" name="Line 4"/>
          <p:cNvSpPr>
            <a:spLocks noChangeShapeType="1"/>
          </p:cNvSpPr>
          <p:nvPr/>
        </p:nvSpPr>
        <p:spPr bwMode="auto">
          <a:xfrm>
            <a:off x="5410200" y="2859087"/>
            <a:ext cx="3352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53" name="Line 5"/>
          <p:cNvSpPr>
            <a:spLocks noChangeShapeType="1"/>
          </p:cNvSpPr>
          <p:nvPr/>
        </p:nvSpPr>
        <p:spPr bwMode="auto">
          <a:xfrm>
            <a:off x="685800" y="2859087"/>
            <a:ext cx="411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81000" y="2249487"/>
            <a:ext cx="304800" cy="1219200"/>
            <a:chOff x="336" y="1200"/>
            <a:chExt cx="144" cy="720"/>
          </a:xfrm>
        </p:grpSpPr>
        <p:sp>
          <p:nvSpPr>
            <p:cNvPr id="1691655" name="Rectangle 7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600"/>
                <a:t>PC</a:t>
              </a:r>
            </a:p>
          </p:txBody>
        </p:sp>
        <p:sp>
          <p:nvSpPr>
            <p:cNvPr id="1691656" name="Freeform 8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91657" name="Rectangle 9"/>
          <p:cNvSpPr>
            <a:spLocks noChangeArrowheads="1"/>
          </p:cNvSpPr>
          <p:nvPr/>
        </p:nvSpPr>
        <p:spPr bwMode="auto">
          <a:xfrm>
            <a:off x="990600" y="2325687"/>
            <a:ext cx="762000" cy="990600"/>
          </a:xfrm>
          <a:prstGeom prst="rect">
            <a:avLst/>
          </a:prstGeom>
          <a:solidFill>
            <a:srgbClr val="FFA74F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Inst. TLB</a:t>
            </a:r>
          </a:p>
        </p:txBody>
      </p:sp>
      <p:sp>
        <p:nvSpPr>
          <p:cNvPr id="1691658" name="Rectangle 10"/>
          <p:cNvSpPr>
            <a:spLocks noChangeArrowheads="1"/>
          </p:cNvSpPr>
          <p:nvPr/>
        </p:nvSpPr>
        <p:spPr bwMode="auto">
          <a:xfrm>
            <a:off x="1981200" y="2478087"/>
            <a:ext cx="914400" cy="685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Inst. Cache</a:t>
            </a:r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3048000" y="2249487"/>
            <a:ext cx="304800" cy="1219200"/>
            <a:chOff x="336" y="1200"/>
            <a:chExt cx="144" cy="720"/>
          </a:xfrm>
        </p:grpSpPr>
        <p:sp>
          <p:nvSpPr>
            <p:cNvPr id="1691660" name="Rectangle 12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600"/>
                <a:t>D</a:t>
              </a:r>
            </a:p>
          </p:txBody>
        </p:sp>
        <p:sp>
          <p:nvSpPr>
            <p:cNvPr id="1691661" name="Freeform 13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91662" name="Rectangle 14"/>
          <p:cNvSpPr>
            <a:spLocks noChangeArrowheads="1"/>
          </p:cNvSpPr>
          <p:nvPr/>
        </p:nvSpPr>
        <p:spPr bwMode="auto">
          <a:xfrm>
            <a:off x="3429000" y="2325687"/>
            <a:ext cx="1066800" cy="914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Decode</a:t>
            </a:r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4572000" y="2249487"/>
            <a:ext cx="304800" cy="1219200"/>
            <a:chOff x="336" y="1200"/>
            <a:chExt cx="144" cy="720"/>
          </a:xfrm>
        </p:grpSpPr>
        <p:sp>
          <p:nvSpPr>
            <p:cNvPr id="1691664" name="Rectangle 16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600"/>
                <a:t>E</a:t>
              </a:r>
            </a:p>
          </p:txBody>
        </p:sp>
        <p:sp>
          <p:nvSpPr>
            <p:cNvPr id="1691665" name="Freeform 17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91666" name="Freeform 18"/>
          <p:cNvSpPr>
            <a:spLocks/>
          </p:cNvSpPr>
          <p:nvPr/>
        </p:nvSpPr>
        <p:spPr bwMode="auto">
          <a:xfrm>
            <a:off x="5029200" y="2325687"/>
            <a:ext cx="381000" cy="1066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88"/>
              </a:cxn>
              <a:cxn ang="0">
                <a:pos x="48" y="336"/>
              </a:cxn>
              <a:cxn ang="0">
                <a:pos x="0" y="384"/>
              </a:cxn>
              <a:cxn ang="0">
                <a:pos x="0" y="672"/>
              </a:cxn>
              <a:cxn ang="0">
                <a:pos x="240" y="480"/>
              </a:cxn>
              <a:cxn ang="0">
                <a:pos x="240" y="144"/>
              </a:cxn>
              <a:cxn ang="0">
                <a:pos x="0" y="0"/>
              </a:cxn>
            </a:cxnLst>
            <a:rect l="0" t="0" r="r" b="b"/>
            <a:pathLst>
              <a:path w="240" h="672">
                <a:moveTo>
                  <a:pt x="0" y="0"/>
                </a:moveTo>
                <a:lnTo>
                  <a:pt x="0" y="288"/>
                </a:lnTo>
                <a:lnTo>
                  <a:pt x="48" y="336"/>
                </a:lnTo>
                <a:lnTo>
                  <a:pt x="0" y="384"/>
                </a:lnTo>
                <a:lnTo>
                  <a:pt x="0" y="672"/>
                </a:lnTo>
                <a:lnTo>
                  <a:pt x="240" y="480"/>
                </a:lnTo>
                <a:lnTo>
                  <a:pt x="240" y="14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5486400" y="2249487"/>
            <a:ext cx="304800" cy="1219200"/>
            <a:chOff x="336" y="1200"/>
            <a:chExt cx="144" cy="720"/>
          </a:xfrm>
        </p:grpSpPr>
        <p:sp>
          <p:nvSpPr>
            <p:cNvPr id="1691668" name="Rectangle 20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600"/>
                <a:t>M</a:t>
              </a:r>
            </a:p>
          </p:txBody>
        </p:sp>
        <p:sp>
          <p:nvSpPr>
            <p:cNvPr id="1691669" name="Freeform 21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91671" name="Rectangle 23"/>
          <p:cNvSpPr>
            <a:spLocks noChangeArrowheads="1"/>
          </p:cNvSpPr>
          <p:nvPr/>
        </p:nvSpPr>
        <p:spPr bwMode="auto">
          <a:xfrm>
            <a:off x="7162800" y="2478087"/>
            <a:ext cx="914400" cy="685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Data Cache</a:t>
            </a:r>
          </a:p>
        </p:txBody>
      </p: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8229600" y="2249487"/>
            <a:ext cx="304800" cy="1219200"/>
            <a:chOff x="336" y="1200"/>
            <a:chExt cx="144" cy="720"/>
          </a:xfrm>
        </p:grpSpPr>
        <p:sp>
          <p:nvSpPr>
            <p:cNvPr id="1691673" name="Rectangle 25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600"/>
                <a:t>W</a:t>
              </a:r>
            </a:p>
          </p:txBody>
        </p:sp>
        <p:sp>
          <p:nvSpPr>
            <p:cNvPr id="1691674" name="Freeform 26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91675" name="Line 27"/>
          <p:cNvSpPr>
            <a:spLocks noChangeShapeType="1"/>
          </p:cNvSpPr>
          <p:nvPr/>
        </p:nvSpPr>
        <p:spPr bwMode="auto">
          <a:xfrm>
            <a:off x="4876800" y="2554287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76" name="Line 28"/>
          <p:cNvSpPr>
            <a:spLocks noChangeShapeType="1"/>
          </p:cNvSpPr>
          <p:nvPr/>
        </p:nvSpPr>
        <p:spPr bwMode="auto">
          <a:xfrm>
            <a:off x="4876800" y="3163887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77" name="Text Box 29"/>
          <p:cNvSpPr txBox="1">
            <a:spLocks noChangeArrowheads="1"/>
          </p:cNvSpPr>
          <p:nvPr/>
        </p:nvSpPr>
        <p:spPr bwMode="auto">
          <a:xfrm>
            <a:off x="5081588" y="2706687"/>
            <a:ext cx="350837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+</a:t>
            </a:r>
          </a:p>
        </p:txBody>
      </p:sp>
      <p:sp>
        <p:nvSpPr>
          <p:cNvPr id="1691678" name="Line 30"/>
          <p:cNvSpPr>
            <a:spLocks noChangeShapeType="1"/>
          </p:cNvSpPr>
          <p:nvPr/>
        </p:nvSpPr>
        <p:spPr bwMode="auto">
          <a:xfrm flipV="1">
            <a:off x="1295400" y="1716087"/>
            <a:ext cx="0" cy="609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79" name="Line 31"/>
          <p:cNvSpPr>
            <a:spLocks noChangeShapeType="1"/>
          </p:cNvSpPr>
          <p:nvPr/>
        </p:nvSpPr>
        <p:spPr bwMode="auto">
          <a:xfrm flipV="1">
            <a:off x="6477000" y="1716087"/>
            <a:ext cx="0" cy="6508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80" name="Text Box 32"/>
          <p:cNvSpPr txBox="1">
            <a:spLocks noChangeArrowheads="1"/>
          </p:cNvSpPr>
          <p:nvPr/>
        </p:nvSpPr>
        <p:spPr bwMode="auto">
          <a:xfrm>
            <a:off x="304800" y="1106487"/>
            <a:ext cx="2517775" cy="641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rgbClr val="56127A"/>
                </a:solidFill>
              </a:rPr>
              <a:t>Page Fault?</a:t>
            </a:r>
          </a:p>
          <a:p>
            <a:r>
              <a:rPr lang="en-US" i="1">
                <a:solidFill>
                  <a:srgbClr val="56127A"/>
                </a:solidFill>
              </a:rPr>
              <a:t>Protection violation?</a:t>
            </a:r>
            <a:endParaRPr lang="en-US">
              <a:solidFill>
                <a:srgbClr val="56127A"/>
              </a:solidFill>
            </a:endParaRPr>
          </a:p>
        </p:txBody>
      </p:sp>
      <p:sp>
        <p:nvSpPr>
          <p:cNvPr id="1691681" name="Text Box 33"/>
          <p:cNvSpPr txBox="1">
            <a:spLocks noChangeArrowheads="1"/>
          </p:cNvSpPr>
          <p:nvPr/>
        </p:nvSpPr>
        <p:spPr bwMode="auto">
          <a:xfrm>
            <a:off x="5334000" y="1106487"/>
            <a:ext cx="2517775" cy="641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rgbClr val="56127A"/>
                </a:solidFill>
              </a:rPr>
              <a:t>Page Fault?</a:t>
            </a:r>
          </a:p>
          <a:p>
            <a:r>
              <a:rPr lang="en-US" i="1">
                <a:solidFill>
                  <a:srgbClr val="56127A"/>
                </a:solidFill>
              </a:rPr>
              <a:t>Protection violation?</a:t>
            </a:r>
            <a:endParaRPr lang="en-US">
              <a:solidFill>
                <a:srgbClr val="56127A"/>
              </a:solidFill>
            </a:endParaRPr>
          </a:p>
        </p:txBody>
      </p:sp>
      <p:sp>
        <p:nvSpPr>
          <p:cNvPr id="1691682" name="Rectangle 34"/>
          <p:cNvSpPr>
            <a:spLocks noGrp="1" noChangeArrowheads="1"/>
          </p:cNvSpPr>
          <p:nvPr>
            <p:ph type="body" idx="1"/>
          </p:nvPr>
        </p:nvSpPr>
        <p:spPr>
          <a:xfrm>
            <a:off x="1003300" y="5943600"/>
            <a:ext cx="7683500" cy="406400"/>
          </a:xfrm>
        </p:spPr>
        <p:txBody>
          <a:bodyPr/>
          <a:lstStyle/>
          <a:p>
            <a:r>
              <a:rPr lang="en-US" sz="2000"/>
              <a:t>Assumes page tables held in un-translated physical memory</a:t>
            </a:r>
          </a:p>
        </p:txBody>
      </p:sp>
      <p:sp>
        <p:nvSpPr>
          <p:cNvPr id="1691670" name="Rectangle 22"/>
          <p:cNvSpPr>
            <a:spLocks noChangeArrowheads="1"/>
          </p:cNvSpPr>
          <p:nvPr/>
        </p:nvSpPr>
        <p:spPr bwMode="auto">
          <a:xfrm>
            <a:off x="6096000" y="2325687"/>
            <a:ext cx="762000" cy="990600"/>
          </a:xfrm>
          <a:prstGeom prst="rect">
            <a:avLst/>
          </a:prstGeom>
          <a:solidFill>
            <a:srgbClr val="FFA74F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Data TLB</a:t>
            </a:r>
          </a:p>
        </p:txBody>
      </p:sp>
      <p:sp>
        <p:nvSpPr>
          <p:cNvPr id="1691683" name="Rectangle 35"/>
          <p:cNvSpPr>
            <a:spLocks noChangeArrowheads="1"/>
          </p:cNvSpPr>
          <p:nvPr/>
        </p:nvSpPr>
        <p:spPr bwMode="auto">
          <a:xfrm>
            <a:off x="3429000" y="5526087"/>
            <a:ext cx="3276600" cy="381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Main Memory (DRAM)</a:t>
            </a:r>
          </a:p>
        </p:txBody>
      </p:sp>
      <p:sp>
        <p:nvSpPr>
          <p:cNvPr id="1691684" name="Rectangle 36"/>
          <p:cNvSpPr>
            <a:spLocks noChangeArrowheads="1"/>
          </p:cNvSpPr>
          <p:nvPr/>
        </p:nvSpPr>
        <p:spPr bwMode="auto">
          <a:xfrm>
            <a:off x="3733800" y="4459287"/>
            <a:ext cx="2667000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Memory Controller</a:t>
            </a:r>
          </a:p>
        </p:txBody>
      </p:sp>
      <p:sp>
        <p:nvSpPr>
          <p:cNvPr id="1691685" name="Freeform 37"/>
          <p:cNvSpPr>
            <a:spLocks/>
          </p:cNvSpPr>
          <p:nvPr/>
        </p:nvSpPr>
        <p:spPr bwMode="auto">
          <a:xfrm>
            <a:off x="6400800" y="3163887"/>
            <a:ext cx="1371600" cy="1600200"/>
          </a:xfrm>
          <a:custGeom>
            <a:avLst/>
            <a:gdLst/>
            <a:ahLst/>
            <a:cxnLst>
              <a:cxn ang="0">
                <a:pos x="816" y="0"/>
              </a:cxn>
              <a:cxn ang="0">
                <a:pos x="816" y="384"/>
              </a:cxn>
              <a:cxn ang="0">
                <a:pos x="0" y="384"/>
              </a:cxn>
            </a:cxnLst>
            <a:rect l="0" t="0" r="r" b="b"/>
            <a:pathLst>
              <a:path w="816" h="384">
                <a:moveTo>
                  <a:pt x="816" y="0"/>
                </a:moveTo>
                <a:lnTo>
                  <a:pt x="816" y="384"/>
                </a:lnTo>
                <a:lnTo>
                  <a:pt x="0" y="384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86" name="Freeform 38"/>
          <p:cNvSpPr>
            <a:spLocks/>
          </p:cNvSpPr>
          <p:nvPr/>
        </p:nvSpPr>
        <p:spPr bwMode="auto">
          <a:xfrm flipH="1">
            <a:off x="2438400" y="3163887"/>
            <a:ext cx="1295400" cy="1600200"/>
          </a:xfrm>
          <a:custGeom>
            <a:avLst/>
            <a:gdLst/>
            <a:ahLst/>
            <a:cxnLst>
              <a:cxn ang="0">
                <a:pos x="816" y="0"/>
              </a:cxn>
              <a:cxn ang="0">
                <a:pos x="816" y="384"/>
              </a:cxn>
              <a:cxn ang="0">
                <a:pos x="0" y="384"/>
              </a:cxn>
            </a:cxnLst>
            <a:rect l="0" t="0" r="r" b="b"/>
            <a:pathLst>
              <a:path w="816" h="384">
                <a:moveTo>
                  <a:pt x="816" y="0"/>
                </a:moveTo>
                <a:lnTo>
                  <a:pt x="816" y="384"/>
                </a:lnTo>
                <a:lnTo>
                  <a:pt x="0" y="384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87" name="Line 39"/>
          <p:cNvSpPr>
            <a:spLocks noChangeShapeType="1"/>
          </p:cNvSpPr>
          <p:nvPr/>
        </p:nvSpPr>
        <p:spPr bwMode="auto">
          <a:xfrm>
            <a:off x="5105400" y="50688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88" name="Text Box 40"/>
          <p:cNvSpPr txBox="1">
            <a:spLocks noChangeArrowheads="1"/>
          </p:cNvSpPr>
          <p:nvPr/>
        </p:nvSpPr>
        <p:spPr bwMode="auto">
          <a:xfrm>
            <a:off x="7696200" y="4419600"/>
            <a:ext cx="1116013" cy="6413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/>
              <a:t>Physical Address</a:t>
            </a:r>
          </a:p>
        </p:txBody>
      </p:sp>
      <p:sp>
        <p:nvSpPr>
          <p:cNvPr id="1691689" name="Text Box 41"/>
          <p:cNvSpPr txBox="1">
            <a:spLocks noChangeArrowheads="1"/>
          </p:cNvSpPr>
          <p:nvPr/>
        </p:nvSpPr>
        <p:spPr bwMode="auto">
          <a:xfrm>
            <a:off x="1474787" y="4495800"/>
            <a:ext cx="1116013" cy="6413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/>
              <a:t>Physical Address</a:t>
            </a:r>
          </a:p>
        </p:txBody>
      </p:sp>
      <p:sp>
        <p:nvSpPr>
          <p:cNvPr id="1691690" name="Text Box 42"/>
          <p:cNvSpPr txBox="1">
            <a:spLocks noChangeArrowheads="1"/>
          </p:cNvSpPr>
          <p:nvPr/>
        </p:nvSpPr>
        <p:spPr bwMode="auto">
          <a:xfrm>
            <a:off x="4724400" y="5105400"/>
            <a:ext cx="243840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/>
              <a:t>Physical Address</a:t>
            </a:r>
          </a:p>
        </p:txBody>
      </p:sp>
      <p:sp>
        <p:nvSpPr>
          <p:cNvPr id="1691694" name="Text Box 46"/>
          <p:cNvSpPr txBox="1">
            <a:spLocks noChangeArrowheads="1"/>
          </p:cNvSpPr>
          <p:nvPr/>
        </p:nvSpPr>
        <p:spPr bwMode="auto">
          <a:xfrm>
            <a:off x="1676400" y="1944687"/>
            <a:ext cx="1116013" cy="5810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sz="1600"/>
              <a:t>Physical Address</a:t>
            </a:r>
          </a:p>
        </p:txBody>
      </p:sp>
      <p:sp>
        <p:nvSpPr>
          <p:cNvPr id="1691696" name="Rectangle 48"/>
          <p:cNvSpPr>
            <a:spLocks noChangeArrowheads="1"/>
          </p:cNvSpPr>
          <p:nvPr/>
        </p:nvSpPr>
        <p:spPr bwMode="auto">
          <a:xfrm>
            <a:off x="3429000" y="3544887"/>
            <a:ext cx="1635125" cy="457200"/>
          </a:xfrm>
          <a:prstGeom prst="rect">
            <a:avLst/>
          </a:prstGeom>
          <a:solidFill>
            <a:schemeClr val="accent1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>
              <a:lnSpc>
                <a:spcPct val="85000"/>
              </a:lnSpc>
            </a:pPr>
            <a:r>
              <a:rPr lang="en-US" altLang="ko-KR" sz="1600">
                <a:ea typeface="굴림" charset="-127"/>
                <a:cs typeface="굴림" charset="-127"/>
              </a:rPr>
              <a:t>P</a:t>
            </a:r>
            <a:r>
              <a:rPr lang="en-US" altLang="ko-KR" sz="1600">
                <a:latin typeface="ヒラギノ角ゴ Pro W3" charset="-128"/>
                <a:ea typeface="굴림" charset="-127"/>
                <a:cs typeface="굴림" charset="-127"/>
              </a:rPr>
              <a:t>age-Table Base</a:t>
            </a:r>
            <a:r>
              <a:rPr lang="en-US" altLang="ko-KR" sz="1600">
                <a:ea typeface="굴림" charset="-127"/>
                <a:cs typeface="굴림" charset="-127"/>
              </a:rPr>
              <a:t> Register</a:t>
            </a:r>
            <a:endParaRPr lang="en-US"/>
          </a:p>
        </p:txBody>
      </p:sp>
      <p:sp>
        <p:nvSpPr>
          <p:cNvPr id="1691698" name="Line 50"/>
          <p:cNvSpPr>
            <a:spLocks noChangeShapeType="1"/>
          </p:cNvSpPr>
          <p:nvPr/>
        </p:nvSpPr>
        <p:spPr bwMode="auto">
          <a:xfrm flipH="1">
            <a:off x="1828800" y="2478087"/>
            <a:ext cx="76200" cy="3810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99" name="Text Box 51"/>
          <p:cNvSpPr txBox="1">
            <a:spLocks noChangeArrowheads="1"/>
          </p:cNvSpPr>
          <p:nvPr/>
        </p:nvSpPr>
        <p:spPr bwMode="auto">
          <a:xfrm>
            <a:off x="76200" y="1716087"/>
            <a:ext cx="1116013" cy="5810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sz="1600"/>
              <a:t>Virtual Address</a:t>
            </a:r>
          </a:p>
        </p:txBody>
      </p:sp>
      <p:sp>
        <p:nvSpPr>
          <p:cNvPr id="1691700" name="Line 52"/>
          <p:cNvSpPr>
            <a:spLocks noChangeShapeType="1"/>
          </p:cNvSpPr>
          <p:nvPr/>
        </p:nvSpPr>
        <p:spPr bwMode="auto">
          <a:xfrm flipH="1" flipV="1">
            <a:off x="762000" y="2249487"/>
            <a:ext cx="76200" cy="5334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701" name="Text Box 53"/>
          <p:cNvSpPr txBox="1">
            <a:spLocks noChangeArrowheads="1"/>
          </p:cNvSpPr>
          <p:nvPr/>
        </p:nvSpPr>
        <p:spPr bwMode="auto">
          <a:xfrm>
            <a:off x="6781800" y="1944687"/>
            <a:ext cx="1116013" cy="5810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sz="1600"/>
              <a:t>Physical Address</a:t>
            </a:r>
          </a:p>
        </p:txBody>
      </p:sp>
      <p:sp>
        <p:nvSpPr>
          <p:cNvPr id="1691702" name="Line 54"/>
          <p:cNvSpPr>
            <a:spLocks noChangeShapeType="1"/>
          </p:cNvSpPr>
          <p:nvPr/>
        </p:nvSpPr>
        <p:spPr bwMode="auto">
          <a:xfrm flipH="1">
            <a:off x="6961188" y="2478087"/>
            <a:ext cx="49212" cy="4095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703" name="Text Box 55"/>
          <p:cNvSpPr txBox="1">
            <a:spLocks noChangeArrowheads="1"/>
          </p:cNvSpPr>
          <p:nvPr/>
        </p:nvSpPr>
        <p:spPr bwMode="auto">
          <a:xfrm>
            <a:off x="5029200" y="1716087"/>
            <a:ext cx="1116013" cy="5810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sz="1600"/>
              <a:t>Virtual Address</a:t>
            </a:r>
          </a:p>
        </p:txBody>
      </p:sp>
      <p:sp>
        <p:nvSpPr>
          <p:cNvPr id="1691704" name="Line 56"/>
          <p:cNvSpPr>
            <a:spLocks noChangeShapeType="1"/>
          </p:cNvSpPr>
          <p:nvPr/>
        </p:nvSpPr>
        <p:spPr bwMode="auto">
          <a:xfrm flipH="1" flipV="1">
            <a:off x="5867400" y="2173287"/>
            <a:ext cx="76200" cy="6096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705" name="Rectangle 57"/>
          <p:cNvSpPr>
            <a:spLocks noChangeArrowheads="1"/>
          </p:cNvSpPr>
          <p:nvPr/>
        </p:nvSpPr>
        <p:spPr bwMode="auto">
          <a:xfrm>
            <a:off x="5257800" y="3621087"/>
            <a:ext cx="2057400" cy="685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Hardware Page Table Walker</a:t>
            </a:r>
          </a:p>
        </p:txBody>
      </p:sp>
      <p:sp>
        <p:nvSpPr>
          <p:cNvPr id="1691706" name="Line 58"/>
          <p:cNvSpPr>
            <a:spLocks noChangeShapeType="1"/>
          </p:cNvSpPr>
          <p:nvPr/>
        </p:nvSpPr>
        <p:spPr bwMode="auto">
          <a:xfrm>
            <a:off x="5029200" y="3697287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707" name="Line 59"/>
          <p:cNvSpPr>
            <a:spLocks noChangeShapeType="1"/>
          </p:cNvSpPr>
          <p:nvPr/>
        </p:nvSpPr>
        <p:spPr bwMode="auto">
          <a:xfrm>
            <a:off x="6629400" y="3316287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708" name="Text Box 60"/>
          <p:cNvSpPr txBox="1">
            <a:spLocks noChangeArrowheads="1"/>
          </p:cNvSpPr>
          <p:nvPr/>
        </p:nvSpPr>
        <p:spPr bwMode="auto">
          <a:xfrm>
            <a:off x="762000" y="3316287"/>
            <a:ext cx="801688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rgbClr val="56127A"/>
                </a:solidFill>
              </a:rPr>
              <a:t>Miss?</a:t>
            </a:r>
            <a:endParaRPr lang="en-US"/>
          </a:p>
        </p:txBody>
      </p:sp>
      <p:sp>
        <p:nvSpPr>
          <p:cNvPr id="1691710" name="Freeform 62"/>
          <p:cNvSpPr>
            <a:spLocks/>
          </p:cNvSpPr>
          <p:nvPr/>
        </p:nvSpPr>
        <p:spPr bwMode="auto">
          <a:xfrm>
            <a:off x="7315200" y="3163887"/>
            <a:ext cx="304800" cy="6858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96" y="432"/>
              </a:cxn>
              <a:cxn ang="0">
                <a:pos x="96" y="0"/>
              </a:cxn>
            </a:cxnLst>
            <a:rect l="0" t="0" r="r" b="b"/>
            <a:pathLst>
              <a:path w="96" h="432">
                <a:moveTo>
                  <a:pt x="0" y="432"/>
                </a:moveTo>
                <a:lnTo>
                  <a:pt x="96" y="432"/>
                </a:lnTo>
                <a:lnTo>
                  <a:pt x="96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711" name="Line 63"/>
          <p:cNvSpPr>
            <a:spLocks noChangeShapeType="1"/>
          </p:cNvSpPr>
          <p:nvPr/>
        </p:nvSpPr>
        <p:spPr bwMode="auto">
          <a:xfrm flipV="1">
            <a:off x="6781800" y="3316287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712" name="Freeform 64"/>
          <p:cNvSpPr>
            <a:spLocks/>
          </p:cNvSpPr>
          <p:nvPr/>
        </p:nvSpPr>
        <p:spPr bwMode="auto">
          <a:xfrm>
            <a:off x="1524000" y="3316287"/>
            <a:ext cx="3733800" cy="914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528"/>
              </a:cxn>
              <a:cxn ang="0">
                <a:pos x="2304" y="528"/>
              </a:cxn>
            </a:cxnLst>
            <a:rect l="0" t="0" r="r" b="b"/>
            <a:pathLst>
              <a:path w="2304" h="528">
                <a:moveTo>
                  <a:pt x="0" y="0"/>
                </a:moveTo>
                <a:lnTo>
                  <a:pt x="0" y="528"/>
                </a:lnTo>
                <a:lnTo>
                  <a:pt x="2304" y="52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713" name="Text Box 65"/>
          <p:cNvSpPr txBox="1">
            <a:spLocks noChangeArrowheads="1"/>
          </p:cNvSpPr>
          <p:nvPr/>
        </p:nvSpPr>
        <p:spPr bwMode="auto">
          <a:xfrm>
            <a:off x="5867400" y="3240087"/>
            <a:ext cx="801688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rgbClr val="56127A"/>
                </a:solidFill>
              </a:rPr>
              <a:t>Miss?</a:t>
            </a:r>
            <a:endParaRPr lang="en-US"/>
          </a:p>
        </p:txBody>
      </p:sp>
      <p:sp>
        <p:nvSpPr>
          <p:cNvPr id="1691714" name="Freeform 66"/>
          <p:cNvSpPr>
            <a:spLocks/>
          </p:cNvSpPr>
          <p:nvPr/>
        </p:nvSpPr>
        <p:spPr bwMode="auto">
          <a:xfrm>
            <a:off x="1676400" y="3316287"/>
            <a:ext cx="3581400" cy="762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528"/>
              </a:cxn>
              <a:cxn ang="0">
                <a:pos x="2304" y="528"/>
              </a:cxn>
            </a:cxnLst>
            <a:rect l="0" t="0" r="r" b="b"/>
            <a:pathLst>
              <a:path w="2304" h="528">
                <a:moveTo>
                  <a:pt x="0" y="0"/>
                </a:moveTo>
                <a:lnTo>
                  <a:pt x="0" y="528"/>
                </a:lnTo>
                <a:lnTo>
                  <a:pt x="2304" y="52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Line 63"/>
          <p:cNvSpPr>
            <a:spLocks noChangeShapeType="1"/>
          </p:cNvSpPr>
          <p:nvPr/>
        </p:nvSpPr>
        <p:spPr bwMode="auto">
          <a:xfrm flipV="1">
            <a:off x="7010400" y="3124200"/>
            <a:ext cx="38100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Line 54"/>
          <p:cNvSpPr>
            <a:spLocks noChangeShapeType="1"/>
          </p:cNvSpPr>
          <p:nvPr/>
        </p:nvSpPr>
        <p:spPr bwMode="auto">
          <a:xfrm>
            <a:off x="7086600" y="2514600"/>
            <a:ext cx="0" cy="914399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1680" grpId="0"/>
      <p:bldP spid="169168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F7E6-37E2-E849-BC15-87FEB208C3D5}" type="slidenum">
              <a:rPr lang="en-US"/>
              <a:pPr/>
              <a:t>73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73218" name="Freeform 2"/>
          <p:cNvSpPr>
            <a:spLocks/>
          </p:cNvSpPr>
          <p:nvPr/>
        </p:nvSpPr>
        <p:spPr bwMode="auto">
          <a:xfrm>
            <a:off x="457200" y="2286000"/>
            <a:ext cx="3505200" cy="4067175"/>
          </a:xfrm>
          <a:custGeom>
            <a:avLst/>
            <a:gdLst/>
            <a:ahLst/>
            <a:cxnLst>
              <a:cxn ang="0">
                <a:pos x="2208" y="1944"/>
              </a:cxn>
              <a:cxn ang="0">
                <a:pos x="2208" y="2562"/>
              </a:cxn>
              <a:cxn ang="0">
                <a:pos x="0" y="2556"/>
              </a:cxn>
              <a:cxn ang="0">
                <a:pos x="0" y="6"/>
              </a:cxn>
              <a:cxn ang="0">
                <a:pos x="1980" y="0"/>
              </a:cxn>
            </a:cxnLst>
            <a:rect l="0" t="0" r="r" b="b"/>
            <a:pathLst>
              <a:path w="2208" h="2562">
                <a:moveTo>
                  <a:pt x="2208" y="1944"/>
                </a:moveTo>
                <a:lnTo>
                  <a:pt x="2208" y="2562"/>
                </a:lnTo>
                <a:lnTo>
                  <a:pt x="0" y="2556"/>
                </a:lnTo>
                <a:lnTo>
                  <a:pt x="0" y="6"/>
                </a:lnTo>
                <a:lnTo>
                  <a:pt x="1980" y="0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19" name="Line 3"/>
          <p:cNvSpPr>
            <a:spLocks noChangeShapeType="1"/>
          </p:cNvSpPr>
          <p:nvPr/>
        </p:nvSpPr>
        <p:spPr bwMode="auto">
          <a:xfrm>
            <a:off x="1676400" y="5791200"/>
            <a:ext cx="0" cy="533400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82575" y="63500"/>
            <a:ext cx="6454775" cy="1128713"/>
          </a:xfrm>
          <a:noFill/>
          <a:ln/>
        </p:spPr>
        <p:txBody>
          <a:bodyPr lIns="90488" tIns="44450" rIns="90488" bIns="44450"/>
          <a:lstStyle/>
          <a:p>
            <a:pPr>
              <a:lnSpc>
                <a:spcPct val="100000"/>
              </a:lnSpc>
            </a:pPr>
            <a:r>
              <a:rPr lang="en-US"/>
              <a:t>Address Translation:</a:t>
            </a:r>
            <a:br>
              <a:rPr lang="en-US"/>
            </a:br>
            <a:r>
              <a:rPr lang="en-US" sz="2800" i="1"/>
              <a:t>putting it all together</a:t>
            </a:r>
            <a:endParaRPr lang="en-US" sz="4000"/>
          </a:p>
        </p:txBody>
      </p:sp>
      <p:sp>
        <p:nvSpPr>
          <p:cNvPr id="1673221" name="Rectangle 5"/>
          <p:cNvSpPr>
            <a:spLocks noChangeArrowheads="1"/>
          </p:cNvSpPr>
          <p:nvPr/>
        </p:nvSpPr>
        <p:spPr bwMode="auto">
          <a:xfrm>
            <a:off x="3048000" y="1217613"/>
            <a:ext cx="2506663" cy="4540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>
                <a:solidFill>
                  <a:srgbClr val="56127A"/>
                </a:solidFill>
                <a:latin typeface="Verdana" charset="0"/>
              </a:rPr>
              <a:t>Virtual Address</a:t>
            </a:r>
          </a:p>
        </p:txBody>
      </p:sp>
      <p:sp>
        <p:nvSpPr>
          <p:cNvPr id="1673222" name="Rectangle 6"/>
          <p:cNvSpPr>
            <a:spLocks noChangeArrowheads="1"/>
          </p:cNvSpPr>
          <p:nvPr/>
        </p:nvSpPr>
        <p:spPr bwMode="auto">
          <a:xfrm>
            <a:off x="3576638" y="1984375"/>
            <a:ext cx="1309687" cy="84455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>
                <a:latin typeface="Verdana" charset="0"/>
              </a:rPr>
              <a:t>TLB</a:t>
            </a:r>
          </a:p>
          <a:p>
            <a:pPr>
              <a:spcBef>
                <a:spcPct val="0"/>
              </a:spcBef>
            </a:pPr>
            <a:r>
              <a:rPr lang="en-US" sz="2400">
                <a:latin typeface="Verdana" charset="0"/>
              </a:rPr>
              <a:t>Lookup</a:t>
            </a:r>
          </a:p>
        </p:txBody>
      </p:sp>
      <p:sp>
        <p:nvSpPr>
          <p:cNvPr id="1673223" name="Rectangle 7" descr="90%"/>
          <p:cNvSpPr>
            <a:spLocks noChangeArrowheads="1"/>
          </p:cNvSpPr>
          <p:nvPr/>
        </p:nvSpPr>
        <p:spPr bwMode="auto">
          <a:xfrm>
            <a:off x="1636713" y="3436938"/>
            <a:ext cx="1814512" cy="844550"/>
          </a:xfrm>
          <a:prstGeom prst="rect">
            <a:avLst/>
          </a:prstGeom>
          <a:pattFill prst="pct90">
            <a:fgClr>
              <a:schemeClr val="accent1"/>
            </a:fgClr>
            <a:bgClr>
              <a:srgbClr val="FFFFFF"/>
            </a:bgClr>
          </a:patt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400">
                <a:latin typeface="Verdana" charset="0"/>
              </a:rPr>
              <a:t>Page Table</a:t>
            </a:r>
          </a:p>
          <a:p>
            <a:pPr>
              <a:spcBef>
                <a:spcPct val="0"/>
              </a:spcBef>
            </a:pPr>
            <a:r>
              <a:rPr lang="en-US" sz="2400">
                <a:latin typeface="Verdana" charset="0"/>
              </a:rPr>
              <a:t>Walk</a:t>
            </a:r>
          </a:p>
        </p:txBody>
      </p:sp>
      <p:sp>
        <p:nvSpPr>
          <p:cNvPr id="1673224" name="Rectangle 8" descr="90%"/>
          <p:cNvSpPr>
            <a:spLocks noChangeArrowheads="1"/>
          </p:cNvSpPr>
          <p:nvPr/>
        </p:nvSpPr>
        <p:spPr bwMode="auto">
          <a:xfrm>
            <a:off x="3048000" y="5181600"/>
            <a:ext cx="1916113" cy="479425"/>
          </a:xfrm>
          <a:prstGeom prst="rect">
            <a:avLst/>
          </a:prstGeom>
          <a:pattFill prst="pct90">
            <a:fgClr>
              <a:schemeClr val="accent1"/>
            </a:fgClr>
            <a:bgClr>
              <a:srgbClr val="FFFFFF"/>
            </a:bgClr>
          </a:patt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400">
                <a:latin typeface="Verdana" charset="0"/>
              </a:rPr>
              <a:t>Update TLB</a:t>
            </a:r>
          </a:p>
        </p:txBody>
      </p:sp>
      <p:sp>
        <p:nvSpPr>
          <p:cNvPr id="1673225" name="Rectangle 9"/>
          <p:cNvSpPr>
            <a:spLocks noChangeArrowheads="1"/>
          </p:cNvSpPr>
          <p:nvPr/>
        </p:nvSpPr>
        <p:spPr bwMode="auto">
          <a:xfrm>
            <a:off x="609600" y="5105400"/>
            <a:ext cx="2286000" cy="693738"/>
          </a:xfrm>
          <a:prstGeom prst="rect">
            <a:avLst/>
          </a:prstGeom>
          <a:solidFill>
            <a:srgbClr val="FFCC66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i="1">
                <a:latin typeface="Verdana" charset="0"/>
              </a:rPr>
              <a:t>Page Fault</a:t>
            </a:r>
            <a:endParaRPr lang="en-US" sz="2000">
              <a:latin typeface="Verdana" charset="0"/>
            </a:endParaRPr>
          </a:p>
          <a:p>
            <a:pPr>
              <a:spcBef>
                <a:spcPct val="0"/>
              </a:spcBef>
            </a:pPr>
            <a:r>
              <a:rPr lang="en-US" sz="1800">
                <a:latin typeface="Verdana" charset="0"/>
              </a:rPr>
              <a:t>(OS loads page)</a:t>
            </a:r>
          </a:p>
        </p:txBody>
      </p:sp>
      <p:sp>
        <p:nvSpPr>
          <p:cNvPr id="1673226" name="Rectangle 10"/>
          <p:cNvSpPr>
            <a:spLocks noChangeArrowheads="1"/>
          </p:cNvSpPr>
          <p:nvPr/>
        </p:nvSpPr>
        <p:spPr bwMode="auto">
          <a:xfrm>
            <a:off x="5375275" y="3440113"/>
            <a:ext cx="1490663" cy="7239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Protection</a:t>
            </a:r>
          </a:p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Check</a:t>
            </a:r>
          </a:p>
        </p:txBody>
      </p:sp>
      <p:sp>
        <p:nvSpPr>
          <p:cNvPr id="1673227" name="Rectangle 11"/>
          <p:cNvSpPr>
            <a:spLocks noChangeArrowheads="1"/>
          </p:cNvSpPr>
          <p:nvPr/>
        </p:nvSpPr>
        <p:spPr bwMode="auto">
          <a:xfrm>
            <a:off x="7469188" y="5160963"/>
            <a:ext cx="1354137" cy="9731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Physical</a:t>
            </a:r>
          </a:p>
          <a:p>
            <a:pPr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Address</a:t>
            </a:r>
          </a:p>
          <a:p>
            <a:pPr>
              <a:spcBef>
                <a:spcPct val="0"/>
              </a:spcBef>
            </a:pPr>
            <a:r>
              <a:rPr lang="en-US" sz="1800" i="1">
                <a:solidFill>
                  <a:srgbClr val="56127A"/>
                </a:solidFill>
                <a:latin typeface="Verdana" charset="0"/>
              </a:rPr>
              <a:t>(to cache)</a:t>
            </a:r>
          </a:p>
        </p:txBody>
      </p:sp>
      <p:sp>
        <p:nvSpPr>
          <p:cNvPr id="1673228" name="Line 12"/>
          <p:cNvSpPr>
            <a:spLocks noChangeShapeType="1"/>
          </p:cNvSpPr>
          <p:nvPr/>
        </p:nvSpPr>
        <p:spPr bwMode="auto">
          <a:xfrm>
            <a:off x="4160838" y="1647825"/>
            <a:ext cx="0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29" name="Freeform 13"/>
          <p:cNvSpPr>
            <a:spLocks/>
          </p:cNvSpPr>
          <p:nvPr/>
        </p:nvSpPr>
        <p:spPr bwMode="auto">
          <a:xfrm>
            <a:off x="2565400" y="2832100"/>
            <a:ext cx="1576388" cy="612775"/>
          </a:xfrm>
          <a:custGeom>
            <a:avLst/>
            <a:gdLst/>
            <a:ahLst/>
            <a:cxnLst>
              <a:cxn ang="0">
                <a:pos x="992" y="0"/>
              </a:cxn>
              <a:cxn ang="0">
                <a:pos x="992" y="136"/>
              </a:cxn>
              <a:cxn ang="0">
                <a:pos x="0" y="369"/>
              </a:cxn>
            </a:cxnLst>
            <a:rect l="0" t="0" r="r" b="b"/>
            <a:pathLst>
              <a:path w="993" h="370">
                <a:moveTo>
                  <a:pt x="992" y="0"/>
                </a:moveTo>
                <a:lnTo>
                  <a:pt x="992" y="136"/>
                </a:lnTo>
                <a:lnTo>
                  <a:pt x="0" y="369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30" name="Line 14"/>
          <p:cNvSpPr>
            <a:spLocks noChangeShapeType="1"/>
          </p:cNvSpPr>
          <p:nvPr/>
        </p:nvSpPr>
        <p:spPr bwMode="auto">
          <a:xfrm>
            <a:off x="4141788" y="3073400"/>
            <a:ext cx="2024062" cy="3698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31" name="Rectangle 15"/>
          <p:cNvSpPr>
            <a:spLocks noChangeArrowheads="1"/>
          </p:cNvSpPr>
          <p:nvPr/>
        </p:nvSpPr>
        <p:spPr bwMode="auto">
          <a:xfrm>
            <a:off x="2786063" y="2889250"/>
            <a:ext cx="704850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miss</a:t>
            </a:r>
          </a:p>
        </p:txBody>
      </p:sp>
      <p:sp>
        <p:nvSpPr>
          <p:cNvPr id="1673232" name="Rectangle 16"/>
          <p:cNvSpPr>
            <a:spLocks noChangeArrowheads="1"/>
          </p:cNvSpPr>
          <p:nvPr/>
        </p:nvSpPr>
        <p:spPr bwMode="auto">
          <a:xfrm>
            <a:off x="5008563" y="2900363"/>
            <a:ext cx="477837" cy="3635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hit</a:t>
            </a:r>
          </a:p>
        </p:txBody>
      </p:sp>
      <p:sp>
        <p:nvSpPr>
          <p:cNvPr id="1673233" name="Freeform 17"/>
          <p:cNvSpPr>
            <a:spLocks/>
          </p:cNvSpPr>
          <p:nvPr/>
        </p:nvSpPr>
        <p:spPr bwMode="auto">
          <a:xfrm>
            <a:off x="1606550" y="4289425"/>
            <a:ext cx="890588" cy="835025"/>
          </a:xfrm>
          <a:custGeom>
            <a:avLst/>
            <a:gdLst/>
            <a:ahLst/>
            <a:cxnLst>
              <a:cxn ang="0">
                <a:pos x="560" y="0"/>
              </a:cxn>
              <a:cxn ang="0">
                <a:pos x="560" y="205"/>
              </a:cxn>
              <a:cxn ang="0">
                <a:pos x="0" y="525"/>
              </a:cxn>
            </a:cxnLst>
            <a:rect l="0" t="0" r="r" b="b"/>
            <a:pathLst>
              <a:path w="561" h="526">
                <a:moveTo>
                  <a:pt x="560" y="0"/>
                </a:moveTo>
                <a:lnTo>
                  <a:pt x="560" y="205"/>
                </a:lnTo>
                <a:lnTo>
                  <a:pt x="0" y="525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34" name="Line 18"/>
          <p:cNvSpPr>
            <a:spLocks noChangeShapeType="1"/>
          </p:cNvSpPr>
          <p:nvPr/>
        </p:nvSpPr>
        <p:spPr bwMode="auto">
          <a:xfrm>
            <a:off x="2503488" y="4637088"/>
            <a:ext cx="1077912" cy="5445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35" name="Rectangle 19"/>
          <p:cNvSpPr>
            <a:spLocks noChangeArrowheads="1"/>
          </p:cNvSpPr>
          <p:nvPr/>
        </p:nvSpPr>
        <p:spPr bwMode="auto">
          <a:xfrm>
            <a:off x="628650" y="4283075"/>
            <a:ext cx="3924300" cy="6381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000" b="1"/>
              <a:t>	      </a:t>
            </a:r>
            <a:r>
              <a:rPr lang="en-US" sz="1800">
                <a:solidFill>
                  <a:srgbClr val="56127A"/>
                </a:solidFill>
                <a:latin typeface="Verdana" charset="0"/>
              </a:rPr>
              <a:t>the  page is 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Symbol" charset="2"/>
              </a:rPr>
              <a:t>Ï</a:t>
            </a:r>
            <a:r>
              <a:rPr lang="en-US" sz="1800">
                <a:solidFill>
                  <a:srgbClr val="56127A"/>
                </a:solidFill>
                <a:latin typeface="Symbol" charset="2"/>
              </a:rPr>
              <a:t> </a:t>
            </a:r>
            <a:r>
              <a:rPr lang="en-US" sz="1800">
                <a:solidFill>
                  <a:srgbClr val="56127A"/>
                </a:solidFill>
                <a:latin typeface="Verdana" charset="0"/>
              </a:rPr>
              <a:t>memory	         </a:t>
            </a:r>
            <a:r>
              <a:rPr lang="en-US" sz="2000">
                <a:solidFill>
                  <a:srgbClr val="56127A"/>
                </a:solidFill>
                <a:latin typeface="Symbol" charset="2"/>
              </a:rPr>
              <a:t>Î</a:t>
            </a:r>
            <a:r>
              <a:rPr lang="en-US" sz="1800">
                <a:solidFill>
                  <a:srgbClr val="56127A"/>
                </a:solidFill>
                <a:latin typeface="Symbol" charset="2"/>
              </a:rPr>
              <a:t> </a:t>
            </a:r>
            <a:r>
              <a:rPr lang="en-US" sz="1800">
                <a:solidFill>
                  <a:srgbClr val="56127A"/>
                </a:solidFill>
                <a:latin typeface="Verdana" charset="0"/>
              </a:rPr>
              <a:t>memory</a:t>
            </a:r>
          </a:p>
        </p:txBody>
      </p:sp>
      <p:sp>
        <p:nvSpPr>
          <p:cNvPr id="1673236" name="Freeform 20"/>
          <p:cNvSpPr>
            <a:spLocks/>
          </p:cNvSpPr>
          <p:nvPr/>
        </p:nvSpPr>
        <p:spPr bwMode="auto">
          <a:xfrm>
            <a:off x="5584825" y="4281488"/>
            <a:ext cx="530225" cy="842962"/>
          </a:xfrm>
          <a:custGeom>
            <a:avLst/>
            <a:gdLst/>
            <a:ahLst/>
            <a:cxnLst>
              <a:cxn ang="0">
                <a:pos x="333" y="0"/>
              </a:cxn>
              <a:cxn ang="0">
                <a:pos x="333" y="187"/>
              </a:cxn>
              <a:cxn ang="0">
                <a:pos x="0" y="505"/>
              </a:cxn>
            </a:cxnLst>
            <a:rect l="0" t="0" r="r" b="b"/>
            <a:pathLst>
              <a:path w="334" h="506">
                <a:moveTo>
                  <a:pt x="333" y="0"/>
                </a:moveTo>
                <a:lnTo>
                  <a:pt x="333" y="187"/>
                </a:lnTo>
                <a:lnTo>
                  <a:pt x="0" y="505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37" name="Line 21"/>
          <p:cNvSpPr>
            <a:spLocks noChangeShapeType="1"/>
          </p:cNvSpPr>
          <p:nvPr/>
        </p:nvSpPr>
        <p:spPr bwMode="auto">
          <a:xfrm>
            <a:off x="6113463" y="4608513"/>
            <a:ext cx="1914525" cy="5159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38" name="Rectangle 22"/>
          <p:cNvSpPr>
            <a:spLocks noChangeArrowheads="1"/>
          </p:cNvSpPr>
          <p:nvPr/>
        </p:nvSpPr>
        <p:spPr bwMode="auto">
          <a:xfrm>
            <a:off x="4876800" y="4495800"/>
            <a:ext cx="946150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denied</a:t>
            </a:r>
          </a:p>
        </p:txBody>
      </p:sp>
      <p:sp>
        <p:nvSpPr>
          <p:cNvPr id="1673239" name="Rectangle 23"/>
          <p:cNvSpPr>
            <a:spLocks noChangeArrowheads="1"/>
          </p:cNvSpPr>
          <p:nvPr/>
        </p:nvSpPr>
        <p:spPr bwMode="auto">
          <a:xfrm>
            <a:off x="7002463" y="4506913"/>
            <a:ext cx="1301750" cy="3635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permitted</a:t>
            </a:r>
          </a:p>
        </p:txBody>
      </p:sp>
      <p:sp>
        <p:nvSpPr>
          <p:cNvPr id="1673240" name="Rectangle 24"/>
          <p:cNvSpPr>
            <a:spLocks noChangeArrowheads="1"/>
          </p:cNvSpPr>
          <p:nvPr/>
        </p:nvSpPr>
        <p:spPr bwMode="auto">
          <a:xfrm>
            <a:off x="5264150" y="5103813"/>
            <a:ext cx="1747838" cy="844550"/>
          </a:xfrm>
          <a:prstGeom prst="rect">
            <a:avLst/>
          </a:prstGeom>
          <a:solidFill>
            <a:srgbClr val="FFCC66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>
                <a:latin typeface="Verdana" charset="0"/>
              </a:rPr>
              <a:t>Protection</a:t>
            </a:r>
          </a:p>
          <a:p>
            <a:pPr>
              <a:spcBef>
                <a:spcPct val="0"/>
              </a:spcBef>
            </a:pPr>
            <a:r>
              <a:rPr lang="en-US" sz="2400">
                <a:latin typeface="Verdana" charset="0"/>
              </a:rPr>
              <a:t>Fault</a:t>
            </a:r>
          </a:p>
        </p:txBody>
      </p:sp>
      <p:sp>
        <p:nvSpPr>
          <p:cNvPr id="1673241" name="Rectangle 25"/>
          <p:cNvSpPr>
            <a:spLocks noChangeArrowheads="1"/>
          </p:cNvSpPr>
          <p:nvPr/>
        </p:nvSpPr>
        <p:spPr bwMode="auto">
          <a:xfrm>
            <a:off x="5551488" y="1784350"/>
            <a:ext cx="330200" cy="1905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42" name="Rectangle 26" descr="90%"/>
          <p:cNvSpPr>
            <a:spLocks noChangeArrowheads="1"/>
          </p:cNvSpPr>
          <p:nvPr/>
        </p:nvSpPr>
        <p:spPr bwMode="auto">
          <a:xfrm>
            <a:off x="5551488" y="2076450"/>
            <a:ext cx="330200" cy="190500"/>
          </a:xfrm>
          <a:prstGeom prst="rect">
            <a:avLst/>
          </a:prstGeom>
          <a:pattFill prst="pct90">
            <a:fgClr>
              <a:schemeClr val="accent1"/>
            </a:fgClr>
            <a:bgClr>
              <a:srgbClr val="FFFFFF"/>
            </a:bgClr>
          </a:patt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43" name="Rectangle 27"/>
          <p:cNvSpPr>
            <a:spLocks noChangeArrowheads="1"/>
          </p:cNvSpPr>
          <p:nvPr/>
        </p:nvSpPr>
        <p:spPr bwMode="auto">
          <a:xfrm>
            <a:off x="5551488" y="2355850"/>
            <a:ext cx="330200" cy="190500"/>
          </a:xfrm>
          <a:prstGeom prst="rect">
            <a:avLst/>
          </a:prstGeom>
          <a:solidFill>
            <a:srgbClr val="FFCC66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44" name="Rectangle 28"/>
          <p:cNvSpPr>
            <a:spLocks noChangeArrowheads="1"/>
          </p:cNvSpPr>
          <p:nvPr/>
        </p:nvSpPr>
        <p:spPr bwMode="auto">
          <a:xfrm>
            <a:off x="6019800" y="1676400"/>
            <a:ext cx="2644775" cy="912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hardware</a:t>
            </a:r>
          </a:p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hardware or software</a:t>
            </a:r>
          </a:p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software</a:t>
            </a:r>
          </a:p>
        </p:txBody>
      </p:sp>
      <p:sp>
        <p:nvSpPr>
          <p:cNvPr id="1673245" name="Line 29"/>
          <p:cNvSpPr>
            <a:spLocks noChangeShapeType="1"/>
          </p:cNvSpPr>
          <p:nvPr/>
        </p:nvSpPr>
        <p:spPr bwMode="auto">
          <a:xfrm flipH="1">
            <a:off x="6096000" y="5943600"/>
            <a:ext cx="0" cy="381000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46" name="Text Box 30"/>
          <p:cNvSpPr txBox="1">
            <a:spLocks noChangeArrowheads="1"/>
          </p:cNvSpPr>
          <p:nvPr/>
        </p:nvSpPr>
        <p:spPr bwMode="auto">
          <a:xfrm>
            <a:off x="4800600" y="6172200"/>
            <a:ext cx="13716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 b="1">
                <a:solidFill>
                  <a:srgbClr val="56127A"/>
                </a:solidFill>
                <a:latin typeface="Courier New" charset="0"/>
              </a:rPr>
              <a:t>SEGFAULT</a:t>
            </a:r>
          </a:p>
        </p:txBody>
      </p:sp>
      <p:sp>
        <p:nvSpPr>
          <p:cNvPr id="1673247" name="Rectangle 31"/>
          <p:cNvSpPr>
            <a:spLocks noChangeArrowheads="1"/>
          </p:cNvSpPr>
          <p:nvPr/>
        </p:nvSpPr>
        <p:spPr bwMode="auto">
          <a:xfrm>
            <a:off x="762000" y="1892300"/>
            <a:ext cx="2540000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Restart instruction</a:t>
            </a:r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76DC-9989-C345-B2D7-C32362AF26A2}" type="slidenum">
              <a:rPr lang="en-US"/>
              <a:pPr/>
              <a:t>74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98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Page Fault Handler</a:t>
            </a:r>
          </a:p>
        </p:txBody>
      </p:sp>
      <p:sp>
        <p:nvSpPr>
          <p:cNvPr id="1698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990600"/>
            <a:ext cx="8305800" cy="5562600"/>
          </a:xfrm>
        </p:spPr>
        <p:txBody>
          <a:bodyPr/>
          <a:lstStyle/>
          <a:p>
            <a:r>
              <a:rPr lang="en-US" sz="2800"/>
              <a:t>When the referenced page is not in DRAM:</a:t>
            </a:r>
          </a:p>
          <a:p>
            <a:pPr lvl="1"/>
            <a:r>
              <a:rPr lang="en-US" sz="2400"/>
              <a:t>The missing page is located (or created)</a:t>
            </a:r>
          </a:p>
          <a:p>
            <a:pPr lvl="1"/>
            <a:r>
              <a:rPr lang="en-US" sz="2400"/>
              <a:t>It is brought in from disk, and page table is updated</a:t>
            </a:r>
          </a:p>
          <a:p>
            <a:pPr lvl="2">
              <a:buFontTx/>
              <a:buNone/>
            </a:pPr>
            <a:r>
              <a:rPr lang="en-US" sz="2000" i="1"/>
              <a:t>   Another job may be run on the CPU while the first job waits for the requested page to be read from disk</a:t>
            </a:r>
          </a:p>
          <a:p>
            <a:pPr lvl="1"/>
            <a:r>
              <a:rPr lang="en-US" sz="2400"/>
              <a:t>If no free pages are left, a page is swapped out</a:t>
            </a:r>
          </a:p>
          <a:p>
            <a:pPr lvl="2">
              <a:buFontTx/>
              <a:buNone/>
            </a:pPr>
            <a:r>
              <a:rPr lang="en-US" sz="2000"/>
              <a:t>   </a:t>
            </a:r>
            <a:r>
              <a:rPr lang="en-US" sz="2000" i="1"/>
              <a:t>Pseudo-LRU replacement policy</a:t>
            </a:r>
            <a:r>
              <a:rPr lang="en-US" sz="2000"/>
              <a:t>	</a:t>
            </a:r>
          </a:p>
          <a:p>
            <a:r>
              <a:rPr lang="en-US" sz="2800"/>
              <a:t>Since it takes a long time to transfer a page (msecs), page faults are handled completely in software by the OS</a:t>
            </a:r>
          </a:p>
          <a:p>
            <a:pPr lvl="1"/>
            <a:r>
              <a:rPr lang="en-US" sz="2400"/>
              <a:t>Untranslated addressing mode is essential to allow kernel to access page tables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Handling VM-related exceptions</a:t>
            </a:r>
          </a:p>
        </p:txBody>
      </p:sp>
      <p:sp>
        <p:nvSpPr>
          <p:cNvPr id="1685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200400"/>
            <a:ext cx="7848600" cy="3276600"/>
          </a:xfrm>
        </p:spPr>
        <p:txBody>
          <a:bodyPr/>
          <a:lstStyle/>
          <a:p>
            <a:r>
              <a:rPr lang="en-US" sz="2000"/>
              <a:t>Handling a TLB miss needs a hardware or software mechanism to refill TLB </a:t>
            </a:r>
          </a:p>
          <a:p>
            <a:r>
              <a:rPr lang="en-US" sz="2000"/>
              <a:t>Handling a page fault (e.g., page is on disk) needs a </a:t>
            </a:r>
            <a:r>
              <a:rPr lang="en-US" sz="2000" err="1"/>
              <a:t>restartable</a:t>
            </a:r>
            <a:r>
              <a:rPr lang="en-US" sz="2000"/>
              <a:t> exception so software handler can resume after retrieving page</a:t>
            </a:r>
          </a:p>
          <a:p>
            <a:pPr lvl="1"/>
            <a:r>
              <a:rPr lang="en-US" sz="1800"/>
              <a:t>Precise exceptions are easy to restart</a:t>
            </a:r>
          </a:p>
          <a:p>
            <a:pPr lvl="1"/>
            <a:r>
              <a:rPr lang="en-US" sz="1800"/>
              <a:t>Can be imprecise but </a:t>
            </a:r>
            <a:r>
              <a:rPr lang="en-US" sz="1800" err="1"/>
              <a:t>restartable</a:t>
            </a:r>
            <a:r>
              <a:rPr lang="en-US" sz="1800"/>
              <a:t>, but this complicates OS software</a:t>
            </a:r>
          </a:p>
          <a:p>
            <a:r>
              <a:rPr lang="en-US" sz="2000"/>
              <a:t>Handling protection violation may abort process</a:t>
            </a:r>
          </a:p>
          <a:p>
            <a:pPr lvl="1"/>
            <a:r>
              <a:rPr lang="en-US" sz="1800"/>
              <a:t>But often handled the same as a page fault</a:t>
            </a:r>
          </a:p>
          <a:p>
            <a:pPr lvl="1"/>
            <a:endParaRPr lang="en-US" sz="1800"/>
          </a:p>
        </p:txBody>
      </p:sp>
      <p:sp>
        <p:nvSpPr>
          <p:cNvPr id="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37DD-8419-5243-9E56-EE2601435CE6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1685508" name="Line 4"/>
          <p:cNvSpPr>
            <a:spLocks noChangeShapeType="1"/>
          </p:cNvSpPr>
          <p:nvPr/>
        </p:nvSpPr>
        <p:spPr bwMode="auto">
          <a:xfrm>
            <a:off x="5638800" y="1828800"/>
            <a:ext cx="3124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5509" name="Line 5"/>
          <p:cNvSpPr>
            <a:spLocks noChangeShapeType="1"/>
          </p:cNvSpPr>
          <p:nvPr/>
        </p:nvSpPr>
        <p:spPr bwMode="auto">
          <a:xfrm>
            <a:off x="990600" y="1828800"/>
            <a:ext cx="3810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85800" y="1219200"/>
            <a:ext cx="304800" cy="1219200"/>
            <a:chOff x="336" y="1200"/>
            <a:chExt cx="144" cy="720"/>
          </a:xfrm>
        </p:grpSpPr>
        <p:sp>
          <p:nvSpPr>
            <p:cNvPr id="1685511" name="Rectangle 7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latin typeface="Verdana" charset="0"/>
                </a:rPr>
                <a:t>PC</a:t>
              </a:r>
            </a:p>
          </p:txBody>
        </p:sp>
        <p:sp>
          <p:nvSpPr>
            <p:cNvPr id="1685512" name="Freeform 8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85513" name="Rectangle 9"/>
          <p:cNvSpPr>
            <a:spLocks noChangeArrowheads="1"/>
          </p:cNvSpPr>
          <p:nvPr/>
        </p:nvSpPr>
        <p:spPr bwMode="auto">
          <a:xfrm>
            <a:off x="1143000" y="1295400"/>
            <a:ext cx="685800" cy="990600"/>
          </a:xfrm>
          <a:prstGeom prst="rect">
            <a:avLst/>
          </a:prstGeom>
          <a:solidFill>
            <a:srgbClr val="FFA74F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800">
                <a:latin typeface="Verdana" charset="0"/>
              </a:rPr>
              <a:t>Inst TLB</a:t>
            </a:r>
          </a:p>
        </p:txBody>
      </p:sp>
      <p:sp>
        <p:nvSpPr>
          <p:cNvPr id="1685514" name="Rectangle 10"/>
          <p:cNvSpPr>
            <a:spLocks noChangeArrowheads="1"/>
          </p:cNvSpPr>
          <p:nvPr/>
        </p:nvSpPr>
        <p:spPr bwMode="auto">
          <a:xfrm>
            <a:off x="1981200" y="1295400"/>
            <a:ext cx="914400" cy="990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800">
                <a:latin typeface="Verdana" charset="0"/>
              </a:rPr>
              <a:t>Inst. Cache</a:t>
            </a:r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3048000" y="1219200"/>
            <a:ext cx="304800" cy="1219200"/>
            <a:chOff x="336" y="1200"/>
            <a:chExt cx="144" cy="720"/>
          </a:xfrm>
        </p:grpSpPr>
        <p:sp>
          <p:nvSpPr>
            <p:cNvPr id="1685516" name="Rectangle 12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latin typeface="Verdana" charset="0"/>
                </a:rPr>
                <a:t>D</a:t>
              </a:r>
            </a:p>
          </p:txBody>
        </p:sp>
        <p:sp>
          <p:nvSpPr>
            <p:cNvPr id="1685517" name="Freeform 13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85518" name="Rectangle 14"/>
          <p:cNvSpPr>
            <a:spLocks noChangeArrowheads="1"/>
          </p:cNvSpPr>
          <p:nvPr/>
        </p:nvSpPr>
        <p:spPr bwMode="auto">
          <a:xfrm>
            <a:off x="3505200" y="1295400"/>
            <a:ext cx="1066800" cy="990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800">
                <a:latin typeface="Verdana" charset="0"/>
              </a:rPr>
              <a:t>Decode</a:t>
            </a:r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4800600" y="1219200"/>
            <a:ext cx="304800" cy="1219200"/>
            <a:chOff x="336" y="1200"/>
            <a:chExt cx="144" cy="720"/>
          </a:xfrm>
        </p:grpSpPr>
        <p:sp>
          <p:nvSpPr>
            <p:cNvPr id="1685520" name="Rectangle 16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latin typeface="Verdana" charset="0"/>
                </a:rPr>
                <a:t>E</a:t>
              </a:r>
            </a:p>
          </p:txBody>
        </p:sp>
        <p:sp>
          <p:nvSpPr>
            <p:cNvPr id="1685521" name="Freeform 17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85522" name="Freeform 18"/>
          <p:cNvSpPr>
            <a:spLocks/>
          </p:cNvSpPr>
          <p:nvPr/>
        </p:nvSpPr>
        <p:spPr bwMode="auto">
          <a:xfrm>
            <a:off x="5257800" y="1295400"/>
            <a:ext cx="381000" cy="1066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88"/>
              </a:cxn>
              <a:cxn ang="0">
                <a:pos x="48" y="336"/>
              </a:cxn>
              <a:cxn ang="0">
                <a:pos x="0" y="384"/>
              </a:cxn>
              <a:cxn ang="0">
                <a:pos x="0" y="672"/>
              </a:cxn>
              <a:cxn ang="0">
                <a:pos x="240" y="480"/>
              </a:cxn>
              <a:cxn ang="0">
                <a:pos x="240" y="144"/>
              </a:cxn>
              <a:cxn ang="0">
                <a:pos x="0" y="0"/>
              </a:cxn>
            </a:cxnLst>
            <a:rect l="0" t="0" r="r" b="b"/>
            <a:pathLst>
              <a:path w="240" h="672">
                <a:moveTo>
                  <a:pt x="0" y="0"/>
                </a:moveTo>
                <a:lnTo>
                  <a:pt x="0" y="288"/>
                </a:lnTo>
                <a:lnTo>
                  <a:pt x="48" y="336"/>
                </a:lnTo>
                <a:lnTo>
                  <a:pt x="0" y="384"/>
                </a:lnTo>
                <a:lnTo>
                  <a:pt x="0" y="672"/>
                </a:lnTo>
                <a:lnTo>
                  <a:pt x="240" y="480"/>
                </a:lnTo>
                <a:lnTo>
                  <a:pt x="240" y="14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5791200" y="1219200"/>
            <a:ext cx="304800" cy="1219200"/>
            <a:chOff x="336" y="1200"/>
            <a:chExt cx="144" cy="720"/>
          </a:xfrm>
        </p:grpSpPr>
        <p:sp>
          <p:nvSpPr>
            <p:cNvPr id="1685524" name="Rectangle 20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latin typeface="Verdana" charset="0"/>
                </a:rPr>
                <a:t>M</a:t>
              </a:r>
            </a:p>
          </p:txBody>
        </p:sp>
        <p:sp>
          <p:nvSpPr>
            <p:cNvPr id="1685525" name="Freeform 21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85526" name="Rectangle 22"/>
          <p:cNvSpPr>
            <a:spLocks noChangeArrowheads="1"/>
          </p:cNvSpPr>
          <p:nvPr/>
        </p:nvSpPr>
        <p:spPr bwMode="auto">
          <a:xfrm>
            <a:off x="6248400" y="1295400"/>
            <a:ext cx="762000" cy="990600"/>
          </a:xfrm>
          <a:prstGeom prst="rect">
            <a:avLst/>
          </a:prstGeom>
          <a:solidFill>
            <a:srgbClr val="FFA74F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800">
                <a:latin typeface="Verdana" charset="0"/>
              </a:rPr>
              <a:t>Data TLB</a:t>
            </a:r>
          </a:p>
        </p:txBody>
      </p:sp>
      <p:sp>
        <p:nvSpPr>
          <p:cNvPr id="1685527" name="Rectangle 23"/>
          <p:cNvSpPr>
            <a:spLocks noChangeArrowheads="1"/>
          </p:cNvSpPr>
          <p:nvPr/>
        </p:nvSpPr>
        <p:spPr bwMode="auto">
          <a:xfrm>
            <a:off x="7162800" y="1295400"/>
            <a:ext cx="914400" cy="990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800">
                <a:latin typeface="Verdana" charset="0"/>
              </a:rPr>
              <a:t>Data Cache</a:t>
            </a:r>
          </a:p>
        </p:txBody>
      </p: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8229600" y="1219200"/>
            <a:ext cx="304800" cy="1219200"/>
            <a:chOff x="336" y="1200"/>
            <a:chExt cx="144" cy="720"/>
          </a:xfrm>
        </p:grpSpPr>
        <p:sp>
          <p:nvSpPr>
            <p:cNvPr id="1685529" name="Rectangle 25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latin typeface="Verdana" charset="0"/>
                </a:rPr>
                <a:t>W</a:t>
              </a:r>
            </a:p>
          </p:txBody>
        </p:sp>
        <p:sp>
          <p:nvSpPr>
            <p:cNvPr id="1685530" name="Freeform 26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85531" name="Line 27"/>
          <p:cNvSpPr>
            <a:spLocks noChangeShapeType="1"/>
          </p:cNvSpPr>
          <p:nvPr/>
        </p:nvSpPr>
        <p:spPr bwMode="auto">
          <a:xfrm>
            <a:off x="5105400" y="15240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5532" name="Line 28"/>
          <p:cNvSpPr>
            <a:spLocks noChangeShapeType="1"/>
          </p:cNvSpPr>
          <p:nvPr/>
        </p:nvSpPr>
        <p:spPr bwMode="auto">
          <a:xfrm>
            <a:off x="5105400" y="21336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5533" name="Text Box 29"/>
          <p:cNvSpPr txBox="1">
            <a:spLocks noChangeArrowheads="1"/>
          </p:cNvSpPr>
          <p:nvPr/>
        </p:nvSpPr>
        <p:spPr bwMode="auto">
          <a:xfrm>
            <a:off x="5310188" y="1676400"/>
            <a:ext cx="350837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>
                <a:latin typeface="Verdana" charset="0"/>
              </a:rPr>
              <a:t>+</a:t>
            </a:r>
          </a:p>
        </p:txBody>
      </p:sp>
      <p:sp>
        <p:nvSpPr>
          <p:cNvPr id="1685534" name="Line 30"/>
          <p:cNvSpPr>
            <a:spLocks noChangeShapeType="1"/>
          </p:cNvSpPr>
          <p:nvPr/>
        </p:nvSpPr>
        <p:spPr bwMode="auto">
          <a:xfrm>
            <a:off x="1447800" y="2286000"/>
            <a:ext cx="0" cy="304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5535" name="Line 31"/>
          <p:cNvSpPr>
            <a:spLocks noChangeShapeType="1"/>
          </p:cNvSpPr>
          <p:nvPr/>
        </p:nvSpPr>
        <p:spPr bwMode="auto">
          <a:xfrm>
            <a:off x="6629400" y="2286000"/>
            <a:ext cx="0" cy="304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5536" name="Text Box 32"/>
          <p:cNvSpPr txBox="1">
            <a:spLocks noChangeArrowheads="1"/>
          </p:cNvSpPr>
          <p:nvPr/>
        </p:nvSpPr>
        <p:spPr bwMode="auto">
          <a:xfrm>
            <a:off x="200025" y="2524125"/>
            <a:ext cx="2741613" cy="641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 i="1">
                <a:solidFill>
                  <a:srgbClr val="56127A"/>
                </a:solidFill>
                <a:latin typeface="Verdana" charset="0"/>
              </a:rPr>
              <a:t>TLB miss? Page Fault?</a:t>
            </a:r>
          </a:p>
          <a:p>
            <a:pPr>
              <a:spcBef>
                <a:spcPct val="0"/>
              </a:spcBef>
            </a:pPr>
            <a:r>
              <a:rPr lang="en-US" sz="1800" i="1">
                <a:solidFill>
                  <a:srgbClr val="56127A"/>
                </a:solidFill>
                <a:latin typeface="Verdana" charset="0"/>
              </a:rPr>
              <a:t>Protection violation?</a:t>
            </a:r>
            <a:endParaRPr lang="en-US" sz="1800">
              <a:solidFill>
                <a:srgbClr val="56127A"/>
              </a:solidFill>
              <a:latin typeface="Verdana" charset="0"/>
            </a:endParaRPr>
          </a:p>
        </p:txBody>
      </p:sp>
      <p:sp>
        <p:nvSpPr>
          <p:cNvPr id="1685537" name="Text Box 33"/>
          <p:cNvSpPr txBox="1">
            <a:spLocks noChangeArrowheads="1"/>
          </p:cNvSpPr>
          <p:nvPr/>
        </p:nvSpPr>
        <p:spPr bwMode="auto">
          <a:xfrm>
            <a:off x="5214938" y="2524125"/>
            <a:ext cx="2741612" cy="641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 i="1">
                <a:solidFill>
                  <a:srgbClr val="56127A"/>
                </a:solidFill>
                <a:latin typeface="Verdana" charset="0"/>
              </a:rPr>
              <a:t>TLB miss? Page Fault?</a:t>
            </a:r>
          </a:p>
          <a:p>
            <a:pPr>
              <a:spcBef>
                <a:spcPct val="0"/>
              </a:spcBef>
            </a:pPr>
            <a:r>
              <a:rPr lang="en-US" sz="1800" i="1">
                <a:solidFill>
                  <a:srgbClr val="56127A"/>
                </a:solidFill>
                <a:latin typeface="Verdana" charset="0"/>
              </a:rPr>
              <a:t>Protection violation?</a:t>
            </a:r>
            <a:endParaRPr lang="en-US" sz="1800">
              <a:solidFill>
                <a:srgbClr val="56127A"/>
              </a:solidFill>
              <a:latin typeface="Verdan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5507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37DD-8419-5243-9E56-EE2601435CE6}" type="slidenum">
              <a:rPr lang="en-US"/>
              <a:pPr/>
              <a:t>76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85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41313"/>
            <a:ext cx="8639175" cy="831850"/>
          </a:xfrm>
        </p:spPr>
        <p:txBody>
          <a:bodyPr/>
          <a:lstStyle/>
          <a:p>
            <a:r>
              <a:rPr lang="en-US"/>
              <a:t>Address Translation in CPU Pipeline</a:t>
            </a:r>
          </a:p>
        </p:txBody>
      </p:sp>
      <p:sp>
        <p:nvSpPr>
          <p:cNvPr id="1685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276600"/>
            <a:ext cx="8153400" cy="3124200"/>
          </a:xfrm>
        </p:spPr>
        <p:txBody>
          <a:bodyPr/>
          <a:lstStyle/>
          <a:p>
            <a:pPr marL="171450" indent="-171450"/>
            <a:r>
              <a:rPr lang="en-US"/>
              <a:t>Need to cope with additional latency of TLB:</a:t>
            </a:r>
          </a:p>
          <a:p>
            <a:pPr marL="631825" lvl="1" indent="-233363">
              <a:spcAft>
                <a:spcPts val="0"/>
              </a:spcAft>
            </a:pPr>
            <a:r>
              <a:rPr lang="en-US" sz="2400" i="1"/>
              <a:t>  </a:t>
            </a:r>
            <a:r>
              <a:rPr lang="en-US" sz="2400"/>
              <a:t>slow down the clock?</a:t>
            </a:r>
            <a:endParaRPr lang="en-US" sz="2400" i="1"/>
          </a:p>
          <a:p>
            <a:pPr marL="631825" lvl="1" indent="-233363">
              <a:spcAft>
                <a:spcPts val="0"/>
              </a:spcAft>
            </a:pPr>
            <a:r>
              <a:rPr lang="en-US" sz="2400"/>
              <a:t>  pipeline the TLB and cache access?</a:t>
            </a:r>
          </a:p>
          <a:p>
            <a:pPr marL="631825" lvl="1" indent="-233363">
              <a:spcAft>
                <a:spcPts val="0"/>
              </a:spcAft>
            </a:pPr>
            <a:r>
              <a:rPr lang="en-US" sz="2400"/>
              <a:t>  virtual address caches</a:t>
            </a:r>
          </a:p>
          <a:p>
            <a:pPr marL="631825" lvl="1" indent="-233363">
              <a:spcAft>
                <a:spcPts val="0"/>
              </a:spcAft>
            </a:pPr>
            <a:r>
              <a:rPr lang="en-US" sz="2400"/>
              <a:t>  parallel TLB/cache access</a:t>
            </a:r>
            <a:endParaRPr lang="en-US" sz="2400">
              <a:solidFill>
                <a:srgbClr val="56127A"/>
              </a:solidFill>
            </a:endParaRPr>
          </a:p>
        </p:txBody>
      </p:sp>
      <p:sp>
        <p:nvSpPr>
          <p:cNvPr id="1685508" name="Line 4"/>
          <p:cNvSpPr>
            <a:spLocks noChangeShapeType="1"/>
          </p:cNvSpPr>
          <p:nvPr/>
        </p:nvSpPr>
        <p:spPr bwMode="auto">
          <a:xfrm>
            <a:off x="5638800" y="1828800"/>
            <a:ext cx="3124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5509" name="Line 5"/>
          <p:cNvSpPr>
            <a:spLocks noChangeShapeType="1"/>
          </p:cNvSpPr>
          <p:nvPr/>
        </p:nvSpPr>
        <p:spPr bwMode="auto">
          <a:xfrm>
            <a:off x="990600" y="1828800"/>
            <a:ext cx="3810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85800" y="1219200"/>
            <a:ext cx="304800" cy="1219200"/>
            <a:chOff x="336" y="1200"/>
            <a:chExt cx="144" cy="720"/>
          </a:xfrm>
        </p:grpSpPr>
        <p:sp>
          <p:nvSpPr>
            <p:cNvPr id="1685511" name="Rectangle 7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latin typeface="Verdana" charset="0"/>
                </a:rPr>
                <a:t>PC</a:t>
              </a:r>
            </a:p>
          </p:txBody>
        </p:sp>
        <p:sp>
          <p:nvSpPr>
            <p:cNvPr id="1685512" name="Freeform 8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85513" name="Rectangle 9"/>
          <p:cNvSpPr>
            <a:spLocks noChangeArrowheads="1"/>
          </p:cNvSpPr>
          <p:nvPr/>
        </p:nvSpPr>
        <p:spPr bwMode="auto">
          <a:xfrm>
            <a:off x="1143000" y="1295400"/>
            <a:ext cx="685800" cy="990600"/>
          </a:xfrm>
          <a:prstGeom prst="rect">
            <a:avLst/>
          </a:prstGeom>
          <a:solidFill>
            <a:srgbClr val="FFA74F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800">
                <a:latin typeface="Verdana" charset="0"/>
              </a:rPr>
              <a:t>Inst TLB</a:t>
            </a:r>
          </a:p>
        </p:txBody>
      </p:sp>
      <p:sp>
        <p:nvSpPr>
          <p:cNvPr id="1685514" name="Rectangle 10"/>
          <p:cNvSpPr>
            <a:spLocks noChangeArrowheads="1"/>
          </p:cNvSpPr>
          <p:nvPr/>
        </p:nvSpPr>
        <p:spPr bwMode="auto">
          <a:xfrm>
            <a:off x="1981200" y="1295400"/>
            <a:ext cx="914400" cy="990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800">
                <a:latin typeface="Verdana" charset="0"/>
              </a:rPr>
              <a:t>Inst. Cache</a:t>
            </a:r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3048000" y="1219200"/>
            <a:ext cx="304800" cy="1219200"/>
            <a:chOff x="336" y="1200"/>
            <a:chExt cx="144" cy="720"/>
          </a:xfrm>
        </p:grpSpPr>
        <p:sp>
          <p:nvSpPr>
            <p:cNvPr id="1685516" name="Rectangle 12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latin typeface="Verdana" charset="0"/>
                </a:rPr>
                <a:t>D</a:t>
              </a:r>
            </a:p>
          </p:txBody>
        </p:sp>
        <p:sp>
          <p:nvSpPr>
            <p:cNvPr id="1685517" name="Freeform 13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85518" name="Rectangle 14"/>
          <p:cNvSpPr>
            <a:spLocks noChangeArrowheads="1"/>
          </p:cNvSpPr>
          <p:nvPr/>
        </p:nvSpPr>
        <p:spPr bwMode="auto">
          <a:xfrm>
            <a:off x="3505200" y="1295400"/>
            <a:ext cx="1066800" cy="990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800">
                <a:latin typeface="Verdana" charset="0"/>
              </a:rPr>
              <a:t>Decode</a:t>
            </a:r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4800600" y="1219200"/>
            <a:ext cx="304800" cy="1219200"/>
            <a:chOff x="336" y="1200"/>
            <a:chExt cx="144" cy="720"/>
          </a:xfrm>
        </p:grpSpPr>
        <p:sp>
          <p:nvSpPr>
            <p:cNvPr id="1685520" name="Rectangle 16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latin typeface="Verdana" charset="0"/>
                </a:rPr>
                <a:t>E</a:t>
              </a:r>
            </a:p>
          </p:txBody>
        </p:sp>
        <p:sp>
          <p:nvSpPr>
            <p:cNvPr id="1685521" name="Freeform 17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85522" name="Freeform 18"/>
          <p:cNvSpPr>
            <a:spLocks/>
          </p:cNvSpPr>
          <p:nvPr/>
        </p:nvSpPr>
        <p:spPr bwMode="auto">
          <a:xfrm>
            <a:off x="5257800" y="1295400"/>
            <a:ext cx="381000" cy="1066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88"/>
              </a:cxn>
              <a:cxn ang="0">
                <a:pos x="48" y="336"/>
              </a:cxn>
              <a:cxn ang="0">
                <a:pos x="0" y="384"/>
              </a:cxn>
              <a:cxn ang="0">
                <a:pos x="0" y="672"/>
              </a:cxn>
              <a:cxn ang="0">
                <a:pos x="240" y="480"/>
              </a:cxn>
              <a:cxn ang="0">
                <a:pos x="240" y="144"/>
              </a:cxn>
              <a:cxn ang="0">
                <a:pos x="0" y="0"/>
              </a:cxn>
            </a:cxnLst>
            <a:rect l="0" t="0" r="r" b="b"/>
            <a:pathLst>
              <a:path w="240" h="672">
                <a:moveTo>
                  <a:pt x="0" y="0"/>
                </a:moveTo>
                <a:lnTo>
                  <a:pt x="0" y="288"/>
                </a:lnTo>
                <a:lnTo>
                  <a:pt x="48" y="336"/>
                </a:lnTo>
                <a:lnTo>
                  <a:pt x="0" y="384"/>
                </a:lnTo>
                <a:lnTo>
                  <a:pt x="0" y="672"/>
                </a:lnTo>
                <a:lnTo>
                  <a:pt x="240" y="480"/>
                </a:lnTo>
                <a:lnTo>
                  <a:pt x="240" y="14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5791200" y="1219200"/>
            <a:ext cx="304800" cy="1219200"/>
            <a:chOff x="336" y="1200"/>
            <a:chExt cx="144" cy="720"/>
          </a:xfrm>
        </p:grpSpPr>
        <p:sp>
          <p:nvSpPr>
            <p:cNvPr id="1685524" name="Rectangle 20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latin typeface="Verdana" charset="0"/>
                </a:rPr>
                <a:t>M</a:t>
              </a:r>
            </a:p>
          </p:txBody>
        </p:sp>
        <p:sp>
          <p:nvSpPr>
            <p:cNvPr id="1685525" name="Freeform 21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85526" name="Rectangle 22"/>
          <p:cNvSpPr>
            <a:spLocks noChangeArrowheads="1"/>
          </p:cNvSpPr>
          <p:nvPr/>
        </p:nvSpPr>
        <p:spPr bwMode="auto">
          <a:xfrm>
            <a:off x="6248400" y="1295400"/>
            <a:ext cx="762000" cy="990600"/>
          </a:xfrm>
          <a:prstGeom prst="rect">
            <a:avLst/>
          </a:prstGeom>
          <a:solidFill>
            <a:srgbClr val="FFA74F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800">
                <a:latin typeface="Verdana" charset="0"/>
              </a:rPr>
              <a:t>Data TLB</a:t>
            </a:r>
          </a:p>
        </p:txBody>
      </p:sp>
      <p:sp>
        <p:nvSpPr>
          <p:cNvPr id="1685527" name="Rectangle 23"/>
          <p:cNvSpPr>
            <a:spLocks noChangeArrowheads="1"/>
          </p:cNvSpPr>
          <p:nvPr/>
        </p:nvSpPr>
        <p:spPr bwMode="auto">
          <a:xfrm>
            <a:off x="7162800" y="1295400"/>
            <a:ext cx="914400" cy="990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800">
                <a:latin typeface="Verdana" charset="0"/>
              </a:rPr>
              <a:t>Data Cache</a:t>
            </a:r>
          </a:p>
        </p:txBody>
      </p: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8229600" y="1219200"/>
            <a:ext cx="304800" cy="1219200"/>
            <a:chOff x="336" y="1200"/>
            <a:chExt cx="144" cy="720"/>
          </a:xfrm>
        </p:grpSpPr>
        <p:sp>
          <p:nvSpPr>
            <p:cNvPr id="1685529" name="Rectangle 25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latin typeface="Verdana" charset="0"/>
                </a:rPr>
                <a:t>W</a:t>
              </a:r>
            </a:p>
          </p:txBody>
        </p:sp>
        <p:sp>
          <p:nvSpPr>
            <p:cNvPr id="1685530" name="Freeform 26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85531" name="Line 27"/>
          <p:cNvSpPr>
            <a:spLocks noChangeShapeType="1"/>
          </p:cNvSpPr>
          <p:nvPr/>
        </p:nvSpPr>
        <p:spPr bwMode="auto">
          <a:xfrm>
            <a:off x="5105400" y="15240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5532" name="Line 28"/>
          <p:cNvSpPr>
            <a:spLocks noChangeShapeType="1"/>
          </p:cNvSpPr>
          <p:nvPr/>
        </p:nvSpPr>
        <p:spPr bwMode="auto">
          <a:xfrm>
            <a:off x="5105400" y="21336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5533" name="Text Box 29"/>
          <p:cNvSpPr txBox="1">
            <a:spLocks noChangeArrowheads="1"/>
          </p:cNvSpPr>
          <p:nvPr/>
        </p:nvSpPr>
        <p:spPr bwMode="auto">
          <a:xfrm>
            <a:off x="5310188" y="1676400"/>
            <a:ext cx="350837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>
                <a:latin typeface="Verdana" charset="0"/>
              </a:rPr>
              <a:t>+</a:t>
            </a:r>
          </a:p>
        </p:txBody>
      </p:sp>
      <p:sp>
        <p:nvSpPr>
          <p:cNvPr id="1685534" name="Line 30"/>
          <p:cNvSpPr>
            <a:spLocks noChangeShapeType="1"/>
          </p:cNvSpPr>
          <p:nvPr/>
        </p:nvSpPr>
        <p:spPr bwMode="auto">
          <a:xfrm>
            <a:off x="1447800" y="2286000"/>
            <a:ext cx="0" cy="304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5535" name="Line 31"/>
          <p:cNvSpPr>
            <a:spLocks noChangeShapeType="1"/>
          </p:cNvSpPr>
          <p:nvPr/>
        </p:nvSpPr>
        <p:spPr bwMode="auto">
          <a:xfrm>
            <a:off x="6629400" y="2286000"/>
            <a:ext cx="0" cy="304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5536" name="Text Box 32"/>
          <p:cNvSpPr txBox="1">
            <a:spLocks noChangeArrowheads="1"/>
          </p:cNvSpPr>
          <p:nvPr/>
        </p:nvSpPr>
        <p:spPr bwMode="auto">
          <a:xfrm>
            <a:off x="200025" y="2524125"/>
            <a:ext cx="2741613" cy="641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 i="1">
                <a:solidFill>
                  <a:srgbClr val="56127A"/>
                </a:solidFill>
                <a:latin typeface="Verdana" charset="0"/>
              </a:rPr>
              <a:t>TLB miss? Page Fault?</a:t>
            </a:r>
          </a:p>
          <a:p>
            <a:pPr>
              <a:spcBef>
                <a:spcPct val="0"/>
              </a:spcBef>
            </a:pPr>
            <a:r>
              <a:rPr lang="en-US" sz="1800" i="1">
                <a:solidFill>
                  <a:srgbClr val="56127A"/>
                </a:solidFill>
                <a:latin typeface="Verdana" charset="0"/>
              </a:rPr>
              <a:t>Protection violation?</a:t>
            </a:r>
            <a:endParaRPr lang="en-US" sz="1800">
              <a:solidFill>
                <a:srgbClr val="56127A"/>
              </a:solidFill>
              <a:latin typeface="Verdana" charset="0"/>
            </a:endParaRPr>
          </a:p>
        </p:txBody>
      </p:sp>
      <p:sp>
        <p:nvSpPr>
          <p:cNvPr id="1685537" name="Text Box 33"/>
          <p:cNvSpPr txBox="1">
            <a:spLocks noChangeArrowheads="1"/>
          </p:cNvSpPr>
          <p:nvPr/>
        </p:nvSpPr>
        <p:spPr bwMode="auto">
          <a:xfrm>
            <a:off x="5214938" y="2524125"/>
            <a:ext cx="2741612" cy="641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 i="1">
                <a:solidFill>
                  <a:srgbClr val="56127A"/>
                </a:solidFill>
                <a:latin typeface="Verdana" charset="0"/>
              </a:rPr>
              <a:t>TLB miss? Page Fault?</a:t>
            </a:r>
          </a:p>
          <a:p>
            <a:pPr>
              <a:spcBef>
                <a:spcPct val="0"/>
              </a:spcBef>
            </a:pPr>
            <a:r>
              <a:rPr lang="en-US" sz="1800" i="1">
                <a:solidFill>
                  <a:srgbClr val="56127A"/>
                </a:solidFill>
                <a:latin typeface="Verdana" charset="0"/>
              </a:rPr>
              <a:t>Protection violation?</a:t>
            </a:r>
            <a:endParaRPr lang="en-US" sz="1800">
              <a:solidFill>
                <a:srgbClr val="56127A"/>
              </a:solidFill>
              <a:latin typeface="Verdan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5507" grpId="0" build="p" bldLvl="2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7E8EA-0582-DE44-B9DA-7E7916FBC1B0}" type="slidenum">
              <a:rPr lang="en-US"/>
              <a:pPr/>
              <a:t>77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8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Virtual-Address Caches</a:t>
            </a:r>
          </a:p>
        </p:txBody>
      </p:sp>
      <p:sp>
        <p:nvSpPr>
          <p:cNvPr id="1686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508500"/>
            <a:ext cx="7848600" cy="1600200"/>
          </a:xfrm>
          <a:ln/>
        </p:spPr>
        <p:txBody>
          <a:bodyPr/>
          <a:lstStyle/>
          <a:p>
            <a:pPr marL="342900" indent="-342900">
              <a:lnSpc>
                <a:spcPct val="80000"/>
              </a:lnSpc>
            </a:pPr>
            <a:r>
              <a:rPr lang="en-US" sz="2000"/>
              <a:t>one-step process in case of a hit (+)</a:t>
            </a:r>
          </a:p>
          <a:p>
            <a:pPr marL="342900" indent="-342900">
              <a:lnSpc>
                <a:spcPct val="80000"/>
              </a:lnSpc>
            </a:pPr>
            <a:r>
              <a:rPr lang="en-US" sz="2000"/>
              <a:t>cache needs to be flushed on a context switch unless address space identifiers (ASIDs) included in tags (-)</a:t>
            </a:r>
          </a:p>
          <a:p>
            <a:pPr marL="342900" indent="-342900">
              <a:lnSpc>
                <a:spcPct val="80000"/>
              </a:lnSpc>
            </a:pPr>
            <a:r>
              <a:rPr lang="en-US" sz="2000" i="1"/>
              <a:t>aliasing problems </a:t>
            </a:r>
            <a:r>
              <a:rPr lang="en-US" sz="2000"/>
              <a:t>due to the sharing of pages (-)</a:t>
            </a:r>
          </a:p>
          <a:p>
            <a:pPr marL="342900" indent="-342900">
              <a:lnSpc>
                <a:spcPct val="80000"/>
              </a:lnSpc>
            </a:pPr>
            <a:r>
              <a:rPr lang="en-US" sz="2000"/>
              <a:t>maintaining cache coherence (-)   (</a:t>
            </a:r>
            <a:r>
              <a:rPr lang="en-US" sz="2000" i="1"/>
              <a:t>see</a:t>
            </a:r>
            <a:r>
              <a:rPr lang="en-US" sz="2000"/>
              <a:t> </a:t>
            </a:r>
            <a:r>
              <a:rPr lang="en-US" sz="2000" i="1"/>
              <a:t>later in course</a:t>
            </a:r>
            <a:r>
              <a:rPr lang="en-US" sz="2000"/>
              <a:t>)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395413" y="1295400"/>
            <a:ext cx="5586412" cy="1155700"/>
            <a:chOff x="879" y="816"/>
            <a:chExt cx="3519" cy="728"/>
          </a:xfrm>
        </p:grpSpPr>
        <p:sp>
          <p:nvSpPr>
            <p:cNvPr id="1686533" name="Rectangle 5"/>
            <p:cNvSpPr>
              <a:spLocks noChangeArrowheads="1"/>
            </p:cNvSpPr>
            <p:nvPr/>
          </p:nvSpPr>
          <p:spPr bwMode="auto">
            <a:xfrm>
              <a:off x="2576" y="1016"/>
              <a:ext cx="752" cy="36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6534" name="Rectangle 6"/>
            <p:cNvSpPr>
              <a:spLocks noChangeArrowheads="1"/>
            </p:cNvSpPr>
            <p:nvPr/>
          </p:nvSpPr>
          <p:spPr bwMode="auto">
            <a:xfrm>
              <a:off x="879" y="1074"/>
              <a:ext cx="407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CPU</a:t>
              </a:r>
            </a:p>
          </p:txBody>
        </p:sp>
        <p:sp>
          <p:nvSpPr>
            <p:cNvPr id="1686535" name="Rectangle 7"/>
            <p:cNvSpPr>
              <a:spLocks noChangeArrowheads="1"/>
            </p:cNvSpPr>
            <p:nvPr/>
          </p:nvSpPr>
          <p:spPr bwMode="auto">
            <a:xfrm>
              <a:off x="912" y="1008"/>
              <a:ext cx="368" cy="368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6536" name="Rectangle 8"/>
            <p:cNvSpPr>
              <a:spLocks noChangeArrowheads="1"/>
            </p:cNvSpPr>
            <p:nvPr/>
          </p:nvSpPr>
          <p:spPr bwMode="auto">
            <a:xfrm>
              <a:off x="2599" y="1002"/>
              <a:ext cx="693" cy="40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Physical</a:t>
              </a:r>
            </a:p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Cache</a:t>
              </a:r>
            </a:p>
          </p:txBody>
        </p:sp>
        <p:sp>
          <p:nvSpPr>
            <p:cNvPr id="1686537" name="Rectangle 9"/>
            <p:cNvSpPr>
              <a:spLocks noChangeArrowheads="1"/>
            </p:cNvSpPr>
            <p:nvPr/>
          </p:nvSpPr>
          <p:spPr bwMode="auto">
            <a:xfrm>
              <a:off x="1839" y="1082"/>
              <a:ext cx="382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TLB</a:t>
              </a:r>
            </a:p>
          </p:txBody>
        </p:sp>
        <p:sp>
          <p:nvSpPr>
            <p:cNvPr id="1686538" name="Rectangle 10"/>
            <p:cNvSpPr>
              <a:spLocks noChangeArrowheads="1"/>
            </p:cNvSpPr>
            <p:nvPr/>
          </p:nvSpPr>
          <p:spPr bwMode="auto">
            <a:xfrm>
              <a:off x="1800" y="1016"/>
              <a:ext cx="480" cy="368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6539" name="Rectangle 11"/>
            <p:cNvSpPr>
              <a:spLocks noChangeArrowheads="1"/>
            </p:cNvSpPr>
            <p:nvPr/>
          </p:nvSpPr>
          <p:spPr bwMode="auto">
            <a:xfrm>
              <a:off x="3758" y="1105"/>
              <a:ext cx="420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6540" name="Rectangle 12"/>
            <p:cNvSpPr>
              <a:spLocks noChangeArrowheads="1"/>
            </p:cNvSpPr>
            <p:nvPr/>
          </p:nvSpPr>
          <p:spPr bwMode="auto">
            <a:xfrm>
              <a:off x="3728" y="936"/>
              <a:ext cx="656" cy="608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6541" name="Line 13"/>
            <p:cNvSpPr>
              <a:spLocks noChangeShapeType="1"/>
            </p:cNvSpPr>
            <p:nvPr/>
          </p:nvSpPr>
          <p:spPr bwMode="auto">
            <a:xfrm>
              <a:off x="1304" y="1200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6542" name="Line 14"/>
            <p:cNvSpPr>
              <a:spLocks noChangeShapeType="1"/>
            </p:cNvSpPr>
            <p:nvPr/>
          </p:nvSpPr>
          <p:spPr bwMode="auto">
            <a:xfrm>
              <a:off x="2288" y="1200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6543" name="Rectangle 15"/>
            <p:cNvSpPr>
              <a:spLocks noChangeArrowheads="1"/>
            </p:cNvSpPr>
            <p:nvPr/>
          </p:nvSpPr>
          <p:spPr bwMode="auto">
            <a:xfrm>
              <a:off x="3703" y="1002"/>
              <a:ext cx="695" cy="40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Primary</a:t>
              </a:r>
            </a:p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Memory</a:t>
              </a:r>
            </a:p>
          </p:txBody>
        </p:sp>
        <p:sp>
          <p:nvSpPr>
            <p:cNvPr id="1686544" name="Freeform 16"/>
            <p:cNvSpPr>
              <a:spLocks/>
            </p:cNvSpPr>
            <p:nvPr/>
          </p:nvSpPr>
          <p:spPr bwMode="auto">
            <a:xfrm>
              <a:off x="2376" y="864"/>
              <a:ext cx="1337" cy="337"/>
            </a:xfrm>
            <a:custGeom>
              <a:avLst/>
              <a:gdLst/>
              <a:ahLst/>
              <a:cxnLst>
                <a:cxn ang="0">
                  <a:pos x="0" y="336"/>
                </a:cxn>
                <a:cxn ang="0">
                  <a:pos x="0" y="0"/>
                </a:cxn>
                <a:cxn ang="0">
                  <a:pos x="1093" y="0"/>
                </a:cxn>
                <a:cxn ang="0">
                  <a:pos x="1093" y="336"/>
                </a:cxn>
                <a:cxn ang="0">
                  <a:pos x="1336" y="336"/>
                </a:cxn>
              </a:cxnLst>
              <a:rect l="0" t="0" r="r" b="b"/>
              <a:pathLst>
                <a:path w="1337" h="337">
                  <a:moveTo>
                    <a:pt x="0" y="336"/>
                  </a:moveTo>
                  <a:lnTo>
                    <a:pt x="0" y="0"/>
                  </a:lnTo>
                  <a:lnTo>
                    <a:pt x="1093" y="0"/>
                  </a:lnTo>
                  <a:lnTo>
                    <a:pt x="1093" y="336"/>
                  </a:lnTo>
                  <a:lnTo>
                    <a:pt x="1336" y="336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6545" name="Rectangle 17"/>
            <p:cNvSpPr>
              <a:spLocks noChangeArrowheads="1"/>
            </p:cNvSpPr>
            <p:nvPr/>
          </p:nvSpPr>
          <p:spPr bwMode="auto">
            <a:xfrm>
              <a:off x="1335" y="986"/>
              <a:ext cx="311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VA</a:t>
              </a:r>
            </a:p>
          </p:txBody>
        </p:sp>
        <p:sp>
          <p:nvSpPr>
            <p:cNvPr id="1686546" name="Rectangle 18"/>
            <p:cNvSpPr>
              <a:spLocks noChangeArrowheads="1"/>
            </p:cNvSpPr>
            <p:nvPr/>
          </p:nvSpPr>
          <p:spPr bwMode="auto">
            <a:xfrm>
              <a:off x="3456" y="816"/>
              <a:ext cx="299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PA</a:t>
              </a:r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950913" y="2657475"/>
            <a:ext cx="7889875" cy="1622425"/>
            <a:chOff x="599" y="1586"/>
            <a:chExt cx="4970" cy="1022"/>
          </a:xfrm>
        </p:grpSpPr>
        <p:sp>
          <p:nvSpPr>
            <p:cNvPr id="1686548" name="Rectangle 20"/>
            <p:cNvSpPr>
              <a:spLocks noChangeArrowheads="1"/>
            </p:cNvSpPr>
            <p:nvPr/>
          </p:nvSpPr>
          <p:spPr bwMode="auto">
            <a:xfrm>
              <a:off x="599" y="1586"/>
              <a:ext cx="4302" cy="2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00" i="1">
                  <a:latin typeface="Verdana" charset="0"/>
                </a:rPr>
                <a:t>Alternative: place the cache before the TLB</a:t>
              </a:r>
            </a:p>
          </p:txBody>
        </p:sp>
        <p:grpSp>
          <p:nvGrpSpPr>
            <p:cNvPr id="4" name="Group 21"/>
            <p:cNvGrpSpPr>
              <a:grpSpLocks/>
            </p:cNvGrpSpPr>
            <p:nvPr/>
          </p:nvGrpSpPr>
          <p:grpSpPr bwMode="auto">
            <a:xfrm>
              <a:off x="887" y="1834"/>
              <a:ext cx="4682" cy="774"/>
              <a:chOff x="887" y="1834"/>
              <a:chExt cx="4682" cy="774"/>
            </a:xfrm>
          </p:grpSpPr>
          <p:sp>
            <p:nvSpPr>
              <p:cNvPr id="1686550" name="Rectangle 22"/>
              <p:cNvSpPr>
                <a:spLocks noChangeArrowheads="1"/>
              </p:cNvSpPr>
              <p:nvPr/>
            </p:nvSpPr>
            <p:spPr bwMode="auto">
              <a:xfrm>
                <a:off x="1568" y="2192"/>
                <a:ext cx="752" cy="36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86551" name="Rectangle 23"/>
              <p:cNvSpPr>
                <a:spLocks noChangeArrowheads="1"/>
              </p:cNvSpPr>
              <p:nvPr/>
            </p:nvSpPr>
            <p:spPr bwMode="auto">
              <a:xfrm>
                <a:off x="887" y="2242"/>
                <a:ext cx="407" cy="229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1800">
                    <a:latin typeface="Verdana" charset="0"/>
                  </a:rPr>
                  <a:t>CPU</a:t>
                </a:r>
              </a:p>
            </p:txBody>
          </p:sp>
          <p:sp>
            <p:nvSpPr>
              <p:cNvPr id="1686552" name="Rectangle 24"/>
              <p:cNvSpPr>
                <a:spLocks noChangeArrowheads="1"/>
              </p:cNvSpPr>
              <p:nvPr/>
            </p:nvSpPr>
            <p:spPr bwMode="auto">
              <a:xfrm>
                <a:off x="912" y="2168"/>
                <a:ext cx="368" cy="368"/>
              </a:xfrm>
              <a:prstGeom prst="rect">
                <a:avLst/>
              </a:prstGeom>
              <a:noFill/>
              <a:ln w="2540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86553" name="Rectangle 25"/>
              <p:cNvSpPr>
                <a:spLocks noChangeArrowheads="1"/>
              </p:cNvSpPr>
              <p:nvPr/>
            </p:nvSpPr>
            <p:spPr bwMode="auto">
              <a:xfrm>
                <a:off x="1783" y="1834"/>
                <a:ext cx="311" cy="229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1800">
                    <a:solidFill>
                      <a:srgbClr val="56127A"/>
                    </a:solidFill>
                    <a:latin typeface="Verdana" charset="0"/>
                  </a:rPr>
                  <a:t>VA</a:t>
                </a:r>
              </a:p>
            </p:txBody>
          </p:sp>
          <p:sp>
            <p:nvSpPr>
              <p:cNvPr id="1686554" name="Rectangle 26"/>
              <p:cNvSpPr>
                <a:spLocks noChangeArrowheads="1"/>
              </p:cNvSpPr>
              <p:nvPr/>
            </p:nvSpPr>
            <p:spPr bwMode="auto">
              <a:xfrm>
                <a:off x="4416" y="2160"/>
                <a:ext cx="1153" cy="24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2000" i="1">
                    <a:latin typeface="Verdana" charset="0"/>
                  </a:rPr>
                  <a:t>(StrongARM)</a:t>
                </a:r>
              </a:p>
            </p:txBody>
          </p:sp>
          <p:sp>
            <p:nvSpPr>
              <p:cNvPr id="1686555" name="Rectangle 27"/>
              <p:cNvSpPr>
                <a:spLocks noChangeArrowheads="1"/>
              </p:cNvSpPr>
              <p:nvPr/>
            </p:nvSpPr>
            <p:spPr bwMode="auto">
              <a:xfrm>
                <a:off x="1655" y="2178"/>
                <a:ext cx="587" cy="40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1800">
                    <a:latin typeface="Verdana" charset="0"/>
                  </a:rPr>
                  <a:t>Virtual</a:t>
                </a:r>
              </a:p>
              <a:p>
                <a:pPr algn="l">
                  <a:spcBef>
                    <a:spcPct val="0"/>
                  </a:spcBef>
                </a:pPr>
                <a:r>
                  <a:rPr lang="en-US" sz="1800">
                    <a:latin typeface="Verdana" charset="0"/>
                  </a:rPr>
                  <a:t>Cache</a:t>
                </a:r>
              </a:p>
            </p:txBody>
          </p:sp>
          <p:sp>
            <p:nvSpPr>
              <p:cNvPr id="1686556" name="Line 28"/>
              <p:cNvSpPr>
                <a:spLocks noChangeShapeType="1"/>
              </p:cNvSpPr>
              <p:nvPr/>
            </p:nvSpPr>
            <p:spPr bwMode="auto">
              <a:xfrm>
                <a:off x="1280" y="2376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86557" name="Freeform 29"/>
              <p:cNvSpPr>
                <a:spLocks/>
              </p:cNvSpPr>
              <p:nvPr/>
            </p:nvSpPr>
            <p:spPr bwMode="auto">
              <a:xfrm>
                <a:off x="1368" y="2040"/>
                <a:ext cx="1337" cy="337"/>
              </a:xfrm>
              <a:custGeom>
                <a:avLst/>
                <a:gdLst/>
                <a:ahLst/>
                <a:cxnLst>
                  <a:cxn ang="0">
                    <a:pos x="0" y="336"/>
                  </a:cxn>
                  <a:cxn ang="0">
                    <a:pos x="0" y="0"/>
                  </a:cxn>
                  <a:cxn ang="0">
                    <a:pos x="1093" y="0"/>
                  </a:cxn>
                  <a:cxn ang="0">
                    <a:pos x="1093" y="336"/>
                  </a:cxn>
                  <a:cxn ang="0">
                    <a:pos x="1336" y="336"/>
                  </a:cxn>
                </a:cxnLst>
                <a:rect l="0" t="0" r="r" b="b"/>
                <a:pathLst>
                  <a:path w="1337" h="337">
                    <a:moveTo>
                      <a:pt x="0" y="336"/>
                    </a:moveTo>
                    <a:lnTo>
                      <a:pt x="0" y="0"/>
                    </a:lnTo>
                    <a:lnTo>
                      <a:pt x="1093" y="0"/>
                    </a:lnTo>
                    <a:lnTo>
                      <a:pt x="1093" y="336"/>
                    </a:lnTo>
                    <a:lnTo>
                      <a:pt x="1336" y="336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86558" name="Rectangle 30"/>
              <p:cNvSpPr>
                <a:spLocks noChangeArrowheads="1"/>
              </p:cNvSpPr>
              <p:nvPr/>
            </p:nvSpPr>
            <p:spPr bwMode="auto">
              <a:xfrm>
                <a:off x="3255" y="2162"/>
                <a:ext cx="299" cy="229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1800">
                    <a:solidFill>
                      <a:srgbClr val="56127A"/>
                    </a:solidFill>
                    <a:latin typeface="Verdana" charset="0"/>
                  </a:rPr>
                  <a:t>PA</a:t>
                </a:r>
              </a:p>
            </p:txBody>
          </p:sp>
          <p:sp>
            <p:nvSpPr>
              <p:cNvPr id="1686559" name="Rectangle 31"/>
              <p:cNvSpPr>
                <a:spLocks noChangeArrowheads="1"/>
              </p:cNvSpPr>
              <p:nvPr/>
            </p:nvSpPr>
            <p:spPr bwMode="auto">
              <a:xfrm>
                <a:off x="2743" y="2266"/>
                <a:ext cx="382" cy="229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1800">
                    <a:latin typeface="Verdana" charset="0"/>
                  </a:rPr>
                  <a:t>TLB</a:t>
                </a:r>
              </a:p>
            </p:txBody>
          </p:sp>
          <p:sp>
            <p:nvSpPr>
              <p:cNvPr id="1686560" name="Rectangle 32"/>
              <p:cNvSpPr>
                <a:spLocks noChangeArrowheads="1"/>
              </p:cNvSpPr>
              <p:nvPr/>
            </p:nvSpPr>
            <p:spPr bwMode="auto">
              <a:xfrm>
                <a:off x="2704" y="2200"/>
                <a:ext cx="480" cy="368"/>
              </a:xfrm>
              <a:prstGeom prst="rect">
                <a:avLst/>
              </a:prstGeom>
              <a:noFill/>
              <a:ln w="2540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86561" name="Rectangle 33"/>
              <p:cNvSpPr>
                <a:spLocks noChangeArrowheads="1"/>
              </p:cNvSpPr>
              <p:nvPr/>
            </p:nvSpPr>
            <p:spPr bwMode="auto">
              <a:xfrm>
                <a:off x="3758" y="2169"/>
                <a:ext cx="420" cy="23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86562" name="Rectangle 34"/>
              <p:cNvSpPr>
                <a:spLocks noChangeArrowheads="1"/>
              </p:cNvSpPr>
              <p:nvPr/>
            </p:nvSpPr>
            <p:spPr bwMode="auto">
              <a:xfrm>
                <a:off x="3728" y="2000"/>
                <a:ext cx="656" cy="608"/>
              </a:xfrm>
              <a:prstGeom prst="rect">
                <a:avLst/>
              </a:prstGeom>
              <a:noFill/>
              <a:ln w="2540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86563" name="Rectangle 35"/>
              <p:cNvSpPr>
                <a:spLocks noChangeArrowheads="1"/>
              </p:cNvSpPr>
              <p:nvPr/>
            </p:nvSpPr>
            <p:spPr bwMode="auto">
              <a:xfrm>
                <a:off x="3703" y="2066"/>
                <a:ext cx="695" cy="40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1800">
                    <a:latin typeface="Verdana" charset="0"/>
                  </a:rPr>
                  <a:t>Primary</a:t>
                </a:r>
              </a:p>
              <a:p>
                <a:pPr algn="l">
                  <a:spcBef>
                    <a:spcPct val="0"/>
                  </a:spcBef>
                </a:pPr>
                <a:r>
                  <a:rPr lang="en-US" sz="1800">
                    <a:latin typeface="Verdana" charset="0"/>
                  </a:rPr>
                  <a:t>Memory</a:t>
                </a:r>
              </a:p>
            </p:txBody>
          </p:sp>
          <p:sp>
            <p:nvSpPr>
              <p:cNvPr id="1686564" name="Line 36"/>
              <p:cNvSpPr>
                <a:spLocks noChangeShapeType="1"/>
              </p:cNvSpPr>
              <p:nvPr/>
            </p:nvSpPr>
            <p:spPr bwMode="auto">
              <a:xfrm>
                <a:off x="3192" y="2368"/>
                <a:ext cx="52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6531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292975" cy="736600"/>
          </a:xfrm>
        </p:spPr>
        <p:txBody>
          <a:bodyPr/>
          <a:lstStyle/>
          <a:p>
            <a:r>
              <a:rPr lang="en-US" sz="4000"/>
              <a:t>Virtually Addressed Cache</a:t>
            </a:r>
            <a:br>
              <a:rPr lang="en-US" sz="4000"/>
            </a:br>
            <a:r>
              <a:rPr lang="en-US" sz="4000"/>
              <a:t>(Virtual Index/Virtual Tag)</a:t>
            </a:r>
          </a:p>
        </p:txBody>
      </p:sp>
      <p:sp>
        <p:nvSpPr>
          <p:cNvPr id="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9F8F-B68F-E348-AB5E-213A526F8E08}" type="slidenum">
              <a:rPr lang="en-US"/>
              <a:pPr/>
              <a:t>78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91652" name="Line 4"/>
          <p:cNvSpPr>
            <a:spLocks noChangeShapeType="1"/>
          </p:cNvSpPr>
          <p:nvPr/>
        </p:nvSpPr>
        <p:spPr bwMode="auto">
          <a:xfrm>
            <a:off x="5410200" y="2554287"/>
            <a:ext cx="3352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53" name="Line 5"/>
          <p:cNvSpPr>
            <a:spLocks noChangeShapeType="1"/>
          </p:cNvSpPr>
          <p:nvPr/>
        </p:nvSpPr>
        <p:spPr bwMode="auto">
          <a:xfrm>
            <a:off x="685800" y="2554287"/>
            <a:ext cx="411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81000" y="1944687"/>
            <a:ext cx="304800" cy="1219200"/>
            <a:chOff x="336" y="1200"/>
            <a:chExt cx="144" cy="720"/>
          </a:xfrm>
        </p:grpSpPr>
        <p:sp>
          <p:nvSpPr>
            <p:cNvPr id="1691655" name="Rectangle 7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600"/>
                <a:t>PC</a:t>
              </a:r>
            </a:p>
          </p:txBody>
        </p:sp>
        <p:sp>
          <p:nvSpPr>
            <p:cNvPr id="1691656" name="Freeform 8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91657" name="Rectangle 9"/>
          <p:cNvSpPr>
            <a:spLocks noChangeArrowheads="1"/>
          </p:cNvSpPr>
          <p:nvPr/>
        </p:nvSpPr>
        <p:spPr bwMode="auto">
          <a:xfrm>
            <a:off x="2057400" y="3124200"/>
            <a:ext cx="762000" cy="457200"/>
          </a:xfrm>
          <a:prstGeom prst="rect">
            <a:avLst/>
          </a:prstGeom>
          <a:solidFill>
            <a:srgbClr val="FFA74F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Inst. TLB</a:t>
            </a:r>
          </a:p>
        </p:txBody>
      </p:sp>
      <p:sp>
        <p:nvSpPr>
          <p:cNvPr id="1691658" name="Rectangle 10"/>
          <p:cNvSpPr>
            <a:spLocks noChangeArrowheads="1"/>
          </p:cNvSpPr>
          <p:nvPr/>
        </p:nvSpPr>
        <p:spPr bwMode="auto">
          <a:xfrm>
            <a:off x="1295400" y="2133600"/>
            <a:ext cx="1066800" cy="685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Inst. Cache</a:t>
            </a:r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3048000" y="1944687"/>
            <a:ext cx="304800" cy="1219200"/>
            <a:chOff x="336" y="1200"/>
            <a:chExt cx="144" cy="720"/>
          </a:xfrm>
        </p:grpSpPr>
        <p:sp>
          <p:nvSpPr>
            <p:cNvPr id="1691660" name="Rectangle 12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600"/>
                <a:t>D</a:t>
              </a:r>
            </a:p>
          </p:txBody>
        </p:sp>
        <p:sp>
          <p:nvSpPr>
            <p:cNvPr id="1691661" name="Freeform 13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91662" name="Rectangle 14"/>
          <p:cNvSpPr>
            <a:spLocks noChangeArrowheads="1"/>
          </p:cNvSpPr>
          <p:nvPr/>
        </p:nvSpPr>
        <p:spPr bwMode="auto">
          <a:xfrm>
            <a:off x="3429000" y="2020887"/>
            <a:ext cx="1066800" cy="914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Decode</a:t>
            </a:r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4572000" y="1944687"/>
            <a:ext cx="304800" cy="1219200"/>
            <a:chOff x="336" y="1200"/>
            <a:chExt cx="144" cy="720"/>
          </a:xfrm>
        </p:grpSpPr>
        <p:sp>
          <p:nvSpPr>
            <p:cNvPr id="1691664" name="Rectangle 16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600"/>
                <a:t>E</a:t>
              </a:r>
            </a:p>
          </p:txBody>
        </p:sp>
        <p:sp>
          <p:nvSpPr>
            <p:cNvPr id="1691665" name="Freeform 17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91666" name="Freeform 18"/>
          <p:cNvSpPr>
            <a:spLocks/>
          </p:cNvSpPr>
          <p:nvPr/>
        </p:nvSpPr>
        <p:spPr bwMode="auto">
          <a:xfrm>
            <a:off x="5029200" y="2020887"/>
            <a:ext cx="381000" cy="1066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88"/>
              </a:cxn>
              <a:cxn ang="0">
                <a:pos x="48" y="336"/>
              </a:cxn>
              <a:cxn ang="0">
                <a:pos x="0" y="384"/>
              </a:cxn>
              <a:cxn ang="0">
                <a:pos x="0" y="672"/>
              </a:cxn>
              <a:cxn ang="0">
                <a:pos x="240" y="480"/>
              </a:cxn>
              <a:cxn ang="0">
                <a:pos x="240" y="144"/>
              </a:cxn>
              <a:cxn ang="0">
                <a:pos x="0" y="0"/>
              </a:cxn>
            </a:cxnLst>
            <a:rect l="0" t="0" r="r" b="b"/>
            <a:pathLst>
              <a:path w="240" h="672">
                <a:moveTo>
                  <a:pt x="0" y="0"/>
                </a:moveTo>
                <a:lnTo>
                  <a:pt x="0" y="288"/>
                </a:lnTo>
                <a:lnTo>
                  <a:pt x="48" y="336"/>
                </a:lnTo>
                <a:lnTo>
                  <a:pt x="0" y="384"/>
                </a:lnTo>
                <a:lnTo>
                  <a:pt x="0" y="672"/>
                </a:lnTo>
                <a:lnTo>
                  <a:pt x="240" y="480"/>
                </a:lnTo>
                <a:lnTo>
                  <a:pt x="240" y="14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5486400" y="1944687"/>
            <a:ext cx="304800" cy="1219200"/>
            <a:chOff x="336" y="1200"/>
            <a:chExt cx="144" cy="720"/>
          </a:xfrm>
        </p:grpSpPr>
        <p:sp>
          <p:nvSpPr>
            <p:cNvPr id="1691668" name="Rectangle 20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600"/>
                <a:t>M</a:t>
              </a:r>
            </a:p>
          </p:txBody>
        </p:sp>
        <p:sp>
          <p:nvSpPr>
            <p:cNvPr id="1691669" name="Freeform 21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91671" name="Rectangle 23"/>
          <p:cNvSpPr>
            <a:spLocks noChangeArrowheads="1"/>
          </p:cNvSpPr>
          <p:nvPr/>
        </p:nvSpPr>
        <p:spPr bwMode="auto">
          <a:xfrm>
            <a:off x="6248400" y="2209800"/>
            <a:ext cx="914400" cy="685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Data Cache</a:t>
            </a:r>
          </a:p>
        </p:txBody>
      </p: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8229600" y="1944687"/>
            <a:ext cx="304800" cy="1219200"/>
            <a:chOff x="336" y="1200"/>
            <a:chExt cx="144" cy="720"/>
          </a:xfrm>
        </p:grpSpPr>
        <p:sp>
          <p:nvSpPr>
            <p:cNvPr id="1691673" name="Rectangle 25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600"/>
                <a:t>W</a:t>
              </a:r>
            </a:p>
          </p:txBody>
        </p:sp>
        <p:sp>
          <p:nvSpPr>
            <p:cNvPr id="1691674" name="Freeform 26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91675" name="Line 27"/>
          <p:cNvSpPr>
            <a:spLocks noChangeShapeType="1"/>
          </p:cNvSpPr>
          <p:nvPr/>
        </p:nvSpPr>
        <p:spPr bwMode="auto">
          <a:xfrm>
            <a:off x="4876800" y="2249487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76" name="Line 28"/>
          <p:cNvSpPr>
            <a:spLocks noChangeShapeType="1"/>
          </p:cNvSpPr>
          <p:nvPr/>
        </p:nvSpPr>
        <p:spPr bwMode="auto">
          <a:xfrm>
            <a:off x="4876800" y="2859087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77" name="Text Box 29"/>
          <p:cNvSpPr txBox="1">
            <a:spLocks noChangeArrowheads="1"/>
          </p:cNvSpPr>
          <p:nvPr/>
        </p:nvSpPr>
        <p:spPr bwMode="auto">
          <a:xfrm>
            <a:off x="5081588" y="2401887"/>
            <a:ext cx="350837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+</a:t>
            </a:r>
          </a:p>
        </p:txBody>
      </p:sp>
      <p:sp>
        <p:nvSpPr>
          <p:cNvPr id="1691670" name="Rectangle 22"/>
          <p:cNvSpPr>
            <a:spLocks noChangeArrowheads="1"/>
          </p:cNvSpPr>
          <p:nvPr/>
        </p:nvSpPr>
        <p:spPr bwMode="auto">
          <a:xfrm>
            <a:off x="7467600" y="3276600"/>
            <a:ext cx="762000" cy="533400"/>
          </a:xfrm>
          <a:prstGeom prst="rect">
            <a:avLst/>
          </a:prstGeom>
          <a:solidFill>
            <a:srgbClr val="FFA74F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Data TLB</a:t>
            </a:r>
          </a:p>
        </p:txBody>
      </p:sp>
      <p:sp>
        <p:nvSpPr>
          <p:cNvPr id="1691683" name="Rectangle 35"/>
          <p:cNvSpPr>
            <a:spLocks noChangeArrowheads="1"/>
          </p:cNvSpPr>
          <p:nvPr/>
        </p:nvSpPr>
        <p:spPr bwMode="auto">
          <a:xfrm>
            <a:off x="3429000" y="5221287"/>
            <a:ext cx="3276600" cy="381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Main Memory (DRAM)</a:t>
            </a:r>
          </a:p>
        </p:txBody>
      </p:sp>
      <p:sp>
        <p:nvSpPr>
          <p:cNvPr id="1691684" name="Rectangle 36"/>
          <p:cNvSpPr>
            <a:spLocks noChangeArrowheads="1"/>
          </p:cNvSpPr>
          <p:nvPr/>
        </p:nvSpPr>
        <p:spPr bwMode="auto">
          <a:xfrm>
            <a:off x="3733800" y="4190999"/>
            <a:ext cx="2667000" cy="57308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Memory Controller</a:t>
            </a:r>
          </a:p>
        </p:txBody>
      </p:sp>
      <p:sp>
        <p:nvSpPr>
          <p:cNvPr id="1691686" name="Freeform 38"/>
          <p:cNvSpPr>
            <a:spLocks/>
          </p:cNvSpPr>
          <p:nvPr/>
        </p:nvSpPr>
        <p:spPr bwMode="auto">
          <a:xfrm flipH="1">
            <a:off x="1447800" y="2819400"/>
            <a:ext cx="2286000" cy="1752600"/>
          </a:xfrm>
          <a:custGeom>
            <a:avLst/>
            <a:gdLst/>
            <a:ahLst/>
            <a:cxnLst>
              <a:cxn ang="0">
                <a:pos x="816" y="0"/>
              </a:cxn>
              <a:cxn ang="0">
                <a:pos x="816" y="384"/>
              </a:cxn>
              <a:cxn ang="0">
                <a:pos x="0" y="384"/>
              </a:cxn>
            </a:cxnLst>
            <a:rect l="0" t="0" r="r" b="b"/>
            <a:pathLst>
              <a:path w="816" h="384">
                <a:moveTo>
                  <a:pt x="816" y="0"/>
                </a:moveTo>
                <a:lnTo>
                  <a:pt x="816" y="384"/>
                </a:lnTo>
                <a:lnTo>
                  <a:pt x="0" y="384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87" name="Line 39"/>
          <p:cNvSpPr>
            <a:spLocks noChangeShapeType="1"/>
          </p:cNvSpPr>
          <p:nvPr/>
        </p:nvSpPr>
        <p:spPr bwMode="auto">
          <a:xfrm>
            <a:off x="5105400" y="4764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88" name="Text Box 40"/>
          <p:cNvSpPr txBox="1">
            <a:spLocks noChangeArrowheads="1"/>
          </p:cNvSpPr>
          <p:nvPr/>
        </p:nvSpPr>
        <p:spPr bwMode="auto">
          <a:xfrm>
            <a:off x="7772400" y="3962400"/>
            <a:ext cx="1116013" cy="6413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/>
              <a:t>Physical Address</a:t>
            </a:r>
          </a:p>
        </p:txBody>
      </p:sp>
      <p:sp>
        <p:nvSpPr>
          <p:cNvPr id="1691689" name="Text Box 41"/>
          <p:cNvSpPr txBox="1">
            <a:spLocks noChangeArrowheads="1"/>
          </p:cNvSpPr>
          <p:nvPr/>
        </p:nvSpPr>
        <p:spPr bwMode="auto">
          <a:xfrm>
            <a:off x="876300" y="4615933"/>
            <a:ext cx="2667000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dirty="0"/>
              <a:t>Instruction / data</a:t>
            </a:r>
          </a:p>
        </p:txBody>
      </p:sp>
      <p:sp>
        <p:nvSpPr>
          <p:cNvPr id="1691690" name="Text Box 42"/>
          <p:cNvSpPr txBox="1">
            <a:spLocks noChangeArrowheads="1"/>
          </p:cNvSpPr>
          <p:nvPr/>
        </p:nvSpPr>
        <p:spPr bwMode="auto">
          <a:xfrm>
            <a:off x="5119116" y="4828031"/>
            <a:ext cx="243840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dirty="0"/>
              <a:t>Physical Address</a:t>
            </a:r>
          </a:p>
        </p:txBody>
      </p:sp>
      <p:sp>
        <p:nvSpPr>
          <p:cNvPr id="1691694" name="Text Box 46"/>
          <p:cNvSpPr txBox="1">
            <a:spLocks noChangeArrowheads="1"/>
          </p:cNvSpPr>
          <p:nvPr/>
        </p:nvSpPr>
        <p:spPr bwMode="auto">
          <a:xfrm>
            <a:off x="152400" y="3657600"/>
            <a:ext cx="1116013" cy="5810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sz="1600"/>
              <a:t>Physical Address</a:t>
            </a:r>
          </a:p>
        </p:txBody>
      </p:sp>
      <p:sp>
        <p:nvSpPr>
          <p:cNvPr id="1691696" name="Rectangle 48"/>
          <p:cNvSpPr>
            <a:spLocks noChangeArrowheads="1"/>
          </p:cNvSpPr>
          <p:nvPr/>
        </p:nvSpPr>
        <p:spPr bwMode="auto">
          <a:xfrm>
            <a:off x="3429000" y="3240087"/>
            <a:ext cx="1635125" cy="457200"/>
          </a:xfrm>
          <a:prstGeom prst="rect">
            <a:avLst/>
          </a:prstGeom>
          <a:solidFill>
            <a:schemeClr val="accent1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>
              <a:lnSpc>
                <a:spcPct val="85000"/>
              </a:lnSpc>
            </a:pPr>
            <a:r>
              <a:rPr lang="en-US" altLang="ko-KR" sz="1600">
                <a:ea typeface="굴림" charset="-127"/>
                <a:cs typeface="굴림" charset="-127"/>
              </a:rPr>
              <a:t>P</a:t>
            </a:r>
            <a:r>
              <a:rPr lang="en-US" altLang="ko-KR" sz="1600">
                <a:latin typeface="ヒラギノ角ゴ Pro W3" charset="-128"/>
                <a:ea typeface="굴림" charset="-127"/>
                <a:cs typeface="굴림" charset="-127"/>
              </a:rPr>
              <a:t>age-Table Base</a:t>
            </a:r>
            <a:r>
              <a:rPr lang="en-US" altLang="ko-KR" sz="1600">
                <a:ea typeface="굴림" charset="-127"/>
                <a:cs typeface="굴림" charset="-127"/>
              </a:rPr>
              <a:t> Register</a:t>
            </a:r>
            <a:endParaRPr lang="en-US"/>
          </a:p>
        </p:txBody>
      </p:sp>
      <p:sp>
        <p:nvSpPr>
          <p:cNvPr id="1691698" name="Line 50"/>
          <p:cNvSpPr>
            <a:spLocks noChangeShapeType="1"/>
          </p:cNvSpPr>
          <p:nvPr/>
        </p:nvSpPr>
        <p:spPr bwMode="auto">
          <a:xfrm>
            <a:off x="1066800" y="3962400"/>
            <a:ext cx="1143000" cy="762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99" name="Text Box 51"/>
          <p:cNvSpPr txBox="1">
            <a:spLocks noChangeArrowheads="1"/>
          </p:cNvSpPr>
          <p:nvPr/>
        </p:nvSpPr>
        <p:spPr bwMode="auto">
          <a:xfrm>
            <a:off x="1219200" y="1295400"/>
            <a:ext cx="1116013" cy="5810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sz="1600"/>
              <a:t>Virtual Address</a:t>
            </a:r>
          </a:p>
        </p:txBody>
      </p:sp>
      <p:sp>
        <p:nvSpPr>
          <p:cNvPr id="1691700" name="Line 52"/>
          <p:cNvSpPr>
            <a:spLocks noChangeShapeType="1"/>
          </p:cNvSpPr>
          <p:nvPr/>
        </p:nvSpPr>
        <p:spPr bwMode="auto">
          <a:xfrm flipV="1">
            <a:off x="914400" y="1828800"/>
            <a:ext cx="533400" cy="6858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703" name="Text Box 55"/>
          <p:cNvSpPr txBox="1">
            <a:spLocks noChangeArrowheads="1"/>
          </p:cNvSpPr>
          <p:nvPr/>
        </p:nvSpPr>
        <p:spPr bwMode="auto">
          <a:xfrm>
            <a:off x="5943600" y="1219200"/>
            <a:ext cx="1116013" cy="5810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sz="1600"/>
              <a:t>Virtual Address</a:t>
            </a:r>
          </a:p>
        </p:txBody>
      </p:sp>
      <p:sp>
        <p:nvSpPr>
          <p:cNvPr id="1691704" name="Line 56"/>
          <p:cNvSpPr>
            <a:spLocks noChangeShapeType="1"/>
          </p:cNvSpPr>
          <p:nvPr/>
        </p:nvSpPr>
        <p:spPr bwMode="auto">
          <a:xfrm flipV="1">
            <a:off x="6096000" y="1828800"/>
            <a:ext cx="152400" cy="685799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705" name="Rectangle 57"/>
          <p:cNvSpPr>
            <a:spLocks noChangeArrowheads="1"/>
          </p:cNvSpPr>
          <p:nvPr/>
        </p:nvSpPr>
        <p:spPr bwMode="auto">
          <a:xfrm>
            <a:off x="5257800" y="3316287"/>
            <a:ext cx="1905000" cy="685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Hardware Page Table Walker</a:t>
            </a:r>
          </a:p>
        </p:txBody>
      </p:sp>
      <p:sp>
        <p:nvSpPr>
          <p:cNvPr id="1691706" name="Line 58"/>
          <p:cNvSpPr>
            <a:spLocks noChangeShapeType="1"/>
          </p:cNvSpPr>
          <p:nvPr/>
        </p:nvSpPr>
        <p:spPr bwMode="auto">
          <a:xfrm>
            <a:off x="5029200" y="3392487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710" name="Freeform 62"/>
          <p:cNvSpPr>
            <a:spLocks/>
          </p:cNvSpPr>
          <p:nvPr/>
        </p:nvSpPr>
        <p:spPr bwMode="auto">
          <a:xfrm>
            <a:off x="6400800" y="3810000"/>
            <a:ext cx="1371600" cy="7620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96" y="432"/>
              </a:cxn>
              <a:cxn ang="0">
                <a:pos x="96" y="0"/>
              </a:cxn>
            </a:cxnLst>
            <a:rect l="0" t="0" r="r" b="b"/>
            <a:pathLst>
              <a:path w="96" h="432">
                <a:moveTo>
                  <a:pt x="0" y="432"/>
                </a:moveTo>
                <a:lnTo>
                  <a:pt x="96" y="432"/>
                </a:lnTo>
                <a:lnTo>
                  <a:pt x="96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7" name="Group 69"/>
          <p:cNvGrpSpPr/>
          <p:nvPr/>
        </p:nvGrpSpPr>
        <p:grpSpPr>
          <a:xfrm rot="5400000">
            <a:off x="7239000" y="3429000"/>
            <a:ext cx="152400" cy="304800"/>
            <a:chOff x="6629400" y="3316287"/>
            <a:chExt cx="152400" cy="304800"/>
          </a:xfrm>
        </p:grpSpPr>
        <p:sp>
          <p:nvSpPr>
            <p:cNvPr id="1691707" name="Line 59"/>
            <p:cNvSpPr>
              <a:spLocks noChangeShapeType="1"/>
            </p:cNvSpPr>
            <p:nvPr/>
          </p:nvSpPr>
          <p:spPr bwMode="auto">
            <a:xfrm>
              <a:off x="6629400" y="3316287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1711" name="Line 63"/>
            <p:cNvSpPr>
              <a:spLocks noChangeShapeType="1"/>
            </p:cNvSpPr>
            <p:nvPr/>
          </p:nvSpPr>
          <p:spPr bwMode="auto">
            <a:xfrm flipV="1">
              <a:off x="6781800" y="3316287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91712" name="Freeform 64"/>
          <p:cNvSpPr>
            <a:spLocks/>
          </p:cNvSpPr>
          <p:nvPr/>
        </p:nvSpPr>
        <p:spPr bwMode="auto">
          <a:xfrm>
            <a:off x="2438400" y="3581399"/>
            <a:ext cx="2819400" cy="3444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528"/>
              </a:cxn>
              <a:cxn ang="0">
                <a:pos x="2304" y="528"/>
              </a:cxn>
            </a:cxnLst>
            <a:rect l="0" t="0" r="r" b="b"/>
            <a:pathLst>
              <a:path w="2304" h="528">
                <a:moveTo>
                  <a:pt x="0" y="0"/>
                </a:moveTo>
                <a:lnTo>
                  <a:pt x="0" y="528"/>
                </a:lnTo>
                <a:lnTo>
                  <a:pt x="2304" y="52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714" name="Freeform 66"/>
          <p:cNvSpPr>
            <a:spLocks/>
          </p:cNvSpPr>
          <p:nvPr/>
        </p:nvSpPr>
        <p:spPr bwMode="auto">
          <a:xfrm>
            <a:off x="2667000" y="3581399"/>
            <a:ext cx="2590800" cy="1920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528"/>
              </a:cxn>
              <a:cxn ang="0">
                <a:pos x="2304" y="528"/>
              </a:cxn>
            </a:cxnLst>
            <a:rect l="0" t="0" r="r" b="b"/>
            <a:pathLst>
              <a:path w="2304" h="528">
                <a:moveTo>
                  <a:pt x="0" y="0"/>
                </a:moveTo>
                <a:lnTo>
                  <a:pt x="0" y="528"/>
                </a:lnTo>
                <a:lnTo>
                  <a:pt x="2304" y="52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" name="Freeform 64"/>
          <p:cNvSpPr>
            <a:spLocks/>
          </p:cNvSpPr>
          <p:nvPr/>
        </p:nvSpPr>
        <p:spPr bwMode="auto">
          <a:xfrm>
            <a:off x="2209800" y="3581400"/>
            <a:ext cx="1524000" cy="6492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528"/>
              </a:cxn>
              <a:cxn ang="0">
                <a:pos x="2304" y="528"/>
              </a:cxn>
            </a:cxnLst>
            <a:rect l="0" t="0" r="r" b="b"/>
            <a:pathLst>
              <a:path w="2304" h="528">
                <a:moveTo>
                  <a:pt x="0" y="0"/>
                </a:moveTo>
                <a:lnTo>
                  <a:pt x="0" y="528"/>
                </a:lnTo>
                <a:lnTo>
                  <a:pt x="2304" y="52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" name="Line 63"/>
          <p:cNvSpPr>
            <a:spLocks noChangeShapeType="1"/>
          </p:cNvSpPr>
          <p:nvPr/>
        </p:nvSpPr>
        <p:spPr bwMode="auto">
          <a:xfrm>
            <a:off x="1600200" y="2819400"/>
            <a:ext cx="4572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" name="Line 52"/>
          <p:cNvSpPr>
            <a:spLocks noChangeShapeType="1"/>
          </p:cNvSpPr>
          <p:nvPr/>
        </p:nvSpPr>
        <p:spPr bwMode="auto">
          <a:xfrm flipV="1">
            <a:off x="1828800" y="1828800"/>
            <a:ext cx="228600" cy="12192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" name="Line 56"/>
          <p:cNvSpPr>
            <a:spLocks noChangeShapeType="1"/>
          </p:cNvSpPr>
          <p:nvPr/>
        </p:nvSpPr>
        <p:spPr bwMode="auto">
          <a:xfrm flipH="1" flipV="1">
            <a:off x="6705600" y="1828800"/>
            <a:ext cx="609600" cy="10668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>
            <a:off x="7162800" y="2819400"/>
            <a:ext cx="4572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85" name="Freeform 37"/>
          <p:cNvSpPr>
            <a:spLocks/>
          </p:cNvSpPr>
          <p:nvPr/>
        </p:nvSpPr>
        <p:spPr bwMode="auto">
          <a:xfrm>
            <a:off x="6400800" y="2895599"/>
            <a:ext cx="609600" cy="1563687"/>
          </a:xfrm>
          <a:custGeom>
            <a:avLst/>
            <a:gdLst/>
            <a:ahLst/>
            <a:cxnLst>
              <a:cxn ang="0">
                <a:pos x="816" y="0"/>
              </a:cxn>
              <a:cxn ang="0">
                <a:pos x="816" y="384"/>
              </a:cxn>
              <a:cxn ang="0">
                <a:pos x="0" y="384"/>
              </a:cxn>
            </a:cxnLst>
            <a:rect l="0" t="0" r="r" b="b"/>
            <a:pathLst>
              <a:path w="816" h="384">
                <a:moveTo>
                  <a:pt x="816" y="0"/>
                </a:moveTo>
                <a:lnTo>
                  <a:pt x="816" y="384"/>
                </a:lnTo>
                <a:lnTo>
                  <a:pt x="0" y="384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" name="Text Box 65"/>
          <p:cNvSpPr txBox="1">
            <a:spLocks noChangeArrowheads="1"/>
          </p:cNvSpPr>
          <p:nvPr/>
        </p:nvSpPr>
        <p:spPr bwMode="auto">
          <a:xfrm>
            <a:off x="7315200" y="2819400"/>
            <a:ext cx="801688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rgbClr val="56127A"/>
                </a:solidFill>
              </a:rPr>
              <a:t>Miss?</a:t>
            </a:r>
            <a:endParaRPr lang="en-US"/>
          </a:p>
        </p:txBody>
      </p:sp>
      <p:sp>
        <p:nvSpPr>
          <p:cNvPr id="72" name="Text Box 65"/>
          <p:cNvSpPr txBox="1">
            <a:spLocks noChangeArrowheads="1"/>
          </p:cNvSpPr>
          <p:nvPr/>
        </p:nvSpPr>
        <p:spPr bwMode="auto">
          <a:xfrm>
            <a:off x="1371600" y="2909887"/>
            <a:ext cx="801688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rgbClr val="56127A"/>
                </a:solidFill>
              </a:rPr>
              <a:t>Miss?</a:t>
            </a:r>
            <a:endParaRPr lang="en-US"/>
          </a:p>
        </p:txBody>
      </p:sp>
      <p:grpSp>
        <p:nvGrpSpPr>
          <p:cNvPr id="8" name="Group 72"/>
          <p:cNvGrpSpPr/>
          <p:nvPr/>
        </p:nvGrpSpPr>
        <p:grpSpPr>
          <a:xfrm>
            <a:off x="5867400" y="3962400"/>
            <a:ext cx="228600" cy="228600"/>
            <a:chOff x="6629400" y="3316287"/>
            <a:chExt cx="152400" cy="304800"/>
          </a:xfrm>
        </p:grpSpPr>
        <p:sp>
          <p:nvSpPr>
            <p:cNvPr id="74" name="Line 59"/>
            <p:cNvSpPr>
              <a:spLocks noChangeShapeType="1"/>
            </p:cNvSpPr>
            <p:nvPr/>
          </p:nvSpPr>
          <p:spPr bwMode="auto">
            <a:xfrm>
              <a:off x="6629400" y="3316287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63"/>
            <p:cNvSpPr>
              <a:spLocks noChangeShapeType="1"/>
            </p:cNvSpPr>
            <p:nvPr/>
          </p:nvSpPr>
          <p:spPr bwMode="auto">
            <a:xfrm flipV="1">
              <a:off x="6781800" y="3316287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274878" y="5486400"/>
            <a:ext cx="2661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Translate on </a:t>
            </a:r>
            <a:r>
              <a:rPr lang="en-US" sz="2400" i="1"/>
              <a:t>miss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871-E9A7-5D4D-B91D-FDADE166058E}" type="slidenum">
              <a:rPr lang="en-US"/>
              <a:pPr/>
              <a:t>79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87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153400" cy="990600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Aliasing in Virtual-Address Caches</a:t>
            </a:r>
          </a:p>
        </p:txBody>
      </p:sp>
      <p:sp>
        <p:nvSpPr>
          <p:cNvPr id="1687555" name="Rectangle 3"/>
          <p:cNvSpPr>
            <a:spLocks noChangeArrowheads="1"/>
          </p:cNvSpPr>
          <p:nvPr/>
        </p:nvSpPr>
        <p:spPr bwMode="auto">
          <a:xfrm>
            <a:off x="1447800" y="2209800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56" name="Rectangle 4"/>
          <p:cNvSpPr>
            <a:spLocks noChangeArrowheads="1"/>
          </p:cNvSpPr>
          <p:nvPr/>
        </p:nvSpPr>
        <p:spPr bwMode="auto">
          <a:xfrm>
            <a:off x="1447800" y="1981200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57" name="Rectangle 5"/>
          <p:cNvSpPr>
            <a:spLocks noChangeArrowheads="1"/>
          </p:cNvSpPr>
          <p:nvPr/>
        </p:nvSpPr>
        <p:spPr bwMode="auto">
          <a:xfrm>
            <a:off x="1447800" y="1752600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58" name="Rectangle 6"/>
          <p:cNvSpPr>
            <a:spLocks noChangeArrowheads="1"/>
          </p:cNvSpPr>
          <p:nvPr/>
        </p:nvSpPr>
        <p:spPr bwMode="auto">
          <a:xfrm>
            <a:off x="1447800" y="1524000"/>
            <a:ext cx="990600" cy="228600"/>
          </a:xfrm>
          <a:prstGeom prst="rect">
            <a:avLst/>
          </a:prstGeom>
          <a:solidFill>
            <a:srgbClr val="FFCC6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59" name="Rectangle 7"/>
          <p:cNvSpPr>
            <a:spLocks noChangeArrowheads="1"/>
          </p:cNvSpPr>
          <p:nvPr/>
        </p:nvSpPr>
        <p:spPr bwMode="auto">
          <a:xfrm>
            <a:off x="1447800" y="3124200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60" name="Rectangle 8"/>
          <p:cNvSpPr>
            <a:spLocks noChangeArrowheads="1"/>
          </p:cNvSpPr>
          <p:nvPr/>
        </p:nvSpPr>
        <p:spPr bwMode="auto">
          <a:xfrm>
            <a:off x="1447800" y="2895600"/>
            <a:ext cx="990600" cy="228600"/>
          </a:xfrm>
          <a:prstGeom prst="rect">
            <a:avLst/>
          </a:prstGeom>
          <a:solidFill>
            <a:srgbClr val="FFCC6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61" name="Rectangle 9"/>
          <p:cNvSpPr>
            <a:spLocks noChangeArrowheads="1"/>
          </p:cNvSpPr>
          <p:nvPr/>
        </p:nvSpPr>
        <p:spPr bwMode="auto">
          <a:xfrm>
            <a:off x="1447800" y="2667000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62" name="Rectangle 10"/>
          <p:cNvSpPr>
            <a:spLocks noChangeArrowheads="1"/>
          </p:cNvSpPr>
          <p:nvPr/>
        </p:nvSpPr>
        <p:spPr bwMode="auto">
          <a:xfrm>
            <a:off x="1447800" y="2438400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63" name="Rectangle 11"/>
          <p:cNvSpPr>
            <a:spLocks noChangeArrowheads="1"/>
          </p:cNvSpPr>
          <p:nvPr/>
        </p:nvSpPr>
        <p:spPr bwMode="auto">
          <a:xfrm>
            <a:off x="3124200" y="2819400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64" name="Rectangle 12"/>
          <p:cNvSpPr>
            <a:spLocks noChangeArrowheads="1"/>
          </p:cNvSpPr>
          <p:nvPr/>
        </p:nvSpPr>
        <p:spPr bwMode="auto">
          <a:xfrm>
            <a:off x="3124200" y="2590800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65" name="Rectangle 13"/>
          <p:cNvSpPr>
            <a:spLocks noChangeArrowheads="1"/>
          </p:cNvSpPr>
          <p:nvPr/>
        </p:nvSpPr>
        <p:spPr bwMode="auto">
          <a:xfrm>
            <a:off x="3124200" y="2362200"/>
            <a:ext cx="990600" cy="2286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66" name="Rectangle 14"/>
          <p:cNvSpPr>
            <a:spLocks noChangeArrowheads="1"/>
          </p:cNvSpPr>
          <p:nvPr/>
        </p:nvSpPr>
        <p:spPr bwMode="auto">
          <a:xfrm>
            <a:off x="3124200" y="2133600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67" name="Line 15"/>
          <p:cNvSpPr>
            <a:spLocks noChangeShapeType="1"/>
          </p:cNvSpPr>
          <p:nvPr/>
        </p:nvSpPr>
        <p:spPr bwMode="auto">
          <a:xfrm>
            <a:off x="2438400" y="1676400"/>
            <a:ext cx="68580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68" name="Line 16"/>
          <p:cNvSpPr>
            <a:spLocks noChangeShapeType="1"/>
          </p:cNvSpPr>
          <p:nvPr/>
        </p:nvSpPr>
        <p:spPr bwMode="auto">
          <a:xfrm flipV="1">
            <a:off x="2438400" y="2590800"/>
            <a:ext cx="6858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69" name="Text Box 17"/>
          <p:cNvSpPr txBox="1">
            <a:spLocks noChangeArrowheads="1"/>
          </p:cNvSpPr>
          <p:nvPr/>
        </p:nvSpPr>
        <p:spPr bwMode="auto">
          <a:xfrm>
            <a:off x="581025" y="1431925"/>
            <a:ext cx="550863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VA</a:t>
            </a:r>
            <a:r>
              <a:rPr lang="en-US" baseline="-25000">
                <a:solidFill>
                  <a:srgbClr val="56127A"/>
                </a:solidFill>
                <a:latin typeface="Verdana" charset="0"/>
              </a:rPr>
              <a:t>1</a:t>
            </a:r>
          </a:p>
        </p:txBody>
      </p:sp>
      <p:sp>
        <p:nvSpPr>
          <p:cNvPr id="1687570" name="Line 18"/>
          <p:cNvSpPr>
            <a:spLocks noChangeShapeType="1"/>
          </p:cNvSpPr>
          <p:nvPr/>
        </p:nvSpPr>
        <p:spPr bwMode="auto">
          <a:xfrm>
            <a:off x="1066800" y="16002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71" name="Text Box 19"/>
          <p:cNvSpPr txBox="1">
            <a:spLocks noChangeArrowheads="1"/>
          </p:cNvSpPr>
          <p:nvPr/>
        </p:nvSpPr>
        <p:spPr bwMode="auto">
          <a:xfrm>
            <a:off x="581025" y="2803525"/>
            <a:ext cx="550863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VA</a:t>
            </a:r>
            <a:r>
              <a:rPr lang="en-US" baseline="-25000">
                <a:solidFill>
                  <a:srgbClr val="56127A"/>
                </a:solidFill>
                <a:latin typeface="Verdana" charset="0"/>
              </a:rPr>
              <a:t>2</a:t>
            </a:r>
          </a:p>
        </p:txBody>
      </p:sp>
      <p:sp>
        <p:nvSpPr>
          <p:cNvPr id="1687572" name="Line 20"/>
          <p:cNvSpPr>
            <a:spLocks noChangeShapeType="1"/>
          </p:cNvSpPr>
          <p:nvPr/>
        </p:nvSpPr>
        <p:spPr bwMode="auto">
          <a:xfrm>
            <a:off x="1066800" y="29718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73" name="Text Box 21"/>
          <p:cNvSpPr txBox="1">
            <a:spLocks noChangeArrowheads="1"/>
          </p:cNvSpPr>
          <p:nvPr/>
        </p:nvSpPr>
        <p:spPr bwMode="auto">
          <a:xfrm>
            <a:off x="1279525" y="1157288"/>
            <a:ext cx="1438275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Page Table</a:t>
            </a:r>
          </a:p>
        </p:txBody>
      </p:sp>
      <p:sp>
        <p:nvSpPr>
          <p:cNvPr id="1687574" name="Text Box 22"/>
          <p:cNvSpPr txBox="1">
            <a:spLocks noChangeArrowheads="1"/>
          </p:cNvSpPr>
          <p:nvPr/>
        </p:nvSpPr>
        <p:spPr bwMode="auto">
          <a:xfrm>
            <a:off x="2871788" y="1738313"/>
            <a:ext cx="1477962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Data Pages</a:t>
            </a:r>
          </a:p>
        </p:txBody>
      </p:sp>
      <p:sp>
        <p:nvSpPr>
          <p:cNvPr id="1687575" name="Text Box 23"/>
          <p:cNvSpPr txBox="1">
            <a:spLocks noChangeArrowheads="1"/>
          </p:cNvSpPr>
          <p:nvPr/>
        </p:nvSpPr>
        <p:spPr bwMode="auto">
          <a:xfrm>
            <a:off x="2584450" y="2346325"/>
            <a:ext cx="446088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PA</a:t>
            </a:r>
            <a:endParaRPr lang="en-US" baseline="-25000">
              <a:solidFill>
                <a:srgbClr val="56127A"/>
              </a:solidFill>
              <a:latin typeface="Verdana" charset="0"/>
            </a:endParaRPr>
          </a:p>
        </p:txBody>
      </p:sp>
      <p:sp>
        <p:nvSpPr>
          <p:cNvPr id="1687576" name="Rectangle 24"/>
          <p:cNvSpPr>
            <a:spLocks noChangeArrowheads="1"/>
          </p:cNvSpPr>
          <p:nvPr/>
        </p:nvSpPr>
        <p:spPr bwMode="auto">
          <a:xfrm>
            <a:off x="4876800" y="1524000"/>
            <a:ext cx="9144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77" name="Rectangle 25"/>
          <p:cNvSpPr>
            <a:spLocks noChangeArrowheads="1"/>
          </p:cNvSpPr>
          <p:nvPr/>
        </p:nvSpPr>
        <p:spPr bwMode="auto">
          <a:xfrm>
            <a:off x="4876800" y="1752600"/>
            <a:ext cx="9144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VA</a:t>
            </a:r>
            <a:r>
              <a:rPr lang="en-US" baseline="-25000">
                <a:solidFill>
                  <a:srgbClr val="56127A"/>
                </a:solidFill>
                <a:latin typeface="Verdana" charset="0"/>
              </a:rPr>
              <a:t>1</a:t>
            </a:r>
          </a:p>
        </p:txBody>
      </p:sp>
      <p:sp>
        <p:nvSpPr>
          <p:cNvPr id="1687578" name="Rectangle 26"/>
          <p:cNvSpPr>
            <a:spLocks noChangeArrowheads="1"/>
          </p:cNvSpPr>
          <p:nvPr/>
        </p:nvSpPr>
        <p:spPr bwMode="auto">
          <a:xfrm>
            <a:off x="4876800" y="1981200"/>
            <a:ext cx="9144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79" name="Rectangle 27"/>
          <p:cNvSpPr>
            <a:spLocks noChangeArrowheads="1"/>
          </p:cNvSpPr>
          <p:nvPr/>
        </p:nvSpPr>
        <p:spPr bwMode="auto">
          <a:xfrm>
            <a:off x="4876800" y="2438400"/>
            <a:ext cx="9144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VA</a:t>
            </a:r>
            <a:r>
              <a:rPr lang="en-US" baseline="-25000">
                <a:solidFill>
                  <a:srgbClr val="56127A"/>
                </a:solidFill>
                <a:latin typeface="Verdana" charset="0"/>
              </a:rPr>
              <a:t>2</a:t>
            </a:r>
          </a:p>
        </p:txBody>
      </p:sp>
      <p:sp>
        <p:nvSpPr>
          <p:cNvPr id="1687580" name="Rectangle 28"/>
          <p:cNvSpPr>
            <a:spLocks noChangeArrowheads="1"/>
          </p:cNvSpPr>
          <p:nvPr/>
        </p:nvSpPr>
        <p:spPr bwMode="auto">
          <a:xfrm>
            <a:off x="4876800" y="2209800"/>
            <a:ext cx="9144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81" name="Rectangle 29"/>
          <p:cNvSpPr>
            <a:spLocks noChangeArrowheads="1"/>
          </p:cNvSpPr>
          <p:nvPr/>
        </p:nvSpPr>
        <p:spPr bwMode="auto">
          <a:xfrm>
            <a:off x="4876800" y="2667000"/>
            <a:ext cx="9144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82" name="Rectangle 30"/>
          <p:cNvSpPr>
            <a:spLocks noChangeArrowheads="1"/>
          </p:cNvSpPr>
          <p:nvPr/>
        </p:nvSpPr>
        <p:spPr bwMode="auto">
          <a:xfrm>
            <a:off x="5791200" y="1524000"/>
            <a:ext cx="27432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83" name="Rectangle 31"/>
          <p:cNvSpPr>
            <a:spLocks noChangeArrowheads="1"/>
          </p:cNvSpPr>
          <p:nvPr/>
        </p:nvSpPr>
        <p:spPr bwMode="auto">
          <a:xfrm>
            <a:off x="5791200" y="1752600"/>
            <a:ext cx="27432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1st Copy of Data at PA</a:t>
            </a:r>
            <a:endParaRPr lang="en-US" baseline="-25000">
              <a:solidFill>
                <a:srgbClr val="56127A"/>
              </a:solidFill>
              <a:latin typeface="Verdana" charset="0"/>
            </a:endParaRPr>
          </a:p>
        </p:txBody>
      </p:sp>
      <p:sp>
        <p:nvSpPr>
          <p:cNvPr id="1687584" name="Rectangle 32"/>
          <p:cNvSpPr>
            <a:spLocks noChangeArrowheads="1"/>
          </p:cNvSpPr>
          <p:nvPr/>
        </p:nvSpPr>
        <p:spPr bwMode="auto">
          <a:xfrm>
            <a:off x="5791200" y="1981200"/>
            <a:ext cx="27432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85" name="Rectangle 33"/>
          <p:cNvSpPr>
            <a:spLocks noChangeArrowheads="1"/>
          </p:cNvSpPr>
          <p:nvPr/>
        </p:nvSpPr>
        <p:spPr bwMode="auto">
          <a:xfrm>
            <a:off x="5791200" y="2438400"/>
            <a:ext cx="27432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2nd Copy of Data at PA</a:t>
            </a:r>
          </a:p>
        </p:txBody>
      </p:sp>
      <p:sp>
        <p:nvSpPr>
          <p:cNvPr id="1687586" name="Rectangle 34"/>
          <p:cNvSpPr>
            <a:spLocks noChangeArrowheads="1"/>
          </p:cNvSpPr>
          <p:nvPr/>
        </p:nvSpPr>
        <p:spPr bwMode="auto">
          <a:xfrm>
            <a:off x="5791200" y="2209800"/>
            <a:ext cx="27432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87" name="Rectangle 35"/>
          <p:cNvSpPr>
            <a:spLocks noChangeArrowheads="1"/>
          </p:cNvSpPr>
          <p:nvPr/>
        </p:nvSpPr>
        <p:spPr bwMode="auto">
          <a:xfrm>
            <a:off x="5791200" y="2667000"/>
            <a:ext cx="27432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88" name="Text Box 36"/>
          <p:cNvSpPr txBox="1">
            <a:spLocks noChangeArrowheads="1"/>
          </p:cNvSpPr>
          <p:nvPr/>
        </p:nvSpPr>
        <p:spPr bwMode="auto">
          <a:xfrm>
            <a:off x="4999038" y="1157288"/>
            <a:ext cx="604837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Tag</a:t>
            </a:r>
          </a:p>
        </p:txBody>
      </p:sp>
      <p:sp>
        <p:nvSpPr>
          <p:cNvPr id="1687589" name="Text Box 37"/>
          <p:cNvSpPr txBox="1">
            <a:spLocks noChangeArrowheads="1"/>
          </p:cNvSpPr>
          <p:nvPr/>
        </p:nvSpPr>
        <p:spPr bwMode="auto">
          <a:xfrm>
            <a:off x="6808788" y="1157288"/>
            <a:ext cx="725487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Data</a:t>
            </a:r>
          </a:p>
        </p:txBody>
      </p:sp>
      <p:sp>
        <p:nvSpPr>
          <p:cNvPr id="1687590" name="Text Box 38"/>
          <p:cNvSpPr txBox="1">
            <a:spLocks noChangeArrowheads="1"/>
          </p:cNvSpPr>
          <p:nvPr/>
        </p:nvSpPr>
        <p:spPr bwMode="auto">
          <a:xfrm>
            <a:off x="838200" y="3429000"/>
            <a:ext cx="3352800" cy="7016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Two virtual pages share one physical page</a:t>
            </a:r>
          </a:p>
        </p:txBody>
      </p:sp>
      <p:sp>
        <p:nvSpPr>
          <p:cNvPr id="1687591" name="Text Box 39"/>
          <p:cNvSpPr txBox="1">
            <a:spLocks noChangeArrowheads="1"/>
          </p:cNvSpPr>
          <p:nvPr/>
        </p:nvSpPr>
        <p:spPr bwMode="auto">
          <a:xfrm>
            <a:off x="4572000" y="2971800"/>
            <a:ext cx="4267200" cy="13112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dirty="0">
                <a:latin typeface="Verdana" charset="0"/>
              </a:rPr>
              <a:t>Virtual cache can have two copies of same physical data. Writes to one copy not visible to reads of other!</a:t>
            </a:r>
          </a:p>
        </p:txBody>
      </p:sp>
      <p:sp>
        <p:nvSpPr>
          <p:cNvPr id="1687592" name="Text Box 40"/>
          <p:cNvSpPr txBox="1">
            <a:spLocks noChangeArrowheads="1"/>
          </p:cNvSpPr>
          <p:nvPr/>
        </p:nvSpPr>
        <p:spPr bwMode="auto">
          <a:xfrm>
            <a:off x="533400" y="4409207"/>
            <a:ext cx="8153400" cy="18210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latin typeface="Verdana" charset="0"/>
              </a:rPr>
              <a:t>General Solution:  </a:t>
            </a:r>
            <a:r>
              <a:rPr lang="en-US" sz="2000" i="1" dirty="0">
                <a:solidFill>
                  <a:srgbClr val="56127A"/>
                </a:solidFill>
                <a:latin typeface="Verdana" charset="0"/>
              </a:rPr>
              <a:t>Prevent aliases coexisting in cache</a:t>
            </a:r>
          </a:p>
          <a:p>
            <a:pPr algn="l">
              <a:lnSpc>
                <a:spcPct val="90000"/>
              </a:lnSpc>
            </a:pPr>
            <a:r>
              <a:rPr lang="en-US" sz="2000" dirty="0">
                <a:latin typeface="Verdana" charset="0"/>
              </a:rPr>
              <a:t>Software (i.e., OS) solution for direct-mapped cache</a:t>
            </a:r>
          </a:p>
          <a:p>
            <a:pPr lvl="1" algn="l">
              <a:lnSpc>
                <a:spcPct val="90000"/>
              </a:lnSpc>
            </a:pPr>
            <a:r>
              <a:rPr lang="en-US" sz="2000" dirty="0">
                <a:solidFill>
                  <a:srgbClr val="56127A"/>
                </a:solidFill>
                <a:latin typeface="Verdana" charset="0"/>
              </a:rPr>
              <a:t>VAs of shared pages must agree in cache index bits; this ensures all VAs accessing same PA will conflict in direct-mapped cache (early SPARCs)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5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5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7592" grpId="0" build="allAtOnce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F5E31-E88C-FE43-9B6C-F7587932BAFB}" type="slidenum">
              <a:rPr lang="en-US"/>
              <a:pPr/>
              <a:t>80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92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34950" y="422275"/>
            <a:ext cx="8832850" cy="927100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Concurrent Access to TLB &amp; Large L1</a:t>
            </a:r>
            <a:br>
              <a:rPr lang="en-US"/>
            </a:br>
            <a:r>
              <a:rPr lang="en-US" sz="2000"/>
              <a:t>The problem with L1 &gt; Page size</a:t>
            </a:r>
            <a:endParaRPr lang="en-US" sz="2000" i="1"/>
          </a:p>
        </p:txBody>
      </p:sp>
      <p:sp>
        <p:nvSpPr>
          <p:cNvPr id="1692675" name="Rectangle 3"/>
          <p:cNvSpPr>
            <a:spLocks noChangeArrowheads="1"/>
          </p:cNvSpPr>
          <p:nvPr/>
        </p:nvSpPr>
        <p:spPr bwMode="auto">
          <a:xfrm>
            <a:off x="1828800" y="5478463"/>
            <a:ext cx="5616575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i="1">
                <a:solidFill>
                  <a:srgbClr val="56127A"/>
                </a:solidFill>
                <a:latin typeface="Verdana" charset="0"/>
              </a:rPr>
              <a:t>Can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 VA</a:t>
            </a:r>
            <a:r>
              <a:rPr lang="en-US" sz="2400" baseline="-25000">
                <a:solidFill>
                  <a:srgbClr val="56127A"/>
                </a:solidFill>
                <a:latin typeface="Verdana" charset="0"/>
              </a:rPr>
              <a:t>1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 </a:t>
            </a:r>
            <a:r>
              <a:rPr lang="en-US" sz="2400" i="1">
                <a:solidFill>
                  <a:srgbClr val="56127A"/>
                </a:solidFill>
                <a:latin typeface="Verdana" charset="0"/>
              </a:rPr>
              <a:t>and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 VA</a:t>
            </a:r>
            <a:r>
              <a:rPr lang="en-US" sz="2400" baseline="-25000">
                <a:solidFill>
                  <a:srgbClr val="56127A"/>
                </a:solidFill>
                <a:latin typeface="Verdana" charset="0"/>
              </a:rPr>
              <a:t>2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 </a:t>
            </a:r>
            <a:r>
              <a:rPr lang="en-US" sz="2400" i="1">
                <a:solidFill>
                  <a:srgbClr val="56127A"/>
                </a:solidFill>
                <a:latin typeface="Verdana" charset="0"/>
              </a:rPr>
              <a:t>both map to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 PA </a:t>
            </a:r>
            <a:r>
              <a:rPr lang="en-US" sz="2400" i="1">
                <a:solidFill>
                  <a:srgbClr val="56127A"/>
                </a:solidFill>
                <a:latin typeface="Verdana" charset="0"/>
              </a:rPr>
              <a:t>? </a:t>
            </a:r>
          </a:p>
        </p:txBody>
      </p:sp>
      <p:sp>
        <p:nvSpPr>
          <p:cNvPr id="1692676" name="Line 4"/>
          <p:cNvSpPr>
            <a:spLocks noChangeShapeType="1"/>
          </p:cNvSpPr>
          <p:nvPr/>
        </p:nvSpPr>
        <p:spPr bwMode="auto">
          <a:xfrm>
            <a:off x="5534025" y="3848100"/>
            <a:ext cx="0" cy="311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77" name="Rectangle 5"/>
          <p:cNvSpPr>
            <a:spLocks noChangeArrowheads="1"/>
          </p:cNvSpPr>
          <p:nvPr/>
        </p:nvSpPr>
        <p:spPr bwMode="auto">
          <a:xfrm>
            <a:off x="863600" y="2006600"/>
            <a:ext cx="2997200" cy="342900"/>
          </a:xfrm>
          <a:prstGeom prst="rect">
            <a:avLst/>
          </a:prstGeom>
          <a:solidFill>
            <a:srgbClr val="FFCC66"/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78" name="Rectangle 6"/>
          <p:cNvSpPr>
            <a:spLocks noChangeArrowheads="1"/>
          </p:cNvSpPr>
          <p:nvPr/>
        </p:nvSpPr>
        <p:spPr bwMode="auto">
          <a:xfrm>
            <a:off x="879475" y="2006600"/>
            <a:ext cx="5051425" cy="330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               VPN 	         a    Page Offset    b</a:t>
            </a:r>
          </a:p>
        </p:txBody>
      </p:sp>
      <p:sp>
        <p:nvSpPr>
          <p:cNvPr id="1692679" name="Line 7"/>
          <p:cNvSpPr>
            <a:spLocks noChangeShapeType="1"/>
          </p:cNvSpPr>
          <p:nvPr/>
        </p:nvSpPr>
        <p:spPr bwMode="auto">
          <a:xfrm>
            <a:off x="3860800" y="2019300"/>
            <a:ext cx="0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80" name="Freeform 8"/>
          <p:cNvSpPr>
            <a:spLocks/>
          </p:cNvSpPr>
          <p:nvPr/>
        </p:nvSpPr>
        <p:spPr bwMode="auto">
          <a:xfrm>
            <a:off x="3403600" y="1866900"/>
            <a:ext cx="2109788" cy="103188"/>
          </a:xfrm>
          <a:custGeom>
            <a:avLst/>
            <a:gdLst/>
            <a:ahLst/>
            <a:cxnLst>
              <a:cxn ang="0">
                <a:pos x="0" y="59"/>
              </a:cxn>
              <a:cxn ang="0">
                <a:pos x="62" y="0"/>
              </a:cxn>
              <a:cxn ang="0">
                <a:pos x="1289" y="0"/>
              </a:cxn>
              <a:cxn ang="0">
                <a:pos x="1328" y="64"/>
              </a:cxn>
            </a:cxnLst>
            <a:rect l="0" t="0" r="r" b="b"/>
            <a:pathLst>
              <a:path w="1329" h="65">
                <a:moveTo>
                  <a:pt x="0" y="59"/>
                </a:moveTo>
                <a:lnTo>
                  <a:pt x="62" y="0"/>
                </a:lnTo>
                <a:lnTo>
                  <a:pt x="1289" y="0"/>
                </a:lnTo>
                <a:lnTo>
                  <a:pt x="1328" y="64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81" name="Rectangle 9"/>
          <p:cNvSpPr>
            <a:spLocks noChangeArrowheads="1"/>
          </p:cNvSpPr>
          <p:nvPr/>
        </p:nvSpPr>
        <p:spPr bwMode="auto">
          <a:xfrm>
            <a:off x="1841500" y="2693988"/>
            <a:ext cx="1333500" cy="620712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400">
                <a:solidFill>
                  <a:srgbClr val="56127A"/>
                </a:solidFill>
                <a:latin typeface="Verdana" charset="0"/>
              </a:rPr>
              <a:t>TLB</a:t>
            </a:r>
          </a:p>
        </p:txBody>
      </p:sp>
      <p:sp>
        <p:nvSpPr>
          <p:cNvPr id="1692682" name="Line 10"/>
          <p:cNvSpPr>
            <a:spLocks noChangeShapeType="1"/>
          </p:cNvSpPr>
          <p:nvPr/>
        </p:nvSpPr>
        <p:spPr bwMode="auto">
          <a:xfrm>
            <a:off x="2527300" y="3352800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83" name="Rectangle 11"/>
          <p:cNvSpPr>
            <a:spLocks noChangeArrowheads="1"/>
          </p:cNvSpPr>
          <p:nvPr/>
        </p:nvSpPr>
        <p:spPr bwMode="auto">
          <a:xfrm>
            <a:off x="6959600" y="2514600"/>
            <a:ext cx="1803400" cy="12573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84" name="Rectangle 12"/>
          <p:cNvSpPr>
            <a:spLocks noChangeArrowheads="1"/>
          </p:cNvSpPr>
          <p:nvPr/>
        </p:nvSpPr>
        <p:spPr bwMode="auto">
          <a:xfrm>
            <a:off x="800100" y="3822700"/>
            <a:ext cx="2997200" cy="342900"/>
          </a:xfrm>
          <a:prstGeom prst="rect">
            <a:avLst/>
          </a:prstGeom>
          <a:solidFill>
            <a:srgbClr val="FFCC66"/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85" name="Rectangle 13"/>
          <p:cNvSpPr>
            <a:spLocks noChangeArrowheads="1"/>
          </p:cNvSpPr>
          <p:nvPr/>
        </p:nvSpPr>
        <p:spPr bwMode="auto">
          <a:xfrm>
            <a:off x="815975" y="3822700"/>
            <a:ext cx="5153025" cy="330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                PPN 		    Page Offset    b</a:t>
            </a:r>
          </a:p>
        </p:txBody>
      </p:sp>
      <p:sp>
        <p:nvSpPr>
          <p:cNvPr id="1692686" name="Line 14"/>
          <p:cNvSpPr>
            <a:spLocks noChangeShapeType="1"/>
          </p:cNvSpPr>
          <p:nvPr/>
        </p:nvSpPr>
        <p:spPr bwMode="auto">
          <a:xfrm>
            <a:off x="3797300" y="3835400"/>
            <a:ext cx="0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87" name="Line 15"/>
          <p:cNvSpPr>
            <a:spLocks noChangeShapeType="1"/>
          </p:cNvSpPr>
          <p:nvPr/>
        </p:nvSpPr>
        <p:spPr bwMode="auto">
          <a:xfrm>
            <a:off x="2501900" y="2374900"/>
            <a:ext cx="0" cy="2921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88" name="Freeform 16"/>
          <p:cNvSpPr>
            <a:spLocks/>
          </p:cNvSpPr>
          <p:nvPr/>
        </p:nvSpPr>
        <p:spPr bwMode="auto">
          <a:xfrm>
            <a:off x="825500" y="4186238"/>
            <a:ext cx="2971800" cy="141287"/>
          </a:xfrm>
          <a:custGeom>
            <a:avLst/>
            <a:gdLst/>
            <a:ahLst/>
            <a:cxnLst>
              <a:cxn ang="0">
                <a:pos x="0" y="7"/>
              </a:cxn>
              <a:cxn ang="0">
                <a:pos x="138" y="88"/>
              </a:cxn>
              <a:cxn ang="0">
                <a:pos x="2864" y="88"/>
              </a:cxn>
              <a:cxn ang="0">
                <a:pos x="2952" y="0"/>
              </a:cxn>
            </a:cxnLst>
            <a:rect l="0" t="0" r="r" b="b"/>
            <a:pathLst>
              <a:path w="2953" h="89">
                <a:moveTo>
                  <a:pt x="0" y="7"/>
                </a:moveTo>
                <a:lnTo>
                  <a:pt x="138" y="88"/>
                </a:lnTo>
                <a:lnTo>
                  <a:pt x="2864" y="88"/>
                </a:lnTo>
                <a:lnTo>
                  <a:pt x="2952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89" name="Rectangle 17"/>
          <p:cNvSpPr>
            <a:spLocks noChangeArrowheads="1"/>
          </p:cNvSpPr>
          <p:nvPr/>
        </p:nvSpPr>
        <p:spPr bwMode="auto">
          <a:xfrm>
            <a:off x="1941513" y="4524375"/>
            <a:ext cx="647700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Tag</a:t>
            </a:r>
          </a:p>
        </p:txBody>
      </p:sp>
      <p:sp>
        <p:nvSpPr>
          <p:cNvPr id="1692690" name="Rectangle 18"/>
          <p:cNvSpPr>
            <a:spLocks noChangeArrowheads="1"/>
          </p:cNvSpPr>
          <p:nvPr/>
        </p:nvSpPr>
        <p:spPr bwMode="auto">
          <a:xfrm>
            <a:off x="227013" y="1903413"/>
            <a:ext cx="528637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VA</a:t>
            </a:r>
          </a:p>
        </p:txBody>
      </p:sp>
      <p:sp>
        <p:nvSpPr>
          <p:cNvPr id="1692691" name="Rectangle 19"/>
          <p:cNvSpPr>
            <a:spLocks noChangeArrowheads="1"/>
          </p:cNvSpPr>
          <p:nvPr/>
        </p:nvSpPr>
        <p:spPr bwMode="auto">
          <a:xfrm>
            <a:off x="201613" y="3744913"/>
            <a:ext cx="519112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</a:rPr>
              <a:t>PA</a:t>
            </a:r>
          </a:p>
        </p:txBody>
      </p:sp>
      <p:sp>
        <p:nvSpPr>
          <p:cNvPr id="1692692" name="Rectangle 20"/>
          <p:cNvSpPr>
            <a:spLocks noChangeArrowheads="1"/>
          </p:cNvSpPr>
          <p:nvPr/>
        </p:nvSpPr>
        <p:spPr bwMode="auto">
          <a:xfrm>
            <a:off x="5383213" y="1349375"/>
            <a:ext cx="1666875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Virtual Index</a:t>
            </a:r>
          </a:p>
        </p:txBody>
      </p:sp>
      <p:sp>
        <p:nvSpPr>
          <p:cNvPr id="1692693" name="Freeform 21"/>
          <p:cNvSpPr>
            <a:spLocks/>
          </p:cNvSpPr>
          <p:nvPr/>
        </p:nvSpPr>
        <p:spPr bwMode="auto">
          <a:xfrm>
            <a:off x="4521200" y="1689100"/>
            <a:ext cx="2782888" cy="814388"/>
          </a:xfrm>
          <a:custGeom>
            <a:avLst/>
            <a:gdLst/>
            <a:ahLst/>
            <a:cxnLst>
              <a:cxn ang="0">
                <a:pos x="0" y="74"/>
              </a:cxn>
              <a:cxn ang="0">
                <a:pos x="0" y="0"/>
              </a:cxn>
              <a:cxn ang="0">
                <a:pos x="1752" y="0"/>
              </a:cxn>
              <a:cxn ang="0">
                <a:pos x="1752" y="512"/>
              </a:cxn>
            </a:cxnLst>
            <a:rect l="0" t="0" r="r" b="b"/>
            <a:pathLst>
              <a:path w="1753" h="513">
                <a:moveTo>
                  <a:pt x="0" y="74"/>
                </a:moveTo>
                <a:lnTo>
                  <a:pt x="0" y="0"/>
                </a:lnTo>
                <a:lnTo>
                  <a:pt x="1752" y="0"/>
                </a:lnTo>
                <a:lnTo>
                  <a:pt x="1752" y="512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94" name="Line 22"/>
          <p:cNvSpPr>
            <a:spLocks noChangeShapeType="1"/>
          </p:cNvSpPr>
          <p:nvPr/>
        </p:nvSpPr>
        <p:spPr bwMode="auto">
          <a:xfrm>
            <a:off x="5534025" y="2019300"/>
            <a:ext cx="0" cy="311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95" name="Rectangle 23"/>
          <p:cNvSpPr>
            <a:spLocks noChangeArrowheads="1"/>
          </p:cNvSpPr>
          <p:nvPr/>
        </p:nvSpPr>
        <p:spPr bwMode="auto">
          <a:xfrm>
            <a:off x="7297738" y="1676400"/>
            <a:ext cx="1719262" cy="6985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L1 PA cache</a:t>
            </a:r>
          </a:p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Direct-map</a:t>
            </a:r>
          </a:p>
        </p:txBody>
      </p:sp>
      <p:sp>
        <p:nvSpPr>
          <p:cNvPr id="1692696" name="Line 24"/>
          <p:cNvSpPr>
            <a:spLocks noChangeShapeType="1"/>
          </p:cNvSpPr>
          <p:nvPr/>
        </p:nvSpPr>
        <p:spPr bwMode="auto">
          <a:xfrm>
            <a:off x="7678738" y="2514600"/>
            <a:ext cx="0" cy="1244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97" name="Line 25"/>
          <p:cNvSpPr>
            <a:spLocks noChangeShapeType="1"/>
          </p:cNvSpPr>
          <p:nvPr/>
        </p:nvSpPr>
        <p:spPr bwMode="auto">
          <a:xfrm>
            <a:off x="3390900" y="2006600"/>
            <a:ext cx="0" cy="3302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98" name="Oval 26"/>
          <p:cNvSpPr>
            <a:spLocks noChangeArrowheads="1"/>
          </p:cNvSpPr>
          <p:nvPr/>
        </p:nvSpPr>
        <p:spPr bwMode="auto">
          <a:xfrm>
            <a:off x="7124700" y="4229100"/>
            <a:ext cx="457200" cy="4445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400">
                <a:solidFill>
                  <a:srgbClr val="56127A"/>
                </a:solidFill>
                <a:latin typeface="Verdana" charset="0"/>
              </a:rPr>
              <a:t>=</a:t>
            </a:r>
          </a:p>
        </p:txBody>
      </p:sp>
      <p:sp>
        <p:nvSpPr>
          <p:cNvPr id="1692699" name="Rectangle 27"/>
          <p:cNvSpPr>
            <a:spLocks noChangeArrowheads="1"/>
          </p:cNvSpPr>
          <p:nvPr/>
        </p:nvSpPr>
        <p:spPr bwMode="auto">
          <a:xfrm>
            <a:off x="7907338" y="4203700"/>
            <a:ext cx="649287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hit?</a:t>
            </a:r>
          </a:p>
        </p:txBody>
      </p:sp>
      <p:sp>
        <p:nvSpPr>
          <p:cNvPr id="1692700" name="Line 28"/>
          <p:cNvSpPr>
            <a:spLocks noChangeShapeType="1"/>
          </p:cNvSpPr>
          <p:nvPr/>
        </p:nvSpPr>
        <p:spPr bwMode="auto">
          <a:xfrm>
            <a:off x="7340600" y="3784600"/>
            <a:ext cx="0" cy="444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701" name="Freeform 29"/>
          <p:cNvSpPr>
            <a:spLocks/>
          </p:cNvSpPr>
          <p:nvPr/>
        </p:nvSpPr>
        <p:spPr bwMode="auto">
          <a:xfrm>
            <a:off x="2514600" y="4343400"/>
            <a:ext cx="4587875" cy="1285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80"/>
              </a:cxn>
              <a:cxn ang="0">
                <a:pos x="2144" y="80"/>
              </a:cxn>
            </a:cxnLst>
            <a:rect l="0" t="0" r="r" b="b"/>
            <a:pathLst>
              <a:path w="2145" h="81">
                <a:moveTo>
                  <a:pt x="0" y="0"/>
                </a:moveTo>
                <a:lnTo>
                  <a:pt x="0" y="80"/>
                </a:lnTo>
                <a:lnTo>
                  <a:pt x="2144" y="8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6919913" y="2706688"/>
            <a:ext cx="1855787" cy="366712"/>
            <a:chOff x="4239" y="1561"/>
            <a:chExt cx="1169" cy="231"/>
          </a:xfrm>
        </p:grpSpPr>
        <p:sp>
          <p:nvSpPr>
            <p:cNvPr id="1692703" name="Line 31"/>
            <p:cNvSpPr>
              <a:spLocks noChangeShapeType="1"/>
            </p:cNvSpPr>
            <p:nvPr/>
          </p:nvSpPr>
          <p:spPr bwMode="auto">
            <a:xfrm>
              <a:off x="4267" y="1588"/>
              <a:ext cx="11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2704" name="Line 32"/>
            <p:cNvSpPr>
              <a:spLocks noChangeShapeType="1"/>
            </p:cNvSpPr>
            <p:nvPr/>
          </p:nvSpPr>
          <p:spPr bwMode="auto">
            <a:xfrm>
              <a:off x="4270" y="1778"/>
              <a:ext cx="11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2705" name="Text Box 33"/>
            <p:cNvSpPr txBox="1">
              <a:spLocks noChangeArrowheads="1"/>
            </p:cNvSpPr>
            <p:nvPr/>
          </p:nvSpPr>
          <p:spPr bwMode="auto">
            <a:xfrm>
              <a:off x="4239" y="1561"/>
              <a:ext cx="1049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PPN</a:t>
              </a:r>
              <a:r>
                <a:rPr lang="en-US" sz="1800" baseline="-25000">
                  <a:latin typeface="Verdana" charset="0"/>
                </a:rPr>
                <a:t>a</a:t>
              </a:r>
              <a:r>
                <a:rPr lang="en-US" sz="1800">
                  <a:latin typeface="Verdana" charset="0"/>
                </a:rPr>
                <a:t>     Data</a:t>
              </a:r>
            </a:p>
          </p:txBody>
        </p:sp>
      </p:grpSp>
      <p:grpSp>
        <p:nvGrpSpPr>
          <p:cNvPr id="3" name="Group 34"/>
          <p:cNvGrpSpPr>
            <a:grpSpLocks/>
          </p:cNvGrpSpPr>
          <p:nvPr/>
        </p:nvGrpSpPr>
        <p:grpSpPr bwMode="auto">
          <a:xfrm>
            <a:off x="6923088" y="3219450"/>
            <a:ext cx="1855787" cy="366713"/>
            <a:chOff x="4239" y="1561"/>
            <a:chExt cx="1169" cy="231"/>
          </a:xfrm>
        </p:grpSpPr>
        <p:sp>
          <p:nvSpPr>
            <p:cNvPr id="1692707" name="Line 35"/>
            <p:cNvSpPr>
              <a:spLocks noChangeShapeType="1"/>
            </p:cNvSpPr>
            <p:nvPr/>
          </p:nvSpPr>
          <p:spPr bwMode="auto">
            <a:xfrm>
              <a:off x="4267" y="1588"/>
              <a:ext cx="11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2708" name="Line 36"/>
            <p:cNvSpPr>
              <a:spLocks noChangeShapeType="1"/>
            </p:cNvSpPr>
            <p:nvPr/>
          </p:nvSpPr>
          <p:spPr bwMode="auto">
            <a:xfrm>
              <a:off x="4270" y="1778"/>
              <a:ext cx="11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2709" name="Text Box 37"/>
            <p:cNvSpPr txBox="1">
              <a:spLocks noChangeArrowheads="1"/>
            </p:cNvSpPr>
            <p:nvPr/>
          </p:nvSpPr>
          <p:spPr bwMode="auto">
            <a:xfrm>
              <a:off x="4239" y="1561"/>
              <a:ext cx="1049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PPN</a:t>
              </a:r>
              <a:r>
                <a:rPr lang="en-US" sz="1800" baseline="-25000">
                  <a:latin typeface="Verdana" charset="0"/>
                </a:rPr>
                <a:t>a</a:t>
              </a:r>
              <a:r>
                <a:rPr lang="en-US" sz="1800">
                  <a:latin typeface="Verdana" charset="0"/>
                </a:rPr>
                <a:t>     Data</a:t>
              </a:r>
            </a:p>
          </p:txBody>
        </p:sp>
      </p:grpSp>
      <p:sp>
        <p:nvSpPr>
          <p:cNvPr id="1692710" name="Text Box 38"/>
          <p:cNvSpPr txBox="1">
            <a:spLocks noChangeArrowheads="1"/>
          </p:cNvSpPr>
          <p:nvPr/>
        </p:nvSpPr>
        <p:spPr bwMode="auto">
          <a:xfrm>
            <a:off x="6403975" y="2714625"/>
            <a:ext cx="593725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VA</a:t>
            </a:r>
            <a:r>
              <a:rPr lang="en-US" sz="1800" baseline="-25000">
                <a:solidFill>
                  <a:srgbClr val="56127A"/>
                </a:solidFill>
                <a:latin typeface="Verdana" charset="0"/>
              </a:rPr>
              <a:t>1</a:t>
            </a:r>
            <a:endParaRPr lang="en-US" sz="1800">
              <a:solidFill>
                <a:srgbClr val="56127A"/>
              </a:solidFill>
              <a:latin typeface="Verdana" charset="0"/>
            </a:endParaRPr>
          </a:p>
        </p:txBody>
      </p:sp>
      <p:sp>
        <p:nvSpPr>
          <p:cNvPr id="1692711" name="Text Box 39"/>
          <p:cNvSpPr txBox="1">
            <a:spLocks noChangeArrowheads="1"/>
          </p:cNvSpPr>
          <p:nvPr/>
        </p:nvSpPr>
        <p:spPr bwMode="auto">
          <a:xfrm>
            <a:off x="6407150" y="3211513"/>
            <a:ext cx="593725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VA</a:t>
            </a:r>
            <a:r>
              <a:rPr lang="en-US" sz="1800" baseline="-25000">
                <a:solidFill>
                  <a:srgbClr val="56127A"/>
                </a:solidFill>
                <a:latin typeface="Verdana" charset="0"/>
              </a:rPr>
              <a:t>2</a:t>
            </a:r>
            <a:endParaRPr lang="en-US" sz="1800">
              <a:solidFill>
                <a:srgbClr val="56127A"/>
              </a:solidFill>
              <a:latin typeface="Verdana" charset="0"/>
            </a:endParaRPr>
          </a:p>
        </p:txBody>
      </p:sp>
      <p:sp>
        <p:nvSpPr>
          <p:cNvPr id="1692712" name="Line 40"/>
          <p:cNvSpPr>
            <a:spLocks noChangeShapeType="1"/>
          </p:cNvSpPr>
          <p:nvPr/>
        </p:nvSpPr>
        <p:spPr bwMode="auto">
          <a:xfrm rot="-5400000">
            <a:off x="7781132" y="4258468"/>
            <a:ext cx="0" cy="3222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BD13E-718A-3A45-8178-09E34FD5CB27}" type="slidenum">
              <a:rPr lang="en-US"/>
              <a:pPr/>
              <a:t>81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89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386763" cy="1004888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Concurrent Access to TLB &amp; Cache</a:t>
            </a:r>
            <a:br>
              <a:rPr lang="en-US"/>
            </a:br>
            <a:r>
              <a:rPr lang="en-US"/>
              <a:t>(Virtual Index/Physical Tag)</a:t>
            </a:r>
          </a:p>
        </p:txBody>
      </p:sp>
      <p:sp>
        <p:nvSpPr>
          <p:cNvPr id="1689603" name="Rectangle 3"/>
          <p:cNvSpPr>
            <a:spLocks noChangeArrowheads="1"/>
          </p:cNvSpPr>
          <p:nvPr/>
        </p:nvSpPr>
        <p:spPr bwMode="auto">
          <a:xfrm>
            <a:off x="685800" y="4800600"/>
            <a:ext cx="7833549" cy="144398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dirty="0">
                <a:latin typeface="Verdana" charset="0"/>
              </a:rPr>
              <a:t>Index</a:t>
            </a:r>
            <a:r>
              <a:rPr lang="en-US" sz="2000" dirty="0">
                <a:solidFill>
                  <a:schemeClr val="accent2"/>
                </a:solidFill>
                <a:latin typeface="Verdana" charset="0"/>
              </a:rPr>
              <a:t> </a:t>
            </a:r>
            <a:r>
              <a:rPr lang="en-US" sz="2000" dirty="0">
                <a:latin typeface="Verdana" charset="0"/>
              </a:rPr>
              <a:t>L is available without consulting the TLB</a:t>
            </a:r>
          </a:p>
          <a:p>
            <a:pPr lvl="1" algn="l">
              <a:spcBef>
                <a:spcPct val="0"/>
              </a:spcBef>
            </a:pPr>
            <a:r>
              <a:rPr lang="en-US" sz="2000" dirty="0">
                <a:solidFill>
                  <a:schemeClr val="tx2"/>
                </a:solidFill>
                <a:latin typeface="Symbol" charset="2"/>
              </a:rPr>
              <a:t></a:t>
            </a:r>
            <a:r>
              <a:rPr lang="en-US" sz="2000" dirty="0">
                <a:latin typeface="Symbol" charset="2"/>
              </a:rPr>
              <a:t></a:t>
            </a:r>
            <a:r>
              <a:rPr lang="en-US" sz="2000" i="1" dirty="0">
                <a:solidFill>
                  <a:srgbClr val="56127A"/>
                </a:solidFill>
                <a:latin typeface="Verdana" charset="0"/>
              </a:rPr>
              <a:t>Cache and TLB accesses can begin simultaneously!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latin typeface="Verdana" charset="0"/>
              </a:rPr>
              <a:t>Tag comparison is made after both accesses are completed</a:t>
            </a:r>
          </a:p>
          <a:p>
            <a:pPr algn="l">
              <a:spcBef>
                <a:spcPct val="0"/>
              </a:spcBef>
            </a:pPr>
            <a:r>
              <a:rPr lang="en-US" sz="2800" i="1" dirty="0">
                <a:latin typeface="Verdana" charset="0"/>
              </a:rPr>
              <a:t>Cases:</a:t>
            </a:r>
            <a:r>
              <a:rPr lang="en-US" sz="2000" i="1" dirty="0">
                <a:solidFill>
                  <a:schemeClr val="accent2"/>
                </a:solidFill>
                <a:latin typeface="Verdana" charset="0"/>
              </a:rPr>
              <a:t> </a:t>
            </a:r>
            <a:r>
              <a:rPr lang="en-US" sz="2800" i="1" dirty="0">
                <a:solidFill>
                  <a:srgbClr val="56127A"/>
                </a:solidFill>
                <a:latin typeface="Verdana" charset="0"/>
              </a:rPr>
              <a:t>L + b = k,  L + b &lt; k,  L + b &gt; k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98438" y="1287463"/>
            <a:ext cx="8335962" cy="3490912"/>
            <a:chOff x="125" y="811"/>
            <a:chExt cx="5251" cy="2199"/>
          </a:xfrm>
        </p:grpSpPr>
        <p:sp>
          <p:nvSpPr>
            <p:cNvPr id="1689605" name="Line 5"/>
            <p:cNvSpPr>
              <a:spLocks noChangeShapeType="1"/>
            </p:cNvSpPr>
            <p:nvPr/>
          </p:nvSpPr>
          <p:spPr bwMode="auto">
            <a:xfrm>
              <a:off x="5136" y="2052"/>
              <a:ext cx="0" cy="5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06" name="Line 6"/>
            <p:cNvSpPr>
              <a:spLocks noChangeShapeType="1"/>
            </p:cNvSpPr>
            <p:nvPr/>
          </p:nvSpPr>
          <p:spPr bwMode="auto">
            <a:xfrm>
              <a:off x="2676" y="1944"/>
              <a:ext cx="0" cy="196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07" name="Rectangle 7"/>
            <p:cNvSpPr>
              <a:spLocks noChangeArrowheads="1"/>
            </p:cNvSpPr>
            <p:nvPr/>
          </p:nvSpPr>
          <p:spPr bwMode="auto">
            <a:xfrm>
              <a:off x="544" y="1056"/>
              <a:ext cx="1888" cy="216"/>
            </a:xfrm>
            <a:prstGeom prst="rect">
              <a:avLst/>
            </a:prstGeom>
            <a:solidFill>
              <a:srgbClr val="FFCC66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08" name="Rectangle 8"/>
            <p:cNvSpPr>
              <a:spLocks noChangeArrowheads="1"/>
            </p:cNvSpPr>
            <p:nvPr/>
          </p:nvSpPr>
          <p:spPr bwMode="auto">
            <a:xfrm>
              <a:off x="2704" y="1048"/>
              <a:ext cx="792" cy="208"/>
            </a:xfrm>
            <a:prstGeom prst="rect">
              <a:avLst/>
            </a:prstGeom>
            <a:solidFill>
              <a:srgbClr val="FFCC66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09" name="Rectangle 9"/>
            <p:cNvSpPr>
              <a:spLocks noChangeArrowheads="1"/>
            </p:cNvSpPr>
            <p:nvPr/>
          </p:nvSpPr>
          <p:spPr bwMode="auto">
            <a:xfrm>
              <a:off x="554" y="1048"/>
              <a:ext cx="3182" cy="20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               VPN                          L         b</a:t>
              </a:r>
            </a:p>
          </p:txBody>
        </p:sp>
        <p:sp>
          <p:nvSpPr>
            <p:cNvPr id="1689610" name="Line 10"/>
            <p:cNvSpPr>
              <a:spLocks noChangeShapeType="1"/>
            </p:cNvSpPr>
            <p:nvPr/>
          </p:nvSpPr>
          <p:spPr bwMode="auto">
            <a:xfrm>
              <a:off x="3486" y="1048"/>
              <a:ext cx="0" cy="1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11" name="Line 11"/>
            <p:cNvSpPr>
              <a:spLocks noChangeShapeType="1"/>
            </p:cNvSpPr>
            <p:nvPr/>
          </p:nvSpPr>
          <p:spPr bwMode="auto">
            <a:xfrm>
              <a:off x="2432" y="1064"/>
              <a:ext cx="0" cy="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12" name="Freeform 12"/>
            <p:cNvSpPr>
              <a:spLocks/>
            </p:cNvSpPr>
            <p:nvPr/>
          </p:nvSpPr>
          <p:spPr bwMode="auto">
            <a:xfrm>
              <a:off x="2712" y="944"/>
              <a:ext cx="761" cy="73"/>
            </a:xfrm>
            <a:custGeom>
              <a:avLst/>
              <a:gdLst/>
              <a:ahLst/>
              <a:cxnLst>
                <a:cxn ang="0">
                  <a:pos x="0" y="66"/>
                </a:cxn>
                <a:cxn ang="0">
                  <a:pos x="35" y="0"/>
                </a:cxn>
                <a:cxn ang="0">
                  <a:pos x="737" y="0"/>
                </a:cxn>
                <a:cxn ang="0">
                  <a:pos x="760" y="72"/>
                </a:cxn>
              </a:cxnLst>
              <a:rect l="0" t="0" r="r" b="b"/>
              <a:pathLst>
                <a:path w="761" h="73">
                  <a:moveTo>
                    <a:pt x="0" y="66"/>
                  </a:moveTo>
                  <a:lnTo>
                    <a:pt x="35" y="0"/>
                  </a:lnTo>
                  <a:lnTo>
                    <a:pt x="737" y="0"/>
                  </a:lnTo>
                  <a:lnTo>
                    <a:pt x="760" y="72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13" name="Line 13"/>
            <p:cNvSpPr>
              <a:spLocks noChangeShapeType="1"/>
            </p:cNvSpPr>
            <p:nvPr/>
          </p:nvSpPr>
          <p:spPr bwMode="auto">
            <a:xfrm>
              <a:off x="2694" y="1056"/>
              <a:ext cx="0" cy="1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14" name="Rectangle 14"/>
            <p:cNvSpPr>
              <a:spLocks noChangeArrowheads="1"/>
            </p:cNvSpPr>
            <p:nvPr/>
          </p:nvSpPr>
          <p:spPr bwMode="auto">
            <a:xfrm>
              <a:off x="1176" y="1400"/>
              <a:ext cx="840" cy="391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 sz="2400">
                  <a:solidFill>
                    <a:srgbClr val="56127A"/>
                  </a:solidFill>
                  <a:latin typeface="Verdana" charset="0"/>
                </a:rPr>
                <a:t>TLB</a:t>
              </a:r>
            </a:p>
          </p:txBody>
        </p:sp>
        <p:sp>
          <p:nvSpPr>
            <p:cNvPr id="1689615" name="Line 15"/>
            <p:cNvSpPr>
              <a:spLocks noChangeShapeType="1"/>
            </p:cNvSpPr>
            <p:nvPr/>
          </p:nvSpPr>
          <p:spPr bwMode="auto">
            <a:xfrm flipH="1">
              <a:off x="1572" y="1256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16" name="Rectangle 16"/>
            <p:cNvSpPr>
              <a:spLocks noChangeArrowheads="1"/>
            </p:cNvSpPr>
            <p:nvPr/>
          </p:nvSpPr>
          <p:spPr bwMode="auto">
            <a:xfrm>
              <a:off x="3936" y="1368"/>
              <a:ext cx="1440" cy="688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 sz="1800" dirty="0">
                  <a:latin typeface="Verdana" charset="0"/>
                </a:rPr>
                <a:t>Direct-map Cache </a:t>
              </a:r>
            </a:p>
            <a:p>
              <a:pPr>
                <a:spcBef>
                  <a:spcPct val="0"/>
                </a:spcBef>
              </a:pPr>
              <a:r>
                <a:rPr lang="en-US" sz="1800" dirty="0">
                  <a:latin typeface="Verdana" charset="0"/>
                </a:rPr>
                <a:t>2</a:t>
              </a:r>
              <a:r>
                <a:rPr lang="en-US" sz="1800" baseline="30000" dirty="0">
                  <a:latin typeface="Verdana" charset="0"/>
                </a:rPr>
                <a:t>L</a:t>
              </a:r>
              <a:r>
                <a:rPr lang="en-US" sz="1800" baseline="-25000" dirty="0">
                  <a:latin typeface="Verdana" charset="0"/>
                </a:rPr>
                <a:t> </a:t>
              </a:r>
              <a:r>
                <a:rPr lang="en-US" sz="1800" dirty="0">
                  <a:latin typeface="Verdana" charset="0"/>
                </a:rPr>
                <a:t>blocks</a:t>
              </a:r>
            </a:p>
            <a:p>
              <a:pPr>
                <a:spcBef>
                  <a:spcPct val="0"/>
                </a:spcBef>
              </a:pPr>
              <a:r>
                <a:rPr lang="en-US" sz="1800" dirty="0">
                  <a:latin typeface="Verdana" charset="0"/>
                </a:rPr>
                <a:t>2</a:t>
              </a:r>
              <a:r>
                <a:rPr lang="en-US" sz="1800" baseline="30000" dirty="0">
                  <a:latin typeface="Verdana" charset="0"/>
                </a:rPr>
                <a:t>b</a:t>
              </a:r>
              <a:r>
                <a:rPr lang="en-US" sz="1800" dirty="0">
                  <a:latin typeface="Verdana" charset="0"/>
                </a:rPr>
                <a:t>-byte block</a:t>
              </a:r>
            </a:p>
          </p:txBody>
        </p:sp>
        <p:sp>
          <p:nvSpPr>
            <p:cNvPr id="1689617" name="Rectangle 17"/>
            <p:cNvSpPr>
              <a:spLocks noChangeArrowheads="1"/>
            </p:cNvSpPr>
            <p:nvPr/>
          </p:nvSpPr>
          <p:spPr bwMode="auto">
            <a:xfrm>
              <a:off x="502" y="1928"/>
              <a:ext cx="1888" cy="216"/>
            </a:xfrm>
            <a:prstGeom prst="rect">
              <a:avLst/>
            </a:prstGeom>
            <a:solidFill>
              <a:srgbClr val="FFCC66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18" name="Rectangle 18"/>
            <p:cNvSpPr>
              <a:spLocks noChangeArrowheads="1"/>
            </p:cNvSpPr>
            <p:nvPr/>
          </p:nvSpPr>
          <p:spPr bwMode="auto">
            <a:xfrm>
              <a:off x="512" y="1928"/>
              <a:ext cx="3246" cy="20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                PPN                      Page Offset</a:t>
              </a:r>
            </a:p>
          </p:txBody>
        </p:sp>
        <p:sp>
          <p:nvSpPr>
            <p:cNvPr id="1689619" name="Line 19"/>
            <p:cNvSpPr>
              <a:spLocks noChangeShapeType="1"/>
            </p:cNvSpPr>
            <p:nvPr/>
          </p:nvSpPr>
          <p:spPr bwMode="auto">
            <a:xfrm>
              <a:off x="2390" y="1936"/>
              <a:ext cx="0" cy="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20" name="Line 20"/>
            <p:cNvSpPr>
              <a:spLocks noChangeShapeType="1"/>
            </p:cNvSpPr>
            <p:nvPr/>
          </p:nvSpPr>
          <p:spPr bwMode="auto">
            <a:xfrm>
              <a:off x="3104" y="1360"/>
              <a:ext cx="0" cy="5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21" name="Line 21"/>
            <p:cNvSpPr>
              <a:spLocks noChangeShapeType="1"/>
            </p:cNvSpPr>
            <p:nvPr/>
          </p:nvSpPr>
          <p:spPr bwMode="auto">
            <a:xfrm>
              <a:off x="1568" y="1796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22" name="Oval 22"/>
            <p:cNvSpPr>
              <a:spLocks noChangeArrowheads="1"/>
            </p:cNvSpPr>
            <p:nvPr/>
          </p:nvSpPr>
          <p:spPr bwMode="auto">
            <a:xfrm>
              <a:off x="2880" y="2424"/>
              <a:ext cx="774" cy="29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 sz="3200">
                  <a:solidFill>
                    <a:srgbClr val="56127A"/>
                  </a:solidFill>
                  <a:latin typeface="Verdana" charset="0"/>
                </a:rPr>
                <a:t>=</a:t>
              </a:r>
            </a:p>
          </p:txBody>
        </p:sp>
        <p:sp>
          <p:nvSpPr>
            <p:cNvPr id="1689623" name="Freeform 23"/>
            <p:cNvSpPr>
              <a:spLocks/>
            </p:cNvSpPr>
            <p:nvPr/>
          </p:nvSpPr>
          <p:spPr bwMode="auto">
            <a:xfrm>
              <a:off x="1566" y="2249"/>
              <a:ext cx="1314" cy="3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12"/>
                </a:cxn>
                <a:cxn ang="0">
                  <a:pos x="1200" y="312"/>
                </a:cxn>
              </a:cxnLst>
              <a:rect l="0" t="0" r="r" b="b"/>
              <a:pathLst>
                <a:path w="1201" h="313">
                  <a:moveTo>
                    <a:pt x="0" y="0"/>
                  </a:moveTo>
                  <a:lnTo>
                    <a:pt x="0" y="312"/>
                  </a:lnTo>
                  <a:lnTo>
                    <a:pt x="1200" y="312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24" name="Freeform 24"/>
            <p:cNvSpPr>
              <a:spLocks/>
            </p:cNvSpPr>
            <p:nvPr/>
          </p:nvSpPr>
          <p:spPr bwMode="auto">
            <a:xfrm>
              <a:off x="3664" y="2056"/>
              <a:ext cx="673" cy="512"/>
            </a:xfrm>
            <a:custGeom>
              <a:avLst/>
              <a:gdLst/>
              <a:ahLst/>
              <a:cxnLst>
                <a:cxn ang="0">
                  <a:pos x="672" y="0"/>
                </a:cxn>
                <a:cxn ang="0">
                  <a:pos x="672" y="760"/>
                </a:cxn>
                <a:cxn ang="0">
                  <a:pos x="0" y="760"/>
                </a:cxn>
              </a:cxnLst>
              <a:rect l="0" t="0" r="r" b="b"/>
              <a:pathLst>
                <a:path w="673" h="761">
                  <a:moveTo>
                    <a:pt x="672" y="0"/>
                  </a:moveTo>
                  <a:lnTo>
                    <a:pt x="672" y="760"/>
                  </a:lnTo>
                  <a:lnTo>
                    <a:pt x="0" y="76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25" name="Line 25"/>
            <p:cNvSpPr>
              <a:spLocks noChangeShapeType="1"/>
            </p:cNvSpPr>
            <p:nvPr/>
          </p:nvSpPr>
          <p:spPr bwMode="auto">
            <a:xfrm>
              <a:off x="3264" y="2712"/>
              <a:ext cx="0" cy="2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26" name="Rectangle 26"/>
            <p:cNvSpPr>
              <a:spLocks noChangeArrowheads="1"/>
            </p:cNvSpPr>
            <p:nvPr/>
          </p:nvSpPr>
          <p:spPr bwMode="auto">
            <a:xfrm>
              <a:off x="2736" y="2762"/>
              <a:ext cx="409" cy="2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000">
                  <a:solidFill>
                    <a:srgbClr val="56127A"/>
                  </a:solidFill>
                  <a:latin typeface="Verdana" charset="0"/>
                </a:rPr>
                <a:t>hit?</a:t>
              </a:r>
            </a:p>
          </p:txBody>
        </p:sp>
        <p:sp>
          <p:nvSpPr>
            <p:cNvPr id="1689627" name="Rectangle 27"/>
            <p:cNvSpPr>
              <a:spLocks noChangeArrowheads="1"/>
            </p:cNvSpPr>
            <p:nvPr/>
          </p:nvSpPr>
          <p:spPr bwMode="auto">
            <a:xfrm>
              <a:off x="4848" y="2616"/>
              <a:ext cx="493" cy="2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000">
                  <a:solidFill>
                    <a:srgbClr val="56127A"/>
                  </a:solidFill>
                  <a:latin typeface="Verdana" charset="0"/>
                </a:rPr>
                <a:t>Data</a:t>
              </a:r>
            </a:p>
          </p:txBody>
        </p:sp>
        <p:sp>
          <p:nvSpPr>
            <p:cNvPr id="1689628" name="Rectangle 28"/>
            <p:cNvSpPr>
              <a:spLocks noChangeArrowheads="1"/>
            </p:cNvSpPr>
            <p:nvPr/>
          </p:nvSpPr>
          <p:spPr bwMode="auto">
            <a:xfrm>
              <a:off x="3641" y="2616"/>
              <a:ext cx="1108" cy="2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000">
                  <a:solidFill>
                    <a:srgbClr val="56127A"/>
                  </a:solidFill>
                  <a:latin typeface="Verdana" charset="0"/>
                </a:rPr>
                <a:t>Physical Tag</a:t>
              </a:r>
            </a:p>
          </p:txBody>
        </p:sp>
        <p:sp>
          <p:nvSpPr>
            <p:cNvPr id="1689629" name="Freeform 29"/>
            <p:cNvSpPr>
              <a:spLocks/>
            </p:cNvSpPr>
            <p:nvPr/>
          </p:nvSpPr>
          <p:spPr bwMode="auto">
            <a:xfrm>
              <a:off x="518" y="2168"/>
              <a:ext cx="2161" cy="81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101" y="80"/>
                </a:cxn>
                <a:cxn ang="0">
                  <a:pos x="2096" y="80"/>
                </a:cxn>
                <a:cxn ang="0">
                  <a:pos x="2160" y="0"/>
                </a:cxn>
              </a:cxnLst>
              <a:rect l="0" t="0" r="r" b="b"/>
              <a:pathLst>
                <a:path w="2161" h="81">
                  <a:moveTo>
                    <a:pt x="0" y="6"/>
                  </a:moveTo>
                  <a:lnTo>
                    <a:pt x="101" y="80"/>
                  </a:lnTo>
                  <a:lnTo>
                    <a:pt x="2096" y="80"/>
                  </a:lnTo>
                  <a:lnTo>
                    <a:pt x="216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30" name="Rectangle 30"/>
            <p:cNvSpPr>
              <a:spLocks noChangeArrowheads="1"/>
            </p:cNvSpPr>
            <p:nvPr/>
          </p:nvSpPr>
          <p:spPr bwMode="auto">
            <a:xfrm>
              <a:off x="1100" y="2370"/>
              <a:ext cx="408" cy="2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000">
                  <a:solidFill>
                    <a:srgbClr val="56127A"/>
                  </a:solidFill>
                  <a:latin typeface="Verdana" charset="0"/>
                </a:rPr>
                <a:t>Tag</a:t>
              </a:r>
            </a:p>
          </p:txBody>
        </p:sp>
        <p:sp>
          <p:nvSpPr>
            <p:cNvPr id="1689631" name="Rectangle 31"/>
            <p:cNvSpPr>
              <a:spLocks noChangeArrowheads="1"/>
            </p:cNvSpPr>
            <p:nvPr/>
          </p:nvSpPr>
          <p:spPr bwMode="auto">
            <a:xfrm>
              <a:off x="144" y="984"/>
              <a:ext cx="333" cy="2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000">
                  <a:solidFill>
                    <a:srgbClr val="56127A"/>
                  </a:solidFill>
                  <a:latin typeface="Verdana" charset="0"/>
                </a:rPr>
                <a:t>VA</a:t>
              </a:r>
            </a:p>
          </p:txBody>
        </p:sp>
        <p:sp>
          <p:nvSpPr>
            <p:cNvPr id="1689632" name="Rectangle 32"/>
            <p:cNvSpPr>
              <a:spLocks noChangeArrowheads="1"/>
            </p:cNvSpPr>
            <p:nvPr/>
          </p:nvSpPr>
          <p:spPr bwMode="auto">
            <a:xfrm>
              <a:off x="125" y="1879"/>
              <a:ext cx="320" cy="2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000">
                  <a:solidFill>
                    <a:srgbClr val="56127A"/>
                  </a:solidFill>
                  <a:latin typeface="Verdana" charset="0"/>
                </a:rPr>
                <a:t>PA</a:t>
              </a:r>
            </a:p>
          </p:txBody>
        </p:sp>
        <p:sp>
          <p:nvSpPr>
            <p:cNvPr id="1689633" name="Freeform 33"/>
            <p:cNvSpPr>
              <a:spLocks/>
            </p:cNvSpPr>
            <p:nvPr/>
          </p:nvSpPr>
          <p:spPr bwMode="auto">
            <a:xfrm>
              <a:off x="2448" y="1280"/>
              <a:ext cx="1281" cy="81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60" y="80"/>
                </a:cxn>
                <a:cxn ang="0">
                  <a:pos x="1242" y="80"/>
                </a:cxn>
                <a:cxn ang="0">
                  <a:pos x="1280" y="0"/>
                </a:cxn>
              </a:cxnLst>
              <a:rect l="0" t="0" r="r" b="b"/>
              <a:pathLst>
                <a:path w="1281" h="81">
                  <a:moveTo>
                    <a:pt x="0" y="6"/>
                  </a:moveTo>
                  <a:lnTo>
                    <a:pt x="60" y="80"/>
                  </a:lnTo>
                  <a:lnTo>
                    <a:pt x="1242" y="80"/>
                  </a:lnTo>
                  <a:lnTo>
                    <a:pt x="128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34" name="Rectangle 34"/>
            <p:cNvSpPr>
              <a:spLocks noChangeArrowheads="1"/>
            </p:cNvSpPr>
            <p:nvPr/>
          </p:nvSpPr>
          <p:spPr bwMode="auto">
            <a:xfrm>
              <a:off x="4567" y="811"/>
              <a:ext cx="640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000">
                  <a:solidFill>
                    <a:srgbClr val="56127A"/>
                  </a:solidFill>
                  <a:latin typeface="Verdana" charset="0"/>
                </a:rPr>
                <a:t>Virtual</a:t>
              </a:r>
            </a:p>
            <a:p>
              <a:pPr algn="l">
                <a:spcBef>
                  <a:spcPct val="0"/>
                </a:spcBef>
              </a:pPr>
              <a:r>
                <a:rPr lang="en-US" sz="2000">
                  <a:solidFill>
                    <a:srgbClr val="56127A"/>
                  </a:solidFill>
                  <a:latin typeface="Verdana" charset="0"/>
                </a:rPr>
                <a:t>Index</a:t>
              </a:r>
            </a:p>
          </p:txBody>
        </p:sp>
        <p:sp>
          <p:nvSpPr>
            <p:cNvPr id="1689635" name="Freeform 35"/>
            <p:cNvSpPr>
              <a:spLocks/>
            </p:cNvSpPr>
            <p:nvPr/>
          </p:nvSpPr>
          <p:spPr bwMode="auto">
            <a:xfrm>
              <a:off x="3104" y="848"/>
              <a:ext cx="1449" cy="512"/>
            </a:xfrm>
            <a:custGeom>
              <a:avLst/>
              <a:gdLst/>
              <a:ahLst/>
              <a:cxnLst>
                <a:cxn ang="0">
                  <a:pos x="0" y="77"/>
                </a:cxn>
                <a:cxn ang="0">
                  <a:pos x="0" y="0"/>
                </a:cxn>
                <a:cxn ang="0">
                  <a:pos x="1448" y="0"/>
                </a:cxn>
                <a:cxn ang="0">
                  <a:pos x="1448" y="536"/>
                </a:cxn>
              </a:cxnLst>
              <a:rect l="0" t="0" r="r" b="b"/>
              <a:pathLst>
                <a:path w="1449" h="537">
                  <a:moveTo>
                    <a:pt x="0" y="77"/>
                  </a:moveTo>
                  <a:lnTo>
                    <a:pt x="0" y="0"/>
                  </a:lnTo>
                  <a:lnTo>
                    <a:pt x="1448" y="0"/>
                  </a:lnTo>
                  <a:lnTo>
                    <a:pt x="1448" y="536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36" name="Line 36"/>
            <p:cNvSpPr>
              <a:spLocks noChangeShapeType="1"/>
            </p:cNvSpPr>
            <p:nvPr/>
          </p:nvSpPr>
          <p:spPr bwMode="auto">
            <a:xfrm flipH="1">
              <a:off x="3056" y="1592"/>
              <a:ext cx="96" cy="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37" name="Rectangle 37"/>
            <p:cNvSpPr>
              <a:spLocks noChangeArrowheads="1"/>
            </p:cNvSpPr>
            <p:nvPr/>
          </p:nvSpPr>
          <p:spPr bwMode="auto">
            <a:xfrm>
              <a:off x="3152" y="1496"/>
              <a:ext cx="199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k</a:t>
              </a:r>
            </a:p>
          </p:txBody>
        </p:sp>
      </p:grp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34D6E-CA00-414E-8EB9-BE500EA627FD}" type="slidenum">
              <a:rPr lang="en-US"/>
              <a:pPr/>
              <a:t>82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90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407400" cy="1079500"/>
          </a:xfrm>
          <a:noFill/>
          <a:ln/>
        </p:spPr>
        <p:txBody>
          <a:bodyPr lIns="90488" tIns="44450" rIns="90488" bIns="44450"/>
          <a:lstStyle/>
          <a:p>
            <a:pPr>
              <a:lnSpc>
                <a:spcPct val="100000"/>
              </a:lnSpc>
            </a:pPr>
            <a:r>
              <a:rPr lang="en-US"/>
              <a:t>Virtual-Index Physical-Tag Caches: </a:t>
            </a:r>
            <a:r>
              <a:rPr lang="en-US" sz="2400"/>
              <a:t>Associative Organization</a:t>
            </a:r>
          </a:p>
        </p:txBody>
      </p:sp>
      <p:sp>
        <p:nvSpPr>
          <p:cNvPr id="1690627" name="Rectangle 3"/>
          <p:cNvSpPr>
            <a:spLocks noChangeArrowheads="1"/>
          </p:cNvSpPr>
          <p:nvPr/>
        </p:nvSpPr>
        <p:spPr bwMode="auto">
          <a:xfrm>
            <a:off x="838200" y="5819775"/>
            <a:ext cx="7239000" cy="4540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i="1">
                <a:solidFill>
                  <a:schemeClr val="tx2"/>
                </a:solidFill>
                <a:latin typeface="Verdana" charset="0"/>
              </a:rPr>
              <a:t>How does this scheme scale to larger caches?</a:t>
            </a:r>
            <a:endParaRPr lang="en-US" sz="2400">
              <a:solidFill>
                <a:schemeClr val="tx2"/>
              </a:solidFill>
              <a:latin typeface="Verdana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52400" y="1295400"/>
            <a:ext cx="8780463" cy="4064000"/>
            <a:chOff x="144" y="824"/>
            <a:chExt cx="5531" cy="2560"/>
          </a:xfrm>
        </p:grpSpPr>
        <p:sp>
          <p:nvSpPr>
            <p:cNvPr id="1690629" name="Rectangle 5"/>
            <p:cNvSpPr>
              <a:spLocks noChangeArrowheads="1"/>
            </p:cNvSpPr>
            <p:nvPr/>
          </p:nvSpPr>
          <p:spPr bwMode="auto">
            <a:xfrm>
              <a:off x="512" y="992"/>
              <a:ext cx="1888" cy="216"/>
            </a:xfrm>
            <a:prstGeom prst="rect">
              <a:avLst/>
            </a:prstGeom>
            <a:solidFill>
              <a:srgbClr val="FFCC66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30" name="Rectangle 6" descr="Dark upward diagonal"/>
            <p:cNvSpPr>
              <a:spLocks noChangeArrowheads="1"/>
            </p:cNvSpPr>
            <p:nvPr/>
          </p:nvSpPr>
          <p:spPr bwMode="auto">
            <a:xfrm>
              <a:off x="2400" y="992"/>
              <a:ext cx="1064" cy="208"/>
            </a:xfrm>
            <a:prstGeom prst="rect">
              <a:avLst/>
            </a:prstGeom>
            <a:pattFill prst="dkUpDiag">
              <a:fgClr>
                <a:srgbClr val="FFA74F"/>
              </a:fgClr>
              <a:bgClr>
                <a:schemeClr val="bg1"/>
              </a:bgClr>
            </a:pattFill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31" name="Rectangle 7"/>
            <p:cNvSpPr>
              <a:spLocks noChangeArrowheads="1"/>
            </p:cNvSpPr>
            <p:nvPr/>
          </p:nvSpPr>
          <p:spPr bwMode="auto">
            <a:xfrm>
              <a:off x="522" y="992"/>
              <a:ext cx="3182" cy="20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                VPN          a       L = k-b       b</a:t>
              </a:r>
            </a:p>
          </p:txBody>
        </p:sp>
        <p:sp>
          <p:nvSpPr>
            <p:cNvPr id="1690632" name="Line 8" descr="Dark upward diagonal"/>
            <p:cNvSpPr>
              <a:spLocks noChangeShapeType="1"/>
            </p:cNvSpPr>
            <p:nvPr/>
          </p:nvSpPr>
          <p:spPr bwMode="auto">
            <a:xfrm>
              <a:off x="3454" y="992"/>
              <a:ext cx="0" cy="1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33" name="Line 9" descr="Dark upward diagonal"/>
            <p:cNvSpPr>
              <a:spLocks noChangeShapeType="1"/>
            </p:cNvSpPr>
            <p:nvPr/>
          </p:nvSpPr>
          <p:spPr bwMode="auto">
            <a:xfrm>
              <a:off x="2400" y="1000"/>
              <a:ext cx="0" cy="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34" name="Freeform 10"/>
            <p:cNvSpPr>
              <a:spLocks/>
            </p:cNvSpPr>
            <p:nvPr/>
          </p:nvSpPr>
          <p:spPr bwMode="auto">
            <a:xfrm>
              <a:off x="2408" y="912"/>
              <a:ext cx="1041" cy="65"/>
            </a:xfrm>
            <a:custGeom>
              <a:avLst/>
              <a:gdLst/>
              <a:ahLst/>
              <a:cxnLst>
                <a:cxn ang="0">
                  <a:pos x="0" y="59"/>
                </a:cxn>
                <a:cxn ang="0">
                  <a:pos x="48" y="0"/>
                </a:cxn>
                <a:cxn ang="0">
                  <a:pos x="1009" y="0"/>
                </a:cxn>
                <a:cxn ang="0">
                  <a:pos x="1040" y="64"/>
                </a:cxn>
              </a:cxnLst>
              <a:rect l="0" t="0" r="r" b="b"/>
              <a:pathLst>
                <a:path w="1041" h="65">
                  <a:moveTo>
                    <a:pt x="0" y="59"/>
                  </a:moveTo>
                  <a:lnTo>
                    <a:pt x="48" y="0"/>
                  </a:lnTo>
                  <a:lnTo>
                    <a:pt x="1009" y="0"/>
                  </a:lnTo>
                  <a:lnTo>
                    <a:pt x="1040" y="64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35" name="Rectangle 11"/>
            <p:cNvSpPr>
              <a:spLocks noChangeArrowheads="1"/>
            </p:cNvSpPr>
            <p:nvPr/>
          </p:nvSpPr>
          <p:spPr bwMode="auto">
            <a:xfrm>
              <a:off x="1144" y="1465"/>
              <a:ext cx="840" cy="391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 sz="2400">
                  <a:solidFill>
                    <a:srgbClr val="56127A"/>
                  </a:solidFill>
                  <a:latin typeface="Verdana" charset="0"/>
                </a:rPr>
                <a:t>TLB</a:t>
              </a:r>
            </a:p>
          </p:txBody>
        </p:sp>
        <p:sp>
          <p:nvSpPr>
            <p:cNvPr id="1690636" name="Line 12"/>
            <p:cNvSpPr>
              <a:spLocks noChangeShapeType="1"/>
            </p:cNvSpPr>
            <p:nvPr/>
          </p:nvSpPr>
          <p:spPr bwMode="auto">
            <a:xfrm>
              <a:off x="1552" y="1216"/>
              <a:ext cx="0" cy="2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37" name="Rectangle 13"/>
            <p:cNvSpPr>
              <a:spLocks noChangeArrowheads="1"/>
            </p:cNvSpPr>
            <p:nvPr/>
          </p:nvSpPr>
          <p:spPr bwMode="auto">
            <a:xfrm>
              <a:off x="3792" y="1392"/>
              <a:ext cx="792" cy="528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 sz="1600" dirty="0">
                  <a:latin typeface="Verdana" charset="0"/>
                </a:rPr>
                <a:t>Direct-map</a:t>
              </a:r>
            </a:p>
            <a:p>
              <a:pPr>
                <a:spcBef>
                  <a:spcPct val="0"/>
                </a:spcBef>
              </a:pPr>
              <a:r>
                <a:rPr lang="en-US" sz="1600" dirty="0">
                  <a:latin typeface="Verdana" charset="0"/>
                </a:rPr>
                <a:t>2</a:t>
              </a:r>
              <a:r>
                <a:rPr lang="en-US" sz="1600" baseline="30000" dirty="0">
                  <a:latin typeface="Verdana" charset="0"/>
                </a:rPr>
                <a:t>L</a:t>
              </a:r>
              <a:r>
                <a:rPr lang="en-US" sz="1600" baseline="-25000" dirty="0">
                  <a:latin typeface="Verdana" charset="0"/>
                </a:rPr>
                <a:t> </a:t>
              </a:r>
              <a:r>
                <a:rPr lang="en-US" sz="1600" dirty="0">
                  <a:latin typeface="Verdana" charset="0"/>
                </a:rPr>
                <a:t>blocks</a:t>
              </a:r>
            </a:p>
          </p:txBody>
        </p:sp>
        <p:sp>
          <p:nvSpPr>
            <p:cNvPr id="1690638" name="Rectangle 14"/>
            <p:cNvSpPr>
              <a:spLocks noChangeArrowheads="1"/>
            </p:cNvSpPr>
            <p:nvPr/>
          </p:nvSpPr>
          <p:spPr bwMode="auto">
            <a:xfrm>
              <a:off x="472" y="2136"/>
              <a:ext cx="1920" cy="216"/>
            </a:xfrm>
            <a:prstGeom prst="rect">
              <a:avLst/>
            </a:prstGeom>
            <a:solidFill>
              <a:srgbClr val="FFCC66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39" name="Rectangle 15"/>
            <p:cNvSpPr>
              <a:spLocks noChangeArrowheads="1"/>
            </p:cNvSpPr>
            <p:nvPr/>
          </p:nvSpPr>
          <p:spPr bwMode="auto">
            <a:xfrm>
              <a:off x="482" y="2136"/>
              <a:ext cx="3246" cy="20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                 PPN                   Page Offset</a:t>
              </a:r>
            </a:p>
          </p:txBody>
        </p:sp>
        <p:sp>
          <p:nvSpPr>
            <p:cNvPr id="1690640" name="Line 16"/>
            <p:cNvSpPr>
              <a:spLocks noChangeShapeType="1"/>
            </p:cNvSpPr>
            <p:nvPr/>
          </p:nvSpPr>
          <p:spPr bwMode="auto">
            <a:xfrm>
              <a:off x="2400" y="2144"/>
              <a:ext cx="0" cy="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41" name="Line 17"/>
            <p:cNvSpPr>
              <a:spLocks noChangeShapeType="1"/>
            </p:cNvSpPr>
            <p:nvPr/>
          </p:nvSpPr>
          <p:spPr bwMode="auto">
            <a:xfrm>
              <a:off x="3072" y="1304"/>
              <a:ext cx="0" cy="8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42" name="Line 18"/>
            <p:cNvSpPr>
              <a:spLocks noChangeShapeType="1"/>
            </p:cNvSpPr>
            <p:nvPr/>
          </p:nvSpPr>
          <p:spPr bwMode="auto">
            <a:xfrm>
              <a:off x="1536" y="1872"/>
              <a:ext cx="0" cy="2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43" name="Line 19"/>
            <p:cNvSpPr>
              <a:spLocks noChangeShapeType="1"/>
            </p:cNvSpPr>
            <p:nvPr/>
          </p:nvSpPr>
          <p:spPr bwMode="auto">
            <a:xfrm>
              <a:off x="4592" y="2544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44" name="Oval 20"/>
            <p:cNvSpPr>
              <a:spLocks noChangeArrowheads="1"/>
            </p:cNvSpPr>
            <p:nvPr/>
          </p:nvSpPr>
          <p:spPr bwMode="auto">
            <a:xfrm>
              <a:off x="3936" y="2384"/>
              <a:ext cx="288" cy="28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 sz="2400">
                  <a:solidFill>
                    <a:srgbClr val="56127A"/>
                  </a:solidFill>
                  <a:latin typeface="Verdana" charset="0"/>
                </a:rPr>
                <a:t>=</a:t>
              </a:r>
            </a:p>
          </p:txBody>
        </p:sp>
        <p:sp>
          <p:nvSpPr>
            <p:cNvPr id="1690645" name="Freeform 21"/>
            <p:cNvSpPr>
              <a:spLocks/>
            </p:cNvSpPr>
            <p:nvPr/>
          </p:nvSpPr>
          <p:spPr bwMode="auto">
            <a:xfrm>
              <a:off x="1536" y="2472"/>
              <a:ext cx="2393" cy="8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8"/>
                </a:cxn>
                <a:cxn ang="0">
                  <a:pos x="2392" y="88"/>
                </a:cxn>
              </a:cxnLst>
              <a:rect l="0" t="0" r="r" b="b"/>
              <a:pathLst>
                <a:path w="2393" h="89">
                  <a:moveTo>
                    <a:pt x="0" y="0"/>
                  </a:moveTo>
                  <a:lnTo>
                    <a:pt x="0" y="88"/>
                  </a:lnTo>
                  <a:lnTo>
                    <a:pt x="2392" y="8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46" name="Rectangle 22"/>
            <p:cNvSpPr>
              <a:spLocks noChangeArrowheads="1"/>
            </p:cNvSpPr>
            <p:nvPr/>
          </p:nvSpPr>
          <p:spPr bwMode="auto">
            <a:xfrm>
              <a:off x="3711" y="2634"/>
              <a:ext cx="380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hit?</a:t>
              </a:r>
            </a:p>
          </p:txBody>
        </p:sp>
        <p:sp>
          <p:nvSpPr>
            <p:cNvPr id="1690647" name="Rectangle 23"/>
            <p:cNvSpPr>
              <a:spLocks noChangeArrowheads="1"/>
            </p:cNvSpPr>
            <p:nvPr/>
          </p:nvSpPr>
          <p:spPr bwMode="auto">
            <a:xfrm>
              <a:off x="4999" y="3106"/>
              <a:ext cx="455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Data</a:t>
              </a:r>
            </a:p>
          </p:txBody>
        </p:sp>
        <p:sp>
          <p:nvSpPr>
            <p:cNvPr id="1690648" name="Rectangle 24"/>
            <p:cNvSpPr>
              <a:spLocks noChangeArrowheads="1"/>
            </p:cNvSpPr>
            <p:nvPr/>
          </p:nvSpPr>
          <p:spPr bwMode="auto">
            <a:xfrm>
              <a:off x="4620" y="1930"/>
              <a:ext cx="430" cy="40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Phy.</a:t>
              </a:r>
            </a:p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Tag</a:t>
              </a:r>
            </a:p>
          </p:txBody>
        </p:sp>
        <p:sp>
          <p:nvSpPr>
            <p:cNvPr id="1690649" name="Freeform 25"/>
            <p:cNvSpPr>
              <a:spLocks/>
            </p:cNvSpPr>
            <p:nvPr/>
          </p:nvSpPr>
          <p:spPr bwMode="auto">
            <a:xfrm>
              <a:off x="480" y="2344"/>
              <a:ext cx="1921" cy="121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89" y="120"/>
                </a:cxn>
                <a:cxn ang="0">
                  <a:pos x="1863" y="120"/>
                </a:cxn>
                <a:cxn ang="0">
                  <a:pos x="1920" y="0"/>
                </a:cxn>
              </a:cxnLst>
              <a:rect l="0" t="0" r="r" b="b"/>
              <a:pathLst>
                <a:path w="1921" h="121">
                  <a:moveTo>
                    <a:pt x="0" y="9"/>
                  </a:moveTo>
                  <a:lnTo>
                    <a:pt x="89" y="120"/>
                  </a:lnTo>
                  <a:lnTo>
                    <a:pt x="1863" y="120"/>
                  </a:lnTo>
                  <a:lnTo>
                    <a:pt x="192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50" name="Rectangle 26"/>
            <p:cNvSpPr>
              <a:spLocks noChangeArrowheads="1"/>
            </p:cNvSpPr>
            <p:nvPr/>
          </p:nvSpPr>
          <p:spPr bwMode="auto">
            <a:xfrm>
              <a:off x="1191" y="2578"/>
              <a:ext cx="379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Tag</a:t>
              </a:r>
            </a:p>
          </p:txBody>
        </p:sp>
        <p:sp>
          <p:nvSpPr>
            <p:cNvPr id="1690651" name="Rectangle 27"/>
            <p:cNvSpPr>
              <a:spLocks noChangeArrowheads="1"/>
            </p:cNvSpPr>
            <p:nvPr/>
          </p:nvSpPr>
          <p:spPr bwMode="auto">
            <a:xfrm>
              <a:off x="192" y="960"/>
              <a:ext cx="333" cy="2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000">
                  <a:solidFill>
                    <a:srgbClr val="56127A"/>
                  </a:solidFill>
                  <a:latin typeface="Verdana" charset="0"/>
                </a:rPr>
                <a:t>VA</a:t>
              </a:r>
            </a:p>
          </p:txBody>
        </p:sp>
        <p:sp>
          <p:nvSpPr>
            <p:cNvPr id="1690652" name="Rectangle 28"/>
            <p:cNvSpPr>
              <a:spLocks noChangeArrowheads="1"/>
            </p:cNvSpPr>
            <p:nvPr/>
          </p:nvSpPr>
          <p:spPr bwMode="auto">
            <a:xfrm>
              <a:off x="144" y="2064"/>
              <a:ext cx="320" cy="2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000">
                  <a:solidFill>
                    <a:srgbClr val="56127A"/>
                  </a:solidFill>
                  <a:latin typeface="Verdana" charset="0"/>
                </a:rPr>
                <a:t>PA</a:t>
              </a:r>
            </a:p>
          </p:txBody>
        </p:sp>
        <p:sp>
          <p:nvSpPr>
            <p:cNvPr id="1690653" name="Freeform 29"/>
            <p:cNvSpPr>
              <a:spLocks/>
            </p:cNvSpPr>
            <p:nvPr/>
          </p:nvSpPr>
          <p:spPr bwMode="auto">
            <a:xfrm>
              <a:off x="2416" y="1224"/>
              <a:ext cx="1281" cy="81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60" y="80"/>
                </a:cxn>
                <a:cxn ang="0">
                  <a:pos x="1242" y="80"/>
                </a:cxn>
                <a:cxn ang="0">
                  <a:pos x="1280" y="0"/>
                </a:cxn>
              </a:cxnLst>
              <a:rect l="0" t="0" r="r" b="b"/>
              <a:pathLst>
                <a:path w="1281" h="81">
                  <a:moveTo>
                    <a:pt x="0" y="6"/>
                  </a:moveTo>
                  <a:lnTo>
                    <a:pt x="60" y="80"/>
                  </a:lnTo>
                  <a:lnTo>
                    <a:pt x="1242" y="80"/>
                  </a:lnTo>
                  <a:lnTo>
                    <a:pt x="128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54" name="Rectangle 30"/>
            <p:cNvSpPr>
              <a:spLocks noChangeArrowheads="1"/>
            </p:cNvSpPr>
            <p:nvPr/>
          </p:nvSpPr>
          <p:spPr bwMode="auto">
            <a:xfrm>
              <a:off x="5088" y="864"/>
              <a:ext cx="587" cy="40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Virtual</a:t>
              </a:r>
            </a:p>
            <a:p>
              <a:pPr algn="l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Index</a:t>
              </a:r>
            </a:p>
          </p:txBody>
        </p:sp>
        <p:sp>
          <p:nvSpPr>
            <p:cNvPr id="1690655" name="Freeform 31"/>
            <p:cNvSpPr>
              <a:spLocks/>
            </p:cNvSpPr>
            <p:nvPr/>
          </p:nvSpPr>
          <p:spPr bwMode="auto">
            <a:xfrm>
              <a:off x="2896" y="824"/>
              <a:ext cx="1184" cy="569"/>
            </a:xfrm>
            <a:custGeom>
              <a:avLst/>
              <a:gdLst/>
              <a:ahLst/>
              <a:cxnLst>
                <a:cxn ang="0">
                  <a:pos x="0" y="82"/>
                </a:cxn>
                <a:cxn ang="0">
                  <a:pos x="0" y="0"/>
                </a:cxn>
                <a:cxn ang="0">
                  <a:pos x="1288" y="0"/>
                </a:cxn>
                <a:cxn ang="0">
                  <a:pos x="1288" y="568"/>
                </a:cxn>
              </a:cxnLst>
              <a:rect l="0" t="0" r="r" b="b"/>
              <a:pathLst>
                <a:path w="1289" h="569">
                  <a:moveTo>
                    <a:pt x="0" y="82"/>
                  </a:moveTo>
                  <a:lnTo>
                    <a:pt x="0" y="0"/>
                  </a:lnTo>
                  <a:lnTo>
                    <a:pt x="1288" y="0"/>
                  </a:lnTo>
                  <a:lnTo>
                    <a:pt x="1288" y="56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56" name="Line 32"/>
            <p:cNvSpPr>
              <a:spLocks noChangeShapeType="1"/>
            </p:cNvSpPr>
            <p:nvPr/>
          </p:nvSpPr>
          <p:spPr bwMode="auto">
            <a:xfrm flipH="1">
              <a:off x="3000" y="1696"/>
              <a:ext cx="136" cy="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57" name="Rectangle 33"/>
            <p:cNvSpPr>
              <a:spLocks noChangeArrowheads="1"/>
            </p:cNvSpPr>
            <p:nvPr/>
          </p:nvSpPr>
          <p:spPr bwMode="auto">
            <a:xfrm>
              <a:off x="3143" y="1570"/>
              <a:ext cx="199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k</a:t>
              </a:r>
            </a:p>
          </p:txBody>
        </p:sp>
        <p:sp>
          <p:nvSpPr>
            <p:cNvPr id="1690658" name="Rectangle 34"/>
            <p:cNvSpPr>
              <a:spLocks noChangeArrowheads="1"/>
            </p:cNvSpPr>
            <p:nvPr/>
          </p:nvSpPr>
          <p:spPr bwMode="auto">
            <a:xfrm>
              <a:off x="4792" y="1408"/>
              <a:ext cx="792" cy="528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 sz="1600" dirty="0">
                  <a:latin typeface="Verdana" charset="0"/>
                </a:rPr>
                <a:t>Direct-map</a:t>
              </a:r>
            </a:p>
            <a:p>
              <a:pPr>
                <a:spcBef>
                  <a:spcPct val="0"/>
                </a:spcBef>
              </a:pPr>
              <a:r>
                <a:rPr lang="en-US" sz="1600" dirty="0">
                  <a:latin typeface="Verdana" charset="0"/>
                </a:rPr>
                <a:t>2</a:t>
              </a:r>
              <a:r>
                <a:rPr lang="en-US" sz="1600" baseline="30000" dirty="0">
                  <a:latin typeface="Verdana" charset="0"/>
                </a:rPr>
                <a:t>L</a:t>
              </a:r>
              <a:r>
                <a:rPr lang="en-US" sz="1600" baseline="-25000" dirty="0">
                  <a:latin typeface="Verdana" charset="0"/>
                </a:rPr>
                <a:t> </a:t>
              </a:r>
              <a:r>
                <a:rPr lang="en-US" sz="1600" dirty="0">
                  <a:latin typeface="Verdana" charset="0"/>
                </a:rPr>
                <a:t>blocks</a:t>
              </a:r>
            </a:p>
          </p:txBody>
        </p:sp>
        <p:sp>
          <p:nvSpPr>
            <p:cNvPr id="1690659" name="Freeform 35"/>
            <p:cNvSpPr>
              <a:spLocks/>
            </p:cNvSpPr>
            <p:nvPr/>
          </p:nvSpPr>
          <p:spPr bwMode="auto">
            <a:xfrm>
              <a:off x="4080" y="824"/>
              <a:ext cx="1008" cy="5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00" y="0"/>
                </a:cxn>
                <a:cxn ang="0">
                  <a:pos x="1000" y="576"/>
                </a:cxn>
              </a:cxnLst>
              <a:rect l="0" t="0" r="r" b="b"/>
              <a:pathLst>
                <a:path w="1001" h="577">
                  <a:moveTo>
                    <a:pt x="0" y="0"/>
                  </a:moveTo>
                  <a:lnTo>
                    <a:pt x="1000" y="0"/>
                  </a:lnTo>
                  <a:lnTo>
                    <a:pt x="1000" y="576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60" name="Line 36"/>
            <p:cNvSpPr>
              <a:spLocks noChangeShapeType="1"/>
            </p:cNvSpPr>
            <p:nvPr/>
          </p:nvSpPr>
          <p:spPr bwMode="auto">
            <a:xfrm>
              <a:off x="2102" y="2136"/>
              <a:ext cx="0" cy="196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61" name="Line 37"/>
            <p:cNvSpPr>
              <a:spLocks noChangeShapeType="1"/>
            </p:cNvSpPr>
            <p:nvPr/>
          </p:nvSpPr>
          <p:spPr bwMode="auto">
            <a:xfrm>
              <a:off x="2110" y="1000"/>
              <a:ext cx="0" cy="196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3" name="Group 38"/>
            <p:cNvGrpSpPr>
              <a:grpSpLocks/>
            </p:cNvGrpSpPr>
            <p:nvPr/>
          </p:nvGrpSpPr>
          <p:grpSpPr bwMode="auto">
            <a:xfrm>
              <a:off x="4552" y="962"/>
              <a:ext cx="283" cy="254"/>
              <a:chOff x="4600" y="866"/>
              <a:chExt cx="283" cy="254"/>
            </a:xfrm>
          </p:grpSpPr>
          <p:grpSp>
            <p:nvGrpSpPr>
              <p:cNvPr id="4" name="Group 39"/>
              <p:cNvGrpSpPr>
                <a:grpSpLocks/>
              </p:cNvGrpSpPr>
              <p:nvPr/>
            </p:nvGrpSpPr>
            <p:grpSpPr bwMode="auto">
              <a:xfrm>
                <a:off x="4600" y="1088"/>
                <a:ext cx="208" cy="32"/>
                <a:chOff x="4600" y="1088"/>
                <a:chExt cx="208" cy="32"/>
              </a:xfrm>
            </p:grpSpPr>
            <p:sp>
              <p:nvSpPr>
                <p:cNvPr id="1690664" name="Oval 40"/>
                <p:cNvSpPr>
                  <a:spLocks noChangeArrowheads="1"/>
                </p:cNvSpPr>
                <p:nvPr/>
              </p:nvSpPr>
              <p:spPr bwMode="auto">
                <a:xfrm>
                  <a:off x="4600" y="1088"/>
                  <a:ext cx="16" cy="32"/>
                </a:xfrm>
                <a:prstGeom prst="ellipse">
                  <a:avLst/>
                </a:prstGeom>
                <a:solidFill>
                  <a:schemeClr val="tx1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0665" name="Oval 41"/>
                <p:cNvSpPr>
                  <a:spLocks noChangeArrowheads="1"/>
                </p:cNvSpPr>
                <p:nvPr/>
              </p:nvSpPr>
              <p:spPr bwMode="auto">
                <a:xfrm>
                  <a:off x="4696" y="1088"/>
                  <a:ext cx="16" cy="32"/>
                </a:xfrm>
                <a:prstGeom prst="ellipse">
                  <a:avLst/>
                </a:prstGeom>
                <a:solidFill>
                  <a:schemeClr val="tx1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0666" name="Oval 42"/>
                <p:cNvSpPr>
                  <a:spLocks noChangeArrowheads="1"/>
                </p:cNvSpPr>
                <p:nvPr/>
              </p:nvSpPr>
              <p:spPr bwMode="auto">
                <a:xfrm>
                  <a:off x="4792" y="1088"/>
                  <a:ext cx="16" cy="32"/>
                </a:xfrm>
                <a:prstGeom prst="ellipse">
                  <a:avLst/>
                </a:prstGeom>
                <a:solidFill>
                  <a:schemeClr val="tx1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690667" name="Rectangle 43"/>
              <p:cNvSpPr>
                <a:spLocks noChangeArrowheads="1"/>
              </p:cNvSpPr>
              <p:nvPr/>
            </p:nvSpPr>
            <p:spPr bwMode="auto">
              <a:xfrm>
                <a:off x="4615" y="866"/>
                <a:ext cx="268" cy="229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1800">
                    <a:solidFill>
                      <a:srgbClr val="56127A"/>
                    </a:solidFill>
                    <a:latin typeface="Verdana" charset="0"/>
                  </a:rPr>
                  <a:t>2</a:t>
                </a:r>
                <a:r>
                  <a:rPr lang="en-US" sz="2000" baseline="40000">
                    <a:solidFill>
                      <a:srgbClr val="56127A"/>
                    </a:solidFill>
                    <a:latin typeface="Verdana" charset="0"/>
                  </a:rPr>
                  <a:t>a</a:t>
                </a:r>
              </a:p>
            </p:txBody>
          </p:sp>
        </p:grpSp>
        <p:sp>
          <p:nvSpPr>
            <p:cNvPr id="1690668" name="Line 44"/>
            <p:cNvSpPr>
              <a:spLocks noChangeShapeType="1"/>
            </p:cNvSpPr>
            <p:nvPr/>
          </p:nvSpPr>
          <p:spPr bwMode="auto">
            <a:xfrm>
              <a:off x="4072" y="1920"/>
              <a:ext cx="0" cy="4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69" name="Line 45"/>
            <p:cNvSpPr>
              <a:spLocks noChangeShapeType="1"/>
            </p:cNvSpPr>
            <p:nvPr/>
          </p:nvSpPr>
          <p:spPr bwMode="auto">
            <a:xfrm>
              <a:off x="4384" y="1920"/>
              <a:ext cx="0" cy="1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70" name="Line 46"/>
            <p:cNvSpPr>
              <a:spLocks noChangeShapeType="1"/>
            </p:cNvSpPr>
            <p:nvPr/>
          </p:nvSpPr>
          <p:spPr bwMode="auto">
            <a:xfrm>
              <a:off x="4912" y="3040"/>
              <a:ext cx="0" cy="3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71" name="Line 47"/>
            <p:cNvSpPr>
              <a:spLocks noChangeShapeType="1"/>
            </p:cNvSpPr>
            <p:nvPr/>
          </p:nvSpPr>
          <p:spPr bwMode="auto">
            <a:xfrm>
              <a:off x="4312" y="3032"/>
              <a:ext cx="11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72" name="Freeform 48"/>
            <p:cNvSpPr>
              <a:spLocks/>
            </p:cNvSpPr>
            <p:nvPr/>
          </p:nvSpPr>
          <p:spPr bwMode="auto">
            <a:xfrm>
              <a:off x="4272" y="2688"/>
              <a:ext cx="225" cy="16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4" y="0"/>
                </a:cxn>
                <a:cxn ang="0">
                  <a:pos x="112" y="160"/>
                </a:cxn>
                <a:cxn ang="0">
                  <a:pos x="0" y="0"/>
                </a:cxn>
              </a:cxnLst>
              <a:rect l="0" t="0" r="r" b="b"/>
              <a:pathLst>
                <a:path w="225" h="161">
                  <a:moveTo>
                    <a:pt x="0" y="0"/>
                  </a:moveTo>
                  <a:lnTo>
                    <a:pt x="224" y="0"/>
                  </a:lnTo>
                  <a:lnTo>
                    <a:pt x="112" y="16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73" name="Freeform 49"/>
            <p:cNvSpPr>
              <a:spLocks/>
            </p:cNvSpPr>
            <p:nvPr/>
          </p:nvSpPr>
          <p:spPr bwMode="auto">
            <a:xfrm>
              <a:off x="4104" y="2672"/>
              <a:ext cx="233" cy="9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6"/>
                </a:cxn>
                <a:cxn ang="0">
                  <a:pos x="232" y="96"/>
                </a:cxn>
              </a:cxnLst>
              <a:rect l="0" t="0" r="r" b="b"/>
              <a:pathLst>
                <a:path w="233" h="97">
                  <a:moveTo>
                    <a:pt x="0" y="0"/>
                  </a:moveTo>
                  <a:lnTo>
                    <a:pt x="0" y="96"/>
                  </a:lnTo>
                  <a:lnTo>
                    <a:pt x="232" y="96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74" name="Oval 50"/>
            <p:cNvSpPr>
              <a:spLocks noChangeArrowheads="1"/>
            </p:cNvSpPr>
            <p:nvPr/>
          </p:nvSpPr>
          <p:spPr bwMode="auto">
            <a:xfrm>
              <a:off x="4904" y="2392"/>
              <a:ext cx="288" cy="28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 sz="2400">
                  <a:solidFill>
                    <a:srgbClr val="56127A"/>
                  </a:solidFill>
                  <a:latin typeface="Verdana" charset="0"/>
                </a:rPr>
                <a:t>=</a:t>
              </a:r>
            </a:p>
          </p:txBody>
        </p:sp>
        <p:sp>
          <p:nvSpPr>
            <p:cNvPr id="1690675" name="Line 51"/>
            <p:cNvSpPr>
              <a:spLocks noChangeShapeType="1"/>
            </p:cNvSpPr>
            <p:nvPr/>
          </p:nvSpPr>
          <p:spPr bwMode="auto">
            <a:xfrm>
              <a:off x="5040" y="1944"/>
              <a:ext cx="0" cy="4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76" name="Line 52"/>
            <p:cNvSpPr>
              <a:spLocks noChangeShapeType="1"/>
            </p:cNvSpPr>
            <p:nvPr/>
          </p:nvSpPr>
          <p:spPr bwMode="auto">
            <a:xfrm>
              <a:off x="5352" y="1930"/>
              <a:ext cx="0" cy="11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77" name="Freeform 53"/>
            <p:cNvSpPr>
              <a:spLocks/>
            </p:cNvSpPr>
            <p:nvPr/>
          </p:nvSpPr>
          <p:spPr bwMode="auto">
            <a:xfrm>
              <a:off x="5240" y="2696"/>
              <a:ext cx="225" cy="16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4" y="0"/>
                </a:cxn>
                <a:cxn ang="0">
                  <a:pos x="112" y="160"/>
                </a:cxn>
                <a:cxn ang="0">
                  <a:pos x="0" y="0"/>
                </a:cxn>
              </a:cxnLst>
              <a:rect l="0" t="0" r="r" b="b"/>
              <a:pathLst>
                <a:path w="225" h="161">
                  <a:moveTo>
                    <a:pt x="0" y="0"/>
                  </a:moveTo>
                  <a:lnTo>
                    <a:pt x="224" y="0"/>
                  </a:lnTo>
                  <a:lnTo>
                    <a:pt x="112" y="16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78" name="Freeform 54"/>
            <p:cNvSpPr>
              <a:spLocks/>
            </p:cNvSpPr>
            <p:nvPr/>
          </p:nvSpPr>
          <p:spPr bwMode="auto">
            <a:xfrm>
              <a:off x="5072" y="2680"/>
              <a:ext cx="233" cy="9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6"/>
                </a:cxn>
                <a:cxn ang="0">
                  <a:pos x="232" y="96"/>
                </a:cxn>
              </a:cxnLst>
              <a:rect l="0" t="0" r="r" b="b"/>
              <a:pathLst>
                <a:path w="233" h="97">
                  <a:moveTo>
                    <a:pt x="0" y="0"/>
                  </a:moveTo>
                  <a:lnTo>
                    <a:pt x="0" y="96"/>
                  </a:lnTo>
                  <a:lnTo>
                    <a:pt x="232" y="96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5" name="Group 55"/>
            <p:cNvGrpSpPr>
              <a:grpSpLocks/>
            </p:cNvGrpSpPr>
            <p:nvPr/>
          </p:nvGrpSpPr>
          <p:grpSpPr bwMode="auto">
            <a:xfrm>
              <a:off x="4664" y="2904"/>
              <a:ext cx="208" cy="32"/>
              <a:chOff x="4712" y="2808"/>
              <a:chExt cx="208" cy="32"/>
            </a:xfrm>
          </p:grpSpPr>
          <p:sp>
            <p:nvSpPr>
              <p:cNvPr id="1690680" name="Oval 56"/>
              <p:cNvSpPr>
                <a:spLocks noChangeArrowheads="1"/>
              </p:cNvSpPr>
              <p:nvPr/>
            </p:nvSpPr>
            <p:spPr bwMode="auto">
              <a:xfrm>
                <a:off x="4712" y="2808"/>
                <a:ext cx="16" cy="32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90681" name="Oval 57"/>
              <p:cNvSpPr>
                <a:spLocks noChangeArrowheads="1"/>
              </p:cNvSpPr>
              <p:nvPr/>
            </p:nvSpPr>
            <p:spPr bwMode="auto">
              <a:xfrm>
                <a:off x="4808" y="2808"/>
                <a:ext cx="16" cy="32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90682" name="Oval 58"/>
              <p:cNvSpPr>
                <a:spLocks noChangeArrowheads="1"/>
              </p:cNvSpPr>
              <p:nvPr/>
            </p:nvSpPr>
            <p:spPr bwMode="auto">
              <a:xfrm>
                <a:off x="4904" y="2808"/>
                <a:ext cx="16" cy="32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690683" name="Rectangle 59"/>
            <p:cNvSpPr>
              <a:spLocks noChangeArrowheads="1"/>
            </p:cNvSpPr>
            <p:nvPr/>
          </p:nvSpPr>
          <p:spPr bwMode="auto">
            <a:xfrm>
              <a:off x="4679" y="2682"/>
              <a:ext cx="268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2</a:t>
              </a:r>
              <a:r>
                <a:rPr lang="en-US" sz="2000" baseline="40000">
                  <a:solidFill>
                    <a:srgbClr val="56127A"/>
                  </a:solidFill>
                  <a:latin typeface="Verdana" charset="0"/>
                </a:rPr>
                <a:t>a</a:t>
              </a:r>
            </a:p>
          </p:txBody>
        </p:sp>
        <p:grpSp>
          <p:nvGrpSpPr>
            <p:cNvPr id="6" name="Group 60"/>
            <p:cNvGrpSpPr>
              <a:grpSpLocks/>
            </p:cNvGrpSpPr>
            <p:nvPr/>
          </p:nvGrpSpPr>
          <p:grpSpPr bwMode="auto">
            <a:xfrm>
              <a:off x="4312" y="2528"/>
              <a:ext cx="208" cy="32"/>
              <a:chOff x="4360" y="2432"/>
              <a:chExt cx="208" cy="32"/>
            </a:xfrm>
          </p:grpSpPr>
          <p:sp>
            <p:nvSpPr>
              <p:cNvPr id="1690685" name="Oval 61"/>
              <p:cNvSpPr>
                <a:spLocks noChangeArrowheads="1"/>
              </p:cNvSpPr>
              <p:nvPr/>
            </p:nvSpPr>
            <p:spPr bwMode="auto">
              <a:xfrm>
                <a:off x="4360" y="2432"/>
                <a:ext cx="16" cy="32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90686" name="Oval 62"/>
              <p:cNvSpPr>
                <a:spLocks noChangeArrowheads="1"/>
              </p:cNvSpPr>
              <p:nvPr/>
            </p:nvSpPr>
            <p:spPr bwMode="auto">
              <a:xfrm>
                <a:off x="4456" y="2432"/>
                <a:ext cx="16" cy="32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90687" name="Oval 63"/>
              <p:cNvSpPr>
                <a:spLocks noChangeArrowheads="1"/>
              </p:cNvSpPr>
              <p:nvPr/>
            </p:nvSpPr>
            <p:spPr bwMode="auto">
              <a:xfrm>
                <a:off x="4552" y="2432"/>
                <a:ext cx="16" cy="32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690688" name="Rectangle 64"/>
          <p:cNvSpPr>
            <a:spLocks noChangeArrowheads="1"/>
          </p:cNvSpPr>
          <p:nvPr/>
        </p:nvSpPr>
        <p:spPr bwMode="auto">
          <a:xfrm>
            <a:off x="228600" y="5286375"/>
            <a:ext cx="8545513" cy="4540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>
                <a:latin typeface="Verdana" charset="0"/>
              </a:rPr>
              <a:t>After the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 PPN</a:t>
            </a:r>
            <a:r>
              <a:rPr lang="en-US" sz="2400">
                <a:solidFill>
                  <a:schemeClr val="accent2"/>
                </a:solidFill>
                <a:latin typeface="Verdana" charset="0"/>
              </a:rPr>
              <a:t> </a:t>
            </a:r>
            <a:r>
              <a:rPr lang="en-US" sz="2400">
                <a:latin typeface="Verdana" charset="0"/>
              </a:rPr>
              <a:t>is known, 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2</a:t>
            </a:r>
            <a:r>
              <a:rPr lang="en-US" sz="2400" baseline="40000">
                <a:solidFill>
                  <a:srgbClr val="56127A"/>
                </a:solidFill>
                <a:latin typeface="Verdana" charset="0"/>
              </a:rPr>
              <a:t>a</a:t>
            </a:r>
            <a:r>
              <a:rPr lang="en-US" sz="2400">
                <a:latin typeface="Verdana" charset="0"/>
              </a:rPr>
              <a:t> physical tags are compared</a:t>
            </a:r>
          </a:p>
        </p:txBody>
      </p:sp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6E3C-7EFC-4A44-B733-FC667A234790}" type="slidenum">
              <a:rPr lang="en-US"/>
              <a:pPr/>
              <a:t>83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94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6896100" cy="762000"/>
          </a:xfrm>
          <a:noFill/>
          <a:ln/>
        </p:spPr>
        <p:txBody>
          <a:bodyPr lIns="90488" tIns="44450" rIns="90488" bIns="44450"/>
          <a:lstStyle/>
          <a:p>
            <a:r>
              <a:rPr lang="en-US" sz="2000"/>
              <a:t>A solution via </a:t>
            </a:r>
            <a:r>
              <a:rPr lang="en-US" sz="3200"/>
              <a:t>Second Level Cache</a:t>
            </a:r>
          </a:p>
        </p:txBody>
      </p:sp>
      <p:sp>
        <p:nvSpPr>
          <p:cNvPr id="1694723" name="Rectangle 3"/>
          <p:cNvSpPr>
            <a:spLocks noChangeArrowheads="1"/>
          </p:cNvSpPr>
          <p:nvPr/>
        </p:nvSpPr>
        <p:spPr bwMode="auto">
          <a:xfrm>
            <a:off x="381000" y="4114800"/>
            <a:ext cx="8305800" cy="187487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dirty="0">
                <a:latin typeface="Verdana" charset="0"/>
              </a:rPr>
              <a:t>Usually, a common L2 cache backs up both Instruction and Data L1 caches</a:t>
            </a:r>
          </a:p>
          <a:p>
            <a:pPr algn="l">
              <a:spcBef>
                <a:spcPct val="0"/>
              </a:spcBef>
            </a:pPr>
            <a:endParaRPr lang="en-US" sz="2400" dirty="0">
              <a:latin typeface="Verdana" charset="0"/>
            </a:endParaRPr>
          </a:p>
          <a:p>
            <a:pPr algn="l">
              <a:spcBef>
                <a:spcPct val="0"/>
              </a:spcBef>
            </a:pPr>
            <a:r>
              <a:rPr lang="en-US" sz="2400" dirty="0">
                <a:latin typeface="Verdana" charset="0"/>
              </a:rPr>
              <a:t>L2 is “inclusive” of both Instruction and Data caches</a:t>
            </a:r>
          </a:p>
          <a:p>
            <a:pPr lvl="1" algn="l"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latin typeface="Verdana" charset="0"/>
              </a:rPr>
              <a:t> Inclusive means L2 has copy of any line in either L1</a:t>
            </a:r>
          </a:p>
        </p:txBody>
      </p:sp>
      <p:sp>
        <p:nvSpPr>
          <p:cNvPr id="1694724" name="Rectangle 4"/>
          <p:cNvSpPr>
            <a:spLocks noChangeArrowheads="1"/>
          </p:cNvSpPr>
          <p:nvPr/>
        </p:nvSpPr>
        <p:spPr bwMode="auto">
          <a:xfrm>
            <a:off x="457200" y="1524000"/>
            <a:ext cx="1016000" cy="2133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CPU</a:t>
            </a:r>
          </a:p>
        </p:txBody>
      </p:sp>
      <p:sp>
        <p:nvSpPr>
          <p:cNvPr id="1694725" name="Rectangle 5" descr="40%"/>
          <p:cNvSpPr>
            <a:spLocks noChangeArrowheads="1"/>
          </p:cNvSpPr>
          <p:nvPr/>
        </p:nvSpPr>
        <p:spPr bwMode="auto">
          <a:xfrm>
            <a:off x="2133600" y="2743200"/>
            <a:ext cx="1600200" cy="927100"/>
          </a:xfrm>
          <a:prstGeom prst="rect">
            <a:avLst/>
          </a:prstGeom>
          <a:pattFill prst="pct40">
            <a:fgClr>
              <a:schemeClr val="accent1"/>
            </a:fgClr>
            <a:bgClr>
              <a:srgbClr val="FFFFFF"/>
            </a:bgClr>
          </a:pattFill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L1 Data Cache</a:t>
            </a:r>
            <a:endParaRPr lang="en-US" sz="2400">
              <a:latin typeface="Verdana" charset="0"/>
            </a:endParaRPr>
          </a:p>
        </p:txBody>
      </p:sp>
      <p:sp>
        <p:nvSpPr>
          <p:cNvPr id="1694726" name="Line 6"/>
          <p:cNvSpPr>
            <a:spLocks noChangeShapeType="1"/>
          </p:cNvSpPr>
          <p:nvPr/>
        </p:nvSpPr>
        <p:spPr bwMode="auto">
          <a:xfrm flipH="1" flipV="1">
            <a:off x="1447800" y="1981200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4727" name="Line 7"/>
          <p:cNvSpPr>
            <a:spLocks noChangeShapeType="1"/>
          </p:cNvSpPr>
          <p:nvPr/>
        </p:nvSpPr>
        <p:spPr bwMode="auto">
          <a:xfrm flipH="1" flipV="1">
            <a:off x="1447800" y="3200400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4728" name="Rectangle 8" descr="40%"/>
          <p:cNvSpPr>
            <a:spLocks noChangeArrowheads="1"/>
          </p:cNvSpPr>
          <p:nvPr/>
        </p:nvSpPr>
        <p:spPr bwMode="auto">
          <a:xfrm>
            <a:off x="2133600" y="1524000"/>
            <a:ext cx="1600200" cy="914400"/>
          </a:xfrm>
          <a:prstGeom prst="rect">
            <a:avLst/>
          </a:prstGeom>
          <a:pattFill prst="pct40">
            <a:fgClr>
              <a:schemeClr val="accent1"/>
            </a:fgClr>
            <a:bgClr>
              <a:srgbClr val="FFFFFF"/>
            </a:bgClr>
          </a:pattFill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L1 Instruction Cache</a:t>
            </a:r>
          </a:p>
        </p:txBody>
      </p:sp>
      <p:sp>
        <p:nvSpPr>
          <p:cNvPr id="1694729" name="Rectangle 9"/>
          <p:cNvSpPr>
            <a:spLocks noChangeArrowheads="1"/>
          </p:cNvSpPr>
          <p:nvPr/>
        </p:nvSpPr>
        <p:spPr bwMode="auto">
          <a:xfrm>
            <a:off x="4648200" y="1524000"/>
            <a:ext cx="1524000" cy="213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Unified L2 Cache</a:t>
            </a:r>
          </a:p>
        </p:txBody>
      </p:sp>
      <p:sp>
        <p:nvSpPr>
          <p:cNvPr id="1694730" name="Freeform 10"/>
          <p:cNvSpPr>
            <a:spLocks/>
          </p:cNvSpPr>
          <p:nvPr/>
        </p:nvSpPr>
        <p:spPr bwMode="auto">
          <a:xfrm>
            <a:off x="3733800" y="1981200"/>
            <a:ext cx="914400" cy="6096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88" y="0"/>
              </a:cxn>
              <a:cxn ang="0">
                <a:pos x="288" y="384"/>
              </a:cxn>
              <a:cxn ang="0">
                <a:pos x="576" y="384"/>
              </a:cxn>
            </a:cxnLst>
            <a:rect l="0" t="0" r="r" b="b"/>
            <a:pathLst>
              <a:path w="576" h="384">
                <a:moveTo>
                  <a:pt x="0" y="0"/>
                </a:moveTo>
                <a:lnTo>
                  <a:pt x="288" y="0"/>
                </a:lnTo>
                <a:lnTo>
                  <a:pt x="288" y="384"/>
                </a:lnTo>
                <a:lnTo>
                  <a:pt x="576" y="384"/>
                </a:lnTo>
              </a:path>
            </a:pathLst>
          </a:custGeom>
          <a:noFill/>
          <a:ln w="5080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4731" name="Freeform 11"/>
          <p:cNvSpPr>
            <a:spLocks/>
          </p:cNvSpPr>
          <p:nvPr/>
        </p:nvSpPr>
        <p:spPr bwMode="auto">
          <a:xfrm>
            <a:off x="3733800" y="2590800"/>
            <a:ext cx="457200" cy="609600"/>
          </a:xfrm>
          <a:custGeom>
            <a:avLst/>
            <a:gdLst/>
            <a:ahLst/>
            <a:cxnLst>
              <a:cxn ang="0">
                <a:pos x="288" y="0"/>
              </a:cxn>
              <a:cxn ang="0">
                <a:pos x="288" y="384"/>
              </a:cxn>
              <a:cxn ang="0">
                <a:pos x="0" y="384"/>
              </a:cxn>
            </a:cxnLst>
            <a:rect l="0" t="0" r="r" b="b"/>
            <a:pathLst>
              <a:path w="288" h="384">
                <a:moveTo>
                  <a:pt x="288" y="0"/>
                </a:moveTo>
                <a:lnTo>
                  <a:pt x="288" y="384"/>
                </a:lnTo>
                <a:lnTo>
                  <a:pt x="0" y="384"/>
                </a:lnTo>
              </a:path>
            </a:pathLst>
          </a:custGeom>
          <a:noFill/>
          <a:ln w="508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4732" name="Rectangle 12"/>
          <p:cNvSpPr>
            <a:spLocks noChangeArrowheads="1"/>
          </p:cNvSpPr>
          <p:nvPr/>
        </p:nvSpPr>
        <p:spPr bwMode="auto">
          <a:xfrm>
            <a:off x="609600" y="2895600"/>
            <a:ext cx="685800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RF</a:t>
            </a:r>
          </a:p>
        </p:txBody>
      </p:sp>
      <p:sp>
        <p:nvSpPr>
          <p:cNvPr id="1694733" name="Line 13"/>
          <p:cNvSpPr>
            <a:spLocks noChangeShapeType="1"/>
          </p:cNvSpPr>
          <p:nvPr/>
        </p:nvSpPr>
        <p:spPr bwMode="auto">
          <a:xfrm>
            <a:off x="6705600" y="1828800"/>
            <a:ext cx="0" cy="1600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4734" name="Rectangle 14"/>
          <p:cNvSpPr>
            <a:spLocks noChangeArrowheads="1"/>
          </p:cNvSpPr>
          <p:nvPr/>
        </p:nvSpPr>
        <p:spPr bwMode="auto">
          <a:xfrm>
            <a:off x="7327900" y="3124200"/>
            <a:ext cx="1270000" cy="3683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Memory</a:t>
            </a:r>
          </a:p>
        </p:txBody>
      </p:sp>
      <p:sp>
        <p:nvSpPr>
          <p:cNvPr id="1694735" name="Line 15"/>
          <p:cNvSpPr>
            <a:spLocks noChangeShapeType="1"/>
          </p:cNvSpPr>
          <p:nvPr/>
        </p:nvSpPr>
        <p:spPr bwMode="auto">
          <a:xfrm flipH="1">
            <a:off x="6705600" y="3302000"/>
            <a:ext cx="6223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4736" name="Rectangle 16"/>
          <p:cNvSpPr>
            <a:spLocks noChangeArrowheads="1"/>
          </p:cNvSpPr>
          <p:nvPr/>
        </p:nvSpPr>
        <p:spPr bwMode="auto">
          <a:xfrm>
            <a:off x="7327900" y="2667000"/>
            <a:ext cx="1270000" cy="3683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Memory</a:t>
            </a:r>
          </a:p>
        </p:txBody>
      </p:sp>
      <p:sp>
        <p:nvSpPr>
          <p:cNvPr id="1694737" name="Line 17"/>
          <p:cNvSpPr>
            <a:spLocks noChangeShapeType="1"/>
          </p:cNvSpPr>
          <p:nvPr/>
        </p:nvSpPr>
        <p:spPr bwMode="auto">
          <a:xfrm flipH="1">
            <a:off x="6705600" y="2844800"/>
            <a:ext cx="6223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4738" name="Rectangle 18"/>
          <p:cNvSpPr>
            <a:spLocks noChangeArrowheads="1"/>
          </p:cNvSpPr>
          <p:nvPr/>
        </p:nvSpPr>
        <p:spPr bwMode="auto">
          <a:xfrm>
            <a:off x="7327900" y="2209800"/>
            <a:ext cx="1270000" cy="3683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Memory</a:t>
            </a:r>
          </a:p>
        </p:txBody>
      </p:sp>
      <p:sp>
        <p:nvSpPr>
          <p:cNvPr id="1694739" name="Line 19"/>
          <p:cNvSpPr>
            <a:spLocks noChangeShapeType="1"/>
          </p:cNvSpPr>
          <p:nvPr/>
        </p:nvSpPr>
        <p:spPr bwMode="auto">
          <a:xfrm flipH="1">
            <a:off x="6705600" y="2387600"/>
            <a:ext cx="638175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4740" name="Rectangle 20"/>
          <p:cNvSpPr>
            <a:spLocks noChangeArrowheads="1"/>
          </p:cNvSpPr>
          <p:nvPr/>
        </p:nvSpPr>
        <p:spPr bwMode="auto">
          <a:xfrm>
            <a:off x="7327900" y="1752600"/>
            <a:ext cx="1270000" cy="3683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Memory</a:t>
            </a:r>
          </a:p>
        </p:txBody>
      </p:sp>
      <p:sp>
        <p:nvSpPr>
          <p:cNvPr id="1694741" name="Line 21"/>
          <p:cNvSpPr>
            <a:spLocks noChangeShapeType="1"/>
          </p:cNvSpPr>
          <p:nvPr/>
        </p:nvSpPr>
        <p:spPr bwMode="auto">
          <a:xfrm flipH="1">
            <a:off x="6705600" y="1930400"/>
            <a:ext cx="638175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4742" name="Line 22"/>
          <p:cNvSpPr>
            <a:spLocks noChangeShapeType="1"/>
          </p:cNvSpPr>
          <p:nvPr/>
        </p:nvSpPr>
        <p:spPr bwMode="auto">
          <a:xfrm>
            <a:off x="6172200" y="2590800"/>
            <a:ext cx="5334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BA104-2C28-1D4F-83A0-F9811EA0D286}" type="slidenum">
              <a:rPr lang="en-US"/>
              <a:pPr/>
              <a:t>84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95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76200"/>
            <a:ext cx="8458200" cy="1004888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Anti-Aliasing Using L2: </a:t>
            </a:r>
            <a:r>
              <a:rPr lang="en-US" sz="2400" i="1"/>
              <a:t>MIPS R10000</a:t>
            </a:r>
          </a:p>
        </p:txBody>
      </p:sp>
      <p:sp>
        <p:nvSpPr>
          <p:cNvPr id="1695747" name="Line 3"/>
          <p:cNvSpPr>
            <a:spLocks noChangeShapeType="1"/>
          </p:cNvSpPr>
          <p:nvPr/>
        </p:nvSpPr>
        <p:spPr bwMode="auto">
          <a:xfrm>
            <a:off x="5551488" y="3149600"/>
            <a:ext cx="0" cy="311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48" name="Rectangle 4"/>
          <p:cNvSpPr>
            <a:spLocks noChangeArrowheads="1"/>
          </p:cNvSpPr>
          <p:nvPr/>
        </p:nvSpPr>
        <p:spPr bwMode="auto">
          <a:xfrm>
            <a:off x="850900" y="1446213"/>
            <a:ext cx="2997200" cy="342900"/>
          </a:xfrm>
          <a:prstGeom prst="rect">
            <a:avLst/>
          </a:prstGeom>
          <a:solidFill>
            <a:srgbClr val="FFCC66"/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49" name="Rectangle 5"/>
          <p:cNvSpPr>
            <a:spLocks noChangeArrowheads="1"/>
          </p:cNvSpPr>
          <p:nvPr/>
        </p:nvSpPr>
        <p:spPr bwMode="auto">
          <a:xfrm>
            <a:off x="866775" y="1446213"/>
            <a:ext cx="5051425" cy="330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               VPN 	         a    Page Offset    b</a:t>
            </a:r>
          </a:p>
        </p:txBody>
      </p:sp>
      <p:sp>
        <p:nvSpPr>
          <p:cNvPr id="1695750" name="Line 6"/>
          <p:cNvSpPr>
            <a:spLocks noChangeShapeType="1"/>
          </p:cNvSpPr>
          <p:nvPr/>
        </p:nvSpPr>
        <p:spPr bwMode="auto">
          <a:xfrm>
            <a:off x="3848100" y="1458913"/>
            <a:ext cx="0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51" name="Freeform 7"/>
          <p:cNvSpPr>
            <a:spLocks/>
          </p:cNvSpPr>
          <p:nvPr/>
        </p:nvSpPr>
        <p:spPr bwMode="auto">
          <a:xfrm>
            <a:off x="3390900" y="1306513"/>
            <a:ext cx="2109788" cy="103187"/>
          </a:xfrm>
          <a:custGeom>
            <a:avLst/>
            <a:gdLst/>
            <a:ahLst/>
            <a:cxnLst>
              <a:cxn ang="0">
                <a:pos x="0" y="59"/>
              </a:cxn>
              <a:cxn ang="0">
                <a:pos x="62" y="0"/>
              </a:cxn>
              <a:cxn ang="0">
                <a:pos x="1289" y="0"/>
              </a:cxn>
              <a:cxn ang="0">
                <a:pos x="1328" y="64"/>
              </a:cxn>
            </a:cxnLst>
            <a:rect l="0" t="0" r="r" b="b"/>
            <a:pathLst>
              <a:path w="1329" h="65">
                <a:moveTo>
                  <a:pt x="0" y="59"/>
                </a:moveTo>
                <a:lnTo>
                  <a:pt x="62" y="0"/>
                </a:lnTo>
                <a:lnTo>
                  <a:pt x="1289" y="0"/>
                </a:lnTo>
                <a:lnTo>
                  <a:pt x="1328" y="64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52" name="Rectangle 8"/>
          <p:cNvSpPr>
            <a:spLocks noChangeArrowheads="1"/>
          </p:cNvSpPr>
          <p:nvPr/>
        </p:nvSpPr>
        <p:spPr bwMode="auto">
          <a:xfrm>
            <a:off x="1828800" y="2133600"/>
            <a:ext cx="1333500" cy="620713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400">
                <a:latin typeface="Verdana" charset="0"/>
              </a:rPr>
              <a:t>TLB</a:t>
            </a:r>
          </a:p>
        </p:txBody>
      </p:sp>
      <p:sp>
        <p:nvSpPr>
          <p:cNvPr id="1695753" name="Line 9"/>
          <p:cNvSpPr>
            <a:spLocks noChangeShapeType="1"/>
          </p:cNvSpPr>
          <p:nvPr/>
        </p:nvSpPr>
        <p:spPr bwMode="auto">
          <a:xfrm flipH="1">
            <a:off x="2438400" y="2743200"/>
            <a:ext cx="1588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54" name="Rectangle 10"/>
          <p:cNvSpPr>
            <a:spLocks noChangeArrowheads="1"/>
          </p:cNvSpPr>
          <p:nvPr/>
        </p:nvSpPr>
        <p:spPr bwMode="auto">
          <a:xfrm>
            <a:off x="6977063" y="1816100"/>
            <a:ext cx="1803400" cy="12573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55" name="Rectangle 11"/>
          <p:cNvSpPr>
            <a:spLocks noChangeArrowheads="1"/>
          </p:cNvSpPr>
          <p:nvPr/>
        </p:nvSpPr>
        <p:spPr bwMode="auto">
          <a:xfrm>
            <a:off x="817563" y="3124200"/>
            <a:ext cx="2997200" cy="342900"/>
          </a:xfrm>
          <a:prstGeom prst="rect">
            <a:avLst/>
          </a:prstGeom>
          <a:solidFill>
            <a:srgbClr val="FFCC66"/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56" name="Rectangle 12"/>
          <p:cNvSpPr>
            <a:spLocks noChangeArrowheads="1"/>
          </p:cNvSpPr>
          <p:nvPr/>
        </p:nvSpPr>
        <p:spPr bwMode="auto">
          <a:xfrm>
            <a:off x="833438" y="3124200"/>
            <a:ext cx="5153025" cy="330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                PPN 		    Page Offset     b</a:t>
            </a:r>
          </a:p>
        </p:txBody>
      </p:sp>
      <p:sp>
        <p:nvSpPr>
          <p:cNvPr id="1695757" name="Line 13"/>
          <p:cNvSpPr>
            <a:spLocks noChangeShapeType="1"/>
          </p:cNvSpPr>
          <p:nvPr/>
        </p:nvSpPr>
        <p:spPr bwMode="auto">
          <a:xfrm>
            <a:off x="3814763" y="3136900"/>
            <a:ext cx="0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58" name="Line 14"/>
          <p:cNvSpPr>
            <a:spLocks noChangeShapeType="1"/>
          </p:cNvSpPr>
          <p:nvPr/>
        </p:nvSpPr>
        <p:spPr bwMode="auto">
          <a:xfrm>
            <a:off x="2489200" y="1770063"/>
            <a:ext cx="0" cy="3635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59" name="Freeform 15"/>
          <p:cNvSpPr>
            <a:spLocks/>
          </p:cNvSpPr>
          <p:nvPr/>
        </p:nvSpPr>
        <p:spPr bwMode="auto">
          <a:xfrm>
            <a:off x="842963" y="3492500"/>
            <a:ext cx="2971800" cy="141288"/>
          </a:xfrm>
          <a:custGeom>
            <a:avLst/>
            <a:gdLst/>
            <a:ahLst/>
            <a:cxnLst>
              <a:cxn ang="0">
                <a:pos x="0" y="7"/>
              </a:cxn>
              <a:cxn ang="0">
                <a:pos x="138" y="88"/>
              </a:cxn>
              <a:cxn ang="0">
                <a:pos x="2864" y="88"/>
              </a:cxn>
              <a:cxn ang="0">
                <a:pos x="2952" y="0"/>
              </a:cxn>
            </a:cxnLst>
            <a:rect l="0" t="0" r="r" b="b"/>
            <a:pathLst>
              <a:path w="2953" h="89">
                <a:moveTo>
                  <a:pt x="0" y="7"/>
                </a:moveTo>
                <a:lnTo>
                  <a:pt x="138" y="88"/>
                </a:lnTo>
                <a:lnTo>
                  <a:pt x="2864" y="88"/>
                </a:lnTo>
                <a:lnTo>
                  <a:pt x="2952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60" name="Rectangle 16"/>
          <p:cNvSpPr>
            <a:spLocks noChangeArrowheads="1"/>
          </p:cNvSpPr>
          <p:nvPr/>
        </p:nvSpPr>
        <p:spPr bwMode="auto">
          <a:xfrm>
            <a:off x="1981200" y="3733800"/>
            <a:ext cx="601663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Tag</a:t>
            </a:r>
          </a:p>
        </p:txBody>
      </p:sp>
      <p:sp>
        <p:nvSpPr>
          <p:cNvPr id="1695761" name="Rectangle 17"/>
          <p:cNvSpPr>
            <a:spLocks noChangeArrowheads="1"/>
          </p:cNvSpPr>
          <p:nvPr/>
        </p:nvSpPr>
        <p:spPr bwMode="auto">
          <a:xfrm>
            <a:off x="223838" y="1420813"/>
            <a:ext cx="528637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VA</a:t>
            </a:r>
          </a:p>
        </p:txBody>
      </p:sp>
      <p:sp>
        <p:nvSpPr>
          <p:cNvPr id="1695762" name="Rectangle 18"/>
          <p:cNvSpPr>
            <a:spLocks noChangeArrowheads="1"/>
          </p:cNvSpPr>
          <p:nvPr/>
        </p:nvSpPr>
        <p:spPr bwMode="auto">
          <a:xfrm>
            <a:off x="228600" y="3124200"/>
            <a:ext cx="508000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PA</a:t>
            </a:r>
          </a:p>
        </p:txBody>
      </p:sp>
      <p:sp>
        <p:nvSpPr>
          <p:cNvPr id="1695763" name="Rectangle 19"/>
          <p:cNvSpPr>
            <a:spLocks noChangeArrowheads="1"/>
          </p:cNvSpPr>
          <p:nvPr/>
        </p:nvSpPr>
        <p:spPr bwMode="auto">
          <a:xfrm>
            <a:off x="5410200" y="1084263"/>
            <a:ext cx="1831975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Virtual Index</a:t>
            </a:r>
          </a:p>
        </p:txBody>
      </p:sp>
      <p:sp>
        <p:nvSpPr>
          <p:cNvPr id="1695764" name="Freeform 20"/>
          <p:cNvSpPr>
            <a:spLocks/>
          </p:cNvSpPr>
          <p:nvPr/>
        </p:nvSpPr>
        <p:spPr bwMode="auto">
          <a:xfrm>
            <a:off x="4538663" y="1143000"/>
            <a:ext cx="2700337" cy="661988"/>
          </a:xfrm>
          <a:custGeom>
            <a:avLst/>
            <a:gdLst/>
            <a:ahLst/>
            <a:cxnLst>
              <a:cxn ang="0">
                <a:pos x="0" y="74"/>
              </a:cxn>
              <a:cxn ang="0">
                <a:pos x="0" y="0"/>
              </a:cxn>
              <a:cxn ang="0">
                <a:pos x="1752" y="0"/>
              </a:cxn>
              <a:cxn ang="0">
                <a:pos x="1752" y="512"/>
              </a:cxn>
            </a:cxnLst>
            <a:rect l="0" t="0" r="r" b="b"/>
            <a:pathLst>
              <a:path w="1753" h="513">
                <a:moveTo>
                  <a:pt x="0" y="74"/>
                </a:moveTo>
                <a:lnTo>
                  <a:pt x="0" y="0"/>
                </a:lnTo>
                <a:lnTo>
                  <a:pt x="1752" y="0"/>
                </a:lnTo>
                <a:lnTo>
                  <a:pt x="1752" y="512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65" name="Line 21"/>
          <p:cNvSpPr>
            <a:spLocks noChangeShapeType="1"/>
          </p:cNvSpPr>
          <p:nvPr/>
        </p:nvSpPr>
        <p:spPr bwMode="auto">
          <a:xfrm>
            <a:off x="5521325" y="1458913"/>
            <a:ext cx="0" cy="311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66" name="Rectangle 22"/>
          <p:cNvSpPr>
            <a:spLocks noChangeArrowheads="1"/>
          </p:cNvSpPr>
          <p:nvPr/>
        </p:nvSpPr>
        <p:spPr bwMode="auto">
          <a:xfrm>
            <a:off x="7315200" y="1066800"/>
            <a:ext cx="1719263" cy="6985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L1 PA cache</a:t>
            </a:r>
          </a:p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Direct-map</a:t>
            </a:r>
          </a:p>
        </p:txBody>
      </p:sp>
      <p:sp>
        <p:nvSpPr>
          <p:cNvPr id="1695767" name="Line 23"/>
          <p:cNvSpPr>
            <a:spLocks noChangeShapeType="1"/>
          </p:cNvSpPr>
          <p:nvPr/>
        </p:nvSpPr>
        <p:spPr bwMode="auto">
          <a:xfrm>
            <a:off x="7696200" y="1828800"/>
            <a:ext cx="0" cy="1244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68" name="Line 24"/>
          <p:cNvSpPr>
            <a:spLocks noChangeShapeType="1"/>
          </p:cNvSpPr>
          <p:nvPr/>
        </p:nvSpPr>
        <p:spPr bwMode="auto">
          <a:xfrm>
            <a:off x="3378200" y="1446213"/>
            <a:ext cx="0" cy="3302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69" name="Oval 25"/>
          <p:cNvSpPr>
            <a:spLocks noChangeArrowheads="1"/>
          </p:cNvSpPr>
          <p:nvPr/>
        </p:nvSpPr>
        <p:spPr bwMode="auto">
          <a:xfrm>
            <a:off x="7142163" y="3530600"/>
            <a:ext cx="457200" cy="4445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400">
                <a:latin typeface="Verdana" charset="0"/>
              </a:rPr>
              <a:t>=</a:t>
            </a:r>
          </a:p>
        </p:txBody>
      </p:sp>
      <p:sp>
        <p:nvSpPr>
          <p:cNvPr id="1695770" name="Rectangle 26"/>
          <p:cNvSpPr>
            <a:spLocks noChangeArrowheads="1"/>
          </p:cNvSpPr>
          <p:nvPr/>
        </p:nvSpPr>
        <p:spPr bwMode="auto">
          <a:xfrm>
            <a:off x="7924800" y="3581400"/>
            <a:ext cx="603250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hit?</a:t>
            </a:r>
          </a:p>
        </p:txBody>
      </p:sp>
      <p:sp>
        <p:nvSpPr>
          <p:cNvPr id="1695771" name="Line 27"/>
          <p:cNvSpPr>
            <a:spLocks noChangeShapeType="1"/>
          </p:cNvSpPr>
          <p:nvPr/>
        </p:nvSpPr>
        <p:spPr bwMode="auto">
          <a:xfrm>
            <a:off x="7358063" y="3086100"/>
            <a:ext cx="0" cy="444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72" name="Freeform 28"/>
          <p:cNvSpPr>
            <a:spLocks/>
          </p:cNvSpPr>
          <p:nvPr/>
        </p:nvSpPr>
        <p:spPr bwMode="auto">
          <a:xfrm>
            <a:off x="2532063" y="3644900"/>
            <a:ext cx="4587875" cy="1285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80"/>
              </a:cxn>
              <a:cxn ang="0">
                <a:pos x="2144" y="80"/>
              </a:cxn>
            </a:cxnLst>
            <a:rect l="0" t="0" r="r" b="b"/>
            <a:pathLst>
              <a:path w="2145" h="81">
                <a:moveTo>
                  <a:pt x="0" y="0"/>
                </a:moveTo>
                <a:lnTo>
                  <a:pt x="0" y="80"/>
                </a:lnTo>
                <a:lnTo>
                  <a:pt x="2144" y="8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6937375" y="2008188"/>
            <a:ext cx="1855788" cy="366712"/>
            <a:chOff x="4239" y="1561"/>
            <a:chExt cx="1169" cy="231"/>
          </a:xfrm>
        </p:grpSpPr>
        <p:sp>
          <p:nvSpPr>
            <p:cNvPr id="1695774" name="Line 30"/>
            <p:cNvSpPr>
              <a:spLocks noChangeShapeType="1"/>
            </p:cNvSpPr>
            <p:nvPr/>
          </p:nvSpPr>
          <p:spPr bwMode="auto">
            <a:xfrm>
              <a:off x="4267" y="1588"/>
              <a:ext cx="11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5775" name="Line 31"/>
            <p:cNvSpPr>
              <a:spLocks noChangeShapeType="1"/>
            </p:cNvSpPr>
            <p:nvPr/>
          </p:nvSpPr>
          <p:spPr bwMode="auto">
            <a:xfrm>
              <a:off x="4270" y="1778"/>
              <a:ext cx="11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5776" name="Text Box 32"/>
            <p:cNvSpPr txBox="1">
              <a:spLocks noChangeArrowheads="1"/>
            </p:cNvSpPr>
            <p:nvPr/>
          </p:nvSpPr>
          <p:spPr bwMode="auto">
            <a:xfrm>
              <a:off x="4239" y="1561"/>
              <a:ext cx="1099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PPN</a:t>
              </a:r>
              <a:r>
                <a:rPr lang="en-US" sz="1800" baseline="-25000">
                  <a:latin typeface="Verdana" charset="0"/>
                </a:rPr>
                <a:t>a</a:t>
              </a:r>
              <a:r>
                <a:rPr lang="en-US" sz="1800">
                  <a:latin typeface="Verdana" charset="0"/>
                </a:rPr>
                <a:t>      Data</a:t>
              </a:r>
            </a:p>
          </p:txBody>
        </p:sp>
      </p:grp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6940550" y="2520950"/>
            <a:ext cx="1855788" cy="366713"/>
            <a:chOff x="4239" y="1561"/>
            <a:chExt cx="1169" cy="231"/>
          </a:xfrm>
        </p:grpSpPr>
        <p:sp>
          <p:nvSpPr>
            <p:cNvPr id="1695778" name="Line 34"/>
            <p:cNvSpPr>
              <a:spLocks noChangeShapeType="1"/>
            </p:cNvSpPr>
            <p:nvPr/>
          </p:nvSpPr>
          <p:spPr bwMode="auto">
            <a:xfrm>
              <a:off x="4267" y="1588"/>
              <a:ext cx="11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5779" name="Line 35"/>
            <p:cNvSpPr>
              <a:spLocks noChangeShapeType="1"/>
            </p:cNvSpPr>
            <p:nvPr/>
          </p:nvSpPr>
          <p:spPr bwMode="auto">
            <a:xfrm>
              <a:off x="4270" y="1778"/>
              <a:ext cx="11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5780" name="Text Box 36"/>
            <p:cNvSpPr txBox="1">
              <a:spLocks noChangeArrowheads="1"/>
            </p:cNvSpPr>
            <p:nvPr/>
          </p:nvSpPr>
          <p:spPr bwMode="auto">
            <a:xfrm>
              <a:off x="4239" y="1561"/>
              <a:ext cx="1099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PPN</a:t>
              </a:r>
              <a:r>
                <a:rPr lang="en-US" sz="1800" baseline="-25000">
                  <a:latin typeface="Verdana" charset="0"/>
                </a:rPr>
                <a:t>a</a:t>
              </a:r>
              <a:r>
                <a:rPr lang="en-US" sz="1800">
                  <a:latin typeface="Verdana" charset="0"/>
                </a:rPr>
                <a:t>      Data</a:t>
              </a:r>
            </a:p>
          </p:txBody>
        </p:sp>
      </p:grpSp>
      <p:sp>
        <p:nvSpPr>
          <p:cNvPr id="1695781" name="Text Box 37"/>
          <p:cNvSpPr txBox="1">
            <a:spLocks noChangeArrowheads="1"/>
          </p:cNvSpPr>
          <p:nvPr/>
        </p:nvSpPr>
        <p:spPr bwMode="auto">
          <a:xfrm>
            <a:off x="6421438" y="2016125"/>
            <a:ext cx="593725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VA</a:t>
            </a:r>
            <a:r>
              <a:rPr lang="en-US" sz="1800" baseline="-25000">
                <a:solidFill>
                  <a:srgbClr val="56127A"/>
                </a:solidFill>
                <a:latin typeface="Verdana" charset="0"/>
              </a:rPr>
              <a:t>1</a:t>
            </a:r>
            <a:endParaRPr lang="en-US" sz="1800">
              <a:solidFill>
                <a:srgbClr val="56127A"/>
              </a:solidFill>
              <a:latin typeface="Verdana" charset="0"/>
            </a:endParaRPr>
          </a:p>
        </p:txBody>
      </p:sp>
      <p:sp>
        <p:nvSpPr>
          <p:cNvPr id="1695782" name="Text Box 38"/>
          <p:cNvSpPr txBox="1">
            <a:spLocks noChangeArrowheads="1"/>
          </p:cNvSpPr>
          <p:nvPr/>
        </p:nvSpPr>
        <p:spPr bwMode="auto">
          <a:xfrm>
            <a:off x="6424613" y="2513013"/>
            <a:ext cx="593725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VA</a:t>
            </a:r>
            <a:r>
              <a:rPr lang="en-US" sz="1800" baseline="-25000">
                <a:solidFill>
                  <a:srgbClr val="56127A"/>
                </a:solidFill>
                <a:latin typeface="Verdana" charset="0"/>
              </a:rPr>
              <a:t>2</a:t>
            </a:r>
            <a:endParaRPr lang="en-US" sz="1800">
              <a:solidFill>
                <a:srgbClr val="56127A"/>
              </a:solidFill>
              <a:latin typeface="Verdana" charset="0"/>
            </a:endParaRPr>
          </a:p>
        </p:txBody>
      </p:sp>
      <p:sp>
        <p:nvSpPr>
          <p:cNvPr id="1695783" name="Line 39"/>
          <p:cNvSpPr>
            <a:spLocks noChangeShapeType="1"/>
          </p:cNvSpPr>
          <p:nvPr/>
        </p:nvSpPr>
        <p:spPr bwMode="auto">
          <a:xfrm rot="16200000" flipH="1">
            <a:off x="7747000" y="3606800"/>
            <a:ext cx="7938" cy="2619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84" name="Rectangle 40"/>
          <p:cNvSpPr>
            <a:spLocks noChangeArrowheads="1"/>
          </p:cNvSpPr>
          <p:nvPr/>
        </p:nvSpPr>
        <p:spPr bwMode="auto">
          <a:xfrm>
            <a:off x="6553200" y="5486400"/>
            <a:ext cx="2527300" cy="393700"/>
          </a:xfrm>
          <a:prstGeom prst="rect">
            <a:avLst/>
          </a:prstGeom>
          <a:solidFill>
            <a:schemeClr val="accent1"/>
          </a:solidFill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latin typeface="Verdana" charset="0"/>
              </a:rPr>
              <a:t>Direct-Mapped L2 </a:t>
            </a:r>
          </a:p>
        </p:txBody>
      </p:sp>
      <p:sp>
        <p:nvSpPr>
          <p:cNvPr id="1695785" name="Rectangle 41"/>
          <p:cNvSpPr>
            <a:spLocks noChangeArrowheads="1"/>
          </p:cNvSpPr>
          <p:nvPr/>
        </p:nvSpPr>
        <p:spPr bwMode="auto">
          <a:xfrm>
            <a:off x="6705600" y="4419600"/>
            <a:ext cx="2120900" cy="990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86" name="Rectangle 42"/>
          <p:cNvSpPr>
            <a:spLocks noChangeArrowheads="1"/>
          </p:cNvSpPr>
          <p:nvPr/>
        </p:nvSpPr>
        <p:spPr bwMode="auto">
          <a:xfrm>
            <a:off x="6705600" y="4724400"/>
            <a:ext cx="2120900" cy="381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PA    a</a:t>
            </a:r>
            <a:r>
              <a:rPr lang="en-US" sz="1800" baseline="-25000">
                <a:latin typeface="Verdana" charset="0"/>
              </a:rPr>
              <a:t>1</a:t>
            </a:r>
            <a:r>
              <a:rPr lang="en-US" sz="1800">
                <a:latin typeface="Verdana" charset="0"/>
              </a:rPr>
              <a:t>       Data</a:t>
            </a:r>
          </a:p>
        </p:txBody>
      </p:sp>
      <p:sp>
        <p:nvSpPr>
          <p:cNvPr id="1695787" name="Line 43"/>
          <p:cNvSpPr>
            <a:spLocks noChangeShapeType="1"/>
          </p:cNvSpPr>
          <p:nvPr/>
        </p:nvSpPr>
        <p:spPr bwMode="auto">
          <a:xfrm>
            <a:off x="7689850" y="4429125"/>
            <a:ext cx="0" cy="981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88" name="Line 44"/>
          <p:cNvSpPr>
            <a:spLocks noChangeShapeType="1"/>
          </p:cNvSpPr>
          <p:nvPr/>
        </p:nvSpPr>
        <p:spPr bwMode="auto">
          <a:xfrm>
            <a:off x="7173913" y="4429125"/>
            <a:ext cx="0" cy="981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89" name="Freeform 45"/>
          <p:cNvSpPr>
            <a:spLocks/>
          </p:cNvSpPr>
          <p:nvPr/>
        </p:nvSpPr>
        <p:spPr bwMode="auto">
          <a:xfrm>
            <a:off x="6324600" y="3768725"/>
            <a:ext cx="400050" cy="11842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982"/>
              </a:cxn>
              <a:cxn ang="0">
                <a:pos x="264" y="982"/>
              </a:cxn>
            </a:cxnLst>
            <a:rect l="0" t="0" r="r" b="b"/>
            <a:pathLst>
              <a:path w="264" h="982">
                <a:moveTo>
                  <a:pt x="0" y="0"/>
                </a:moveTo>
                <a:lnTo>
                  <a:pt x="0" y="982"/>
                </a:lnTo>
                <a:lnTo>
                  <a:pt x="264" y="98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90" name="Rectangle 46"/>
          <p:cNvSpPr>
            <a:spLocks noChangeArrowheads="1"/>
          </p:cNvSpPr>
          <p:nvPr/>
        </p:nvSpPr>
        <p:spPr bwMode="auto">
          <a:xfrm>
            <a:off x="6319838" y="3419475"/>
            <a:ext cx="630237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PPN</a:t>
            </a:r>
          </a:p>
        </p:txBody>
      </p:sp>
      <p:sp>
        <p:nvSpPr>
          <p:cNvPr id="1695791" name="Freeform 47"/>
          <p:cNvSpPr>
            <a:spLocks/>
          </p:cNvSpPr>
          <p:nvPr/>
        </p:nvSpPr>
        <p:spPr bwMode="auto">
          <a:xfrm>
            <a:off x="3595688" y="1981200"/>
            <a:ext cx="509587" cy="1746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44"/>
              </a:cxn>
              <a:cxn ang="0">
                <a:pos x="320" y="144"/>
              </a:cxn>
            </a:cxnLst>
            <a:rect l="0" t="0" r="r" b="b"/>
            <a:pathLst>
              <a:path w="321" h="145">
                <a:moveTo>
                  <a:pt x="0" y="0"/>
                </a:moveTo>
                <a:lnTo>
                  <a:pt x="0" y="144"/>
                </a:lnTo>
                <a:lnTo>
                  <a:pt x="320" y="144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92" name="Rectangle 48"/>
          <p:cNvSpPr>
            <a:spLocks noChangeArrowheads="1"/>
          </p:cNvSpPr>
          <p:nvPr/>
        </p:nvSpPr>
        <p:spPr bwMode="auto">
          <a:xfrm>
            <a:off x="4165600" y="1944688"/>
            <a:ext cx="1736725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into L2 tag </a:t>
            </a:r>
          </a:p>
        </p:txBody>
      </p:sp>
      <p:sp>
        <p:nvSpPr>
          <p:cNvPr id="1695793" name="Line 49"/>
          <p:cNvSpPr>
            <a:spLocks noChangeShapeType="1"/>
          </p:cNvSpPr>
          <p:nvPr/>
        </p:nvSpPr>
        <p:spPr bwMode="auto">
          <a:xfrm>
            <a:off x="3381375" y="17526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94" name="Line 50"/>
          <p:cNvSpPr>
            <a:spLocks noChangeShapeType="1"/>
          </p:cNvSpPr>
          <p:nvPr/>
        </p:nvSpPr>
        <p:spPr bwMode="auto">
          <a:xfrm>
            <a:off x="3381375" y="19812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95" name="Line 51"/>
          <p:cNvSpPr>
            <a:spLocks noChangeShapeType="1"/>
          </p:cNvSpPr>
          <p:nvPr/>
        </p:nvSpPr>
        <p:spPr bwMode="auto">
          <a:xfrm>
            <a:off x="3838575" y="17526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96" name="Rectangle 52"/>
          <p:cNvSpPr>
            <a:spLocks noGrp="1" noChangeArrowheads="1"/>
          </p:cNvSpPr>
          <p:nvPr>
            <p:ph type="body" idx="1"/>
          </p:nvPr>
        </p:nvSpPr>
        <p:spPr>
          <a:xfrm>
            <a:off x="152400" y="4114800"/>
            <a:ext cx="6096000" cy="2286000"/>
          </a:xfrm>
          <a:noFill/>
          <a:ln/>
        </p:spPr>
        <p:txBody>
          <a:bodyPr/>
          <a:lstStyle/>
          <a:p>
            <a:pPr marL="342900" indent="-342900"/>
            <a:r>
              <a:rPr lang="en-US" sz="2000" dirty="0"/>
              <a:t>Suppose VA1 and VA2 both map to PA and VA1 is already in L1, L2 (VA1 </a:t>
            </a:r>
            <a:r>
              <a:rPr lang="en-US" sz="2800" dirty="0">
                <a:sym typeface="Symbol" charset="2"/>
              </a:rPr>
              <a:t></a:t>
            </a:r>
            <a:r>
              <a:rPr lang="en-US" sz="2000" dirty="0">
                <a:sym typeface="Symbol" charset="2"/>
              </a:rPr>
              <a:t> </a:t>
            </a:r>
            <a:r>
              <a:rPr lang="en-US" sz="2000" dirty="0"/>
              <a:t>VA2)</a:t>
            </a:r>
          </a:p>
          <a:p>
            <a:pPr marL="342900" indent="-342900"/>
            <a:r>
              <a:rPr lang="en-US" sz="2000" dirty="0"/>
              <a:t>After VA2 is resolved to PA, a collision will be detected in L2.</a:t>
            </a:r>
            <a:endParaRPr lang="en-US" sz="2000" i="1" dirty="0"/>
          </a:p>
          <a:p>
            <a:pPr marL="342900" indent="-342900"/>
            <a:r>
              <a:rPr lang="en-US" sz="2000" dirty="0"/>
              <a:t>VA1 will be purged from L1 and L2, and VA2 will be loaded  </a:t>
            </a:r>
            <a:r>
              <a:rPr lang="en-US" sz="2000" dirty="0">
                <a:latin typeface="Symbol" charset="2"/>
              </a:rPr>
              <a:t></a:t>
            </a:r>
            <a:r>
              <a:rPr lang="en-US" sz="2000" i="1" dirty="0"/>
              <a:t> no aliasing !</a:t>
            </a:r>
            <a:r>
              <a:rPr lang="en-US" sz="2000" dirty="0"/>
              <a:t>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B2D51C-A66C-D758-A480-0203280311A9}"/>
              </a:ext>
            </a:extLst>
          </p:cNvPr>
          <p:cNvSpPr txBox="1"/>
          <p:nvPr/>
        </p:nvSpPr>
        <p:spPr>
          <a:xfrm>
            <a:off x="4741926" y="6071156"/>
            <a:ext cx="499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Virtual index physical tag L1 &amp; L2 caches</a:t>
            </a:r>
          </a:p>
        </p:txBody>
      </p:sp>
    </p:spTree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3E2EB-85AD-5449-985A-B592CAE154A5}" type="slidenum">
              <a:rPr lang="en-US"/>
              <a:pPr/>
              <a:t>85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96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84150"/>
            <a:ext cx="7240588" cy="958850"/>
          </a:xfrm>
          <a:noFill/>
          <a:ln/>
        </p:spPr>
        <p:txBody>
          <a:bodyPr lIns="90488" tIns="44450" rIns="90488" bIns="44450"/>
          <a:lstStyle/>
          <a:p>
            <a:pPr>
              <a:lnSpc>
                <a:spcPct val="100000"/>
              </a:lnSpc>
            </a:pPr>
            <a:r>
              <a:rPr lang="en-US"/>
              <a:t>Anti-Aliasing using L2 for a Virtually Addressed L1</a:t>
            </a:r>
            <a:endParaRPr lang="en-US" sz="2400"/>
          </a:p>
        </p:txBody>
      </p:sp>
      <p:sp>
        <p:nvSpPr>
          <p:cNvPr id="1696771" name="Line 3"/>
          <p:cNvSpPr>
            <a:spLocks noChangeShapeType="1"/>
          </p:cNvSpPr>
          <p:nvPr/>
        </p:nvSpPr>
        <p:spPr bwMode="auto">
          <a:xfrm>
            <a:off x="5368925" y="3613150"/>
            <a:ext cx="0" cy="311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72" name="Rectangle 4"/>
          <p:cNvSpPr>
            <a:spLocks noChangeArrowheads="1"/>
          </p:cNvSpPr>
          <p:nvPr/>
        </p:nvSpPr>
        <p:spPr bwMode="auto">
          <a:xfrm>
            <a:off x="698500" y="1771650"/>
            <a:ext cx="2997200" cy="342900"/>
          </a:xfrm>
          <a:prstGeom prst="rect">
            <a:avLst/>
          </a:prstGeom>
          <a:solidFill>
            <a:srgbClr val="FFCC66"/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73" name="Rectangle 5"/>
          <p:cNvSpPr>
            <a:spLocks noChangeArrowheads="1"/>
          </p:cNvSpPr>
          <p:nvPr/>
        </p:nvSpPr>
        <p:spPr bwMode="auto">
          <a:xfrm>
            <a:off x="714375" y="1771650"/>
            <a:ext cx="5051425" cy="330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               VPN 		     Page Offset   b</a:t>
            </a:r>
          </a:p>
        </p:txBody>
      </p:sp>
      <p:sp>
        <p:nvSpPr>
          <p:cNvPr id="1696774" name="Line 6"/>
          <p:cNvSpPr>
            <a:spLocks noChangeShapeType="1"/>
          </p:cNvSpPr>
          <p:nvPr/>
        </p:nvSpPr>
        <p:spPr bwMode="auto">
          <a:xfrm>
            <a:off x="3695700" y="1784350"/>
            <a:ext cx="0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75" name="Freeform 7"/>
          <p:cNvSpPr>
            <a:spLocks/>
          </p:cNvSpPr>
          <p:nvPr/>
        </p:nvSpPr>
        <p:spPr bwMode="auto">
          <a:xfrm>
            <a:off x="723900" y="1631950"/>
            <a:ext cx="4624388" cy="90488"/>
          </a:xfrm>
          <a:custGeom>
            <a:avLst/>
            <a:gdLst/>
            <a:ahLst/>
            <a:cxnLst>
              <a:cxn ang="0">
                <a:pos x="0" y="52"/>
              </a:cxn>
              <a:cxn ang="0">
                <a:pos x="136" y="0"/>
              </a:cxn>
              <a:cxn ang="0">
                <a:pos x="2826" y="0"/>
              </a:cxn>
              <a:cxn ang="0">
                <a:pos x="2912" y="56"/>
              </a:cxn>
            </a:cxnLst>
            <a:rect l="0" t="0" r="r" b="b"/>
            <a:pathLst>
              <a:path w="2913" h="57">
                <a:moveTo>
                  <a:pt x="0" y="52"/>
                </a:moveTo>
                <a:lnTo>
                  <a:pt x="136" y="0"/>
                </a:lnTo>
                <a:lnTo>
                  <a:pt x="2826" y="0"/>
                </a:lnTo>
                <a:lnTo>
                  <a:pt x="2912" y="56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76" name="Rectangle 8"/>
          <p:cNvSpPr>
            <a:spLocks noChangeArrowheads="1"/>
          </p:cNvSpPr>
          <p:nvPr/>
        </p:nvSpPr>
        <p:spPr bwMode="auto">
          <a:xfrm>
            <a:off x="1651000" y="2586038"/>
            <a:ext cx="1333500" cy="620712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400">
                <a:solidFill>
                  <a:srgbClr val="56127A"/>
                </a:solidFill>
                <a:latin typeface="Verdana" charset="0"/>
              </a:rPr>
              <a:t>TLB</a:t>
            </a:r>
          </a:p>
        </p:txBody>
      </p:sp>
      <p:sp>
        <p:nvSpPr>
          <p:cNvPr id="1696777" name="Line 9"/>
          <p:cNvSpPr>
            <a:spLocks noChangeShapeType="1"/>
          </p:cNvSpPr>
          <p:nvPr/>
        </p:nvSpPr>
        <p:spPr bwMode="auto">
          <a:xfrm flipH="1">
            <a:off x="2286000" y="208915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78" name="Rectangle 10"/>
          <p:cNvSpPr>
            <a:spLocks noChangeArrowheads="1"/>
          </p:cNvSpPr>
          <p:nvPr/>
        </p:nvSpPr>
        <p:spPr bwMode="auto">
          <a:xfrm>
            <a:off x="6794500" y="2279650"/>
            <a:ext cx="1803400" cy="12573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79" name="Rectangle 11"/>
          <p:cNvSpPr>
            <a:spLocks noChangeArrowheads="1"/>
          </p:cNvSpPr>
          <p:nvPr/>
        </p:nvSpPr>
        <p:spPr bwMode="auto">
          <a:xfrm>
            <a:off x="635000" y="3587750"/>
            <a:ext cx="2997200" cy="342900"/>
          </a:xfrm>
          <a:prstGeom prst="rect">
            <a:avLst/>
          </a:prstGeom>
          <a:solidFill>
            <a:srgbClr val="FFCC66"/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80" name="Rectangle 12"/>
          <p:cNvSpPr>
            <a:spLocks noChangeArrowheads="1"/>
          </p:cNvSpPr>
          <p:nvPr/>
        </p:nvSpPr>
        <p:spPr bwMode="auto">
          <a:xfrm>
            <a:off x="650875" y="3587750"/>
            <a:ext cx="5153025" cy="330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                PPN 		      Page Offset   b</a:t>
            </a:r>
          </a:p>
        </p:txBody>
      </p:sp>
      <p:sp>
        <p:nvSpPr>
          <p:cNvPr id="1696781" name="Line 13"/>
          <p:cNvSpPr>
            <a:spLocks noChangeShapeType="1"/>
          </p:cNvSpPr>
          <p:nvPr/>
        </p:nvSpPr>
        <p:spPr bwMode="auto">
          <a:xfrm>
            <a:off x="3632200" y="3600450"/>
            <a:ext cx="0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82" name="Line 14"/>
          <p:cNvSpPr>
            <a:spLocks noChangeShapeType="1"/>
          </p:cNvSpPr>
          <p:nvPr/>
        </p:nvSpPr>
        <p:spPr bwMode="auto">
          <a:xfrm>
            <a:off x="2286000" y="323215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83" name="Freeform 15"/>
          <p:cNvSpPr>
            <a:spLocks/>
          </p:cNvSpPr>
          <p:nvPr/>
        </p:nvSpPr>
        <p:spPr bwMode="auto">
          <a:xfrm>
            <a:off x="660400" y="3968750"/>
            <a:ext cx="4700588" cy="141288"/>
          </a:xfrm>
          <a:custGeom>
            <a:avLst/>
            <a:gdLst/>
            <a:ahLst/>
            <a:cxnLst>
              <a:cxn ang="0">
                <a:pos x="0" y="7"/>
              </a:cxn>
              <a:cxn ang="0">
                <a:pos x="138" y="88"/>
              </a:cxn>
              <a:cxn ang="0">
                <a:pos x="2872" y="88"/>
              </a:cxn>
              <a:cxn ang="0">
                <a:pos x="2960" y="0"/>
              </a:cxn>
            </a:cxnLst>
            <a:rect l="0" t="0" r="r" b="b"/>
            <a:pathLst>
              <a:path w="2961" h="89">
                <a:moveTo>
                  <a:pt x="0" y="7"/>
                </a:moveTo>
                <a:lnTo>
                  <a:pt x="138" y="88"/>
                </a:lnTo>
                <a:lnTo>
                  <a:pt x="2872" y="88"/>
                </a:lnTo>
                <a:lnTo>
                  <a:pt x="2960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84" name="Rectangle 16"/>
          <p:cNvSpPr>
            <a:spLocks noChangeArrowheads="1"/>
          </p:cNvSpPr>
          <p:nvPr/>
        </p:nvSpPr>
        <p:spPr bwMode="auto">
          <a:xfrm>
            <a:off x="1776413" y="4289425"/>
            <a:ext cx="601662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Tag</a:t>
            </a:r>
          </a:p>
        </p:txBody>
      </p:sp>
      <p:sp>
        <p:nvSpPr>
          <p:cNvPr id="1696785" name="Rectangle 17"/>
          <p:cNvSpPr>
            <a:spLocks noChangeArrowheads="1"/>
          </p:cNvSpPr>
          <p:nvPr/>
        </p:nvSpPr>
        <p:spPr bwMode="auto">
          <a:xfrm>
            <a:off x="177800" y="1695450"/>
            <a:ext cx="528638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VA</a:t>
            </a:r>
          </a:p>
        </p:txBody>
      </p:sp>
      <p:sp>
        <p:nvSpPr>
          <p:cNvPr id="1696786" name="Rectangle 18"/>
          <p:cNvSpPr>
            <a:spLocks noChangeArrowheads="1"/>
          </p:cNvSpPr>
          <p:nvPr/>
        </p:nvSpPr>
        <p:spPr bwMode="auto">
          <a:xfrm>
            <a:off x="76200" y="3536950"/>
            <a:ext cx="508000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PA</a:t>
            </a:r>
          </a:p>
        </p:txBody>
      </p:sp>
      <p:sp>
        <p:nvSpPr>
          <p:cNvPr id="1696787" name="Rectangle 19"/>
          <p:cNvSpPr>
            <a:spLocks noChangeArrowheads="1"/>
          </p:cNvSpPr>
          <p:nvPr/>
        </p:nvSpPr>
        <p:spPr bwMode="auto">
          <a:xfrm>
            <a:off x="7173913" y="1533525"/>
            <a:ext cx="1582737" cy="6381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Virtual</a:t>
            </a:r>
          </a:p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Index &amp; Tag</a:t>
            </a:r>
          </a:p>
        </p:txBody>
      </p:sp>
      <p:sp>
        <p:nvSpPr>
          <p:cNvPr id="1696788" name="Freeform 20"/>
          <p:cNvSpPr>
            <a:spLocks/>
          </p:cNvSpPr>
          <p:nvPr/>
        </p:nvSpPr>
        <p:spPr bwMode="auto">
          <a:xfrm>
            <a:off x="4762500" y="1454150"/>
            <a:ext cx="2376488" cy="814388"/>
          </a:xfrm>
          <a:custGeom>
            <a:avLst/>
            <a:gdLst/>
            <a:ahLst/>
            <a:cxnLst>
              <a:cxn ang="0">
                <a:pos x="0" y="74"/>
              </a:cxn>
              <a:cxn ang="0">
                <a:pos x="0" y="0"/>
              </a:cxn>
              <a:cxn ang="0">
                <a:pos x="1496" y="0"/>
              </a:cxn>
              <a:cxn ang="0">
                <a:pos x="1496" y="512"/>
              </a:cxn>
            </a:cxnLst>
            <a:rect l="0" t="0" r="r" b="b"/>
            <a:pathLst>
              <a:path w="1497" h="513">
                <a:moveTo>
                  <a:pt x="0" y="74"/>
                </a:moveTo>
                <a:lnTo>
                  <a:pt x="0" y="0"/>
                </a:lnTo>
                <a:lnTo>
                  <a:pt x="1496" y="0"/>
                </a:lnTo>
                <a:lnTo>
                  <a:pt x="1496" y="512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89" name="Line 21"/>
          <p:cNvSpPr>
            <a:spLocks noChangeShapeType="1"/>
          </p:cNvSpPr>
          <p:nvPr/>
        </p:nvSpPr>
        <p:spPr bwMode="auto">
          <a:xfrm>
            <a:off x="5368925" y="1784350"/>
            <a:ext cx="0" cy="311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90" name="Rectangle 22"/>
          <p:cNvSpPr>
            <a:spLocks noChangeArrowheads="1"/>
          </p:cNvSpPr>
          <p:nvPr/>
        </p:nvSpPr>
        <p:spPr bwMode="auto">
          <a:xfrm>
            <a:off x="6299200" y="4692650"/>
            <a:ext cx="2298700" cy="10541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91" name="Freeform 23"/>
          <p:cNvSpPr>
            <a:spLocks/>
          </p:cNvSpPr>
          <p:nvPr/>
        </p:nvSpPr>
        <p:spPr bwMode="auto">
          <a:xfrm>
            <a:off x="2819400" y="4108450"/>
            <a:ext cx="3663950" cy="5715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36"/>
              </a:cxn>
              <a:cxn ang="0">
                <a:pos x="2308" y="138"/>
              </a:cxn>
              <a:cxn ang="0">
                <a:pos x="2304" y="360"/>
              </a:cxn>
            </a:cxnLst>
            <a:rect l="0" t="0" r="r" b="b"/>
            <a:pathLst>
              <a:path w="2308" h="360">
                <a:moveTo>
                  <a:pt x="0" y="0"/>
                </a:moveTo>
                <a:lnTo>
                  <a:pt x="0" y="136"/>
                </a:lnTo>
                <a:lnTo>
                  <a:pt x="2308" y="138"/>
                </a:lnTo>
                <a:lnTo>
                  <a:pt x="2304" y="36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92" name="Rectangle 24"/>
          <p:cNvSpPr>
            <a:spLocks noChangeArrowheads="1"/>
          </p:cNvSpPr>
          <p:nvPr/>
        </p:nvSpPr>
        <p:spPr bwMode="auto">
          <a:xfrm>
            <a:off x="4038600" y="4375150"/>
            <a:ext cx="1582738" cy="6381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Physical</a:t>
            </a:r>
          </a:p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Index &amp; Tag</a:t>
            </a:r>
          </a:p>
        </p:txBody>
      </p:sp>
      <p:sp>
        <p:nvSpPr>
          <p:cNvPr id="1696793" name="Freeform 25"/>
          <p:cNvSpPr>
            <a:spLocks/>
          </p:cNvSpPr>
          <p:nvPr/>
        </p:nvSpPr>
        <p:spPr bwMode="auto">
          <a:xfrm>
            <a:off x="2286000" y="2254250"/>
            <a:ext cx="4675188" cy="24145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56" y="0"/>
              </a:cxn>
              <a:cxn ang="0">
                <a:pos x="2456" y="1152"/>
              </a:cxn>
              <a:cxn ang="0">
                <a:pos x="2896" y="1152"/>
              </a:cxn>
              <a:cxn ang="0">
                <a:pos x="2896" y="1520"/>
              </a:cxn>
            </a:cxnLst>
            <a:rect l="0" t="0" r="r" b="b"/>
            <a:pathLst>
              <a:path w="2897" h="1521">
                <a:moveTo>
                  <a:pt x="0" y="0"/>
                </a:moveTo>
                <a:lnTo>
                  <a:pt x="2456" y="0"/>
                </a:lnTo>
                <a:lnTo>
                  <a:pt x="2456" y="1152"/>
                </a:lnTo>
                <a:lnTo>
                  <a:pt x="2896" y="1152"/>
                </a:lnTo>
                <a:lnTo>
                  <a:pt x="2896" y="152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94" name="Rectangle 26"/>
          <p:cNvSpPr>
            <a:spLocks noChangeArrowheads="1"/>
          </p:cNvSpPr>
          <p:nvPr/>
        </p:nvSpPr>
        <p:spPr bwMode="auto">
          <a:xfrm>
            <a:off x="6843713" y="3568700"/>
            <a:ext cx="1784350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L1 VA Cache</a:t>
            </a:r>
          </a:p>
        </p:txBody>
      </p:sp>
      <p:sp>
        <p:nvSpPr>
          <p:cNvPr id="1696795" name="Rectangle 27"/>
          <p:cNvSpPr>
            <a:spLocks noChangeArrowheads="1"/>
          </p:cNvSpPr>
          <p:nvPr/>
        </p:nvSpPr>
        <p:spPr bwMode="auto">
          <a:xfrm>
            <a:off x="6477000" y="5822950"/>
            <a:ext cx="2260600" cy="6985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L2 PA Cache  </a:t>
            </a:r>
          </a:p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L2 “contains” L1</a:t>
            </a:r>
          </a:p>
        </p:txBody>
      </p:sp>
      <p:sp>
        <p:nvSpPr>
          <p:cNvPr id="1696796" name="Rectangle 28"/>
          <p:cNvSpPr>
            <a:spLocks noChangeArrowheads="1"/>
          </p:cNvSpPr>
          <p:nvPr/>
        </p:nvSpPr>
        <p:spPr bwMode="auto">
          <a:xfrm>
            <a:off x="6299200" y="4984750"/>
            <a:ext cx="2298700" cy="406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PA   VA</a:t>
            </a:r>
            <a:r>
              <a:rPr lang="en-US" sz="1800" baseline="-25000">
                <a:latin typeface="Verdana" charset="0"/>
              </a:rPr>
              <a:t>1</a:t>
            </a:r>
            <a:r>
              <a:rPr lang="en-US" sz="1800">
                <a:latin typeface="Verdana" charset="0"/>
              </a:rPr>
              <a:t>     Data</a:t>
            </a:r>
          </a:p>
        </p:txBody>
      </p:sp>
      <p:sp>
        <p:nvSpPr>
          <p:cNvPr id="1696797" name="Line 29"/>
          <p:cNvSpPr>
            <a:spLocks noChangeShapeType="1"/>
          </p:cNvSpPr>
          <p:nvPr/>
        </p:nvSpPr>
        <p:spPr bwMode="auto">
          <a:xfrm>
            <a:off x="7366000" y="4705350"/>
            <a:ext cx="0" cy="1041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98" name="Line 30"/>
          <p:cNvSpPr>
            <a:spLocks noChangeShapeType="1"/>
          </p:cNvSpPr>
          <p:nvPr/>
        </p:nvSpPr>
        <p:spPr bwMode="auto">
          <a:xfrm>
            <a:off x="6807200" y="4705350"/>
            <a:ext cx="0" cy="10414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99" name="Rectangle 31"/>
          <p:cNvSpPr>
            <a:spLocks noChangeArrowheads="1"/>
          </p:cNvSpPr>
          <p:nvPr/>
        </p:nvSpPr>
        <p:spPr bwMode="auto">
          <a:xfrm>
            <a:off x="6794500" y="2470150"/>
            <a:ext cx="1803400" cy="292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VA</a:t>
            </a:r>
            <a:r>
              <a:rPr lang="en-US" sz="1800" baseline="-25000">
                <a:latin typeface="Verdana" charset="0"/>
              </a:rPr>
              <a:t>1</a:t>
            </a:r>
            <a:r>
              <a:rPr lang="en-US" sz="1800">
                <a:latin typeface="Verdana" charset="0"/>
              </a:rPr>
              <a:t>    Data</a:t>
            </a:r>
          </a:p>
        </p:txBody>
      </p:sp>
      <p:sp>
        <p:nvSpPr>
          <p:cNvPr id="1696800" name="Rectangle 32"/>
          <p:cNvSpPr>
            <a:spLocks noChangeArrowheads="1"/>
          </p:cNvSpPr>
          <p:nvPr/>
        </p:nvSpPr>
        <p:spPr bwMode="auto">
          <a:xfrm>
            <a:off x="6794500" y="3016250"/>
            <a:ext cx="1803400" cy="292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VA</a:t>
            </a:r>
            <a:r>
              <a:rPr lang="en-US" sz="1800" baseline="-25000">
                <a:latin typeface="Verdana" charset="0"/>
              </a:rPr>
              <a:t>2</a:t>
            </a:r>
            <a:r>
              <a:rPr lang="en-US" sz="1800">
                <a:latin typeface="Verdana" charset="0"/>
              </a:rPr>
              <a:t>    Data</a:t>
            </a:r>
          </a:p>
        </p:txBody>
      </p:sp>
      <p:sp>
        <p:nvSpPr>
          <p:cNvPr id="1696801" name="Line 33"/>
          <p:cNvSpPr>
            <a:spLocks noChangeShapeType="1"/>
          </p:cNvSpPr>
          <p:nvPr/>
        </p:nvSpPr>
        <p:spPr bwMode="auto">
          <a:xfrm>
            <a:off x="7353300" y="2292350"/>
            <a:ext cx="0" cy="1244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802" name="Rectangle 34"/>
          <p:cNvSpPr>
            <a:spLocks noChangeArrowheads="1"/>
          </p:cNvSpPr>
          <p:nvPr/>
        </p:nvSpPr>
        <p:spPr bwMode="auto">
          <a:xfrm>
            <a:off x="6989763" y="4070350"/>
            <a:ext cx="1036637" cy="6381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“Virtual</a:t>
            </a:r>
          </a:p>
          <a:p>
            <a:pPr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Tag”</a:t>
            </a:r>
          </a:p>
        </p:txBody>
      </p:sp>
      <p:sp>
        <p:nvSpPr>
          <p:cNvPr id="1696803" name="Text Box 35"/>
          <p:cNvSpPr txBox="1">
            <a:spLocks noChangeArrowheads="1"/>
          </p:cNvSpPr>
          <p:nvPr/>
        </p:nvSpPr>
        <p:spPr bwMode="auto">
          <a:xfrm>
            <a:off x="304800" y="5213350"/>
            <a:ext cx="5715000" cy="11874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>
                <a:solidFill>
                  <a:srgbClr val="56127A"/>
                </a:solidFill>
                <a:latin typeface="Verdana" charset="0"/>
              </a:rPr>
              <a:t>Physically-addressed L2 can also be used to avoid aliases in virtually-addressed L1</a:t>
            </a:r>
          </a:p>
        </p:txBody>
      </p:sp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855E4-E889-2C4F-8D70-328AEA8EA299}" type="slidenum">
              <a:rPr lang="en-US"/>
              <a:pPr/>
              <a:t>86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703938" name="Rectangle 2"/>
          <p:cNvSpPr>
            <a:spLocks noChangeArrowheads="1"/>
          </p:cNvSpPr>
          <p:nvPr/>
        </p:nvSpPr>
        <p:spPr bwMode="auto">
          <a:xfrm>
            <a:off x="6731000" y="2452688"/>
            <a:ext cx="1701800" cy="30480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39" name="Line 3"/>
          <p:cNvSpPr>
            <a:spLocks noChangeShapeType="1"/>
          </p:cNvSpPr>
          <p:nvPr/>
        </p:nvSpPr>
        <p:spPr bwMode="auto">
          <a:xfrm flipH="1">
            <a:off x="1752600" y="17145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40" name="Rectangle 4" descr="Wide upward diagonal"/>
          <p:cNvSpPr>
            <a:spLocks noChangeArrowheads="1"/>
          </p:cNvSpPr>
          <p:nvPr/>
        </p:nvSpPr>
        <p:spPr bwMode="auto">
          <a:xfrm>
            <a:off x="7820025" y="4483100"/>
            <a:ext cx="584200" cy="228600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41" name="Rectangle 5"/>
          <p:cNvSpPr>
            <a:spLocks noChangeArrowheads="1"/>
          </p:cNvSpPr>
          <p:nvPr/>
        </p:nvSpPr>
        <p:spPr bwMode="auto">
          <a:xfrm>
            <a:off x="660400" y="1485900"/>
            <a:ext cx="1854200" cy="279400"/>
          </a:xfrm>
          <a:prstGeom prst="rect">
            <a:avLst/>
          </a:prstGeom>
          <a:solidFill>
            <a:srgbClr val="FFCC66"/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42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7048500" cy="990600"/>
          </a:xfrm>
          <a:noFill/>
          <a:ln/>
        </p:spPr>
        <p:txBody>
          <a:bodyPr lIns="90488" tIns="44450" rIns="90488" bIns="44450"/>
          <a:lstStyle/>
          <a:p>
            <a:pPr>
              <a:lnSpc>
                <a:spcPct val="100000"/>
              </a:lnSpc>
            </a:pPr>
            <a:r>
              <a:rPr lang="en-US"/>
              <a:t>Hashed Page Table:</a:t>
            </a:r>
            <a:br>
              <a:rPr lang="en-US"/>
            </a:br>
            <a:r>
              <a:rPr lang="en-US" sz="2400"/>
              <a:t>Approximating Associative Addressing</a:t>
            </a:r>
          </a:p>
        </p:txBody>
      </p:sp>
      <p:sp>
        <p:nvSpPr>
          <p:cNvPr id="1703943" name="Rectangle 7"/>
          <p:cNvSpPr>
            <a:spLocks noChangeArrowheads="1"/>
          </p:cNvSpPr>
          <p:nvPr/>
        </p:nvSpPr>
        <p:spPr bwMode="auto">
          <a:xfrm>
            <a:off x="609600" y="3200400"/>
            <a:ext cx="1878013" cy="317500"/>
          </a:xfrm>
          <a:prstGeom prst="rect">
            <a:avLst/>
          </a:prstGeom>
          <a:solidFill>
            <a:srgbClr val="FFCC6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44" name="Rectangle 8"/>
          <p:cNvSpPr>
            <a:spLocks noChangeArrowheads="1"/>
          </p:cNvSpPr>
          <p:nvPr/>
        </p:nvSpPr>
        <p:spPr bwMode="auto">
          <a:xfrm>
            <a:off x="1347788" y="2222500"/>
            <a:ext cx="762000" cy="774700"/>
          </a:xfrm>
          <a:prstGeom prst="rect">
            <a:avLst/>
          </a:prstGeom>
          <a:solidFill>
            <a:srgbClr val="FFCC66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45" name="Rectangle 9"/>
          <p:cNvSpPr>
            <a:spLocks noChangeArrowheads="1"/>
          </p:cNvSpPr>
          <p:nvPr/>
        </p:nvSpPr>
        <p:spPr bwMode="auto">
          <a:xfrm>
            <a:off x="1347788" y="2419350"/>
            <a:ext cx="787400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latin typeface="Verdana" charset="0"/>
              </a:rPr>
              <a:t>hash</a:t>
            </a:r>
          </a:p>
        </p:txBody>
      </p:sp>
      <p:sp>
        <p:nvSpPr>
          <p:cNvPr id="1703946" name="Line 10"/>
          <p:cNvSpPr>
            <a:spLocks noChangeShapeType="1"/>
          </p:cNvSpPr>
          <p:nvPr/>
        </p:nvSpPr>
        <p:spPr bwMode="auto">
          <a:xfrm>
            <a:off x="2135188" y="2565400"/>
            <a:ext cx="16367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47" name="Rectangle 11"/>
          <p:cNvSpPr>
            <a:spLocks noChangeArrowheads="1"/>
          </p:cNvSpPr>
          <p:nvPr/>
        </p:nvSpPr>
        <p:spPr bwMode="auto">
          <a:xfrm>
            <a:off x="2425700" y="2216150"/>
            <a:ext cx="942975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Offset</a:t>
            </a:r>
          </a:p>
        </p:txBody>
      </p:sp>
      <p:sp>
        <p:nvSpPr>
          <p:cNvPr id="1703948" name="Rectangle 12"/>
          <p:cNvSpPr>
            <a:spLocks noChangeArrowheads="1"/>
          </p:cNvSpPr>
          <p:nvPr/>
        </p:nvSpPr>
        <p:spPr bwMode="auto">
          <a:xfrm>
            <a:off x="603250" y="3143250"/>
            <a:ext cx="1901825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latin typeface="Verdana" charset="0"/>
              </a:rPr>
              <a:t>Base of Table</a:t>
            </a:r>
          </a:p>
        </p:txBody>
      </p:sp>
      <p:sp>
        <p:nvSpPr>
          <p:cNvPr id="1703949" name="Oval 13"/>
          <p:cNvSpPr>
            <a:spLocks noChangeArrowheads="1"/>
          </p:cNvSpPr>
          <p:nvPr/>
        </p:nvSpPr>
        <p:spPr bwMode="auto">
          <a:xfrm>
            <a:off x="3798888" y="2324100"/>
            <a:ext cx="582612" cy="558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50" name="Freeform 14"/>
          <p:cNvSpPr>
            <a:spLocks/>
          </p:cNvSpPr>
          <p:nvPr/>
        </p:nvSpPr>
        <p:spPr bwMode="auto">
          <a:xfrm>
            <a:off x="2501900" y="2895600"/>
            <a:ext cx="1563688" cy="457200"/>
          </a:xfrm>
          <a:custGeom>
            <a:avLst/>
            <a:gdLst/>
            <a:ahLst/>
            <a:cxnLst>
              <a:cxn ang="0">
                <a:pos x="0" y="352"/>
              </a:cxn>
              <a:cxn ang="0">
                <a:pos x="984" y="352"/>
              </a:cxn>
              <a:cxn ang="0">
                <a:pos x="984" y="0"/>
              </a:cxn>
            </a:cxnLst>
            <a:rect l="0" t="0" r="r" b="b"/>
            <a:pathLst>
              <a:path w="985" h="353">
                <a:moveTo>
                  <a:pt x="0" y="352"/>
                </a:moveTo>
                <a:lnTo>
                  <a:pt x="984" y="352"/>
                </a:lnTo>
                <a:lnTo>
                  <a:pt x="984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51" name="Line 15"/>
          <p:cNvSpPr>
            <a:spLocks noChangeShapeType="1"/>
          </p:cNvSpPr>
          <p:nvPr/>
        </p:nvSpPr>
        <p:spPr bwMode="auto">
          <a:xfrm>
            <a:off x="801688" y="2578100"/>
            <a:ext cx="546100" cy="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52" name="Rectangle 16"/>
          <p:cNvSpPr>
            <a:spLocks noChangeArrowheads="1"/>
          </p:cNvSpPr>
          <p:nvPr/>
        </p:nvSpPr>
        <p:spPr bwMode="auto">
          <a:xfrm>
            <a:off x="3810000" y="2295525"/>
            <a:ext cx="514350" cy="5762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3200">
                <a:latin typeface="Verdana" charset="0"/>
              </a:rPr>
              <a:t>+</a:t>
            </a:r>
          </a:p>
        </p:txBody>
      </p:sp>
      <p:sp>
        <p:nvSpPr>
          <p:cNvPr id="1703953" name="Rectangle 17"/>
          <p:cNvSpPr>
            <a:spLocks noChangeArrowheads="1"/>
          </p:cNvSpPr>
          <p:nvPr/>
        </p:nvSpPr>
        <p:spPr bwMode="auto">
          <a:xfrm>
            <a:off x="4946650" y="2190750"/>
            <a:ext cx="1400175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PA of PTE</a:t>
            </a:r>
          </a:p>
        </p:txBody>
      </p:sp>
      <p:sp>
        <p:nvSpPr>
          <p:cNvPr id="1703954" name="Line 18"/>
          <p:cNvSpPr>
            <a:spLocks noChangeShapeType="1"/>
          </p:cNvSpPr>
          <p:nvPr/>
        </p:nvSpPr>
        <p:spPr bwMode="auto">
          <a:xfrm>
            <a:off x="4395788" y="2590800"/>
            <a:ext cx="22336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55" name="Rectangle 19"/>
          <p:cNvSpPr>
            <a:spLocks noChangeArrowheads="1"/>
          </p:cNvSpPr>
          <p:nvPr/>
        </p:nvSpPr>
        <p:spPr bwMode="auto">
          <a:xfrm>
            <a:off x="6629400" y="1714500"/>
            <a:ext cx="1879600" cy="46101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56" name="Rectangle 20"/>
          <p:cNvSpPr>
            <a:spLocks noChangeArrowheads="1"/>
          </p:cNvSpPr>
          <p:nvPr/>
        </p:nvSpPr>
        <p:spPr bwMode="auto">
          <a:xfrm>
            <a:off x="7007225" y="5562600"/>
            <a:ext cx="1206500" cy="6985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latin typeface="Verdana" charset="0"/>
              </a:rPr>
              <a:t>Primary</a:t>
            </a:r>
          </a:p>
          <a:p>
            <a:pPr algn="l">
              <a:spcBef>
                <a:spcPct val="0"/>
              </a:spcBef>
            </a:pPr>
            <a:r>
              <a:rPr lang="en-US" sz="2000">
                <a:latin typeface="Verdana" charset="0"/>
              </a:rPr>
              <a:t>Memory</a:t>
            </a:r>
          </a:p>
        </p:txBody>
      </p:sp>
      <p:sp>
        <p:nvSpPr>
          <p:cNvPr id="1703957" name="Line 21"/>
          <p:cNvSpPr>
            <a:spLocks noChangeShapeType="1"/>
          </p:cNvSpPr>
          <p:nvPr/>
        </p:nvSpPr>
        <p:spPr bwMode="auto">
          <a:xfrm>
            <a:off x="6743700" y="2693988"/>
            <a:ext cx="1689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58" name="Line 22"/>
          <p:cNvSpPr>
            <a:spLocks noChangeShapeType="1"/>
          </p:cNvSpPr>
          <p:nvPr/>
        </p:nvSpPr>
        <p:spPr bwMode="auto">
          <a:xfrm>
            <a:off x="6731000" y="2947988"/>
            <a:ext cx="1689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59" name="Line 23"/>
          <p:cNvSpPr>
            <a:spLocks noChangeShapeType="1"/>
          </p:cNvSpPr>
          <p:nvPr/>
        </p:nvSpPr>
        <p:spPr bwMode="auto">
          <a:xfrm>
            <a:off x="6731000" y="3201988"/>
            <a:ext cx="1689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60" name="Line 24"/>
          <p:cNvSpPr>
            <a:spLocks noChangeShapeType="1"/>
          </p:cNvSpPr>
          <p:nvPr/>
        </p:nvSpPr>
        <p:spPr bwMode="auto">
          <a:xfrm>
            <a:off x="6731000" y="3455988"/>
            <a:ext cx="1689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61" name="Line 25"/>
          <p:cNvSpPr>
            <a:spLocks noChangeShapeType="1"/>
          </p:cNvSpPr>
          <p:nvPr/>
        </p:nvSpPr>
        <p:spPr bwMode="auto">
          <a:xfrm>
            <a:off x="6731000" y="3709988"/>
            <a:ext cx="1689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62" name="Line 26"/>
          <p:cNvSpPr>
            <a:spLocks noChangeShapeType="1"/>
          </p:cNvSpPr>
          <p:nvPr/>
        </p:nvSpPr>
        <p:spPr bwMode="auto">
          <a:xfrm>
            <a:off x="6731000" y="3963988"/>
            <a:ext cx="1689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63" name="Line 27"/>
          <p:cNvSpPr>
            <a:spLocks noChangeShapeType="1"/>
          </p:cNvSpPr>
          <p:nvPr/>
        </p:nvSpPr>
        <p:spPr bwMode="auto">
          <a:xfrm>
            <a:off x="6731000" y="4217988"/>
            <a:ext cx="1689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64" name="Line 28"/>
          <p:cNvSpPr>
            <a:spLocks noChangeShapeType="1"/>
          </p:cNvSpPr>
          <p:nvPr/>
        </p:nvSpPr>
        <p:spPr bwMode="auto">
          <a:xfrm>
            <a:off x="6731000" y="4471988"/>
            <a:ext cx="1689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65" name="Line 29"/>
          <p:cNvSpPr>
            <a:spLocks noChangeShapeType="1"/>
          </p:cNvSpPr>
          <p:nvPr/>
        </p:nvSpPr>
        <p:spPr bwMode="auto">
          <a:xfrm>
            <a:off x="6731000" y="4725988"/>
            <a:ext cx="1689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66" name="Line 30"/>
          <p:cNvSpPr>
            <a:spLocks noChangeShapeType="1"/>
          </p:cNvSpPr>
          <p:nvPr/>
        </p:nvSpPr>
        <p:spPr bwMode="auto">
          <a:xfrm>
            <a:off x="6731000" y="4979988"/>
            <a:ext cx="1689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67" name="Line 31"/>
          <p:cNvSpPr>
            <a:spLocks noChangeShapeType="1"/>
          </p:cNvSpPr>
          <p:nvPr/>
        </p:nvSpPr>
        <p:spPr bwMode="auto">
          <a:xfrm>
            <a:off x="6731000" y="5233988"/>
            <a:ext cx="1689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68" name="Rectangle 32"/>
          <p:cNvSpPr>
            <a:spLocks noChangeArrowheads="1"/>
          </p:cNvSpPr>
          <p:nvPr/>
        </p:nvSpPr>
        <p:spPr bwMode="auto">
          <a:xfrm>
            <a:off x="6678613" y="3433763"/>
            <a:ext cx="1836737" cy="3635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 dirty="0">
                <a:latin typeface="Verdana" charset="0"/>
              </a:rPr>
              <a:t>VPN  PID  PPN</a:t>
            </a:r>
          </a:p>
        </p:txBody>
      </p:sp>
      <p:sp>
        <p:nvSpPr>
          <p:cNvPr id="1703969" name="Rectangle 33"/>
          <p:cNvSpPr>
            <a:spLocks noChangeArrowheads="1"/>
          </p:cNvSpPr>
          <p:nvPr/>
        </p:nvSpPr>
        <p:spPr bwMode="auto">
          <a:xfrm>
            <a:off x="6858000" y="1828800"/>
            <a:ext cx="1573213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Page Table</a:t>
            </a:r>
          </a:p>
        </p:txBody>
      </p:sp>
      <p:sp>
        <p:nvSpPr>
          <p:cNvPr id="1703970" name="Line 34"/>
          <p:cNvSpPr>
            <a:spLocks noChangeShapeType="1"/>
          </p:cNvSpPr>
          <p:nvPr/>
        </p:nvSpPr>
        <p:spPr bwMode="auto">
          <a:xfrm>
            <a:off x="7327900" y="2452688"/>
            <a:ext cx="0" cy="304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71" name="Line 35"/>
          <p:cNvSpPr>
            <a:spLocks noChangeShapeType="1"/>
          </p:cNvSpPr>
          <p:nvPr/>
        </p:nvSpPr>
        <p:spPr bwMode="auto">
          <a:xfrm>
            <a:off x="7823200" y="2452688"/>
            <a:ext cx="0" cy="304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72" name="Rectangle 36"/>
          <p:cNvSpPr>
            <a:spLocks noChangeArrowheads="1"/>
          </p:cNvSpPr>
          <p:nvPr/>
        </p:nvSpPr>
        <p:spPr bwMode="auto">
          <a:xfrm>
            <a:off x="660400" y="1485900"/>
            <a:ext cx="2921000" cy="2921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73" name="Line 37"/>
          <p:cNvSpPr>
            <a:spLocks noChangeShapeType="1"/>
          </p:cNvSpPr>
          <p:nvPr/>
        </p:nvSpPr>
        <p:spPr bwMode="auto">
          <a:xfrm>
            <a:off x="2514600" y="14986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74" name="Rectangle 38"/>
          <p:cNvSpPr>
            <a:spLocks noChangeArrowheads="1"/>
          </p:cNvSpPr>
          <p:nvPr/>
        </p:nvSpPr>
        <p:spPr bwMode="auto">
          <a:xfrm>
            <a:off x="1141413" y="1450975"/>
            <a:ext cx="2152650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VPN		d</a:t>
            </a:r>
          </a:p>
        </p:txBody>
      </p:sp>
      <p:sp>
        <p:nvSpPr>
          <p:cNvPr id="1703975" name="Rectangle 39"/>
          <p:cNvSpPr>
            <a:spLocks noChangeArrowheads="1"/>
          </p:cNvSpPr>
          <p:nvPr/>
        </p:nvSpPr>
        <p:spPr bwMode="auto">
          <a:xfrm>
            <a:off x="3617913" y="1408113"/>
            <a:ext cx="2119312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Virtual Address</a:t>
            </a:r>
          </a:p>
        </p:txBody>
      </p:sp>
      <p:sp>
        <p:nvSpPr>
          <p:cNvPr id="1703976" name="Rectangle 40"/>
          <p:cNvSpPr>
            <a:spLocks noChangeArrowheads="1"/>
          </p:cNvSpPr>
          <p:nvPr/>
        </p:nvSpPr>
        <p:spPr bwMode="auto">
          <a:xfrm>
            <a:off x="6629401" y="3916363"/>
            <a:ext cx="1924050" cy="3635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 dirty="0">
                <a:latin typeface="Verdana" charset="0"/>
              </a:rPr>
              <a:t>VPN  PID  DPN</a:t>
            </a:r>
          </a:p>
        </p:txBody>
      </p:sp>
      <p:sp>
        <p:nvSpPr>
          <p:cNvPr id="1703977" name="Rectangle 41"/>
          <p:cNvSpPr>
            <a:spLocks noChangeArrowheads="1"/>
          </p:cNvSpPr>
          <p:nvPr/>
        </p:nvSpPr>
        <p:spPr bwMode="auto">
          <a:xfrm>
            <a:off x="6678613" y="4424363"/>
            <a:ext cx="1217612" cy="3635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VPN  PID</a:t>
            </a:r>
          </a:p>
        </p:txBody>
      </p:sp>
      <p:sp>
        <p:nvSpPr>
          <p:cNvPr id="1703978" name="Text Box 42"/>
          <p:cNvSpPr txBox="1">
            <a:spLocks noChangeArrowheads="1"/>
          </p:cNvSpPr>
          <p:nvPr/>
        </p:nvSpPr>
        <p:spPr bwMode="auto">
          <a:xfrm>
            <a:off x="214313" y="2357438"/>
            <a:ext cx="612775" cy="3857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sz="1800">
                <a:latin typeface="Verdana" charset="0"/>
              </a:rPr>
              <a:t>PID</a:t>
            </a:r>
          </a:p>
        </p:txBody>
      </p:sp>
      <p:sp>
        <p:nvSpPr>
          <p:cNvPr id="1703979" name="Rectangle 43"/>
          <p:cNvSpPr>
            <a:spLocks noGrp="1" noChangeArrowheads="1"/>
          </p:cNvSpPr>
          <p:nvPr>
            <p:ph type="body" idx="1"/>
          </p:nvPr>
        </p:nvSpPr>
        <p:spPr>
          <a:xfrm>
            <a:off x="457200" y="3733800"/>
            <a:ext cx="5691188" cy="2800350"/>
          </a:xfrm>
          <a:noFill/>
          <a:ln/>
        </p:spPr>
        <p:txBody>
          <a:bodyPr/>
          <a:lstStyle/>
          <a:p>
            <a:pPr marL="342900" indent="-342900"/>
            <a:r>
              <a:rPr lang="en-US" sz="2000" dirty="0"/>
              <a:t>Hashed Page Table is typically 2 to 3 times larger than the number of PPN’s to reduce collision probability </a:t>
            </a:r>
          </a:p>
          <a:p>
            <a:pPr marL="342900" indent="-342900"/>
            <a:r>
              <a:rPr lang="en-US" sz="2000" dirty="0"/>
              <a:t>It can also contain DPN’s for some non-resident pages </a:t>
            </a:r>
            <a:r>
              <a:rPr lang="en-US" sz="2000" i="1" dirty="0"/>
              <a:t>(not common)</a:t>
            </a:r>
            <a:endParaRPr lang="en-US" sz="2000" dirty="0"/>
          </a:p>
          <a:p>
            <a:pPr marL="342900" indent="-342900"/>
            <a:r>
              <a:rPr lang="en-US" sz="2000" dirty="0"/>
              <a:t>If a translation cannot be resolved in this table then the </a:t>
            </a:r>
            <a:r>
              <a:rPr lang="en-US" sz="2000" i="1" dirty="0"/>
              <a:t>software</a:t>
            </a:r>
            <a:r>
              <a:rPr lang="en-US" sz="2000" dirty="0"/>
              <a:t> consults a data structure that has an entry for every existing page (e.g., full page table)</a:t>
            </a:r>
          </a:p>
        </p:txBody>
      </p:sp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23BF6-7160-C547-A36B-6CA3DD074933}" type="slidenum">
              <a:rPr lang="en-US"/>
              <a:pPr/>
              <a:t>87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707010" name="Rectangle 2"/>
          <p:cNvSpPr>
            <a:spLocks noChangeArrowheads="1"/>
          </p:cNvSpPr>
          <p:nvPr/>
        </p:nvSpPr>
        <p:spPr bwMode="auto">
          <a:xfrm>
            <a:off x="585788" y="3009900"/>
            <a:ext cx="1865312" cy="317500"/>
          </a:xfrm>
          <a:prstGeom prst="rect">
            <a:avLst/>
          </a:prstGeom>
          <a:solidFill>
            <a:srgbClr val="FFCC6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11" name="Rectangle 3"/>
          <p:cNvSpPr>
            <a:spLocks noChangeArrowheads="1"/>
          </p:cNvSpPr>
          <p:nvPr/>
        </p:nvSpPr>
        <p:spPr bwMode="auto">
          <a:xfrm>
            <a:off x="571500" y="2978150"/>
            <a:ext cx="1901825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latin typeface="Verdana" charset="0"/>
              </a:rPr>
              <a:t>Base of Table</a:t>
            </a:r>
          </a:p>
        </p:txBody>
      </p:sp>
      <p:sp>
        <p:nvSpPr>
          <p:cNvPr id="1707012" name="Line 4"/>
          <p:cNvSpPr>
            <a:spLocks noChangeShapeType="1"/>
          </p:cNvSpPr>
          <p:nvPr/>
        </p:nvSpPr>
        <p:spPr bwMode="auto">
          <a:xfrm flipH="1">
            <a:off x="1676400" y="14478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13" name="Rectangle 5"/>
          <p:cNvSpPr>
            <a:spLocks noChangeArrowheads="1"/>
          </p:cNvSpPr>
          <p:nvPr/>
        </p:nvSpPr>
        <p:spPr bwMode="auto">
          <a:xfrm>
            <a:off x="7035800" y="2171700"/>
            <a:ext cx="1635125" cy="2019300"/>
          </a:xfrm>
          <a:prstGeom prst="rect">
            <a:avLst/>
          </a:prstGeom>
          <a:solidFill>
            <a:schemeClr val="accent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14" name="Rectangle 6" descr="Wide upward diagonal"/>
          <p:cNvSpPr>
            <a:spLocks noChangeArrowheads="1"/>
          </p:cNvSpPr>
          <p:nvPr/>
        </p:nvSpPr>
        <p:spPr bwMode="auto">
          <a:xfrm>
            <a:off x="7874000" y="2438400"/>
            <a:ext cx="788988" cy="228600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15" name="Rectangle 7"/>
          <p:cNvSpPr>
            <a:spLocks noChangeArrowheads="1"/>
          </p:cNvSpPr>
          <p:nvPr/>
        </p:nvSpPr>
        <p:spPr bwMode="auto">
          <a:xfrm>
            <a:off x="660400" y="1319213"/>
            <a:ext cx="1857375" cy="279400"/>
          </a:xfrm>
          <a:prstGeom prst="rect">
            <a:avLst/>
          </a:prstGeom>
          <a:solidFill>
            <a:srgbClr val="FFCC66"/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16" name="Rectangle 8"/>
          <p:cNvSpPr>
            <a:spLocks noGrp="1" noChangeArrowheads="1"/>
          </p:cNvSpPr>
          <p:nvPr>
            <p:ph type="title"/>
          </p:nvPr>
        </p:nvSpPr>
        <p:spPr>
          <a:xfrm>
            <a:off x="290513" y="463550"/>
            <a:ext cx="7162800" cy="715963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Power PC: Hashed Page Table</a:t>
            </a:r>
          </a:p>
        </p:txBody>
      </p:sp>
      <p:sp>
        <p:nvSpPr>
          <p:cNvPr id="1707017" name="Rectangle 9"/>
          <p:cNvSpPr>
            <a:spLocks noChangeArrowheads="1"/>
          </p:cNvSpPr>
          <p:nvPr/>
        </p:nvSpPr>
        <p:spPr bwMode="auto">
          <a:xfrm>
            <a:off x="1347788" y="1955800"/>
            <a:ext cx="720725" cy="774700"/>
          </a:xfrm>
          <a:prstGeom prst="rect">
            <a:avLst/>
          </a:prstGeom>
          <a:solidFill>
            <a:srgbClr val="FFCC66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18" name="Rectangle 10"/>
          <p:cNvSpPr>
            <a:spLocks noChangeArrowheads="1"/>
          </p:cNvSpPr>
          <p:nvPr/>
        </p:nvSpPr>
        <p:spPr bwMode="auto">
          <a:xfrm>
            <a:off x="1335088" y="2139950"/>
            <a:ext cx="787400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latin typeface="Verdana" charset="0"/>
              </a:rPr>
              <a:t>hash</a:t>
            </a:r>
          </a:p>
        </p:txBody>
      </p:sp>
      <p:sp>
        <p:nvSpPr>
          <p:cNvPr id="1707019" name="Line 11"/>
          <p:cNvSpPr>
            <a:spLocks noChangeShapeType="1"/>
          </p:cNvSpPr>
          <p:nvPr/>
        </p:nvSpPr>
        <p:spPr bwMode="auto">
          <a:xfrm>
            <a:off x="2135188" y="2298700"/>
            <a:ext cx="15748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20" name="Rectangle 12"/>
          <p:cNvSpPr>
            <a:spLocks noChangeArrowheads="1"/>
          </p:cNvSpPr>
          <p:nvPr/>
        </p:nvSpPr>
        <p:spPr bwMode="auto">
          <a:xfrm>
            <a:off x="2413000" y="1936750"/>
            <a:ext cx="942975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Offset</a:t>
            </a:r>
          </a:p>
        </p:txBody>
      </p:sp>
      <p:sp>
        <p:nvSpPr>
          <p:cNvPr id="1707021" name="Oval 13"/>
          <p:cNvSpPr>
            <a:spLocks noChangeArrowheads="1"/>
          </p:cNvSpPr>
          <p:nvPr/>
        </p:nvSpPr>
        <p:spPr bwMode="auto">
          <a:xfrm>
            <a:off x="3798888" y="2057400"/>
            <a:ext cx="550862" cy="558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22" name="Freeform 14"/>
          <p:cNvSpPr>
            <a:spLocks/>
          </p:cNvSpPr>
          <p:nvPr/>
        </p:nvSpPr>
        <p:spPr bwMode="auto">
          <a:xfrm>
            <a:off x="2463800" y="2616200"/>
            <a:ext cx="1516063" cy="598488"/>
          </a:xfrm>
          <a:custGeom>
            <a:avLst/>
            <a:gdLst/>
            <a:ahLst/>
            <a:cxnLst>
              <a:cxn ang="0">
                <a:pos x="0" y="352"/>
              </a:cxn>
              <a:cxn ang="0">
                <a:pos x="984" y="352"/>
              </a:cxn>
              <a:cxn ang="0">
                <a:pos x="984" y="0"/>
              </a:cxn>
            </a:cxnLst>
            <a:rect l="0" t="0" r="r" b="b"/>
            <a:pathLst>
              <a:path w="985" h="353">
                <a:moveTo>
                  <a:pt x="0" y="352"/>
                </a:moveTo>
                <a:lnTo>
                  <a:pt x="984" y="352"/>
                </a:lnTo>
                <a:lnTo>
                  <a:pt x="984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23" name="Rectangle 15"/>
          <p:cNvSpPr>
            <a:spLocks noChangeArrowheads="1"/>
          </p:cNvSpPr>
          <p:nvPr/>
        </p:nvSpPr>
        <p:spPr bwMode="auto">
          <a:xfrm>
            <a:off x="3806825" y="2016125"/>
            <a:ext cx="514350" cy="5762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3200">
                <a:latin typeface="Verdana" charset="0"/>
              </a:rPr>
              <a:t>+</a:t>
            </a:r>
          </a:p>
        </p:txBody>
      </p:sp>
      <p:sp>
        <p:nvSpPr>
          <p:cNvPr id="1707024" name="Rectangle 16"/>
          <p:cNvSpPr>
            <a:spLocks noChangeArrowheads="1"/>
          </p:cNvSpPr>
          <p:nvPr/>
        </p:nvSpPr>
        <p:spPr bwMode="auto">
          <a:xfrm>
            <a:off x="4489450" y="1911350"/>
            <a:ext cx="1427163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PA of Slot</a:t>
            </a:r>
          </a:p>
        </p:txBody>
      </p:sp>
      <p:sp>
        <p:nvSpPr>
          <p:cNvPr id="1707025" name="Line 17"/>
          <p:cNvSpPr>
            <a:spLocks noChangeShapeType="1"/>
          </p:cNvSpPr>
          <p:nvPr/>
        </p:nvSpPr>
        <p:spPr bwMode="auto">
          <a:xfrm>
            <a:off x="4395788" y="2324100"/>
            <a:ext cx="17907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26" name="Rectangle 18"/>
          <p:cNvSpPr>
            <a:spLocks noChangeArrowheads="1"/>
          </p:cNvSpPr>
          <p:nvPr/>
        </p:nvSpPr>
        <p:spPr bwMode="auto">
          <a:xfrm>
            <a:off x="6937375" y="1447800"/>
            <a:ext cx="1779588" cy="4724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27" name="Rectangle 19"/>
          <p:cNvSpPr>
            <a:spLocks noChangeArrowheads="1"/>
          </p:cNvSpPr>
          <p:nvPr/>
        </p:nvSpPr>
        <p:spPr bwMode="auto">
          <a:xfrm>
            <a:off x="7239000" y="5334000"/>
            <a:ext cx="1411288" cy="8191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>
                <a:latin typeface="Verdana" charset="0"/>
              </a:rPr>
              <a:t>Primary</a:t>
            </a:r>
          </a:p>
          <a:p>
            <a:pPr algn="l">
              <a:spcBef>
                <a:spcPct val="0"/>
              </a:spcBef>
            </a:pPr>
            <a:r>
              <a:rPr lang="en-US" sz="2400">
                <a:latin typeface="Verdana" charset="0"/>
              </a:rPr>
              <a:t>Memory</a:t>
            </a:r>
          </a:p>
        </p:txBody>
      </p:sp>
      <p:sp>
        <p:nvSpPr>
          <p:cNvPr id="1707028" name="Rectangle 20"/>
          <p:cNvSpPr>
            <a:spLocks noChangeArrowheads="1"/>
          </p:cNvSpPr>
          <p:nvPr/>
        </p:nvSpPr>
        <p:spPr bwMode="auto">
          <a:xfrm>
            <a:off x="7038975" y="2185988"/>
            <a:ext cx="1611313" cy="304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29" name="Line 21"/>
          <p:cNvSpPr>
            <a:spLocks noChangeShapeType="1"/>
          </p:cNvSpPr>
          <p:nvPr/>
        </p:nvSpPr>
        <p:spPr bwMode="auto">
          <a:xfrm>
            <a:off x="7051675" y="2427288"/>
            <a:ext cx="159861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30" name="Line 22"/>
          <p:cNvSpPr>
            <a:spLocks noChangeShapeType="1"/>
          </p:cNvSpPr>
          <p:nvPr/>
        </p:nvSpPr>
        <p:spPr bwMode="auto">
          <a:xfrm>
            <a:off x="7038975" y="2681288"/>
            <a:ext cx="159861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31" name="Line 23"/>
          <p:cNvSpPr>
            <a:spLocks noChangeShapeType="1"/>
          </p:cNvSpPr>
          <p:nvPr/>
        </p:nvSpPr>
        <p:spPr bwMode="auto">
          <a:xfrm>
            <a:off x="7038975" y="2935288"/>
            <a:ext cx="159861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32" name="Line 24"/>
          <p:cNvSpPr>
            <a:spLocks noChangeShapeType="1"/>
          </p:cNvSpPr>
          <p:nvPr/>
        </p:nvSpPr>
        <p:spPr bwMode="auto">
          <a:xfrm>
            <a:off x="7038975" y="3189288"/>
            <a:ext cx="159861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33" name="Line 25"/>
          <p:cNvSpPr>
            <a:spLocks noChangeShapeType="1"/>
          </p:cNvSpPr>
          <p:nvPr/>
        </p:nvSpPr>
        <p:spPr bwMode="auto">
          <a:xfrm>
            <a:off x="7038975" y="3443288"/>
            <a:ext cx="159861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34" name="Line 26"/>
          <p:cNvSpPr>
            <a:spLocks noChangeShapeType="1"/>
          </p:cNvSpPr>
          <p:nvPr/>
        </p:nvSpPr>
        <p:spPr bwMode="auto">
          <a:xfrm>
            <a:off x="7038975" y="3697288"/>
            <a:ext cx="159861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35" name="Line 27"/>
          <p:cNvSpPr>
            <a:spLocks noChangeShapeType="1"/>
          </p:cNvSpPr>
          <p:nvPr/>
        </p:nvSpPr>
        <p:spPr bwMode="auto">
          <a:xfrm>
            <a:off x="7038975" y="3951288"/>
            <a:ext cx="159861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36" name="Line 28"/>
          <p:cNvSpPr>
            <a:spLocks noChangeShapeType="1"/>
          </p:cNvSpPr>
          <p:nvPr/>
        </p:nvSpPr>
        <p:spPr bwMode="auto">
          <a:xfrm>
            <a:off x="7038975" y="4205288"/>
            <a:ext cx="159861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37" name="Line 29"/>
          <p:cNvSpPr>
            <a:spLocks noChangeShapeType="1"/>
          </p:cNvSpPr>
          <p:nvPr/>
        </p:nvSpPr>
        <p:spPr bwMode="auto">
          <a:xfrm>
            <a:off x="7038975" y="4459288"/>
            <a:ext cx="159861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38" name="Line 30"/>
          <p:cNvSpPr>
            <a:spLocks noChangeShapeType="1"/>
          </p:cNvSpPr>
          <p:nvPr/>
        </p:nvSpPr>
        <p:spPr bwMode="auto">
          <a:xfrm>
            <a:off x="7038975" y="4713288"/>
            <a:ext cx="159861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39" name="Line 31"/>
          <p:cNvSpPr>
            <a:spLocks noChangeShapeType="1"/>
          </p:cNvSpPr>
          <p:nvPr/>
        </p:nvSpPr>
        <p:spPr bwMode="auto">
          <a:xfrm>
            <a:off x="7038975" y="4967288"/>
            <a:ext cx="159861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40" name="Rectangle 32"/>
          <p:cNvSpPr>
            <a:spLocks noChangeArrowheads="1"/>
          </p:cNvSpPr>
          <p:nvPr/>
        </p:nvSpPr>
        <p:spPr bwMode="auto">
          <a:xfrm>
            <a:off x="7011988" y="2112963"/>
            <a:ext cx="1735137" cy="3635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VPN        PPN</a:t>
            </a:r>
          </a:p>
        </p:txBody>
      </p:sp>
      <p:sp>
        <p:nvSpPr>
          <p:cNvPr id="1707041" name="Rectangle 33"/>
          <p:cNvSpPr>
            <a:spLocks noChangeArrowheads="1"/>
          </p:cNvSpPr>
          <p:nvPr/>
        </p:nvSpPr>
        <p:spPr bwMode="auto">
          <a:xfrm>
            <a:off x="6923088" y="1552575"/>
            <a:ext cx="1852612" cy="4540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>
                <a:latin typeface="Verdana" charset="0"/>
              </a:rPr>
              <a:t>Page Table</a:t>
            </a:r>
          </a:p>
        </p:txBody>
      </p:sp>
      <p:sp>
        <p:nvSpPr>
          <p:cNvPr id="1707042" name="Line 34"/>
          <p:cNvSpPr>
            <a:spLocks noChangeShapeType="1"/>
          </p:cNvSpPr>
          <p:nvPr/>
        </p:nvSpPr>
        <p:spPr bwMode="auto">
          <a:xfrm>
            <a:off x="7877175" y="2185988"/>
            <a:ext cx="0" cy="304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43" name="Rectangle 35"/>
          <p:cNvSpPr>
            <a:spLocks noChangeArrowheads="1"/>
          </p:cNvSpPr>
          <p:nvPr/>
        </p:nvSpPr>
        <p:spPr bwMode="auto">
          <a:xfrm>
            <a:off x="660400" y="1319213"/>
            <a:ext cx="2765425" cy="2921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44" name="Line 36"/>
          <p:cNvSpPr>
            <a:spLocks noChangeShapeType="1"/>
          </p:cNvSpPr>
          <p:nvPr/>
        </p:nvSpPr>
        <p:spPr bwMode="auto">
          <a:xfrm>
            <a:off x="2514600" y="1331913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45" name="Rectangle 37"/>
          <p:cNvSpPr>
            <a:spLocks noChangeArrowheads="1"/>
          </p:cNvSpPr>
          <p:nvPr/>
        </p:nvSpPr>
        <p:spPr bwMode="auto">
          <a:xfrm>
            <a:off x="1271588" y="1274763"/>
            <a:ext cx="1878012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latin typeface="Verdana" charset="0"/>
              </a:rPr>
              <a:t>VPN	       d</a:t>
            </a:r>
          </a:p>
        </p:txBody>
      </p:sp>
      <p:sp>
        <p:nvSpPr>
          <p:cNvPr id="1707046" name="Rectangle 38"/>
          <p:cNvSpPr>
            <a:spLocks noChangeArrowheads="1"/>
          </p:cNvSpPr>
          <p:nvPr/>
        </p:nvSpPr>
        <p:spPr bwMode="auto">
          <a:xfrm>
            <a:off x="3617913" y="1274763"/>
            <a:ext cx="1384300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80-bit VA</a:t>
            </a:r>
          </a:p>
        </p:txBody>
      </p:sp>
      <p:sp>
        <p:nvSpPr>
          <p:cNvPr id="1707047" name="Rectangle 39"/>
          <p:cNvSpPr>
            <a:spLocks noChangeArrowheads="1"/>
          </p:cNvSpPr>
          <p:nvPr/>
        </p:nvSpPr>
        <p:spPr bwMode="auto">
          <a:xfrm>
            <a:off x="7011988" y="2354263"/>
            <a:ext cx="646112" cy="3635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VPN</a:t>
            </a:r>
          </a:p>
        </p:txBody>
      </p:sp>
      <p:sp>
        <p:nvSpPr>
          <p:cNvPr id="1707048" name="Freeform 40"/>
          <p:cNvSpPr>
            <a:spLocks/>
          </p:cNvSpPr>
          <p:nvPr/>
        </p:nvSpPr>
        <p:spPr bwMode="auto">
          <a:xfrm>
            <a:off x="6299200" y="2184400"/>
            <a:ext cx="698500" cy="2020888"/>
          </a:xfrm>
          <a:custGeom>
            <a:avLst/>
            <a:gdLst/>
            <a:ahLst/>
            <a:cxnLst>
              <a:cxn ang="0">
                <a:pos x="448" y="0"/>
              </a:cxn>
              <a:cxn ang="0">
                <a:pos x="0" y="88"/>
              </a:cxn>
              <a:cxn ang="0">
                <a:pos x="464" y="1272"/>
              </a:cxn>
            </a:cxnLst>
            <a:rect l="0" t="0" r="r" b="b"/>
            <a:pathLst>
              <a:path w="465" h="1273">
                <a:moveTo>
                  <a:pt x="448" y="0"/>
                </a:moveTo>
                <a:lnTo>
                  <a:pt x="0" y="88"/>
                </a:lnTo>
                <a:lnTo>
                  <a:pt x="464" y="1272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49" name="Rectangle 41"/>
          <p:cNvSpPr>
            <a:spLocks noGrp="1" noChangeArrowheads="1"/>
          </p:cNvSpPr>
          <p:nvPr>
            <p:ph type="body" idx="1"/>
          </p:nvPr>
        </p:nvSpPr>
        <p:spPr>
          <a:xfrm>
            <a:off x="293688" y="3535363"/>
            <a:ext cx="6238875" cy="3154362"/>
          </a:xfrm>
          <a:noFill/>
          <a:ln/>
        </p:spPr>
        <p:txBody>
          <a:bodyPr/>
          <a:lstStyle/>
          <a:p>
            <a:pPr marL="342900" indent="-342900"/>
            <a:r>
              <a:rPr lang="en-US" sz="1800"/>
              <a:t>Each hash table slot has 8 PTE's &lt;VPN,PPN&gt; that are searched sequentially</a:t>
            </a:r>
          </a:p>
          <a:p>
            <a:pPr marL="342900" indent="-342900"/>
            <a:r>
              <a:rPr lang="en-US" sz="1800"/>
              <a:t>If the first hash slot fails, an alternate hash function is used to look in another slot</a:t>
            </a:r>
          </a:p>
          <a:p>
            <a:pPr marL="342900" indent="-342900">
              <a:buFontTx/>
              <a:buNone/>
            </a:pPr>
            <a:r>
              <a:rPr lang="en-US" sz="1800"/>
              <a:t>		</a:t>
            </a:r>
            <a:r>
              <a:rPr lang="en-US" sz="1800" i="1">
                <a:solidFill>
                  <a:srgbClr val="56127A"/>
                </a:solidFill>
              </a:rPr>
              <a:t>All these steps are done in hardware!</a:t>
            </a:r>
            <a:endParaRPr lang="en-US" sz="1800">
              <a:solidFill>
                <a:srgbClr val="56127A"/>
              </a:solidFill>
            </a:endParaRPr>
          </a:p>
          <a:p>
            <a:pPr marL="342900" indent="-342900"/>
            <a:r>
              <a:rPr lang="en-US" sz="1800"/>
              <a:t>Hashed Table is typically 2 to 3 times larger than the number of physical pages</a:t>
            </a:r>
          </a:p>
          <a:p>
            <a:pPr marL="342900" indent="-342900"/>
            <a:r>
              <a:rPr lang="en-US" sz="1800"/>
              <a:t>The full backup Page Table is a software data structure</a:t>
            </a:r>
          </a:p>
        </p:txBody>
      </p:sp>
    </p:spTree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7C292-5A97-AF4B-B646-5416C312B6DF}" type="slidenum">
              <a:rPr lang="en-US"/>
              <a:pPr/>
              <a:t>88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7408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292975" cy="736600"/>
          </a:xfrm>
        </p:spPr>
        <p:txBody>
          <a:bodyPr/>
          <a:lstStyle/>
          <a:p>
            <a:r>
              <a:rPr lang="en-US" sz="4000"/>
              <a:t>VM features track historical uses:</a:t>
            </a:r>
          </a:p>
        </p:txBody>
      </p:sp>
      <p:sp>
        <p:nvSpPr>
          <p:cNvPr id="1740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609600"/>
            <a:ext cx="8458200" cy="58674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000"/>
              <a:t>Bare machine, only physical addresses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1800"/>
              <a:t>One program owned entire machine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000"/>
              <a:t>Batch-style multiprogramming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1800"/>
              <a:t>Several programs sharing CPU while waiting for I/O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1800"/>
              <a:t>Base &amp; bound: translation and protection between programs (not virtual memory)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1800"/>
              <a:t>Problem with external fragmentation (holes in memory), needed occasional memory defragmentation as new jobs arrived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000"/>
              <a:t>Time sharing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1800"/>
              <a:t>More interactive programs, waiting for user.  Also, more jobs/second.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1800"/>
              <a:t>Motivated move to fixed-size page translation and protection, no external fragmentation (but now internal fragmentation, wasted bytes in page)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1800"/>
              <a:t>Motivated adoption of virtual memory to allow more jobs to share limited physical memory resources while holding working set in memory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000"/>
              <a:t>Virtual Machine Monitors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1800"/>
              <a:t>Run multiple operating systems on one machine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1800"/>
              <a:t>Idea from 1970s IBM mainframes, now common on laptops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sz="1600"/>
              <a:t>e.g., run Windows on top of Mac OS X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1800"/>
              <a:t>Hardware support for two levels of translation/protection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sz="1600"/>
              <a:t>Guest OS virtual -&gt; Guest OS physical -&gt; Host machine physical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7F81-F048-1741-80CD-FA44E02BA9FD}" type="slidenum">
              <a:rPr lang="en-US"/>
              <a:pPr/>
              <a:t>89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70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 Memory Use Today - 1</a:t>
            </a:r>
          </a:p>
        </p:txBody>
      </p:sp>
      <p:sp>
        <p:nvSpPr>
          <p:cNvPr id="1708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6913" y="1298575"/>
            <a:ext cx="8128000" cy="5219700"/>
          </a:xfrm>
          <a:noFill/>
          <a:ln/>
        </p:spPr>
        <p:txBody>
          <a:bodyPr anchor="ctr"/>
          <a:lstStyle/>
          <a:p>
            <a:r>
              <a:rPr lang="en-US" sz="2400"/>
              <a:t>Servers/desktops/laptops/</a:t>
            </a:r>
            <a:r>
              <a:rPr lang="en-US" sz="2400" err="1"/>
              <a:t>smartphones</a:t>
            </a:r>
            <a:r>
              <a:rPr lang="en-US" sz="2400"/>
              <a:t> have full demand-paged virtual memory</a:t>
            </a:r>
          </a:p>
          <a:p>
            <a:pPr lvl="1"/>
            <a:r>
              <a:rPr lang="en-US" sz="2000"/>
              <a:t>Portability between machines with different memory sizes</a:t>
            </a:r>
          </a:p>
          <a:p>
            <a:pPr lvl="1"/>
            <a:r>
              <a:rPr lang="en-US" sz="2000"/>
              <a:t>Protection between multiple users or multiple tasks</a:t>
            </a:r>
          </a:p>
          <a:p>
            <a:pPr lvl="1"/>
            <a:r>
              <a:rPr lang="en-US" sz="2000"/>
              <a:t>Share small physical memory among active tasks</a:t>
            </a:r>
          </a:p>
          <a:p>
            <a:pPr lvl="1"/>
            <a:r>
              <a:rPr lang="en-US" sz="2000"/>
              <a:t>Simplifies implementation of some OS features</a:t>
            </a:r>
          </a:p>
          <a:p>
            <a:r>
              <a:rPr lang="en-US" sz="2400"/>
              <a:t>Vector supercomputers have translation and protection but rarely complete demand-paging</a:t>
            </a:r>
          </a:p>
          <a:p>
            <a:r>
              <a:rPr lang="en-US" sz="1600"/>
              <a:t>(Older </a:t>
            </a:r>
            <a:r>
              <a:rPr lang="en-US" sz="1600" err="1"/>
              <a:t>Crays</a:t>
            </a:r>
            <a:r>
              <a:rPr lang="en-US" sz="1600"/>
              <a:t>: </a:t>
            </a:r>
            <a:r>
              <a:rPr lang="en-US" sz="1600" err="1"/>
              <a:t>base&amp;bound</a:t>
            </a:r>
            <a:r>
              <a:rPr lang="en-US" sz="1600"/>
              <a:t>, Japanese &amp; Cray X1/X2: pages)</a:t>
            </a:r>
            <a:endParaRPr lang="en-US" sz="2400"/>
          </a:p>
          <a:p>
            <a:pPr lvl="1"/>
            <a:r>
              <a:rPr lang="en-US" sz="2000"/>
              <a:t>Don’t waste expensive CPU time thrashing to disk (make jobs fit in memory)</a:t>
            </a:r>
          </a:p>
          <a:p>
            <a:pPr lvl="1"/>
            <a:r>
              <a:rPr lang="en-US" sz="2000"/>
              <a:t>Mostly run in batch mode (run set of jobs that fits in memory)</a:t>
            </a:r>
          </a:p>
          <a:p>
            <a:pPr lvl="1"/>
            <a:r>
              <a:rPr lang="en-US" sz="2000"/>
              <a:t>Difficult to implement </a:t>
            </a:r>
            <a:r>
              <a:rPr lang="en-US" sz="2000" err="1"/>
              <a:t>restartable</a:t>
            </a:r>
            <a:r>
              <a:rPr lang="en-US" sz="2000"/>
              <a:t> vector instructions</a:t>
            </a:r>
          </a:p>
          <a:p>
            <a:pPr lvl="1"/>
            <a:endParaRPr lang="en-US" sz="12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5C06-5AF4-B39E-DDAA-29C7E23DF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C9F0B-BB9A-BCD9-E231-1081B7ACB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Chip multiprocessors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0A411-7D9C-B56C-57C5-66A9D7659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2025-09-08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420C37-3314-171A-C005-A419493B7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681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NCDC Theme</Template>
  <TotalTime>3513</TotalTime>
  <Words>7267</Words>
  <Application>Microsoft Office PowerPoint</Application>
  <PresentationFormat>On-screen Show (4:3)</PresentationFormat>
  <Paragraphs>1559</Paragraphs>
  <Slides>90</Slides>
  <Notes>52</Notes>
  <HiddenSlides>1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104" baseType="lpstr">
      <vt:lpstr>AppleMyungjo</vt:lpstr>
      <vt:lpstr>굴림</vt:lpstr>
      <vt:lpstr>Marker Felt</vt:lpstr>
      <vt:lpstr>Times-Roman</vt:lpstr>
      <vt:lpstr>ヒラギノ角ゴ Pro W3</vt:lpstr>
      <vt:lpstr>Arial</vt:lpstr>
      <vt:lpstr>Calibri</vt:lpstr>
      <vt:lpstr>Comic Sans MS</vt:lpstr>
      <vt:lpstr>Courier New</vt:lpstr>
      <vt:lpstr>Helvetica</vt:lpstr>
      <vt:lpstr>Symbol</vt:lpstr>
      <vt:lpstr>Times</vt:lpstr>
      <vt:lpstr>Verdana</vt:lpstr>
      <vt:lpstr>Office-tema</vt:lpstr>
      <vt:lpstr>Memory Hierarchies</vt:lpstr>
      <vt:lpstr>Contents</vt:lpstr>
      <vt:lpstr>Core Memory</vt:lpstr>
      <vt:lpstr>State of the art SSD</vt:lpstr>
      <vt:lpstr>DRAM (Laptops/Desktops/Servers)</vt:lpstr>
      <vt:lpstr>DRAM Architecture</vt:lpstr>
      <vt:lpstr>DRAM Operation</vt:lpstr>
      <vt:lpstr>Double-Data Rate (DDR2) DRAM</vt:lpstr>
      <vt:lpstr>Addressing the Processor-Memory Performance GAP </vt:lpstr>
      <vt:lpstr>Levels of the Memory Hierarchy</vt:lpstr>
      <vt:lpstr>Typical Memory Hierarchy</vt:lpstr>
      <vt:lpstr>CPU-Memory Bottleneck</vt:lpstr>
      <vt:lpstr>Physical Size Affects Latency</vt:lpstr>
      <vt:lpstr>Memory Hierarchy</vt:lpstr>
      <vt:lpstr>In summary</vt:lpstr>
      <vt:lpstr>Contents</vt:lpstr>
      <vt:lpstr>Common Predictable Patterns</vt:lpstr>
      <vt:lpstr>Memory Reference Patterns</vt:lpstr>
      <vt:lpstr>PowerPoint Presentation</vt:lpstr>
      <vt:lpstr>Cache Algorithm (Read)</vt:lpstr>
      <vt:lpstr>PowerPoint Presentation</vt:lpstr>
      <vt:lpstr>4 Questions for Memory Hierarchy</vt:lpstr>
      <vt:lpstr>Q1: Where can a block be placed?  </vt:lpstr>
      <vt:lpstr>Q2: How is a block found?</vt:lpstr>
      <vt:lpstr>Direct-Mapped Cache</vt:lpstr>
      <vt:lpstr>2-Way Set-Associative Cache</vt:lpstr>
      <vt:lpstr>Fully Associative Cache</vt:lpstr>
      <vt:lpstr>What causes a MISS?</vt:lpstr>
      <vt:lpstr>Block Size and Spatial Locality</vt:lpstr>
      <vt:lpstr>Q3: Which block should be replaced on a miss?</vt:lpstr>
      <vt:lpstr>Write Through and Write Back Topologies</vt:lpstr>
      <vt:lpstr>Q4: What happens on a write?</vt:lpstr>
      <vt:lpstr>Write Policy Choices </vt:lpstr>
      <vt:lpstr>5 Basic Cache Optimizations</vt:lpstr>
      <vt:lpstr>CPU-Cache Interaction (5-stage pipeline)</vt:lpstr>
      <vt:lpstr>Improving Cache Performance</vt:lpstr>
      <vt:lpstr>Serial-versus-Parallel Cache and Memory access</vt:lpstr>
      <vt:lpstr>Causes for Cache Misses</vt:lpstr>
      <vt:lpstr>Effect of Cache Parameters on Performance (Review)</vt:lpstr>
      <vt:lpstr>Write Performance</vt:lpstr>
      <vt:lpstr>Reducing Write Hit Time</vt:lpstr>
      <vt:lpstr>Pipelining Cache Writes</vt:lpstr>
      <vt:lpstr>Write Buffer to Reduce Read Miss Penalty</vt:lpstr>
      <vt:lpstr>Presence of L2 influences L1 design</vt:lpstr>
      <vt:lpstr>Inclusion Policy</vt:lpstr>
      <vt:lpstr>Reduce miss penalty of long blocks</vt:lpstr>
      <vt:lpstr>Non-blocking Caches</vt:lpstr>
      <vt:lpstr>Non-blocking caches</vt:lpstr>
      <vt:lpstr>Itanium-2 On-Chip Caches (Intel/HP, 2002)</vt:lpstr>
      <vt:lpstr>Power 7 On-Chip Caches [IBM 2009]</vt:lpstr>
      <vt:lpstr>Prefetching</vt:lpstr>
      <vt:lpstr>Issues in Prefetching</vt:lpstr>
      <vt:lpstr>Hardware Instruction Prefetching</vt:lpstr>
      <vt:lpstr>Hardware Data Prefetching</vt:lpstr>
      <vt:lpstr>Software Prefetching</vt:lpstr>
      <vt:lpstr>Software Prefetching Issues</vt:lpstr>
      <vt:lpstr>Contents</vt:lpstr>
      <vt:lpstr>PowerPoint Presentation</vt:lpstr>
      <vt:lpstr>Bare Machine</vt:lpstr>
      <vt:lpstr>Base and Bound Scheme</vt:lpstr>
      <vt:lpstr>Base and Bound Scheme</vt:lpstr>
      <vt:lpstr>Modern Virtual Memory Systems  Illusion of a large, private, uniform store</vt:lpstr>
      <vt:lpstr>Page tables encode virtual address spaces</vt:lpstr>
      <vt:lpstr>Page tables encode virtual address spaces</vt:lpstr>
      <vt:lpstr>Details of Page Table</vt:lpstr>
      <vt:lpstr>VM and Disk: Page replacement policy</vt:lpstr>
      <vt:lpstr>Page tables may not fit in memory!</vt:lpstr>
      <vt:lpstr>Hierarchical Page Table</vt:lpstr>
      <vt:lpstr>Inverted Page Table</vt:lpstr>
      <vt:lpstr>Inverted Page Table</vt:lpstr>
      <vt:lpstr>Translation Lookaside Buffer</vt:lpstr>
      <vt:lpstr>Page-Based Virtual-Memory Machine (Hardware Page-Table Walk)</vt:lpstr>
      <vt:lpstr>Address Translation: putting it all together</vt:lpstr>
      <vt:lpstr>Page Fault Handler</vt:lpstr>
      <vt:lpstr>Handling VM-related exceptions</vt:lpstr>
      <vt:lpstr>Address Translation in CPU Pipeline</vt:lpstr>
      <vt:lpstr>Virtual-Address Caches</vt:lpstr>
      <vt:lpstr>Virtually Addressed Cache (Virtual Index/Virtual Tag)</vt:lpstr>
      <vt:lpstr>Aliasing in Virtual-Address Caches</vt:lpstr>
      <vt:lpstr>Concurrent Access to TLB &amp; Large L1 The problem with L1 &gt; Page size</vt:lpstr>
      <vt:lpstr>Concurrent Access to TLB &amp; Cache (Virtual Index/Physical Tag)</vt:lpstr>
      <vt:lpstr>Virtual-Index Physical-Tag Caches: Associative Organization</vt:lpstr>
      <vt:lpstr>A solution via Second Level Cache</vt:lpstr>
      <vt:lpstr>Anti-Aliasing Using L2: MIPS R10000</vt:lpstr>
      <vt:lpstr>Anti-Aliasing using L2 for a Virtually Addressed L1</vt:lpstr>
      <vt:lpstr>Hashed Page Table: Approximating Associative Addressing</vt:lpstr>
      <vt:lpstr>Power PC: Hashed Page Table</vt:lpstr>
      <vt:lpstr>VM features track historical uses:</vt:lpstr>
      <vt:lpstr>Virtual Memory Use Today - 1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6: Advanced memory hierarchies</dc:title>
  <dc:creator>matsbror</dc:creator>
  <cp:lastModifiedBy>Sharjeel Khilji</cp:lastModifiedBy>
  <cp:revision>16</cp:revision>
  <dcterms:created xsi:type="dcterms:W3CDTF">2008-04-28T19:16:05Z</dcterms:created>
  <dcterms:modified xsi:type="dcterms:W3CDTF">2025-09-08T10:58:16Z</dcterms:modified>
</cp:coreProperties>
</file>