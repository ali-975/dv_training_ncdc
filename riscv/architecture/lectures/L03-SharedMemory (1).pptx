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314" r:id="rId7"/>
    <p:sldId id="261" r:id="rId8"/>
    <p:sldId id="262" r:id="rId9"/>
    <p:sldId id="263" r:id="rId10"/>
    <p:sldId id="264" r:id="rId11"/>
    <p:sldId id="265" r:id="rId12"/>
    <p:sldId id="266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312" r:id="rId41"/>
    <p:sldId id="313" r:id="rId42"/>
    <p:sldId id="315" r:id="rId4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86BB85-AD21-4475-8823-3399A956F4B8}" v="9" dt="2025-09-03T09:21:37.63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76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jeel Khilji" userId="d7c9e5d0-931d-429e-91f4-ab214ce9376a" providerId="ADAL" clId="{A286BB85-AD21-4475-8823-3399A956F4B8}"/>
    <pc:docChg chg="modSld">
      <pc:chgData name="Sharjeel Khilji" userId="d7c9e5d0-931d-429e-91f4-ab214ce9376a" providerId="ADAL" clId="{A286BB85-AD21-4475-8823-3399A956F4B8}" dt="2025-09-03T09:21:49.036" v="104" actId="1076"/>
      <pc:docMkLst>
        <pc:docMk/>
      </pc:docMkLst>
      <pc:sldChg chg="addSp modSp mod">
        <pc:chgData name="Sharjeel Khilji" userId="d7c9e5d0-931d-429e-91f4-ab214ce9376a" providerId="ADAL" clId="{A286BB85-AD21-4475-8823-3399A956F4B8}" dt="2025-09-02T05:03:30.190" v="89" actId="1076"/>
        <pc:sldMkLst>
          <pc:docMk/>
          <pc:sldMk cId="0" sldId="256"/>
        </pc:sldMkLst>
        <pc:spChg chg="mod">
          <ac:chgData name="Sharjeel Khilji" userId="d7c9e5d0-931d-429e-91f4-ab214ce9376a" providerId="ADAL" clId="{A286BB85-AD21-4475-8823-3399A956F4B8}" dt="2025-09-02T05:03:18.666" v="88" actId="1076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Sharjeel Khilji" userId="d7c9e5d0-931d-429e-91f4-ab214ce9376a" providerId="ADAL" clId="{A286BB85-AD21-4475-8823-3399A956F4B8}" dt="2025-09-02T05:03:30.190" v="89" actId="1076"/>
          <ac:spMkLst>
            <pc:docMk/>
            <pc:sldMk cId="0" sldId="256"/>
            <ac:spMk id="4" creationId="{D01E8AA3-F297-D983-DF63-3FC0CA774CC2}"/>
          </ac:spMkLst>
        </pc:spChg>
      </pc:sldChg>
      <pc:sldChg chg="addSp modSp mod">
        <pc:chgData name="Sharjeel Khilji" userId="d7c9e5d0-931d-429e-91f4-ab214ce9376a" providerId="ADAL" clId="{A286BB85-AD21-4475-8823-3399A956F4B8}" dt="2025-09-03T09:21:49.036" v="104" actId="1076"/>
        <pc:sldMkLst>
          <pc:docMk/>
          <pc:sldMk cId="0" sldId="266"/>
        </pc:sldMkLst>
        <pc:spChg chg="add mod">
          <ac:chgData name="Sharjeel Khilji" userId="d7c9e5d0-931d-429e-91f4-ab214ce9376a" providerId="ADAL" clId="{A286BB85-AD21-4475-8823-3399A956F4B8}" dt="2025-09-03T09:21:49.036" v="104" actId="1076"/>
          <ac:spMkLst>
            <pc:docMk/>
            <pc:sldMk cId="0" sldId="266"/>
            <ac:spMk id="39" creationId="{6EBC3288-4791-3D95-5B44-F2F7566C225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B5613C-2773-45C3-8592-3EEEF7F40D31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2CCC4E-C6C6-4D64-A4B1-F7C59215C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129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CCC4E-C6C6-4D64-A4B1-F7C59215CA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47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33.png"/><Relationship Id="rId21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image" Target="../media/image32.png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33.png"/><Relationship Id="rId21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image" Target="../media/image32.png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310767" y="1066546"/>
            <a:ext cx="10160" cy="4495800"/>
          </a:xfrm>
          <a:custGeom>
            <a:avLst/>
            <a:gdLst/>
            <a:ahLst/>
            <a:cxnLst/>
            <a:rect l="l" t="t" r="r" b="b"/>
            <a:pathLst>
              <a:path w="10159" h="4495800">
                <a:moveTo>
                  <a:pt x="9905" y="4495800"/>
                </a:moveTo>
                <a:lnTo>
                  <a:pt x="9905" y="0"/>
                </a:lnTo>
                <a:lnTo>
                  <a:pt x="0" y="0"/>
                </a:lnTo>
                <a:lnTo>
                  <a:pt x="0" y="4495800"/>
                </a:lnTo>
                <a:lnTo>
                  <a:pt x="9905" y="4495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3648" y="2992882"/>
            <a:ext cx="201168" cy="20116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2099" y="2992882"/>
            <a:ext cx="201168" cy="20116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77874" y="2992882"/>
            <a:ext cx="201168" cy="20116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93648" y="3276346"/>
            <a:ext cx="201168" cy="20193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77874" y="3276346"/>
            <a:ext cx="201168" cy="2019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62099" y="3276346"/>
            <a:ext cx="201168" cy="20193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46325" y="3276346"/>
            <a:ext cx="201168" cy="20193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93648" y="3560571"/>
            <a:ext cx="201168" cy="20193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77874" y="3560571"/>
            <a:ext cx="201168" cy="201930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62099" y="3560571"/>
            <a:ext cx="201168" cy="20193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46325" y="3560571"/>
            <a:ext cx="201168" cy="20193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29777" y="3560571"/>
            <a:ext cx="201929" cy="201930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77874" y="3843273"/>
            <a:ext cx="201168" cy="203453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493648" y="3843273"/>
            <a:ext cx="201168" cy="203453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62099" y="3843273"/>
            <a:ext cx="201168" cy="203453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346325" y="3843273"/>
            <a:ext cx="201168" cy="203453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493648" y="4127500"/>
            <a:ext cx="201168" cy="203453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777874" y="4127500"/>
            <a:ext cx="201168" cy="203453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062099" y="4127500"/>
            <a:ext cx="201168" cy="203453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346325" y="4127500"/>
            <a:ext cx="201168" cy="203453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629777" y="4127500"/>
            <a:ext cx="201929" cy="203453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493648" y="4411726"/>
            <a:ext cx="201168" cy="201929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777874" y="4411726"/>
            <a:ext cx="201168" cy="201929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062099" y="4411726"/>
            <a:ext cx="201168" cy="201929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346325" y="4411726"/>
            <a:ext cx="201168" cy="201929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493648" y="4695951"/>
            <a:ext cx="201168" cy="201929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777874" y="4695951"/>
            <a:ext cx="201168" cy="201929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062099" y="4695951"/>
            <a:ext cx="201168" cy="201929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346325" y="4695951"/>
            <a:ext cx="201168" cy="201929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777874" y="4980177"/>
            <a:ext cx="201168" cy="201167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346325" y="4980177"/>
            <a:ext cx="201168" cy="201167"/>
          </a:xfrm>
          <a:prstGeom prst="rect">
            <a:avLst/>
          </a:prstGeom>
        </p:spPr>
      </p:pic>
      <p:sp>
        <p:nvSpPr>
          <p:cNvPr id="48" name="bg object 48"/>
          <p:cNvSpPr/>
          <p:nvPr/>
        </p:nvSpPr>
        <p:spPr>
          <a:xfrm>
            <a:off x="304939" y="2816098"/>
            <a:ext cx="8229600" cy="6985"/>
          </a:xfrm>
          <a:custGeom>
            <a:avLst/>
            <a:gdLst/>
            <a:ahLst/>
            <a:cxnLst/>
            <a:rect l="l" t="t" r="r" b="b"/>
            <a:pathLst>
              <a:path w="8229600" h="6985">
                <a:moveTo>
                  <a:pt x="8229600" y="6857"/>
                </a:moveTo>
                <a:lnTo>
                  <a:pt x="8229600" y="0"/>
                </a:lnTo>
                <a:lnTo>
                  <a:pt x="0" y="0"/>
                </a:lnTo>
                <a:lnTo>
                  <a:pt x="0" y="6858"/>
                </a:lnTo>
                <a:lnTo>
                  <a:pt x="8229600" y="68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80900" y="812291"/>
            <a:ext cx="4738370" cy="1488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rgbClr val="33006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25,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983578D1-7AC7-4902-AD64-7AA4DC8CEA91}" type="datetime1">
              <a:rPr lang="en-US" spc="-10" smtClean="0"/>
              <a:t>9/10/2025</a:t>
            </a:fld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33006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25,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B4F1FF6D-971E-4E4B-B65F-FFE90300590D}" type="datetime1">
              <a:rPr lang="en-US" spc="-10" smtClean="0"/>
              <a:t>9/10/2025</a:t>
            </a:fld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33006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25,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B8B166C0-3948-4B58-951C-9488D7BF791E}" type="datetime1">
              <a:rPr lang="en-US" spc="-10" smtClean="0"/>
              <a:t>9/10/2025</a:t>
            </a:fld>
            <a:endParaRPr spc="-1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310767" y="1066546"/>
            <a:ext cx="10160" cy="4495800"/>
          </a:xfrm>
          <a:custGeom>
            <a:avLst/>
            <a:gdLst/>
            <a:ahLst/>
            <a:cxnLst/>
            <a:rect l="l" t="t" r="r" b="b"/>
            <a:pathLst>
              <a:path w="10159" h="4495800">
                <a:moveTo>
                  <a:pt x="9905" y="4495800"/>
                </a:moveTo>
                <a:lnTo>
                  <a:pt x="9905" y="0"/>
                </a:lnTo>
                <a:lnTo>
                  <a:pt x="0" y="0"/>
                </a:lnTo>
                <a:lnTo>
                  <a:pt x="0" y="4495800"/>
                </a:lnTo>
                <a:lnTo>
                  <a:pt x="9905" y="4495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3648" y="2992882"/>
            <a:ext cx="201168" cy="20116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62099" y="2992882"/>
            <a:ext cx="201168" cy="20116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77874" y="2992882"/>
            <a:ext cx="201168" cy="20116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93648" y="3276346"/>
            <a:ext cx="201168" cy="20193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77874" y="3276346"/>
            <a:ext cx="201168" cy="2019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62099" y="3276346"/>
            <a:ext cx="201168" cy="20193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46325" y="3276346"/>
            <a:ext cx="201168" cy="20193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93648" y="3560571"/>
            <a:ext cx="201168" cy="20193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77874" y="3560571"/>
            <a:ext cx="201168" cy="201930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62099" y="3560571"/>
            <a:ext cx="201168" cy="20193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46325" y="3560571"/>
            <a:ext cx="201168" cy="20193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29777" y="3560571"/>
            <a:ext cx="201929" cy="201930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77874" y="3843273"/>
            <a:ext cx="201168" cy="203453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493648" y="3843273"/>
            <a:ext cx="201168" cy="203453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62099" y="3843273"/>
            <a:ext cx="201168" cy="203453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346325" y="3843273"/>
            <a:ext cx="201168" cy="203453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493648" y="4127500"/>
            <a:ext cx="201168" cy="203453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777874" y="4127500"/>
            <a:ext cx="201168" cy="203453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062099" y="4127500"/>
            <a:ext cx="201168" cy="203453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346325" y="4127500"/>
            <a:ext cx="201168" cy="203453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629777" y="4127500"/>
            <a:ext cx="201929" cy="203453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493648" y="4411726"/>
            <a:ext cx="201168" cy="201929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777874" y="4411726"/>
            <a:ext cx="201168" cy="201929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062099" y="4411726"/>
            <a:ext cx="201168" cy="201929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346325" y="4411726"/>
            <a:ext cx="201168" cy="201929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493648" y="4695951"/>
            <a:ext cx="201168" cy="201929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777874" y="4695951"/>
            <a:ext cx="201168" cy="201929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062099" y="4695951"/>
            <a:ext cx="201168" cy="201929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346325" y="4695951"/>
            <a:ext cx="201168" cy="201929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777874" y="4980177"/>
            <a:ext cx="201168" cy="201167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346325" y="4980177"/>
            <a:ext cx="201168" cy="201167"/>
          </a:xfrm>
          <a:prstGeom prst="rect">
            <a:avLst/>
          </a:prstGeom>
        </p:spPr>
      </p:pic>
      <p:sp>
        <p:nvSpPr>
          <p:cNvPr id="48" name="bg object 48"/>
          <p:cNvSpPr/>
          <p:nvPr/>
        </p:nvSpPr>
        <p:spPr>
          <a:xfrm>
            <a:off x="304939" y="2816098"/>
            <a:ext cx="8229600" cy="6985"/>
          </a:xfrm>
          <a:custGeom>
            <a:avLst/>
            <a:gdLst/>
            <a:ahLst/>
            <a:cxnLst/>
            <a:rect l="l" t="t" r="r" b="b"/>
            <a:pathLst>
              <a:path w="8229600" h="6985">
                <a:moveTo>
                  <a:pt x="8229600" y="6857"/>
                </a:moveTo>
                <a:lnTo>
                  <a:pt x="8229600" y="0"/>
                </a:lnTo>
                <a:lnTo>
                  <a:pt x="0" y="0"/>
                </a:lnTo>
                <a:lnTo>
                  <a:pt x="0" y="6858"/>
                </a:lnTo>
                <a:lnTo>
                  <a:pt x="8229600" y="68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33006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25,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04F2E42A-7F7A-4A1B-BD58-3A8D98566099}" type="datetime1">
              <a:rPr lang="en-US" spc="-10" smtClean="0"/>
              <a:t>9/10/2025</a:t>
            </a:fld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25,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0D47C617-3B7D-41C3-BA32-823F4D58B60F}" type="datetime1">
              <a:rPr lang="en-US" spc="-10" smtClean="0"/>
              <a:t>9/10/2025</a:t>
            </a:fld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26" Type="http://schemas.openxmlformats.org/officeDocument/2006/relationships/image" Target="../media/image20.png"/><Relationship Id="rId21" Type="http://schemas.openxmlformats.org/officeDocument/2006/relationships/image" Target="../media/image15.png"/><Relationship Id="rId34" Type="http://schemas.openxmlformats.org/officeDocument/2006/relationships/image" Target="../media/image28.png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5" Type="http://schemas.openxmlformats.org/officeDocument/2006/relationships/image" Target="../media/image19.png"/><Relationship Id="rId3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29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24" Type="http://schemas.openxmlformats.org/officeDocument/2006/relationships/image" Target="../media/image18.png"/><Relationship Id="rId32" Type="http://schemas.openxmlformats.org/officeDocument/2006/relationships/image" Target="../media/image26.png"/><Relationship Id="rId37" Type="http://schemas.openxmlformats.org/officeDocument/2006/relationships/image" Target="../media/image31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23" Type="http://schemas.openxmlformats.org/officeDocument/2006/relationships/image" Target="../media/image17.png"/><Relationship Id="rId28" Type="http://schemas.openxmlformats.org/officeDocument/2006/relationships/image" Target="../media/image22.png"/><Relationship Id="rId36" Type="http://schemas.openxmlformats.org/officeDocument/2006/relationships/image" Target="../media/image30.png"/><Relationship Id="rId10" Type="http://schemas.openxmlformats.org/officeDocument/2006/relationships/image" Target="../media/image4.png"/><Relationship Id="rId19" Type="http://schemas.openxmlformats.org/officeDocument/2006/relationships/image" Target="../media/image13.png"/><Relationship Id="rId31" Type="http://schemas.openxmlformats.org/officeDocument/2006/relationships/image" Target="../media/image25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Relationship Id="rId22" Type="http://schemas.openxmlformats.org/officeDocument/2006/relationships/image" Target="../media/image16.png"/><Relationship Id="rId27" Type="http://schemas.openxmlformats.org/officeDocument/2006/relationships/image" Target="../media/image21.png"/><Relationship Id="rId30" Type="http://schemas.openxmlformats.org/officeDocument/2006/relationships/image" Target="../media/image24.png"/><Relationship Id="rId35" Type="http://schemas.openxmlformats.org/officeDocument/2006/relationships/image" Target="../media/image29.png"/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958467" y="152145"/>
            <a:ext cx="10160" cy="1524000"/>
          </a:xfrm>
          <a:custGeom>
            <a:avLst/>
            <a:gdLst/>
            <a:ahLst/>
            <a:cxnLst/>
            <a:rect l="l" t="t" r="r" b="b"/>
            <a:pathLst>
              <a:path w="10159" h="1524000">
                <a:moveTo>
                  <a:pt x="9905" y="1524000"/>
                </a:moveTo>
                <a:lnTo>
                  <a:pt x="9905" y="0"/>
                </a:lnTo>
                <a:lnTo>
                  <a:pt x="0" y="0"/>
                </a:lnTo>
                <a:lnTo>
                  <a:pt x="0" y="1524000"/>
                </a:lnTo>
                <a:lnTo>
                  <a:pt x="9905" y="1524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53527" y="152146"/>
            <a:ext cx="120396" cy="12039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21941" y="152146"/>
            <a:ext cx="118872" cy="12039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90343" y="152146"/>
            <a:ext cx="113538" cy="12039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153527" y="320548"/>
            <a:ext cx="120396" cy="115062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321941" y="320548"/>
            <a:ext cx="118872" cy="115062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490343" y="320548"/>
            <a:ext cx="113538" cy="115062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657970" y="320548"/>
            <a:ext cx="109727" cy="115062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153527" y="488187"/>
            <a:ext cx="120396" cy="109727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321941" y="488187"/>
            <a:ext cx="118872" cy="109727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490343" y="488187"/>
            <a:ext cx="113538" cy="109727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657970" y="488187"/>
            <a:ext cx="109727" cy="109727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153527" y="656590"/>
            <a:ext cx="120396" cy="119634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826372" y="488187"/>
            <a:ext cx="119633" cy="109727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321941" y="656590"/>
            <a:ext cx="118872" cy="119634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490343" y="656590"/>
            <a:ext cx="113538" cy="119634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657970" y="656590"/>
            <a:ext cx="109727" cy="119634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153527" y="824230"/>
            <a:ext cx="120396" cy="119634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321941" y="824230"/>
            <a:ext cx="118872" cy="119634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490343" y="824230"/>
            <a:ext cx="113538" cy="119634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657970" y="824230"/>
            <a:ext cx="109727" cy="119634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8826372" y="824230"/>
            <a:ext cx="119633" cy="119634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8153527" y="991869"/>
            <a:ext cx="120396" cy="118872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8490343" y="991869"/>
            <a:ext cx="113538" cy="118872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8321941" y="991869"/>
            <a:ext cx="118872" cy="118872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8657970" y="991869"/>
            <a:ext cx="109727" cy="118872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8153527" y="1160272"/>
            <a:ext cx="120396" cy="112013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8490343" y="1160272"/>
            <a:ext cx="113538" cy="112013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8321941" y="1160272"/>
            <a:ext cx="118872" cy="112013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8321941" y="1327912"/>
            <a:ext cx="118872" cy="119634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8657970" y="1160272"/>
            <a:ext cx="109727" cy="112013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8657970" y="1327912"/>
            <a:ext cx="109727" cy="11963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6073" y="156209"/>
            <a:ext cx="6333490" cy="1214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rgbClr val="33006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073" y="1653287"/>
            <a:ext cx="7934959" cy="3719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6073" y="6289409"/>
            <a:ext cx="100139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25,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080097" y="6289409"/>
            <a:ext cx="984250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B6EF8B48-B1DA-4438-8B78-396B5EAB65FA}" type="datetime1">
              <a:rPr lang="en-US" spc="-10" smtClean="0"/>
              <a:t>9/10/2025</a:t>
            </a:fld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14037" y="6289409"/>
            <a:ext cx="231140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26" Type="http://schemas.openxmlformats.org/officeDocument/2006/relationships/image" Target="../media/image76.png"/><Relationship Id="rId3" Type="http://schemas.openxmlformats.org/officeDocument/2006/relationships/image" Target="../media/image53.png"/><Relationship Id="rId21" Type="http://schemas.openxmlformats.org/officeDocument/2006/relationships/image" Target="../media/image71.png"/><Relationship Id="rId34" Type="http://schemas.openxmlformats.org/officeDocument/2006/relationships/image" Target="../media/image84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5" Type="http://schemas.openxmlformats.org/officeDocument/2006/relationships/image" Target="../media/image75.png"/><Relationship Id="rId33" Type="http://schemas.openxmlformats.org/officeDocument/2006/relationships/image" Target="../media/image83.png"/><Relationship Id="rId2" Type="http://schemas.openxmlformats.org/officeDocument/2006/relationships/image" Target="../media/image52.png"/><Relationship Id="rId16" Type="http://schemas.openxmlformats.org/officeDocument/2006/relationships/image" Target="../media/image66.png"/><Relationship Id="rId20" Type="http://schemas.openxmlformats.org/officeDocument/2006/relationships/image" Target="../media/image70.png"/><Relationship Id="rId29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24" Type="http://schemas.openxmlformats.org/officeDocument/2006/relationships/image" Target="../media/image74.png"/><Relationship Id="rId32" Type="http://schemas.openxmlformats.org/officeDocument/2006/relationships/image" Target="../media/image82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23" Type="http://schemas.openxmlformats.org/officeDocument/2006/relationships/image" Target="../media/image73.png"/><Relationship Id="rId28" Type="http://schemas.openxmlformats.org/officeDocument/2006/relationships/image" Target="../media/image78.png"/><Relationship Id="rId10" Type="http://schemas.openxmlformats.org/officeDocument/2006/relationships/image" Target="../media/image60.png"/><Relationship Id="rId19" Type="http://schemas.openxmlformats.org/officeDocument/2006/relationships/image" Target="../media/image69.png"/><Relationship Id="rId31" Type="http://schemas.openxmlformats.org/officeDocument/2006/relationships/image" Target="../media/image81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Relationship Id="rId22" Type="http://schemas.openxmlformats.org/officeDocument/2006/relationships/image" Target="../media/image72.png"/><Relationship Id="rId27" Type="http://schemas.openxmlformats.org/officeDocument/2006/relationships/image" Target="../media/image77.png"/><Relationship Id="rId30" Type="http://schemas.openxmlformats.org/officeDocument/2006/relationships/image" Target="../media/image80.png"/><Relationship Id="rId8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hyperlink" Target="https://www.pcmag.com/encyclopedia/term/tile-gx" TargetMode="External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85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6525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Shared</a:t>
            </a:r>
            <a:r>
              <a:rPr sz="4800" spc="-155" dirty="0"/>
              <a:t> </a:t>
            </a:r>
            <a:r>
              <a:rPr sz="4800" spc="-10" dirty="0"/>
              <a:t>Memory Multiprocessors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219200" y="3581400"/>
            <a:ext cx="5876270" cy="8688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latin typeface="Arial MT"/>
                <a:cs typeface="Arial MT"/>
              </a:rPr>
              <a:t>A.</a:t>
            </a:r>
            <a:r>
              <a:rPr lang="en-US" spc="-2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Jantsch, professor, KTH, Sweden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 MT"/>
                <a:cs typeface="Arial MT"/>
              </a:rPr>
              <a:t>Z.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Lu</a:t>
            </a:r>
            <a:r>
              <a:rPr lang="en-US" dirty="0">
                <a:latin typeface="Arial MT"/>
                <a:cs typeface="Arial MT"/>
              </a:rPr>
              <a:t>, professor, KTH, Sweden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 MT"/>
                <a:cs typeface="Arial MT"/>
              </a:rPr>
              <a:t>I.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Sander</a:t>
            </a:r>
            <a:r>
              <a:rPr lang="en-US" dirty="0">
                <a:latin typeface="Arial MT"/>
                <a:cs typeface="Arial MT"/>
              </a:rPr>
              <a:t>, professor, KTH, Sweden</a:t>
            </a:r>
            <a:endParaRPr dirty="0">
              <a:latin typeface="Arial MT"/>
              <a:cs typeface="Arial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1E8AA3-F297-D983-DF63-3FC0CA774CC2}"/>
              </a:ext>
            </a:extLst>
          </p:cNvPr>
          <p:cNvSpPr txBox="1"/>
          <p:nvPr/>
        </p:nvSpPr>
        <p:spPr>
          <a:xfrm>
            <a:off x="1066800" y="3212068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Courtesy:</a:t>
            </a: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10317" y="6289409"/>
            <a:ext cx="9652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0" dirty="0">
                <a:latin typeface="Arial MT"/>
                <a:cs typeface="Arial MT"/>
              </a:rPr>
              <a:t>2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073" y="1647899"/>
            <a:ext cx="7974244" cy="3028393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35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4965" algn="l"/>
              </a:tabLst>
            </a:pPr>
            <a:r>
              <a:rPr sz="3000" dirty="0">
                <a:latin typeface="Arial MT"/>
                <a:cs typeface="Arial MT"/>
              </a:rPr>
              <a:t>Shared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memory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architectures</a:t>
            </a:r>
            <a:endParaRPr sz="3000" dirty="0">
              <a:latin typeface="Arial MT"/>
              <a:cs typeface="Arial MT"/>
            </a:endParaRPr>
          </a:p>
          <a:p>
            <a:pPr marL="704215" lvl="1" indent="-347345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04215" algn="l"/>
              </a:tabLst>
            </a:pPr>
            <a:r>
              <a:rPr sz="2600" dirty="0">
                <a:latin typeface="Arial MT"/>
                <a:cs typeface="Arial MT"/>
              </a:rPr>
              <a:t>Centralized</a:t>
            </a:r>
            <a:r>
              <a:rPr sz="2600" spc="-12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memory</a:t>
            </a:r>
            <a:endParaRPr sz="2600" dirty="0">
              <a:latin typeface="Arial MT"/>
              <a:cs typeface="Arial MT"/>
            </a:endParaRPr>
          </a:p>
          <a:p>
            <a:pPr marL="704215" lvl="1" indent="-347345">
              <a:lnSpc>
                <a:spcPct val="100000"/>
              </a:lnSpc>
              <a:spcBef>
                <a:spcPts val="625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04215" algn="l"/>
              </a:tabLst>
            </a:pPr>
            <a:r>
              <a:rPr sz="2600" dirty="0">
                <a:latin typeface="Arial MT"/>
                <a:cs typeface="Arial MT"/>
              </a:rPr>
              <a:t>Distributed</a:t>
            </a:r>
            <a:r>
              <a:rPr sz="2600" spc="-16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memory</a:t>
            </a:r>
            <a:endParaRPr lang="en-US" sz="2600" spc="-1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1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4965" algn="l"/>
              </a:tabLst>
            </a:pPr>
            <a:r>
              <a:rPr sz="3000" spc="-10" dirty="0">
                <a:latin typeface="Arial MT"/>
                <a:cs typeface="Arial MT"/>
              </a:rPr>
              <a:t>Caches</a:t>
            </a:r>
            <a:endParaRPr sz="3000" dirty="0">
              <a:latin typeface="Arial MT"/>
              <a:cs typeface="Arial MT"/>
            </a:endParaRPr>
          </a:p>
          <a:p>
            <a:pPr marL="704215" lvl="1" indent="-347345">
              <a:lnSpc>
                <a:spcPct val="100000"/>
              </a:lnSpc>
              <a:spcBef>
                <a:spcPts val="635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04215" algn="l"/>
              </a:tabLst>
            </a:pPr>
            <a:r>
              <a:rPr sz="2600" dirty="0">
                <a:latin typeface="Arial MT"/>
                <a:cs typeface="Arial MT"/>
              </a:rPr>
              <a:t>Write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through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/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write-</a:t>
            </a:r>
            <a:r>
              <a:rPr sz="2600" dirty="0">
                <a:latin typeface="Arial MT"/>
                <a:cs typeface="Arial MT"/>
              </a:rPr>
              <a:t>back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caches</a:t>
            </a:r>
            <a:endParaRPr sz="2600" dirty="0">
              <a:latin typeface="Arial MT"/>
              <a:cs typeface="Arial MT"/>
            </a:endParaRPr>
          </a:p>
          <a:p>
            <a:pPr marL="704215" lvl="1" indent="-347345">
              <a:lnSpc>
                <a:spcPct val="100000"/>
              </a:lnSpc>
              <a:spcBef>
                <a:spcPts val="625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04215" algn="l"/>
              </a:tabLst>
            </a:pP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coherency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problem</a:t>
            </a:r>
            <a:endParaRPr sz="26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7451" y="812291"/>
            <a:ext cx="460184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7225" marR="5080" indent="-64516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Shared</a:t>
            </a:r>
            <a:r>
              <a:rPr sz="4800" spc="-155" dirty="0"/>
              <a:t> </a:t>
            </a:r>
            <a:r>
              <a:rPr sz="4800" spc="-10" dirty="0"/>
              <a:t>Memory Architectures</a:t>
            </a:r>
            <a:endParaRPr sz="4800"/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073" y="750570"/>
            <a:ext cx="707517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Shared</a:t>
            </a:r>
            <a:r>
              <a:rPr spc="-135" dirty="0"/>
              <a:t> </a:t>
            </a:r>
            <a:r>
              <a:rPr dirty="0"/>
              <a:t>Memory</a:t>
            </a:r>
            <a:r>
              <a:rPr spc="-135" dirty="0"/>
              <a:t> </a:t>
            </a:r>
            <a:r>
              <a:rPr spc="-10" dirty="0"/>
              <a:t>Architectures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45"/>
              </a:spcBef>
              <a:buClr>
                <a:srgbClr val="330065"/>
              </a:buClr>
              <a:buSzPct val="68965"/>
              <a:buFont typeface="Wingdings"/>
              <a:buChar char=""/>
              <a:tabLst>
                <a:tab pos="354965" algn="l"/>
              </a:tabLst>
            </a:pPr>
            <a:r>
              <a:rPr sz="2900" dirty="0"/>
              <a:t>Shared</a:t>
            </a:r>
            <a:r>
              <a:rPr sz="2900" spc="-45" dirty="0"/>
              <a:t> </a:t>
            </a:r>
            <a:r>
              <a:rPr sz="2900" dirty="0"/>
              <a:t>Memory</a:t>
            </a:r>
            <a:r>
              <a:rPr sz="2900" spc="-45" dirty="0"/>
              <a:t> </a:t>
            </a:r>
            <a:r>
              <a:rPr sz="2900" spc="-10" dirty="0"/>
              <a:t>Multiprocessor</a:t>
            </a:r>
            <a:r>
              <a:rPr sz="2900" spc="-45" dirty="0"/>
              <a:t> </a:t>
            </a:r>
            <a:r>
              <a:rPr sz="2900" dirty="0"/>
              <a:t>are</a:t>
            </a:r>
            <a:r>
              <a:rPr sz="2900" spc="-40" dirty="0"/>
              <a:t> </a:t>
            </a:r>
            <a:r>
              <a:rPr sz="2900" dirty="0"/>
              <a:t>often</a:t>
            </a:r>
            <a:r>
              <a:rPr sz="2900" spc="-45" dirty="0"/>
              <a:t> </a:t>
            </a:r>
            <a:r>
              <a:rPr sz="2900" spc="-20" dirty="0"/>
              <a:t>used</a:t>
            </a:r>
            <a:endParaRPr sz="2900"/>
          </a:p>
          <a:p>
            <a:pPr marL="754380" lvl="1" indent="-285115">
              <a:lnSpc>
                <a:spcPct val="100000"/>
              </a:lnSpc>
              <a:spcBef>
                <a:spcPts val="340"/>
              </a:spcBef>
              <a:buClr>
                <a:srgbClr val="659A9A"/>
              </a:buClr>
              <a:buSzPct val="69642"/>
              <a:buFont typeface="Wingdings"/>
              <a:buChar char=""/>
              <a:tabLst>
                <a:tab pos="754380" algn="l"/>
              </a:tabLst>
            </a:pPr>
            <a:r>
              <a:rPr sz="2800" dirty="0">
                <a:latin typeface="Arial MT"/>
                <a:cs typeface="Arial MT"/>
              </a:rPr>
              <a:t>Symmetric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Multiprocessors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(SMP)</a:t>
            </a:r>
            <a:endParaRPr sz="2800">
              <a:latin typeface="Arial MT"/>
              <a:cs typeface="Arial MT"/>
            </a:endParaRPr>
          </a:p>
          <a:p>
            <a:pPr marL="1155700" marR="31115" lvl="2" indent="-228600">
              <a:lnSpc>
                <a:spcPts val="2590"/>
              </a:lnSpc>
              <a:spcBef>
                <a:spcPts val="625"/>
              </a:spcBef>
              <a:buClr>
                <a:srgbClr val="CCCC00"/>
              </a:buClr>
              <a:buSzPct val="68750"/>
              <a:buFont typeface="Wingdings"/>
              <a:buChar char=""/>
              <a:tabLst>
                <a:tab pos="1155700" algn="l"/>
              </a:tabLst>
            </a:pPr>
            <a:r>
              <a:rPr sz="2400" dirty="0">
                <a:latin typeface="Arial MT"/>
                <a:cs typeface="Arial MT"/>
              </a:rPr>
              <a:t>Symmetric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access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any </a:t>
            </a:r>
            <a:r>
              <a:rPr sz="2400" spc="-10" dirty="0">
                <a:latin typeface="Arial MT"/>
                <a:cs typeface="Arial MT"/>
              </a:rPr>
              <a:t>processor</a:t>
            </a:r>
            <a:endParaRPr sz="24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254"/>
              </a:spcBef>
              <a:buClr>
                <a:srgbClr val="CCCC00"/>
              </a:buClr>
              <a:buSzPct val="68750"/>
              <a:buFont typeface="Wingdings"/>
              <a:buChar char=""/>
              <a:tabLst>
                <a:tab pos="1155065" algn="l"/>
              </a:tabLst>
            </a:pPr>
            <a:r>
              <a:rPr sz="2400" dirty="0">
                <a:latin typeface="Arial MT"/>
                <a:cs typeface="Arial MT"/>
              </a:rPr>
              <a:t>also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called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UMA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(uniform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access)</a:t>
            </a:r>
            <a:endParaRPr sz="24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325"/>
              </a:spcBef>
              <a:buClr>
                <a:srgbClr val="659A9A"/>
              </a:buClr>
              <a:buSzPct val="69642"/>
              <a:buFont typeface="Wingdings"/>
              <a:buChar char=""/>
              <a:tabLst>
                <a:tab pos="755015" algn="l"/>
              </a:tabLst>
            </a:pPr>
            <a:r>
              <a:rPr sz="2800" dirty="0">
                <a:latin typeface="Arial MT"/>
                <a:cs typeface="Arial MT"/>
              </a:rPr>
              <a:t>Distributed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Shared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Memory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(DSM)</a:t>
            </a:r>
            <a:endParaRPr sz="2800">
              <a:latin typeface="Arial MT"/>
              <a:cs typeface="Arial MT"/>
            </a:endParaRPr>
          </a:p>
          <a:p>
            <a:pPr marL="1155700" marR="44450" lvl="2" indent="-228600">
              <a:lnSpc>
                <a:spcPts val="2590"/>
              </a:lnSpc>
              <a:spcBef>
                <a:spcPts val="625"/>
              </a:spcBef>
              <a:buClr>
                <a:srgbClr val="CCCC00"/>
              </a:buClr>
              <a:buSzPct val="68750"/>
              <a:buFont typeface="Wingdings"/>
              <a:buChar char=""/>
              <a:tabLst>
                <a:tab pos="1155700" algn="l"/>
              </a:tabLst>
            </a:pPr>
            <a:r>
              <a:rPr sz="2400" dirty="0">
                <a:latin typeface="Arial MT"/>
                <a:cs typeface="Arial MT"/>
              </a:rPr>
              <a:t>Access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depends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location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word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memory</a:t>
            </a:r>
            <a:endParaRPr sz="240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254"/>
              </a:spcBef>
              <a:buClr>
                <a:srgbClr val="CCCC00"/>
              </a:buClr>
              <a:buSzPct val="68750"/>
              <a:buFont typeface="Wingdings"/>
              <a:buChar char=""/>
              <a:tabLst>
                <a:tab pos="1155065" algn="l"/>
              </a:tabLst>
            </a:pPr>
            <a:r>
              <a:rPr sz="2400" dirty="0">
                <a:latin typeface="Arial MT"/>
                <a:cs typeface="Arial MT"/>
              </a:rPr>
              <a:t>also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called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(non-</a:t>
            </a:r>
            <a:r>
              <a:rPr sz="2400" dirty="0">
                <a:latin typeface="Arial MT"/>
                <a:cs typeface="Arial MT"/>
              </a:rPr>
              <a:t>uniform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access)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073" y="750570"/>
            <a:ext cx="707517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Shared</a:t>
            </a:r>
            <a:r>
              <a:rPr spc="-135" dirty="0"/>
              <a:t> </a:t>
            </a:r>
            <a:r>
              <a:rPr dirty="0"/>
              <a:t>Memory</a:t>
            </a:r>
            <a:r>
              <a:rPr spc="-135" dirty="0"/>
              <a:t> </a:t>
            </a:r>
            <a:r>
              <a:rPr spc="-10" dirty="0"/>
              <a:t>Architectures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1697736"/>
            <a:ext cx="7647305" cy="267462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4965" marR="5080" indent="-342900">
              <a:lnSpc>
                <a:spcPts val="3130"/>
              </a:lnSpc>
              <a:spcBef>
                <a:spcPts val="490"/>
              </a:spcBef>
              <a:buClr>
                <a:srgbClr val="330065"/>
              </a:buClr>
              <a:buSzPct val="68965"/>
              <a:buFont typeface="Wingdings"/>
              <a:buChar char=""/>
              <a:tabLst>
                <a:tab pos="354965" algn="l"/>
              </a:tabLst>
            </a:pPr>
            <a:r>
              <a:rPr sz="2900" dirty="0">
                <a:latin typeface="Arial MT"/>
                <a:cs typeface="Arial MT"/>
              </a:rPr>
              <a:t>A</a:t>
            </a:r>
            <a:r>
              <a:rPr sz="2900" spc="-8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shared</a:t>
            </a:r>
            <a:r>
              <a:rPr sz="2900" spc="-7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memory</a:t>
            </a:r>
            <a:r>
              <a:rPr sz="2900" spc="-8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programming</a:t>
            </a:r>
            <a:r>
              <a:rPr sz="2900" spc="-7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model</a:t>
            </a:r>
            <a:r>
              <a:rPr sz="2900" spc="-8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has</a:t>
            </a:r>
            <a:r>
              <a:rPr sz="2900" spc="-75" dirty="0">
                <a:latin typeface="Arial MT"/>
                <a:cs typeface="Arial MT"/>
              </a:rPr>
              <a:t> </a:t>
            </a:r>
            <a:r>
              <a:rPr sz="2900" spc="-50" dirty="0">
                <a:latin typeface="Arial MT"/>
                <a:cs typeface="Arial MT"/>
              </a:rPr>
              <a:t>a </a:t>
            </a:r>
            <a:r>
              <a:rPr sz="2900" dirty="0">
                <a:latin typeface="Arial MT"/>
                <a:cs typeface="Arial MT"/>
              </a:rPr>
              <a:t>direct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representation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in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hardware</a:t>
            </a:r>
            <a:endParaRPr sz="29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305"/>
              </a:spcBef>
              <a:buClr>
                <a:srgbClr val="330065"/>
              </a:buClr>
              <a:buSzPct val="68965"/>
              <a:buFont typeface="Wingdings"/>
              <a:buChar char=""/>
              <a:tabLst>
                <a:tab pos="354965" algn="l"/>
              </a:tabLst>
            </a:pPr>
            <a:r>
              <a:rPr sz="2900" spc="-10" dirty="0">
                <a:latin typeface="Arial MT"/>
                <a:cs typeface="Arial MT"/>
              </a:rPr>
              <a:t>Caches</a:t>
            </a:r>
            <a:endParaRPr sz="2900" dirty="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340"/>
              </a:spcBef>
              <a:buClr>
                <a:srgbClr val="659A9A"/>
              </a:buClr>
              <a:buSzPct val="69642"/>
              <a:buFont typeface="Wingdings"/>
              <a:buChar char=""/>
              <a:tabLst>
                <a:tab pos="755015" algn="l"/>
              </a:tabLst>
            </a:pPr>
            <a:r>
              <a:rPr sz="2800" dirty="0">
                <a:latin typeface="Arial MT"/>
                <a:cs typeface="Arial MT"/>
              </a:rPr>
              <a:t>Increase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performance</a:t>
            </a:r>
            <a:endParaRPr sz="2800" dirty="0">
              <a:latin typeface="Arial MT"/>
              <a:cs typeface="Arial MT"/>
            </a:endParaRPr>
          </a:p>
          <a:p>
            <a:pPr marL="755650" marR="645795" lvl="1" indent="-285750">
              <a:lnSpc>
                <a:spcPts val="3020"/>
              </a:lnSpc>
              <a:spcBef>
                <a:spcPts val="720"/>
              </a:spcBef>
              <a:buClr>
                <a:srgbClr val="659A9A"/>
              </a:buClr>
              <a:buSzPct val="69642"/>
              <a:buFont typeface="Wingdings"/>
              <a:buChar char="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Demand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cache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coherence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memory </a:t>
            </a:r>
            <a:r>
              <a:rPr sz="2800" dirty="0">
                <a:latin typeface="Arial MT"/>
                <a:cs typeface="Arial MT"/>
              </a:rPr>
              <a:t>consistency</a:t>
            </a:r>
            <a:r>
              <a:rPr sz="2800" spc="-1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protocols</a:t>
            </a: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073" y="156209"/>
            <a:ext cx="6333490" cy="600164"/>
          </a:xfrm>
        </p:spPr>
        <p:txBody>
          <a:bodyPr/>
          <a:lstStyle/>
          <a:p>
            <a:r>
              <a:rPr lang="en-US" dirty="0"/>
              <a:t>Memory Bandwidth</a:t>
            </a:r>
          </a:p>
        </p:txBody>
      </p:sp>
      <p:sp>
        <p:nvSpPr>
          <p:cNvPr id="4" name="object 3"/>
          <p:cNvSpPr txBox="1"/>
          <p:nvPr/>
        </p:nvSpPr>
        <p:spPr>
          <a:xfrm>
            <a:off x="536073" y="990600"/>
            <a:ext cx="7647305" cy="2848216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4965" indent="-342265">
              <a:spcBef>
                <a:spcPts val="305"/>
              </a:spcBef>
              <a:buClr>
                <a:srgbClr val="330065"/>
              </a:buClr>
              <a:buSzPct val="68965"/>
              <a:buFont typeface="Wingdings"/>
              <a:buChar char=""/>
              <a:tabLst>
                <a:tab pos="354965" algn="l"/>
              </a:tabLst>
            </a:pPr>
            <a:r>
              <a:rPr lang="en-US" sz="2900" dirty="0"/>
              <a:t>Rate of data transfer to or from memory often measured in </a:t>
            </a:r>
            <a:r>
              <a:rPr lang="en-US" sz="2900" dirty="0" err="1"/>
              <a:t>Gbytes</a:t>
            </a:r>
            <a:r>
              <a:rPr lang="en-US" sz="2900" dirty="0"/>
              <a:t>/sec</a:t>
            </a:r>
            <a:endParaRPr lang="en-US" sz="2900" spc="-1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305"/>
              </a:spcBef>
              <a:buClr>
                <a:srgbClr val="330065"/>
              </a:buClr>
              <a:buSzPct val="68965"/>
              <a:buFont typeface="Wingdings"/>
              <a:buChar char=""/>
              <a:tabLst>
                <a:tab pos="354965" algn="l"/>
              </a:tabLst>
            </a:pPr>
            <a:r>
              <a:rPr lang="en-US" sz="2800" dirty="0">
                <a:latin typeface="Arial MT"/>
                <a:cs typeface="Arial MT"/>
              </a:rPr>
              <a:t>Depends upon</a:t>
            </a:r>
            <a:endParaRPr sz="2800" dirty="0">
              <a:latin typeface="Arial MT"/>
              <a:cs typeface="Arial MT"/>
            </a:endParaRPr>
          </a:p>
          <a:p>
            <a:pPr marL="755650" marR="645795" lvl="1" indent="-285750">
              <a:lnSpc>
                <a:spcPts val="3020"/>
              </a:lnSpc>
              <a:spcBef>
                <a:spcPts val="720"/>
              </a:spcBef>
              <a:buClr>
                <a:srgbClr val="659A9A"/>
              </a:buClr>
              <a:buSzPct val="69642"/>
              <a:buFont typeface="Wingdings"/>
              <a:buChar char=""/>
              <a:tabLst>
                <a:tab pos="755650" algn="l"/>
              </a:tabLst>
            </a:pPr>
            <a:r>
              <a:rPr lang="en-US" sz="2800" dirty="0">
                <a:latin typeface="Arial MT"/>
                <a:cs typeface="Arial MT"/>
              </a:rPr>
              <a:t>Clock speed of memory</a:t>
            </a:r>
          </a:p>
          <a:p>
            <a:pPr marL="755650" marR="645795" lvl="1" indent="-285750">
              <a:lnSpc>
                <a:spcPts val="3020"/>
              </a:lnSpc>
              <a:spcBef>
                <a:spcPts val="720"/>
              </a:spcBef>
              <a:buClr>
                <a:srgbClr val="659A9A"/>
              </a:buClr>
              <a:buSzPct val="69642"/>
              <a:buFont typeface="Wingdings"/>
              <a:buChar char=""/>
              <a:tabLst>
                <a:tab pos="755650" algn="l"/>
              </a:tabLst>
            </a:pPr>
            <a:r>
              <a:rPr lang="en-US" sz="2800" dirty="0">
                <a:latin typeface="Arial MT"/>
                <a:cs typeface="Arial MT"/>
              </a:rPr>
              <a:t>Number of data channels available</a:t>
            </a:r>
          </a:p>
          <a:p>
            <a:pPr marL="755650" marR="645795" lvl="1" indent="-285750">
              <a:lnSpc>
                <a:spcPts val="3020"/>
              </a:lnSpc>
              <a:spcBef>
                <a:spcPts val="720"/>
              </a:spcBef>
              <a:buClr>
                <a:srgbClr val="659A9A"/>
              </a:buClr>
              <a:buSzPct val="69642"/>
              <a:buFont typeface="Wingdings"/>
              <a:buChar char=""/>
              <a:tabLst>
                <a:tab pos="755650" algn="l"/>
              </a:tabLst>
            </a:pPr>
            <a:r>
              <a:rPr lang="en-US" sz="2800" dirty="0">
                <a:latin typeface="Arial MT"/>
                <a:cs typeface="Arial MT"/>
              </a:rPr>
              <a:t>Width of each data channel</a:t>
            </a:r>
            <a:endParaRPr sz="2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701392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073" y="750570"/>
            <a:ext cx="639064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Shared</a:t>
            </a:r>
            <a:r>
              <a:rPr spc="-114" dirty="0"/>
              <a:t> </a:t>
            </a:r>
            <a:r>
              <a:rPr dirty="0"/>
              <a:t>Cache</a:t>
            </a:r>
            <a:r>
              <a:rPr spc="-11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46429" y="1972818"/>
            <a:ext cx="4426585" cy="3789679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55600" marR="57150" indent="-342900">
              <a:lnSpc>
                <a:spcPts val="2810"/>
              </a:lnSpc>
              <a:spcBef>
                <a:spcPts val="450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600" dirty="0">
                <a:latin typeface="Arial MT"/>
                <a:cs typeface="Arial MT"/>
              </a:rPr>
              <a:t>Several</a:t>
            </a:r>
            <a:r>
              <a:rPr sz="2600" spc="-10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processors</a:t>
            </a:r>
            <a:r>
              <a:rPr sz="2600" spc="-105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are </a:t>
            </a:r>
            <a:r>
              <a:rPr sz="2600" dirty="0">
                <a:latin typeface="Arial MT"/>
                <a:cs typeface="Arial MT"/>
              </a:rPr>
              <a:t>connected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via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switch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with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shared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memory</a:t>
            </a:r>
            <a:endParaRPr sz="2600">
              <a:latin typeface="Arial MT"/>
              <a:cs typeface="Arial MT"/>
            </a:endParaRPr>
          </a:p>
          <a:p>
            <a:pPr marL="355600" marR="5080" indent="-342900">
              <a:lnSpc>
                <a:spcPts val="2810"/>
              </a:lnSpc>
              <a:spcBef>
                <a:spcPts val="61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600" dirty="0">
                <a:latin typeface="Arial MT"/>
                <a:cs typeface="Arial MT"/>
              </a:rPr>
              <a:t>Has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been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used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for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very </a:t>
            </a:r>
            <a:r>
              <a:rPr sz="2600" dirty="0">
                <a:latin typeface="Arial MT"/>
                <a:cs typeface="Arial MT"/>
              </a:rPr>
              <a:t>small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number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processors</a:t>
            </a:r>
            <a:endParaRPr sz="2600">
              <a:latin typeface="Arial MT"/>
              <a:cs typeface="Arial MT"/>
            </a:endParaRPr>
          </a:p>
          <a:p>
            <a:pPr marL="355600" marR="111760" indent="-342900">
              <a:lnSpc>
                <a:spcPts val="2810"/>
              </a:lnSpc>
              <a:spcBef>
                <a:spcPts val="620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600" dirty="0">
                <a:latin typeface="Arial MT"/>
                <a:cs typeface="Arial MT"/>
              </a:rPr>
              <a:t>Is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difficult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use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for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large </a:t>
            </a:r>
            <a:r>
              <a:rPr sz="2600" dirty="0">
                <a:latin typeface="Arial MT"/>
                <a:cs typeface="Arial MT"/>
              </a:rPr>
              <a:t>number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processors, </a:t>
            </a:r>
            <a:r>
              <a:rPr sz="2600" dirty="0">
                <a:latin typeface="Arial MT"/>
                <a:cs typeface="Arial MT"/>
              </a:rPr>
              <a:t>since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shared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cache </a:t>
            </a:r>
            <a:r>
              <a:rPr sz="2600" dirty="0">
                <a:latin typeface="Arial MT"/>
                <a:cs typeface="Arial MT"/>
              </a:rPr>
              <a:t>must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deliver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extremely </a:t>
            </a:r>
            <a:r>
              <a:rPr sz="2600" dirty="0">
                <a:latin typeface="Arial MT"/>
                <a:cs typeface="Arial MT"/>
              </a:rPr>
              <a:t>large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bandwidth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87869" y="2176779"/>
            <a:ext cx="787400" cy="786765"/>
            <a:chOff x="887869" y="2176779"/>
            <a:chExt cx="787400" cy="786765"/>
          </a:xfrm>
        </p:grpSpPr>
        <p:sp>
          <p:nvSpPr>
            <p:cNvPr id="5" name="object 5"/>
            <p:cNvSpPr/>
            <p:nvPr/>
          </p:nvSpPr>
          <p:spPr>
            <a:xfrm>
              <a:off x="900823" y="2188971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29" y="333229"/>
                  </a:lnTo>
                  <a:lnTo>
                    <a:pt x="750357" y="287223"/>
                  </a:lnTo>
                  <a:lnTo>
                    <a:pt x="736341" y="243340"/>
                  </a:lnTo>
                  <a:lnTo>
                    <a:pt x="717338" y="201937"/>
                  </a:lnTo>
                  <a:lnTo>
                    <a:pt x="693707" y="163373"/>
                  </a:lnTo>
                  <a:lnTo>
                    <a:pt x="665806" y="128006"/>
                  </a:lnTo>
                  <a:lnTo>
                    <a:pt x="633993" y="96193"/>
                  </a:lnTo>
                  <a:lnTo>
                    <a:pt x="598626" y="68292"/>
                  </a:lnTo>
                  <a:lnTo>
                    <a:pt x="560062" y="44661"/>
                  </a:lnTo>
                  <a:lnTo>
                    <a:pt x="518659" y="25658"/>
                  </a:lnTo>
                  <a:lnTo>
                    <a:pt x="474776" y="11642"/>
                  </a:lnTo>
                  <a:lnTo>
                    <a:pt x="42877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770" y="759042"/>
                  </a:lnTo>
                  <a:lnTo>
                    <a:pt x="474776" y="750403"/>
                  </a:lnTo>
                  <a:lnTo>
                    <a:pt x="518659" y="736434"/>
                  </a:lnTo>
                  <a:lnTo>
                    <a:pt x="560062" y="717488"/>
                  </a:lnTo>
                  <a:lnTo>
                    <a:pt x="598626" y="693915"/>
                  </a:lnTo>
                  <a:lnTo>
                    <a:pt x="633993" y="666069"/>
                  </a:lnTo>
                  <a:lnTo>
                    <a:pt x="665806" y="634299"/>
                  </a:lnTo>
                  <a:lnTo>
                    <a:pt x="693707" y="598959"/>
                  </a:lnTo>
                  <a:lnTo>
                    <a:pt x="717338" y="560399"/>
                  </a:lnTo>
                  <a:lnTo>
                    <a:pt x="736341" y="518971"/>
                  </a:lnTo>
                  <a:lnTo>
                    <a:pt x="750357" y="475028"/>
                  </a:lnTo>
                  <a:lnTo>
                    <a:pt x="759029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87869" y="2176779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72617"/>
                  </a:lnTo>
                  <a:lnTo>
                    <a:pt x="785622" y="352805"/>
                  </a:lnTo>
                  <a:lnTo>
                    <a:pt x="771921" y="283911"/>
                  </a:lnTo>
                  <a:lnTo>
                    <a:pt x="755383" y="237482"/>
                  </a:lnTo>
                  <a:lnTo>
                    <a:pt x="733396" y="194075"/>
                  </a:lnTo>
                  <a:lnTo>
                    <a:pt x="706397" y="154060"/>
                  </a:lnTo>
                  <a:lnTo>
                    <a:pt x="674824" y="117808"/>
                  </a:lnTo>
                  <a:lnTo>
                    <a:pt x="639112" y="85686"/>
                  </a:lnTo>
                  <a:lnTo>
                    <a:pt x="599699" y="58067"/>
                  </a:lnTo>
                  <a:lnTo>
                    <a:pt x="557021" y="35319"/>
                  </a:lnTo>
                  <a:lnTo>
                    <a:pt x="511515" y="17811"/>
                  </a:lnTo>
                  <a:lnTo>
                    <a:pt x="463617" y="5915"/>
                  </a:lnTo>
                  <a:lnTo>
                    <a:pt x="414528" y="90"/>
                  </a:lnTo>
                  <a:lnTo>
                    <a:pt x="373379" y="0"/>
                  </a:lnTo>
                  <a:lnTo>
                    <a:pt x="323295" y="5962"/>
                  </a:lnTo>
                  <a:lnTo>
                    <a:pt x="275298" y="17896"/>
                  </a:lnTo>
                  <a:lnTo>
                    <a:pt x="229796" y="35437"/>
                  </a:lnTo>
                  <a:lnTo>
                    <a:pt x="187197" y="58220"/>
                  </a:lnTo>
                  <a:lnTo>
                    <a:pt x="147909" y="85878"/>
                  </a:lnTo>
                  <a:lnTo>
                    <a:pt x="112341" y="118047"/>
                  </a:lnTo>
                  <a:lnTo>
                    <a:pt x="80900" y="154361"/>
                  </a:lnTo>
                  <a:lnTo>
                    <a:pt x="53994" y="194454"/>
                  </a:lnTo>
                  <a:lnTo>
                    <a:pt x="32032" y="237961"/>
                  </a:lnTo>
                  <a:lnTo>
                    <a:pt x="15422" y="284517"/>
                  </a:lnTo>
                  <a:lnTo>
                    <a:pt x="4571" y="333755"/>
                  </a:lnTo>
                  <a:lnTo>
                    <a:pt x="761" y="373379"/>
                  </a:lnTo>
                  <a:lnTo>
                    <a:pt x="0" y="393953"/>
                  </a:lnTo>
                  <a:lnTo>
                    <a:pt x="762" y="413765"/>
                  </a:lnTo>
                  <a:lnTo>
                    <a:pt x="4572" y="453389"/>
                  </a:lnTo>
                  <a:lnTo>
                    <a:pt x="20578" y="519220"/>
                  </a:lnTo>
                  <a:lnTo>
                    <a:pt x="25146" y="530547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507" y="289077"/>
                  </a:lnTo>
                  <a:lnTo>
                    <a:pt x="57075" y="244095"/>
                  </a:lnTo>
                  <a:lnTo>
                    <a:pt x="78983" y="202235"/>
                  </a:lnTo>
                  <a:lnTo>
                    <a:pt x="105793" y="163876"/>
                  </a:lnTo>
                  <a:lnTo>
                    <a:pt x="137068" y="129396"/>
                  </a:lnTo>
                  <a:lnTo>
                    <a:pt x="172369" y="99172"/>
                  </a:lnTo>
                  <a:lnTo>
                    <a:pt x="211259" y="73584"/>
                  </a:lnTo>
                  <a:lnTo>
                    <a:pt x="253301" y="53009"/>
                  </a:lnTo>
                  <a:lnTo>
                    <a:pt x="298055" y="37825"/>
                  </a:lnTo>
                  <a:lnTo>
                    <a:pt x="345086" y="28411"/>
                  </a:lnTo>
                  <a:lnTo>
                    <a:pt x="393191" y="25196"/>
                  </a:lnTo>
                  <a:lnTo>
                    <a:pt x="393953" y="25145"/>
                  </a:lnTo>
                  <a:lnTo>
                    <a:pt x="412242" y="25877"/>
                  </a:lnTo>
                  <a:lnTo>
                    <a:pt x="413766" y="25968"/>
                  </a:lnTo>
                  <a:lnTo>
                    <a:pt x="431292" y="27371"/>
                  </a:lnTo>
                  <a:lnTo>
                    <a:pt x="432054" y="27431"/>
                  </a:lnTo>
                  <a:lnTo>
                    <a:pt x="477556" y="34938"/>
                  </a:lnTo>
                  <a:lnTo>
                    <a:pt x="522384" y="48317"/>
                  </a:lnTo>
                  <a:lnTo>
                    <a:pt x="563942" y="66809"/>
                  </a:lnTo>
                  <a:lnTo>
                    <a:pt x="602598" y="90140"/>
                  </a:lnTo>
                  <a:lnTo>
                    <a:pt x="637976" y="117917"/>
                  </a:lnTo>
                  <a:lnTo>
                    <a:pt x="669703" y="149745"/>
                  </a:lnTo>
                  <a:lnTo>
                    <a:pt x="697405" y="185231"/>
                  </a:lnTo>
                  <a:lnTo>
                    <a:pt x="720592" y="223787"/>
                  </a:lnTo>
                  <a:lnTo>
                    <a:pt x="739188" y="265489"/>
                  </a:lnTo>
                  <a:lnTo>
                    <a:pt x="752610" y="309664"/>
                  </a:lnTo>
                  <a:lnTo>
                    <a:pt x="760476" y="355853"/>
                  </a:lnTo>
                  <a:lnTo>
                    <a:pt x="762000" y="393953"/>
                  </a:lnTo>
                  <a:lnTo>
                    <a:pt x="762000" y="530900"/>
                  </a:lnTo>
                  <a:lnTo>
                    <a:pt x="769509" y="511397"/>
                  </a:lnTo>
                  <a:lnTo>
                    <a:pt x="781351" y="463551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900"/>
                  </a:moveTo>
                  <a:lnTo>
                    <a:pt x="762000" y="393953"/>
                  </a:lnTo>
                  <a:lnTo>
                    <a:pt x="760476" y="431291"/>
                  </a:lnTo>
                  <a:lnTo>
                    <a:pt x="752610" y="477468"/>
                  </a:lnTo>
                  <a:lnTo>
                    <a:pt x="739188" y="521593"/>
                  </a:lnTo>
                  <a:lnTo>
                    <a:pt x="720592" y="563262"/>
                  </a:lnTo>
                  <a:lnTo>
                    <a:pt x="697201" y="602071"/>
                  </a:lnTo>
                  <a:lnTo>
                    <a:pt x="669344" y="637670"/>
                  </a:lnTo>
                  <a:lnTo>
                    <a:pt x="637566" y="669493"/>
                  </a:lnTo>
                  <a:lnTo>
                    <a:pt x="602083" y="697298"/>
                  </a:lnTo>
                  <a:lnTo>
                    <a:pt x="563333" y="720627"/>
                  </a:lnTo>
                  <a:lnTo>
                    <a:pt x="521697" y="739075"/>
                  </a:lnTo>
                  <a:lnTo>
                    <a:pt x="477556" y="752239"/>
                  </a:lnTo>
                  <a:lnTo>
                    <a:pt x="432054" y="759590"/>
                  </a:lnTo>
                  <a:lnTo>
                    <a:pt x="413766" y="761116"/>
                  </a:lnTo>
                  <a:lnTo>
                    <a:pt x="412242" y="761237"/>
                  </a:lnTo>
                  <a:lnTo>
                    <a:pt x="393954" y="761969"/>
                  </a:lnTo>
                  <a:lnTo>
                    <a:pt x="393192" y="761999"/>
                  </a:lnTo>
                  <a:lnTo>
                    <a:pt x="345938" y="758750"/>
                  </a:lnTo>
                  <a:lnTo>
                    <a:pt x="300438" y="749837"/>
                  </a:lnTo>
                  <a:lnTo>
                    <a:pt x="257073" y="735578"/>
                  </a:lnTo>
                  <a:lnTo>
                    <a:pt x="216223" y="716290"/>
                  </a:lnTo>
                  <a:lnTo>
                    <a:pt x="178271" y="692290"/>
                  </a:lnTo>
                  <a:lnTo>
                    <a:pt x="143598" y="663896"/>
                  </a:lnTo>
                  <a:lnTo>
                    <a:pt x="112585" y="631424"/>
                  </a:lnTo>
                  <a:lnTo>
                    <a:pt x="85613" y="595191"/>
                  </a:lnTo>
                  <a:lnTo>
                    <a:pt x="63066" y="555516"/>
                  </a:lnTo>
                  <a:lnTo>
                    <a:pt x="45322" y="512715"/>
                  </a:lnTo>
                  <a:lnTo>
                    <a:pt x="32766" y="467105"/>
                  </a:lnTo>
                  <a:lnTo>
                    <a:pt x="25908" y="412241"/>
                  </a:lnTo>
                  <a:lnTo>
                    <a:pt x="25146" y="393191"/>
                  </a:lnTo>
                  <a:lnTo>
                    <a:pt x="25146" y="530547"/>
                  </a:lnTo>
                  <a:lnTo>
                    <a:pt x="60605" y="603428"/>
                  </a:lnTo>
                  <a:lnTo>
                    <a:pt x="87584" y="640943"/>
                  </a:lnTo>
                  <a:lnTo>
                    <a:pt x="118642" y="674948"/>
                  </a:lnTo>
                  <a:lnTo>
                    <a:pt x="153352" y="705107"/>
                  </a:lnTo>
                  <a:lnTo>
                    <a:pt x="191290" y="731081"/>
                  </a:lnTo>
                  <a:lnTo>
                    <a:pt x="232031" y="752534"/>
                  </a:lnTo>
                  <a:lnTo>
                    <a:pt x="275151" y="769128"/>
                  </a:lnTo>
                  <a:lnTo>
                    <a:pt x="320223" y="780526"/>
                  </a:lnTo>
                  <a:lnTo>
                    <a:pt x="366824" y="786390"/>
                  </a:lnTo>
                  <a:lnTo>
                    <a:pt x="414528" y="786383"/>
                  </a:lnTo>
                  <a:lnTo>
                    <a:pt x="454152" y="782573"/>
                  </a:lnTo>
                  <a:lnTo>
                    <a:pt x="503141" y="771857"/>
                  </a:lnTo>
                  <a:lnTo>
                    <a:pt x="549539" y="755268"/>
                  </a:lnTo>
                  <a:lnTo>
                    <a:pt x="592961" y="733243"/>
                  </a:lnTo>
                  <a:lnTo>
                    <a:pt x="633025" y="706218"/>
                  </a:lnTo>
                  <a:lnTo>
                    <a:pt x="669344" y="674631"/>
                  </a:lnTo>
                  <a:lnTo>
                    <a:pt x="701537" y="638918"/>
                  </a:lnTo>
                  <a:lnTo>
                    <a:pt x="729218" y="599517"/>
                  </a:lnTo>
                  <a:lnTo>
                    <a:pt x="752003" y="556864"/>
                  </a:lnTo>
                  <a:lnTo>
                    <a:pt x="762000" y="530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25607" y="2418588"/>
            <a:ext cx="311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64269" y="2176779"/>
            <a:ext cx="787400" cy="786765"/>
            <a:chOff x="2564269" y="2176779"/>
            <a:chExt cx="787400" cy="786765"/>
          </a:xfrm>
        </p:grpSpPr>
        <p:sp>
          <p:nvSpPr>
            <p:cNvPr id="9" name="object 9"/>
            <p:cNvSpPr/>
            <p:nvPr/>
          </p:nvSpPr>
          <p:spPr>
            <a:xfrm>
              <a:off x="2577223" y="2188971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29" y="333229"/>
                  </a:lnTo>
                  <a:lnTo>
                    <a:pt x="750357" y="287223"/>
                  </a:lnTo>
                  <a:lnTo>
                    <a:pt x="736341" y="243340"/>
                  </a:lnTo>
                  <a:lnTo>
                    <a:pt x="717338" y="201937"/>
                  </a:lnTo>
                  <a:lnTo>
                    <a:pt x="693707" y="163373"/>
                  </a:lnTo>
                  <a:lnTo>
                    <a:pt x="665806" y="128006"/>
                  </a:lnTo>
                  <a:lnTo>
                    <a:pt x="633993" y="96193"/>
                  </a:lnTo>
                  <a:lnTo>
                    <a:pt x="598626" y="68292"/>
                  </a:lnTo>
                  <a:lnTo>
                    <a:pt x="560062" y="44661"/>
                  </a:lnTo>
                  <a:lnTo>
                    <a:pt x="518659" y="25658"/>
                  </a:lnTo>
                  <a:lnTo>
                    <a:pt x="474776" y="11642"/>
                  </a:lnTo>
                  <a:lnTo>
                    <a:pt x="42877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770" y="759042"/>
                  </a:lnTo>
                  <a:lnTo>
                    <a:pt x="474776" y="750403"/>
                  </a:lnTo>
                  <a:lnTo>
                    <a:pt x="518659" y="736434"/>
                  </a:lnTo>
                  <a:lnTo>
                    <a:pt x="560062" y="717488"/>
                  </a:lnTo>
                  <a:lnTo>
                    <a:pt x="598626" y="693915"/>
                  </a:lnTo>
                  <a:lnTo>
                    <a:pt x="633993" y="666069"/>
                  </a:lnTo>
                  <a:lnTo>
                    <a:pt x="665806" y="634299"/>
                  </a:lnTo>
                  <a:lnTo>
                    <a:pt x="693707" y="598959"/>
                  </a:lnTo>
                  <a:lnTo>
                    <a:pt x="717338" y="560399"/>
                  </a:lnTo>
                  <a:lnTo>
                    <a:pt x="736341" y="518971"/>
                  </a:lnTo>
                  <a:lnTo>
                    <a:pt x="750357" y="475028"/>
                  </a:lnTo>
                  <a:lnTo>
                    <a:pt x="759029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64269" y="2176779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72617"/>
                  </a:lnTo>
                  <a:lnTo>
                    <a:pt x="785622" y="352805"/>
                  </a:lnTo>
                  <a:lnTo>
                    <a:pt x="771921" y="283911"/>
                  </a:lnTo>
                  <a:lnTo>
                    <a:pt x="755383" y="237482"/>
                  </a:lnTo>
                  <a:lnTo>
                    <a:pt x="733396" y="194075"/>
                  </a:lnTo>
                  <a:lnTo>
                    <a:pt x="706397" y="154060"/>
                  </a:lnTo>
                  <a:lnTo>
                    <a:pt x="674824" y="117808"/>
                  </a:lnTo>
                  <a:lnTo>
                    <a:pt x="639112" y="85686"/>
                  </a:lnTo>
                  <a:lnTo>
                    <a:pt x="599699" y="58067"/>
                  </a:lnTo>
                  <a:lnTo>
                    <a:pt x="557021" y="35319"/>
                  </a:lnTo>
                  <a:lnTo>
                    <a:pt x="511515" y="17811"/>
                  </a:lnTo>
                  <a:lnTo>
                    <a:pt x="463617" y="5915"/>
                  </a:lnTo>
                  <a:lnTo>
                    <a:pt x="414528" y="90"/>
                  </a:lnTo>
                  <a:lnTo>
                    <a:pt x="373379" y="0"/>
                  </a:lnTo>
                  <a:lnTo>
                    <a:pt x="323295" y="5962"/>
                  </a:lnTo>
                  <a:lnTo>
                    <a:pt x="275298" y="17896"/>
                  </a:lnTo>
                  <a:lnTo>
                    <a:pt x="229796" y="35437"/>
                  </a:lnTo>
                  <a:lnTo>
                    <a:pt x="187197" y="58220"/>
                  </a:lnTo>
                  <a:lnTo>
                    <a:pt x="147909" y="85878"/>
                  </a:lnTo>
                  <a:lnTo>
                    <a:pt x="112472" y="117928"/>
                  </a:lnTo>
                  <a:lnTo>
                    <a:pt x="112341" y="118047"/>
                  </a:lnTo>
                  <a:lnTo>
                    <a:pt x="80900" y="154361"/>
                  </a:lnTo>
                  <a:lnTo>
                    <a:pt x="53994" y="194454"/>
                  </a:lnTo>
                  <a:lnTo>
                    <a:pt x="32032" y="237961"/>
                  </a:lnTo>
                  <a:lnTo>
                    <a:pt x="15422" y="284517"/>
                  </a:lnTo>
                  <a:lnTo>
                    <a:pt x="4571" y="333755"/>
                  </a:lnTo>
                  <a:lnTo>
                    <a:pt x="761" y="373379"/>
                  </a:lnTo>
                  <a:lnTo>
                    <a:pt x="0" y="393953"/>
                  </a:lnTo>
                  <a:lnTo>
                    <a:pt x="762" y="413765"/>
                  </a:lnTo>
                  <a:lnTo>
                    <a:pt x="4572" y="453389"/>
                  </a:lnTo>
                  <a:lnTo>
                    <a:pt x="20578" y="519220"/>
                  </a:lnTo>
                  <a:lnTo>
                    <a:pt x="25146" y="530547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507" y="289077"/>
                  </a:lnTo>
                  <a:lnTo>
                    <a:pt x="57075" y="244095"/>
                  </a:lnTo>
                  <a:lnTo>
                    <a:pt x="78983" y="202235"/>
                  </a:lnTo>
                  <a:lnTo>
                    <a:pt x="105793" y="163876"/>
                  </a:lnTo>
                  <a:lnTo>
                    <a:pt x="137068" y="129396"/>
                  </a:lnTo>
                  <a:lnTo>
                    <a:pt x="172369" y="99172"/>
                  </a:lnTo>
                  <a:lnTo>
                    <a:pt x="211259" y="73584"/>
                  </a:lnTo>
                  <a:lnTo>
                    <a:pt x="253301" y="53009"/>
                  </a:lnTo>
                  <a:lnTo>
                    <a:pt x="298055" y="37825"/>
                  </a:lnTo>
                  <a:lnTo>
                    <a:pt x="345086" y="28411"/>
                  </a:lnTo>
                  <a:lnTo>
                    <a:pt x="393191" y="25196"/>
                  </a:lnTo>
                  <a:lnTo>
                    <a:pt x="393953" y="25145"/>
                  </a:lnTo>
                  <a:lnTo>
                    <a:pt x="412242" y="25877"/>
                  </a:lnTo>
                  <a:lnTo>
                    <a:pt x="413766" y="25968"/>
                  </a:lnTo>
                  <a:lnTo>
                    <a:pt x="431292" y="27371"/>
                  </a:lnTo>
                  <a:lnTo>
                    <a:pt x="432054" y="27431"/>
                  </a:lnTo>
                  <a:lnTo>
                    <a:pt x="477556" y="34938"/>
                  </a:lnTo>
                  <a:lnTo>
                    <a:pt x="522384" y="48317"/>
                  </a:lnTo>
                  <a:lnTo>
                    <a:pt x="563942" y="66809"/>
                  </a:lnTo>
                  <a:lnTo>
                    <a:pt x="602598" y="90140"/>
                  </a:lnTo>
                  <a:lnTo>
                    <a:pt x="637976" y="117917"/>
                  </a:lnTo>
                  <a:lnTo>
                    <a:pt x="669703" y="149745"/>
                  </a:lnTo>
                  <a:lnTo>
                    <a:pt x="697405" y="185231"/>
                  </a:lnTo>
                  <a:lnTo>
                    <a:pt x="720592" y="223787"/>
                  </a:lnTo>
                  <a:lnTo>
                    <a:pt x="739188" y="265489"/>
                  </a:lnTo>
                  <a:lnTo>
                    <a:pt x="752610" y="309664"/>
                  </a:lnTo>
                  <a:lnTo>
                    <a:pt x="760476" y="355853"/>
                  </a:lnTo>
                  <a:lnTo>
                    <a:pt x="762000" y="393953"/>
                  </a:lnTo>
                  <a:lnTo>
                    <a:pt x="762000" y="530900"/>
                  </a:lnTo>
                  <a:lnTo>
                    <a:pt x="769509" y="511397"/>
                  </a:lnTo>
                  <a:lnTo>
                    <a:pt x="781351" y="463551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900"/>
                  </a:moveTo>
                  <a:lnTo>
                    <a:pt x="762000" y="393953"/>
                  </a:lnTo>
                  <a:lnTo>
                    <a:pt x="760476" y="431291"/>
                  </a:lnTo>
                  <a:lnTo>
                    <a:pt x="752610" y="477468"/>
                  </a:lnTo>
                  <a:lnTo>
                    <a:pt x="739188" y="521593"/>
                  </a:lnTo>
                  <a:lnTo>
                    <a:pt x="720592" y="563262"/>
                  </a:lnTo>
                  <a:lnTo>
                    <a:pt x="697201" y="602071"/>
                  </a:lnTo>
                  <a:lnTo>
                    <a:pt x="669344" y="637670"/>
                  </a:lnTo>
                  <a:lnTo>
                    <a:pt x="637566" y="669493"/>
                  </a:lnTo>
                  <a:lnTo>
                    <a:pt x="602083" y="697298"/>
                  </a:lnTo>
                  <a:lnTo>
                    <a:pt x="563333" y="720627"/>
                  </a:lnTo>
                  <a:lnTo>
                    <a:pt x="521697" y="739075"/>
                  </a:lnTo>
                  <a:lnTo>
                    <a:pt x="477556" y="752239"/>
                  </a:lnTo>
                  <a:lnTo>
                    <a:pt x="432054" y="759590"/>
                  </a:lnTo>
                  <a:lnTo>
                    <a:pt x="413766" y="761116"/>
                  </a:lnTo>
                  <a:lnTo>
                    <a:pt x="412242" y="761237"/>
                  </a:lnTo>
                  <a:lnTo>
                    <a:pt x="393954" y="761969"/>
                  </a:lnTo>
                  <a:lnTo>
                    <a:pt x="393192" y="761999"/>
                  </a:lnTo>
                  <a:lnTo>
                    <a:pt x="346084" y="758837"/>
                  </a:lnTo>
                  <a:lnTo>
                    <a:pt x="300644" y="749950"/>
                  </a:lnTo>
                  <a:lnTo>
                    <a:pt x="257273" y="735672"/>
                  </a:lnTo>
                  <a:lnTo>
                    <a:pt x="216371" y="716333"/>
                  </a:lnTo>
                  <a:lnTo>
                    <a:pt x="178336" y="692264"/>
                  </a:lnTo>
                  <a:lnTo>
                    <a:pt x="143570" y="663799"/>
                  </a:lnTo>
                  <a:lnTo>
                    <a:pt x="112472" y="631266"/>
                  </a:lnTo>
                  <a:lnTo>
                    <a:pt x="85443" y="595000"/>
                  </a:lnTo>
                  <a:lnTo>
                    <a:pt x="62882" y="555329"/>
                  </a:lnTo>
                  <a:lnTo>
                    <a:pt x="45190" y="512588"/>
                  </a:lnTo>
                  <a:lnTo>
                    <a:pt x="32766" y="467105"/>
                  </a:lnTo>
                  <a:lnTo>
                    <a:pt x="25908" y="412241"/>
                  </a:lnTo>
                  <a:lnTo>
                    <a:pt x="25146" y="393191"/>
                  </a:lnTo>
                  <a:lnTo>
                    <a:pt x="25146" y="530547"/>
                  </a:lnTo>
                  <a:lnTo>
                    <a:pt x="60605" y="603428"/>
                  </a:lnTo>
                  <a:lnTo>
                    <a:pt x="87584" y="640943"/>
                  </a:lnTo>
                  <a:lnTo>
                    <a:pt x="118642" y="674948"/>
                  </a:lnTo>
                  <a:lnTo>
                    <a:pt x="153352" y="705107"/>
                  </a:lnTo>
                  <a:lnTo>
                    <a:pt x="191290" y="731081"/>
                  </a:lnTo>
                  <a:lnTo>
                    <a:pt x="232031" y="752534"/>
                  </a:lnTo>
                  <a:lnTo>
                    <a:pt x="275151" y="769128"/>
                  </a:lnTo>
                  <a:lnTo>
                    <a:pt x="320223" y="780526"/>
                  </a:lnTo>
                  <a:lnTo>
                    <a:pt x="366824" y="786390"/>
                  </a:lnTo>
                  <a:lnTo>
                    <a:pt x="414528" y="786383"/>
                  </a:lnTo>
                  <a:lnTo>
                    <a:pt x="454152" y="782573"/>
                  </a:lnTo>
                  <a:lnTo>
                    <a:pt x="503141" y="771857"/>
                  </a:lnTo>
                  <a:lnTo>
                    <a:pt x="549539" y="755268"/>
                  </a:lnTo>
                  <a:lnTo>
                    <a:pt x="592961" y="733243"/>
                  </a:lnTo>
                  <a:lnTo>
                    <a:pt x="633025" y="706218"/>
                  </a:lnTo>
                  <a:lnTo>
                    <a:pt x="669344" y="674631"/>
                  </a:lnTo>
                  <a:lnTo>
                    <a:pt x="701537" y="638918"/>
                  </a:lnTo>
                  <a:lnTo>
                    <a:pt x="729218" y="599517"/>
                  </a:lnTo>
                  <a:lnTo>
                    <a:pt x="752003" y="556864"/>
                  </a:lnTo>
                  <a:lnTo>
                    <a:pt x="762000" y="530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76099" y="2418588"/>
            <a:ext cx="362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m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64069" y="3319779"/>
            <a:ext cx="2387600" cy="406400"/>
            <a:chOff x="964069" y="3319779"/>
            <a:chExt cx="2387600" cy="406400"/>
          </a:xfrm>
        </p:grpSpPr>
        <p:sp>
          <p:nvSpPr>
            <p:cNvPr id="13" name="object 13"/>
            <p:cNvSpPr/>
            <p:nvPr/>
          </p:nvSpPr>
          <p:spPr>
            <a:xfrm>
              <a:off x="977023" y="3331971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64069" y="3319779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954" y="406146"/>
                  </a:lnTo>
                  <a:lnTo>
                    <a:pt x="12954" y="25146"/>
                  </a:lnTo>
                  <a:lnTo>
                    <a:pt x="25145" y="12192"/>
                  </a:lnTo>
                  <a:lnTo>
                    <a:pt x="25145" y="25146"/>
                  </a:lnTo>
                  <a:lnTo>
                    <a:pt x="2362199" y="25146"/>
                  </a:lnTo>
                  <a:lnTo>
                    <a:pt x="2362199" y="12192"/>
                  </a:lnTo>
                  <a:lnTo>
                    <a:pt x="2375153" y="25146"/>
                  </a:lnTo>
                  <a:lnTo>
                    <a:pt x="2375153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5" y="25146"/>
                  </a:moveTo>
                  <a:lnTo>
                    <a:pt x="25145" y="12192"/>
                  </a:lnTo>
                  <a:lnTo>
                    <a:pt x="12954" y="25146"/>
                  </a:lnTo>
                  <a:lnTo>
                    <a:pt x="25145" y="25146"/>
                  </a:lnTo>
                  <a:close/>
                </a:path>
                <a:path w="2387600" h="406400">
                  <a:moveTo>
                    <a:pt x="25145" y="381000"/>
                  </a:moveTo>
                  <a:lnTo>
                    <a:pt x="25145" y="25146"/>
                  </a:lnTo>
                  <a:lnTo>
                    <a:pt x="12954" y="25146"/>
                  </a:lnTo>
                  <a:lnTo>
                    <a:pt x="12954" y="381000"/>
                  </a:lnTo>
                  <a:lnTo>
                    <a:pt x="25145" y="381000"/>
                  </a:lnTo>
                  <a:close/>
                </a:path>
                <a:path w="2387600" h="406400">
                  <a:moveTo>
                    <a:pt x="2375153" y="381000"/>
                  </a:moveTo>
                  <a:lnTo>
                    <a:pt x="12954" y="381000"/>
                  </a:lnTo>
                  <a:lnTo>
                    <a:pt x="25145" y="393192"/>
                  </a:lnTo>
                  <a:lnTo>
                    <a:pt x="25145" y="406146"/>
                  </a:lnTo>
                  <a:lnTo>
                    <a:pt x="2362199" y="406146"/>
                  </a:lnTo>
                  <a:lnTo>
                    <a:pt x="2362199" y="393192"/>
                  </a:lnTo>
                  <a:lnTo>
                    <a:pt x="2375153" y="381000"/>
                  </a:lnTo>
                  <a:close/>
                </a:path>
                <a:path w="2387600" h="406400">
                  <a:moveTo>
                    <a:pt x="25145" y="406146"/>
                  </a:moveTo>
                  <a:lnTo>
                    <a:pt x="25145" y="393192"/>
                  </a:lnTo>
                  <a:lnTo>
                    <a:pt x="12954" y="381000"/>
                  </a:lnTo>
                  <a:lnTo>
                    <a:pt x="12954" y="406146"/>
                  </a:lnTo>
                  <a:lnTo>
                    <a:pt x="25145" y="406146"/>
                  </a:lnTo>
                  <a:close/>
                </a:path>
                <a:path w="2387600" h="406400">
                  <a:moveTo>
                    <a:pt x="2375153" y="25146"/>
                  </a:moveTo>
                  <a:lnTo>
                    <a:pt x="2362199" y="12192"/>
                  </a:lnTo>
                  <a:lnTo>
                    <a:pt x="2362199" y="25146"/>
                  </a:lnTo>
                  <a:lnTo>
                    <a:pt x="2375153" y="25146"/>
                  </a:lnTo>
                  <a:close/>
                </a:path>
                <a:path w="2387600" h="406400">
                  <a:moveTo>
                    <a:pt x="2375153" y="381000"/>
                  </a:moveTo>
                  <a:lnTo>
                    <a:pt x="2375153" y="25146"/>
                  </a:lnTo>
                  <a:lnTo>
                    <a:pt x="2362199" y="25146"/>
                  </a:lnTo>
                  <a:lnTo>
                    <a:pt x="2362199" y="381000"/>
                  </a:lnTo>
                  <a:lnTo>
                    <a:pt x="2375153" y="381000"/>
                  </a:lnTo>
                  <a:close/>
                </a:path>
                <a:path w="2387600" h="406400">
                  <a:moveTo>
                    <a:pt x="2375153" y="406146"/>
                  </a:moveTo>
                  <a:lnTo>
                    <a:pt x="2375153" y="381000"/>
                  </a:lnTo>
                  <a:lnTo>
                    <a:pt x="2362199" y="393192"/>
                  </a:lnTo>
                  <a:lnTo>
                    <a:pt x="2362199" y="406146"/>
                  </a:lnTo>
                  <a:lnTo>
                    <a:pt x="2375153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765941" y="3371088"/>
            <a:ext cx="782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Switch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64069" y="4005579"/>
            <a:ext cx="2387600" cy="406400"/>
            <a:chOff x="964069" y="4005579"/>
            <a:chExt cx="2387600" cy="406400"/>
          </a:xfrm>
        </p:grpSpPr>
        <p:sp>
          <p:nvSpPr>
            <p:cNvPr id="17" name="object 17"/>
            <p:cNvSpPr/>
            <p:nvPr/>
          </p:nvSpPr>
          <p:spPr>
            <a:xfrm>
              <a:off x="977023" y="4017771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64069" y="4005579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954" y="406146"/>
                  </a:lnTo>
                  <a:lnTo>
                    <a:pt x="12954" y="25146"/>
                  </a:lnTo>
                  <a:lnTo>
                    <a:pt x="25145" y="12192"/>
                  </a:lnTo>
                  <a:lnTo>
                    <a:pt x="25145" y="25146"/>
                  </a:lnTo>
                  <a:lnTo>
                    <a:pt x="2362199" y="25146"/>
                  </a:lnTo>
                  <a:lnTo>
                    <a:pt x="2362199" y="12192"/>
                  </a:lnTo>
                  <a:lnTo>
                    <a:pt x="2375153" y="25146"/>
                  </a:lnTo>
                  <a:lnTo>
                    <a:pt x="2375153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5" y="25146"/>
                  </a:moveTo>
                  <a:lnTo>
                    <a:pt x="25145" y="12192"/>
                  </a:lnTo>
                  <a:lnTo>
                    <a:pt x="12954" y="25146"/>
                  </a:lnTo>
                  <a:lnTo>
                    <a:pt x="25145" y="25146"/>
                  </a:lnTo>
                  <a:close/>
                </a:path>
                <a:path w="2387600" h="406400">
                  <a:moveTo>
                    <a:pt x="25145" y="381000"/>
                  </a:moveTo>
                  <a:lnTo>
                    <a:pt x="25145" y="25146"/>
                  </a:lnTo>
                  <a:lnTo>
                    <a:pt x="12954" y="25146"/>
                  </a:lnTo>
                  <a:lnTo>
                    <a:pt x="12954" y="381000"/>
                  </a:lnTo>
                  <a:lnTo>
                    <a:pt x="25145" y="381000"/>
                  </a:lnTo>
                  <a:close/>
                </a:path>
                <a:path w="2387600" h="406400">
                  <a:moveTo>
                    <a:pt x="2375153" y="381000"/>
                  </a:moveTo>
                  <a:lnTo>
                    <a:pt x="12954" y="381000"/>
                  </a:lnTo>
                  <a:lnTo>
                    <a:pt x="25145" y="393192"/>
                  </a:lnTo>
                  <a:lnTo>
                    <a:pt x="25145" y="406146"/>
                  </a:lnTo>
                  <a:lnTo>
                    <a:pt x="2362199" y="406146"/>
                  </a:lnTo>
                  <a:lnTo>
                    <a:pt x="2362199" y="393192"/>
                  </a:lnTo>
                  <a:lnTo>
                    <a:pt x="2375153" y="381000"/>
                  </a:lnTo>
                  <a:close/>
                </a:path>
                <a:path w="2387600" h="406400">
                  <a:moveTo>
                    <a:pt x="25145" y="406146"/>
                  </a:moveTo>
                  <a:lnTo>
                    <a:pt x="25145" y="393192"/>
                  </a:lnTo>
                  <a:lnTo>
                    <a:pt x="12954" y="381000"/>
                  </a:lnTo>
                  <a:lnTo>
                    <a:pt x="12954" y="406146"/>
                  </a:lnTo>
                  <a:lnTo>
                    <a:pt x="25145" y="406146"/>
                  </a:lnTo>
                  <a:close/>
                </a:path>
                <a:path w="2387600" h="406400">
                  <a:moveTo>
                    <a:pt x="2375153" y="25146"/>
                  </a:moveTo>
                  <a:lnTo>
                    <a:pt x="2362199" y="12192"/>
                  </a:lnTo>
                  <a:lnTo>
                    <a:pt x="2362199" y="25146"/>
                  </a:lnTo>
                  <a:lnTo>
                    <a:pt x="2375153" y="25146"/>
                  </a:lnTo>
                  <a:close/>
                </a:path>
                <a:path w="2387600" h="406400">
                  <a:moveTo>
                    <a:pt x="2375153" y="381000"/>
                  </a:moveTo>
                  <a:lnTo>
                    <a:pt x="2375153" y="25146"/>
                  </a:lnTo>
                  <a:lnTo>
                    <a:pt x="2362199" y="25146"/>
                  </a:lnTo>
                  <a:lnTo>
                    <a:pt x="2362199" y="381000"/>
                  </a:lnTo>
                  <a:lnTo>
                    <a:pt x="2375153" y="381000"/>
                  </a:lnTo>
                  <a:close/>
                </a:path>
                <a:path w="2387600" h="406400">
                  <a:moveTo>
                    <a:pt x="2375153" y="406146"/>
                  </a:moveTo>
                  <a:lnTo>
                    <a:pt x="2375153" y="381000"/>
                  </a:lnTo>
                  <a:lnTo>
                    <a:pt x="2362199" y="393192"/>
                  </a:lnTo>
                  <a:lnTo>
                    <a:pt x="2362199" y="406146"/>
                  </a:lnTo>
                  <a:lnTo>
                    <a:pt x="2375153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796421" y="4056888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64069" y="4691379"/>
            <a:ext cx="2387600" cy="406400"/>
            <a:chOff x="964069" y="4691379"/>
            <a:chExt cx="2387600" cy="406400"/>
          </a:xfrm>
        </p:grpSpPr>
        <p:sp>
          <p:nvSpPr>
            <p:cNvPr id="21" name="object 21"/>
            <p:cNvSpPr/>
            <p:nvPr/>
          </p:nvSpPr>
          <p:spPr>
            <a:xfrm>
              <a:off x="977023" y="4703571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64069" y="4691379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954" y="406146"/>
                  </a:lnTo>
                  <a:lnTo>
                    <a:pt x="12954" y="25146"/>
                  </a:lnTo>
                  <a:lnTo>
                    <a:pt x="25145" y="12192"/>
                  </a:lnTo>
                  <a:lnTo>
                    <a:pt x="25145" y="25146"/>
                  </a:lnTo>
                  <a:lnTo>
                    <a:pt x="2362199" y="25146"/>
                  </a:lnTo>
                  <a:lnTo>
                    <a:pt x="2362199" y="12192"/>
                  </a:lnTo>
                  <a:lnTo>
                    <a:pt x="2375153" y="25146"/>
                  </a:lnTo>
                  <a:lnTo>
                    <a:pt x="2375153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5" y="25146"/>
                  </a:moveTo>
                  <a:lnTo>
                    <a:pt x="25145" y="12192"/>
                  </a:lnTo>
                  <a:lnTo>
                    <a:pt x="12954" y="25146"/>
                  </a:lnTo>
                  <a:lnTo>
                    <a:pt x="25145" y="25146"/>
                  </a:lnTo>
                  <a:close/>
                </a:path>
                <a:path w="2387600" h="406400">
                  <a:moveTo>
                    <a:pt x="25145" y="381000"/>
                  </a:moveTo>
                  <a:lnTo>
                    <a:pt x="25145" y="25146"/>
                  </a:lnTo>
                  <a:lnTo>
                    <a:pt x="12954" y="25146"/>
                  </a:lnTo>
                  <a:lnTo>
                    <a:pt x="12954" y="381000"/>
                  </a:lnTo>
                  <a:lnTo>
                    <a:pt x="25145" y="381000"/>
                  </a:lnTo>
                  <a:close/>
                </a:path>
                <a:path w="2387600" h="406400">
                  <a:moveTo>
                    <a:pt x="2375153" y="381000"/>
                  </a:moveTo>
                  <a:lnTo>
                    <a:pt x="12954" y="381000"/>
                  </a:lnTo>
                  <a:lnTo>
                    <a:pt x="25145" y="393192"/>
                  </a:lnTo>
                  <a:lnTo>
                    <a:pt x="25145" y="406146"/>
                  </a:lnTo>
                  <a:lnTo>
                    <a:pt x="2362199" y="406146"/>
                  </a:lnTo>
                  <a:lnTo>
                    <a:pt x="2362199" y="393192"/>
                  </a:lnTo>
                  <a:lnTo>
                    <a:pt x="2375153" y="381000"/>
                  </a:lnTo>
                  <a:close/>
                </a:path>
                <a:path w="2387600" h="406400">
                  <a:moveTo>
                    <a:pt x="25145" y="406146"/>
                  </a:moveTo>
                  <a:lnTo>
                    <a:pt x="25145" y="393192"/>
                  </a:lnTo>
                  <a:lnTo>
                    <a:pt x="12954" y="381000"/>
                  </a:lnTo>
                  <a:lnTo>
                    <a:pt x="12954" y="406146"/>
                  </a:lnTo>
                  <a:lnTo>
                    <a:pt x="25145" y="406146"/>
                  </a:lnTo>
                  <a:close/>
                </a:path>
                <a:path w="2387600" h="406400">
                  <a:moveTo>
                    <a:pt x="2375153" y="25146"/>
                  </a:moveTo>
                  <a:lnTo>
                    <a:pt x="2362199" y="12192"/>
                  </a:lnTo>
                  <a:lnTo>
                    <a:pt x="2362199" y="25146"/>
                  </a:lnTo>
                  <a:lnTo>
                    <a:pt x="2375153" y="25146"/>
                  </a:lnTo>
                  <a:close/>
                </a:path>
                <a:path w="2387600" h="406400">
                  <a:moveTo>
                    <a:pt x="2375153" y="381000"/>
                  </a:moveTo>
                  <a:lnTo>
                    <a:pt x="2375153" y="25146"/>
                  </a:lnTo>
                  <a:lnTo>
                    <a:pt x="2362199" y="25146"/>
                  </a:lnTo>
                  <a:lnTo>
                    <a:pt x="2362199" y="381000"/>
                  </a:lnTo>
                  <a:lnTo>
                    <a:pt x="2375153" y="381000"/>
                  </a:lnTo>
                  <a:close/>
                </a:path>
                <a:path w="2387600" h="406400">
                  <a:moveTo>
                    <a:pt x="2375153" y="406146"/>
                  </a:moveTo>
                  <a:lnTo>
                    <a:pt x="2375153" y="381000"/>
                  </a:lnTo>
                  <a:lnTo>
                    <a:pt x="2362199" y="393192"/>
                  </a:lnTo>
                  <a:lnTo>
                    <a:pt x="2362199" y="406146"/>
                  </a:lnTo>
                  <a:lnTo>
                    <a:pt x="2375153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375035" y="4742688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268869" y="2557779"/>
            <a:ext cx="1701800" cy="2146300"/>
            <a:chOff x="1268869" y="2557779"/>
            <a:chExt cx="1701800" cy="2146300"/>
          </a:xfrm>
        </p:grpSpPr>
        <p:sp>
          <p:nvSpPr>
            <p:cNvPr id="25" name="object 25"/>
            <p:cNvSpPr/>
            <p:nvPr/>
          </p:nvSpPr>
          <p:spPr>
            <a:xfrm>
              <a:off x="1268869" y="2950971"/>
              <a:ext cx="1701800" cy="1752600"/>
            </a:xfrm>
            <a:custGeom>
              <a:avLst/>
              <a:gdLst/>
              <a:ahLst/>
              <a:cxnLst/>
              <a:rect l="l" t="t" r="r" b="b"/>
              <a:pathLst>
                <a:path w="1701800" h="1752600">
                  <a:moveTo>
                    <a:pt x="25146" y="1447800"/>
                  </a:moveTo>
                  <a:lnTo>
                    <a:pt x="0" y="1447800"/>
                  </a:lnTo>
                  <a:lnTo>
                    <a:pt x="0" y="1752600"/>
                  </a:lnTo>
                  <a:lnTo>
                    <a:pt x="25146" y="1752600"/>
                  </a:lnTo>
                  <a:lnTo>
                    <a:pt x="25146" y="1447800"/>
                  </a:lnTo>
                  <a:close/>
                </a:path>
                <a:path w="1701800" h="1752600">
                  <a:moveTo>
                    <a:pt x="25146" y="762000"/>
                  </a:moveTo>
                  <a:lnTo>
                    <a:pt x="0" y="762000"/>
                  </a:lnTo>
                  <a:lnTo>
                    <a:pt x="0" y="1066800"/>
                  </a:lnTo>
                  <a:lnTo>
                    <a:pt x="25146" y="1066800"/>
                  </a:lnTo>
                  <a:lnTo>
                    <a:pt x="25146" y="762000"/>
                  </a:lnTo>
                  <a:close/>
                </a:path>
                <a:path w="1701800" h="1752600">
                  <a:moveTo>
                    <a:pt x="25146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25146" y="381000"/>
                  </a:lnTo>
                  <a:lnTo>
                    <a:pt x="25146" y="0"/>
                  </a:lnTo>
                  <a:close/>
                </a:path>
                <a:path w="1701800" h="1752600">
                  <a:moveTo>
                    <a:pt x="1701546" y="1447800"/>
                  </a:moveTo>
                  <a:lnTo>
                    <a:pt x="1676400" y="1447800"/>
                  </a:lnTo>
                  <a:lnTo>
                    <a:pt x="1676400" y="1752600"/>
                  </a:lnTo>
                  <a:lnTo>
                    <a:pt x="1701546" y="1752600"/>
                  </a:lnTo>
                  <a:lnTo>
                    <a:pt x="1701546" y="1447800"/>
                  </a:lnTo>
                  <a:close/>
                </a:path>
                <a:path w="1701800" h="1752600">
                  <a:moveTo>
                    <a:pt x="1701546" y="762000"/>
                  </a:moveTo>
                  <a:lnTo>
                    <a:pt x="1676400" y="762000"/>
                  </a:lnTo>
                  <a:lnTo>
                    <a:pt x="1676400" y="1066800"/>
                  </a:lnTo>
                  <a:lnTo>
                    <a:pt x="1701546" y="1066800"/>
                  </a:lnTo>
                  <a:lnTo>
                    <a:pt x="1701546" y="762000"/>
                  </a:lnTo>
                  <a:close/>
                </a:path>
                <a:path w="1701800" h="1752600">
                  <a:moveTo>
                    <a:pt x="1701546" y="0"/>
                  </a:moveTo>
                  <a:lnTo>
                    <a:pt x="1676400" y="0"/>
                  </a:lnTo>
                  <a:lnTo>
                    <a:pt x="1676400" y="381000"/>
                  </a:lnTo>
                  <a:lnTo>
                    <a:pt x="1701546" y="381000"/>
                  </a:lnTo>
                  <a:lnTo>
                    <a:pt x="17015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62823" y="2570352"/>
              <a:ext cx="889000" cy="0"/>
            </a:xfrm>
            <a:custGeom>
              <a:avLst/>
              <a:gdLst/>
              <a:ahLst/>
              <a:cxnLst/>
              <a:rect l="l" t="t" r="r" b="b"/>
              <a:pathLst>
                <a:path w="889000">
                  <a:moveTo>
                    <a:pt x="0" y="0"/>
                  </a:moveTo>
                  <a:lnTo>
                    <a:pt x="888492" y="0"/>
                  </a:lnTo>
                </a:path>
              </a:pathLst>
            </a:custGeom>
            <a:ln w="2514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073" y="750570"/>
            <a:ext cx="661035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Bus-</a:t>
            </a:r>
            <a:r>
              <a:rPr dirty="0"/>
              <a:t>shared</a:t>
            </a:r>
            <a:r>
              <a:rPr spc="-90" dirty="0"/>
              <a:t> </a:t>
            </a:r>
            <a:r>
              <a:rPr spc="-10" dirty="0"/>
              <a:t>Memory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74801" y="1742694"/>
            <a:ext cx="4392295" cy="3750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498475" indent="-342900">
              <a:lnSpc>
                <a:spcPct val="100000"/>
              </a:lnSpc>
              <a:spcBef>
                <a:spcPts val="9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interconnect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-50" dirty="0">
                <a:latin typeface="Arial MT"/>
                <a:cs typeface="Arial MT"/>
              </a:rPr>
              <a:t>a </a:t>
            </a:r>
            <a:r>
              <a:rPr sz="2600" dirty="0">
                <a:latin typeface="Arial MT"/>
                <a:cs typeface="Arial MT"/>
              </a:rPr>
              <a:t>shared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bus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between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the </a:t>
            </a:r>
            <a:r>
              <a:rPr sz="2600" dirty="0">
                <a:latin typeface="Arial MT"/>
                <a:cs typeface="Arial MT"/>
              </a:rPr>
              <a:t>processors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local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caches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memory</a:t>
            </a:r>
            <a:endParaRPr sz="2600">
              <a:latin typeface="Arial MT"/>
              <a:cs typeface="Arial MT"/>
            </a:endParaRPr>
          </a:p>
          <a:p>
            <a:pPr marL="355600" marR="146685" indent="-342900">
              <a:lnSpc>
                <a:spcPct val="100000"/>
              </a:lnSpc>
              <a:spcBef>
                <a:spcPts val="62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600" dirty="0">
                <a:latin typeface="Arial MT"/>
                <a:cs typeface="Arial MT"/>
              </a:rPr>
              <a:t>Has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been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used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up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20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to </a:t>
            </a:r>
            <a:r>
              <a:rPr sz="2600" dirty="0">
                <a:latin typeface="Arial MT"/>
                <a:cs typeface="Arial MT"/>
              </a:rPr>
              <a:t>30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processors</a:t>
            </a:r>
            <a:endParaRPr sz="2600">
              <a:latin typeface="Arial MT"/>
              <a:cs typeface="Arial MT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62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600" dirty="0">
                <a:latin typeface="Arial MT"/>
                <a:cs typeface="Arial MT"/>
              </a:rPr>
              <a:t>Scaling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limited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due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the </a:t>
            </a:r>
            <a:r>
              <a:rPr sz="2600" dirty="0">
                <a:latin typeface="Arial MT"/>
                <a:cs typeface="Arial MT"/>
              </a:rPr>
              <a:t>bandwidth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limitations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the </a:t>
            </a:r>
            <a:r>
              <a:rPr sz="2600" dirty="0">
                <a:latin typeface="Arial MT"/>
                <a:cs typeface="Arial MT"/>
              </a:rPr>
              <a:t>shared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bus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95489" y="2274201"/>
            <a:ext cx="788035" cy="786130"/>
            <a:chOff x="895489" y="2274201"/>
            <a:chExt cx="788035" cy="786130"/>
          </a:xfrm>
        </p:grpSpPr>
        <p:sp>
          <p:nvSpPr>
            <p:cNvPr id="5" name="object 5"/>
            <p:cNvSpPr/>
            <p:nvPr/>
          </p:nvSpPr>
          <p:spPr>
            <a:xfrm>
              <a:off x="908443" y="2285746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29" y="333229"/>
                  </a:lnTo>
                  <a:lnTo>
                    <a:pt x="750357" y="287223"/>
                  </a:lnTo>
                  <a:lnTo>
                    <a:pt x="736341" y="243340"/>
                  </a:lnTo>
                  <a:lnTo>
                    <a:pt x="717338" y="201937"/>
                  </a:lnTo>
                  <a:lnTo>
                    <a:pt x="693707" y="163373"/>
                  </a:lnTo>
                  <a:lnTo>
                    <a:pt x="665806" y="128006"/>
                  </a:lnTo>
                  <a:lnTo>
                    <a:pt x="633993" y="96193"/>
                  </a:lnTo>
                  <a:lnTo>
                    <a:pt x="598626" y="68292"/>
                  </a:lnTo>
                  <a:lnTo>
                    <a:pt x="560062" y="44661"/>
                  </a:lnTo>
                  <a:lnTo>
                    <a:pt x="518659" y="25658"/>
                  </a:lnTo>
                  <a:lnTo>
                    <a:pt x="474776" y="11642"/>
                  </a:lnTo>
                  <a:lnTo>
                    <a:pt x="42877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770" y="759042"/>
                  </a:lnTo>
                  <a:lnTo>
                    <a:pt x="474776" y="750403"/>
                  </a:lnTo>
                  <a:lnTo>
                    <a:pt x="518659" y="736434"/>
                  </a:lnTo>
                  <a:lnTo>
                    <a:pt x="560062" y="717488"/>
                  </a:lnTo>
                  <a:lnTo>
                    <a:pt x="598626" y="693915"/>
                  </a:lnTo>
                  <a:lnTo>
                    <a:pt x="633993" y="666069"/>
                  </a:lnTo>
                  <a:lnTo>
                    <a:pt x="665806" y="634299"/>
                  </a:lnTo>
                  <a:lnTo>
                    <a:pt x="693707" y="598959"/>
                  </a:lnTo>
                  <a:lnTo>
                    <a:pt x="717338" y="560399"/>
                  </a:lnTo>
                  <a:lnTo>
                    <a:pt x="736341" y="518971"/>
                  </a:lnTo>
                  <a:lnTo>
                    <a:pt x="750357" y="475028"/>
                  </a:lnTo>
                  <a:lnTo>
                    <a:pt x="759029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5489" y="2274201"/>
              <a:ext cx="788035" cy="786130"/>
            </a:xfrm>
            <a:custGeom>
              <a:avLst/>
              <a:gdLst/>
              <a:ahLst/>
              <a:cxnLst/>
              <a:rect l="l" t="t" r="r" b="b"/>
              <a:pathLst>
                <a:path w="788035" h="786130">
                  <a:moveTo>
                    <a:pt x="787908" y="392544"/>
                  </a:moveTo>
                  <a:lnTo>
                    <a:pt x="785622" y="352158"/>
                  </a:lnTo>
                  <a:lnTo>
                    <a:pt x="777746" y="309482"/>
                  </a:lnTo>
                  <a:lnTo>
                    <a:pt x="766654" y="269561"/>
                  </a:lnTo>
                  <a:lnTo>
                    <a:pt x="752841" y="233140"/>
                  </a:lnTo>
                  <a:lnTo>
                    <a:pt x="735676" y="197989"/>
                  </a:lnTo>
                  <a:lnTo>
                    <a:pt x="694404" y="137439"/>
                  </a:lnTo>
                  <a:lnTo>
                    <a:pt x="644555" y="87912"/>
                  </a:lnTo>
                  <a:lnTo>
                    <a:pt x="587846" y="49405"/>
                  </a:lnTo>
                  <a:lnTo>
                    <a:pt x="525993" y="21918"/>
                  </a:lnTo>
                  <a:lnTo>
                    <a:pt x="460714" y="5450"/>
                  </a:lnTo>
                  <a:lnTo>
                    <a:pt x="395113" y="55"/>
                  </a:lnTo>
                  <a:lnTo>
                    <a:pt x="393725" y="0"/>
                  </a:lnTo>
                  <a:lnTo>
                    <a:pt x="360378" y="1395"/>
                  </a:lnTo>
                  <a:lnTo>
                    <a:pt x="360126" y="1406"/>
                  </a:lnTo>
                  <a:lnTo>
                    <a:pt x="326743" y="5566"/>
                  </a:lnTo>
                  <a:lnTo>
                    <a:pt x="261485" y="22149"/>
                  </a:lnTo>
                  <a:lnTo>
                    <a:pt x="199668" y="49746"/>
                  </a:lnTo>
                  <a:lnTo>
                    <a:pt x="143009" y="88357"/>
                  </a:lnTo>
                  <a:lnTo>
                    <a:pt x="93224" y="137981"/>
                  </a:lnTo>
                  <a:lnTo>
                    <a:pt x="52031" y="198617"/>
                  </a:lnTo>
                  <a:lnTo>
                    <a:pt x="35192" y="233064"/>
                  </a:lnTo>
                  <a:lnTo>
                    <a:pt x="21146" y="270263"/>
                  </a:lnTo>
                  <a:lnTo>
                    <a:pt x="10105" y="310215"/>
                  </a:lnTo>
                  <a:lnTo>
                    <a:pt x="2285" y="352920"/>
                  </a:lnTo>
                  <a:lnTo>
                    <a:pt x="0" y="393306"/>
                  </a:lnTo>
                  <a:lnTo>
                    <a:pt x="762" y="413118"/>
                  </a:lnTo>
                  <a:lnTo>
                    <a:pt x="2286" y="433692"/>
                  </a:lnTo>
                  <a:lnTo>
                    <a:pt x="8382" y="472554"/>
                  </a:lnTo>
                  <a:lnTo>
                    <a:pt x="20792" y="518606"/>
                  </a:lnTo>
                  <a:lnTo>
                    <a:pt x="25908" y="531210"/>
                  </a:lnTo>
                  <a:lnTo>
                    <a:pt x="25908" y="373494"/>
                  </a:lnTo>
                  <a:lnTo>
                    <a:pt x="27432" y="355206"/>
                  </a:lnTo>
                  <a:lnTo>
                    <a:pt x="40947" y="288147"/>
                  </a:lnTo>
                  <a:lnTo>
                    <a:pt x="57732" y="243019"/>
                  </a:lnTo>
                  <a:lnTo>
                    <a:pt x="79684" y="201123"/>
                  </a:lnTo>
                  <a:lnTo>
                    <a:pt x="106413" y="162812"/>
                  </a:lnTo>
                  <a:lnTo>
                    <a:pt x="137534" y="128435"/>
                  </a:lnTo>
                  <a:lnTo>
                    <a:pt x="172656" y="98346"/>
                  </a:lnTo>
                  <a:lnTo>
                    <a:pt x="211392" y="72894"/>
                  </a:lnTo>
                  <a:lnTo>
                    <a:pt x="253355" y="52432"/>
                  </a:lnTo>
                  <a:lnTo>
                    <a:pt x="298155" y="37311"/>
                  </a:lnTo>
                  <a:lnTo>
                    <a:pt x="345404" y="27883"/>
                  </a:lnTo>
                  <a:lnTo>
                    <a:pt x="393725" y="24566"/>
                  </a:lnTo>
                  <a:lnTo>
                    <a:pt x="395113" y="24514"/>
                  </a:lnTo>
                  <a:lnTo>
                    <a:pt x="413766" y="25260"/>
                  </a:lnTo>
                  <a:lnTo>
                    <a:pt x="478219" y="34280"/>
                  </a:lnTo>
                  <a:lnTo>
                    <a:pt x="522306" y="47471"/>
                  </a:lnTo>
                  <a:lnTo>
                    <a:pt x="563919" y="65949"/>
                  </a:lnTo>
                  <a:lnTo>
                    <a:pt x="602664" y="89307"/>
                  </a:lnTo>
                  <a:lnTo>
                    <a:pt x="638148" y="117137"/>
                  </a:lnTo>
                  <a:lnTo>
                    <a:pt x="669975" y="149032"/>
                  </a:lnTo>
                  <a:lnTo>
                    <a:pt x="697752" y="184583"/>
                  </a:lnTo>
                  <a:lnTo>
                    <a:pt x="721085" y="223383"/>
                  </a:lnTo>
                  <a:lnTo>
                    <a:pt x="739579" y="265026"/>
                  </a:lnTo>
                  <a:lnTo>
                    <a:pt x="752841" y="309103"/>
                  </a:lnTo>
                  <a:lnTo>
                    <a:pt x="760476" y="355206"/>
                  </a:lnTo>
                  <a:lnTo>
                    <a:pt x="762000" y="374256"/>
                  </a:lnTo>
                  <a:lnTo>
                    <a:pt x="762000" y="531321"/>
                  </a:lnTo>
                  <a:lnTo>
                    <a:pt x="769932" y="510650"/>
                  </a:lnTo>
                  <a:lnTo>
                    <a:pt x="781629" y="462815"/>
                  </a:lnTo>
                  <a:lnTo>
                    <a:pt x="787146" y="413118"/>
                  </a:lnTo>
                  <a:lnTo>
                    <a:pt x="787908" y="392544"/>
                  </a:lnTo>
                  <a:close/>
                </a:path>
                <a:path w="788035" h="786130">
                  <a:moveTo>
                    <a:pt x="762000" y="531321"/>
                  </a:moveTo>
                  <a:lnTo>
                    <a:pt x="762000" y="412356"/>
                  </a:lnTo>
                  <a:lnTo>
                    <a:pt x="755993" y="456605"/>
                  </a:lnTo>
                  <a:lnTo>
                    <a:pt x="746180" y="497903"/>
                  </a:lnTo>
                  <a:lnTo>
                    <a:pt x="732829" y="536238"/>
                  </a:lnTo>
                  <a:lnTo>
                    <a:pt x="716211" y="571595"/>
                  </a:lnTo>
                  <a:lnTo>
                    <a:pt x="674256" y="633324"/>
                  </a:lnTo>
                  <a:lnTo>
                    <a:pt x="622478" y="682983"/>
                  </a:lnTo>
                  <a:lnTo>
                    <a:pt x="563038" y="720467"/>
                  </a:lnTo>
                  <a:lnTo>
                    <a:pt x="498100" y="745669"/>
                  </a:lnTo>
                  <a:lnTo>
                    <a:pt x="429826" y="758482"/>
                  </a:lnTo>
                  <a:lnTo>
                    <a:pt x="395113" y="760210"/>
                  </a:lnTo>
                  <a:lnTo>
                    <a:pt x="360378" y="758800"/>
                  </a:lnTo>
                  <a:lnTo>
                    <a:pt x="291919" y="746516"/>
                  </a:lnTo>
                  <a:lnTo>
                    <a:pt x="226613" y="721523"/>
                  </a:lnTo>
                  <a:lnTo>
                    <a:pt x="166620" y="683715"/>
                  </a:lnTo>
                  <a:lnTo>
                    <a:pt x="114104" y="632986"/>
                  </a:lnTo>
                  <a:lnTo>
                    <a:pt x="71228" y="569229"/>
                  </a:lnTo>
                  <a:lnTo>
                    <a:pt x="54080" y="532431"/>
                  </a:lnTo>
                  <a:lnTo>
                    <a:pt x="40153" y="492337"/>
                  </a:lnTo>
                  <a:lnTo>
                    <a:pt x="29718" y="448932"/>
                  </a:lnTo>
                  <a:lnTo>
                    <a:pt x="25908" y="411594"/>
                  </a:lnTo>
                  <a:lnTo>
                    <a:pt x="25908" y="531210"/>
                  </a:lnTo>
                  <a:lnTo>
                    <a:pt x="60989" y="602840"/>
                  </a:lnTo>
                  <a:lnTo>
                    <a:pt x="87957" y="640352"/>
                  </a:lnTo>
                  <a:lnTo>
                    <a:pt x="118959" y="674348"/>
                  </a:lnTo>
                  <a:lnTo>
                    <a:pt x="153585" y="704492"/>
                  </a:lnTo>
                  <a:lnTo>
                    <a:pt x="191427" y="730451"/>
                  </a:lnTo>
                  <a:lnTo>
                    <a:pt x="232074" y="751889"/>
                  </a:lnTo>
                  <a:lnTo>
                    <a:pt x="275117" y="768471"/>
                  </a:lnTo>
                  <a:lnTo>
                    <a:pt x="320146" y="779863"/>
                  </a:lnTo>
                  <a:lnTo>
                    <a:pt x="366753" y="785729"/>
                  </a:lnTo>
                  <a:lnTo>
                    <a:pt x="414528" y="785736"/>
                  </a:lnTo>
                  <a:lnTo>
                    <a:pt x="434340" y="784212"/>
                  </a:lnTo>
                  <a:lnTo>
                    <a:pt x="503033" y="771428"/>
                  </a:lnTo>
                  <a:lnTo>
                    <a:pt x="549421" y="754951"/>
                  </a:lnTo>
                  <a:lnTo>
                    <a:pt x="592908" y="732954"/>
                  </a:lnTo>
                  <a:lnTo>
                    <a:pt x="633082" y="705894"/>
                  </a:lnTo>
                  <a:lnTo>
                    <a:pt x="669535" y="674228"/>
                  </a:lnTo>
                  <a:lnTo>
                    <a:pt x="701856" y="638413"/>
                  </a:lnTo>
                  <a:lnTo>
                    <a:pt x="729636" y="598907"/>
                  </a:lnTo>
                  <a:lnTo>
                    <a:pt x="752465" y="556167"/>
                  </a:lnTo>
                  <a:lnTo>
                    <a:pt x="762000" y="5313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33227" y="2515361"/>
            <a:ext cx="311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71889" y="2274201"/>
            <a:ext cx="788035" cy="786130"/>
            <a:chOff x="2571889" y="2274201"/>
            <a:chExt cx="788035" cy="786130"/>
          </a:xfrm>
        </p:grpSpPr>
        <p:sp>
          <p:nvSpPr>
            <p:cNvPr id="9" name="object 9"/>
            <p:cNvSpPr/>
            <p:nvPr/>
          </p:nvSpPr>
          <p:spPr>
            <a:xfrm>
              <a:off x="2584843" y="2285746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29" y="333229"/>
                  </a:lnTo>
                  <a:lnTo>
                    <a:pt x="750357" y="287223"/>
                  </a:lnTo>
                  <a:lnTo>
                    <a:pt x="736341" y="243340"/>
                  </a:lnTo>
                  <a:lnTo>
                    <a:pt x="717338" y="201937"/>
                  </a:lnTo>
                  <a:lnTo>
                    <a:pt x="693707" y="163373"/>
                  </a:lnTo>
                  <a:lnTo>
                    <a:pt x="665806" y="128006"/>
                  </a:lnTo>
                  <a:lnTo>
                    <a:pt x="633993" y="96193"/>
                  </a:lnTo>
                  <a:lnTo>
                    <a:pt x="598626" y="68292"/>
                  </a:lnTo>
                  <a:lnTo>
                    <a:pt x="560062" y="44661"/>
                  </a:lnTo>
                  <a:lnTo>
                    <a:pt x="518659" y="25658"/>
                  </a:lnTo>
                  <a:lnTo>
                    <a:pt x="474776" y="11642"/>
                  </a:lnTo>
                  <a:lnTo>
                    <a:pt x="42877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770" y="759042"/>
                  </a:lnTo>
                  <a:lnTo>
                    <a:pt x="474776" y="750403"/>
                  </a:lnTo>
                  <a:lnTo>
                    <a:pt x="518659" y="736434"/>
                  </a:lnTo>
                  <a:lnTo>
                    <a:pt x="560062" y="717488"/>
                  </a:lnTo>
                  <a:lnTo>
                    <a:pt x="598626" y="693915"/>
                  </a:lnTo>
                  <a:lnTo>
                    <a:pt x="633993" y="666069"/>
                  </a:lnTo>
                  <a:lnTo>
                    <a:pt x="665806" y="634299"/>
                  </a:lnTo>
                  <a:lnTo>
                    <a:pt x="693707" y="598959"/>
                  </a:lnTo>
                  <a:lnTo>
                    <a:pt x="717338" y="560399"/>
                  </a:lnTo>
                  <a:lnTo>
                    <a:pt x="736341" y="518971"/>
                  </a:lnTo>
                  <a:lnTo>
                    <a:pt x="750357" y="475028"/>
                  </a:lnTo>
                  <a:lnTo>
                    <a:pt x="759029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71889" y="2274201"/>
              <a:ext cx="788035" cy="786130"/>
            </a:xfrm>
            <a:custGeom>
              <a:avLst/>
              <a:gdLst/>
              <a:ahLst/>
              <a:cxnLst/>
              <a:rect l="l" t="t" r="r" b="b"/>
              <a:pathLst>
                <a:path w="788035" h="786130">
                  <a:moveTo>
                    <a:pt x="787908" y="392544"/>
                  </a:moveTo>
                  <a:lnTo>
                    <a:pt x="785622" y="352158"/>
                  </a:lnTo>
                  <a:lnTo>
                    <a:pt x="777746" y="309482"/>
                  </a:lnTo>
                  <a:lnTo>
                    <a:pt x="766654" y="269561"/>
                  </a:lnTo>
                  <a:lnTo>
                    <a:pt x="752841" y="233140"/>
                  </a:lnTo>
                  <a:lnTo>
                    <a:pt x="735676" y="197989"/>
                  </a:lnTo>
                  <a:lnTo>
                    <a:pt x="694404" y="137439"/>
                  </a:lnTo>
                  <a:lnTo>
                    <a:pt x="644555" y="87912"/>
                  </a:lnTo>
                  <a:lnTo>
                    <a:pt x="587846" y="49405"/>
                  </a:lnTo>
                  <a:lnTo>
                    <a:pt x="525993" y="21918"/>
                  </a:lnTo>
                  <a:lnTo>
                    <a:pt x="460714" y="5450"/>
                  </a:lnTo>
                  <a:lnTo>
                    <a:pt x="395109" y="55"/>
                  </a:lnTo>
                  <a:lnTo>
                    <a:pt x="393725" y="0"/>
                  </a:lnTo>
                  <a:lnTo>
                    <a:pt x="360374" y="1395"/>
                  </a:lnTo>
                  <a:lnTo>
                    <a:pt x="360126" y="1406"/>
                  </a:lnTo>
                  <a:lnTo>
                    <a:pt x="293791" y="12480"/>
                  </a:lnTo>
                  <a:lnTo>
                    <a:pt x="230039" y="34570"/>
                  </a:lnTo>
                  <a:lnTo>
                    <a:pt x="170587" y="67675"/>
                  </a:lnTo>
                  <a:lnTo>
                    <a:pt x="117150" y="111792"/>
                  </a:lnTo>
                  <a:lnTo>
                    <a:pt x="71446" y="166922"/>
                  </a:lnTo>
                  <a:lnTo>
                    <a:pt x="35192" y="233064"/>
                  </a:lnTo>
                  <a:lnTo>
                    <a:pt x="21146" y="270263"/>
                  </a:lnTo>
                  <a:lnTo>
                    <a:pt x="10105" y="310215"/>
                  </a:lnTo>
                  <a:lnTo>
                    <a:pt x="2285" y="352920"/>
                  </a:lnTo>
                  <a:lnTo>
                    <a:pt x="0" y="393306"/>
                  </a:lnTo>
                  <a:lnTo>
                    <a:pt x="762" y="413118"/>
                  </a:lnTo>
                  <a:lnTo>
                    <a:pt x="2286" y="433692"/>
                  </a:lnTo>
                  <a:lnTo>
                    <a:pt x="8382" y="472554"/>
                  </a:lnTo>
                  <a:lnTo>
                    <a:pt x="20792" y="518606"/>
                  </a:lnTo>
                  <a:lnTo>
                    <a:pt x="25908" y="531210"/>
                  </a:lnTo>
                  <a:lnTo>
                    <a:pt x="25908" y="373494"/>
                  </a:lnTo>
                  <a:lnTo>
                    <a:pt x="27432" y="355206"/>
                  </a:lnTo>
                  <a:lnTo>
                    <a:pt x="40947" y="288147"/>
                  </a:lnTo>
                  <a:lnTo>
                    <a:pt x="57732" y="243019"/>
                  </a:lnTo>
                  <a:lnTo>
                    <a:pt x="79684" y="201123"/>
                  </a:lnTo>
                  <a:lnTo>
                    <a:pt x="106413" y="162812"/>
                  </a:lnTo>
                  <a:lnTo>
                    <a:pt x="137534" y="128435"/>
                  </a:lnTo>
                  <a:lnTo>
                    <a:pt x="172656" y="98346"/>
                  </a:lnTo>
                  <a:lnTo>
                    <a:pt x="211392" y="72894"/>
                  </a:lnTo>
                  <a:lnTo>
                    <a:pt x="253355" y="52432"/>
                  </a:lnTo>
                  <a:lnTo>
                    <a:pt x="298155" y="37311"/>
                  </a:lnTo>
                  <a:lnTo>
                    <a:pt x="345404" y="27883"/>
                  </a:lnTo>
                  <a:lnTo>
                    <a:pt x="393725" y="24566"/>
                  </a:lnTo>
                  <a:lnTo>
                    <a:pt x="395109" y="24514"/>
                  </a:lnTo>
                  <a:lnTo>
                    <a:pt x="413766" y="25260"/>
                  </a:lnTo>
                  <a:lnTo>
                    <a:pt x="478219" y="34280"/>
                  </a:lnTo>
                  <a:lnTo>
                    <a:pt x="522306" y="47471"/>
                  </a:lnTo>
                  <a:lnTo>
                    <a:pt x="563919" y="65949"/>
                  </a:lnTo>
                  <a:lnTo>
                    <a:pt x="602664" y="89307"/>
                  </a:lnTo>
                  <a:lnTo>
                    <a:pt x="638148" y="117137"/>
                  </a:lnTo>
                  <a:lnTo>
                    <a:pt x="669975" y="149032"/>
                  </a:lnTo>
                  <a:lnTo>
                    <a:pt x="697752" y="184583"/>
                  </a:lnTo>
                  <a:lnTo>
                    <a:pt x="721085" y="223383"/>
                  </a:lnTo>
                  <a:lnTo>
                    <a:pt x="739579" y="265026"/>
                  </a:lnTo>
                  <a:lnTo>
                    <a:pt x="752841" y="309103"/>
                  </a:lnTo>
                  <a:lnTo>
                    <a:pt x="760476" y="355206"/>
                  </a:lnTo>
                  <a:lnTo>
                    <a:pt x="762000" y="374256"/>
                  </a:lnTo>
                  <a:lnTo>
                    <a:pt x="762000" y="531321"/>
                  </a:lnTo>
                  <a:lnTo>
                    <a:pt x="769932" y="510650"/>
                  </a:lnTo>
                  <a:lnTo>
                    <a:pt x="781629" y="462815"/>
                  </a:lnTo>
                  <a:lnTo>
                    <a:pt x="787146" y="413118"/>
                  </a:lnTo>
                  <a:lnTo>
                    <a:pt x="787908" y="392544"/>
                  </a:lnTo>
                  <a:close/>
                </a:path>
                <a:path w="788035" h="786130">
                  <a:moveTo>
                    <a:pt x="762000" y="531321"/>
                  </a:moveTo>
                  <a:lnTo>
                    <a:pt x="762000" y="412356"/>
                  </a:lnTo>
                  <a:lnTo>
                    <a:pt x="755992" y="456605"/>
                  </a:lnTo>
                  <a:lnTo>
                    <a:pt x="746177" y="497903"/>
                  </a:lnTo>
                  <a:lnTo>
                    <a:pt x="732826" y="536238"/>
                  </a:lnTo>
                  <a:lnTo>
                    <a:pt x="716207" y="571595"/>
                  </a:lnTo>
                  <a:lnTo>
                    <a:pt x="674251" y="633324"/>
                  </a:lnTo>
                  <a:lnTo>
                    <a:pt x="622472" y="682983"/>
                  </a:lnTo>
                  <a:lnTo>
                    <a:pt x="563032" y="720467"/>
                  </a:lnTo>
                  <a:lnTo>
                    <a:pt x="498094" y="745669"/>
                  </a:lnTo>
                  <a:lnTo>
                    <a:pt x="429821" y="758482"/>
                  </a:lnTo>
                  <a:lnTo>
                    <a:pt x="395109" y="760210"/>
                  </a:lnTo>
                  <a:lnTo>
                    <a:pt x="360374" y="758800"/>
                  </a:lnTo>
                  <a:lnTo>
                    <a:pt x="291916" y="746516"/>
                  </a:lnTo>
                  <a:lnTo>
                    <a:pt x="226610" y="721523"/>
                  </a:lnTo>
                  <a:lnTo>
                    <a:pt x="166618" y="683715"/>
                  </a:lnTo>
                  <a:lnTo>
                    <a:pt x="114103" y="632986"/>
                  </a:lnTo>
                  <a:lnTo>
                    <a:pt x="71227" y="569229"/>
                  </a:lnTo>
                  <a:lnTo>
                    <a:pt x="54080" y="532431"/>
                  </a:lnTo>
                  <a:lnTo>
                    <a:pt x="40153" y="492337"/>
                  </a:lnTo>
                  <a:lnTo>
                    <a:pt x="29718" y="448932"/>
                  </a:lnTo>
                  <a:lnTo>
                    <a:pt x="25908" y="411594"/>
                  </a:lnTo>
                  <a:lnTo>
                    <a:pt x="25908" y="531210"/>
                  </a:lnTo>
                  <a:lnTo>
                    <a:pt x="60989" y="602840"/>
                  </a:lnTo>
                  <a:lnTo>
                    <a:pt x="87957" y="640352"/>
                  </a:lnTo>
                  <a:lnTo>
                    <a:pt x="118959" y="674348"/>
                  </a:lnTo>
                  <a:lnTo>
                    <a:pt x="153585" y="704492"/>
                  </a:lnTo>
                  <a:lnTo>
                    <a:pt x="191427" y="730451"/>
                  </a:lnTo>
                  <a:lnTo>
                    <a:pt x="232074" y="751889"/>
                  </a:lnTo>
                  <a:lnTo>
                    <a:pt x="275117" y="768471"/>
                  </a:lnTo>
                  <a:lnTo>
                    <a:pt x="320146" y="779863"/>
                  </a:lnTo>
                  <a:lnTo>
                    <a:pt x="366753" y="785729"/>
                  </a:lnTo>
                  <a:lnTo>
                    <a:pt x="414528" y="785736"/>
                  </a:lnTo>
                  <a:lnTo>
                    <a:pt x="434340" y="784212"/>
                  </a:lnTo>
                  <a:lnTo>
                    <a:pt x="503033" y="771428"/>
                  </a:lnTo>
                  <a:lnTo>
                    <a:pt x="549421" y="754951"/>
                  </a:lnTo>
                  <a:lnTo>
                    <a:pt x="592908" y="732954"/>
                  </a:lnTo>
                  <a:lnTo>
                    <a:pt x="633082" y="705894"/>
                  </a:lnTo>
                  <a:lnTo>
                    <a:pt x="669535" y="674228"/>
                  </a:lnTo>
                  <a:lnTo>
                    <a:pt x="701856" y="638413"/>
                  </a:lnTo>
                  <a:lnTo>
                    <a:pt x="729636" y="598907"/>
                  </a:lnTo>
                  <a:lnTo>
                    <a:pt x="752465" y="556167"/>
                  </a:lnTo>
                  <a:lnTo>
                    <a:pt x="762000" y="5313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83719" y="2515361"/>
            <a:ext cx="362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m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43089" y="3264153"/>
            <a:ext cx="1016635" cy="406400"/>
            <a:chOff x="743089" y="3264153"/>
            <a:chExt cx="1016635" cy="406400"/>
          </a:xfrm>
        </p:grpSpPr>
        <p:sp>
          <p:nvSpPr>
            <p:cNvPr id="13" name="object 13"/>
            <p:cNvSpPr/>
            <p:nvPr/>
          </p:nvSpPr>
          <p:spPr>
            <a:xfrm>
              <a:off x="756043" y="3276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3089" y="3264153"/>
              <a:ext cx="1016635" cy="406400"/>
            </a:xfrm>
            <a:custGeom>
              <a:avLst/>
              <a:gdLst/>
              <a:ahLst/>
              <a:cxnLst/>
              <a:rect l="l" t="t" r="r" b="b"/>
              <a:pathLst>
                <a:path w="1016635" h="406400">
                  <a:moveTo>
                    <a:pt x="1016508" y="406146"/>
                  </a:moveTo>
                  <a:lnTo>
                    <a:pt x="1016508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954" y="406146"/>
                  </a:lnTo>
                  <a:lnTo>
                    <a:pt x="12954" y="25146"/>
                  </a:lnTo>
                  <a:lnTo>
                    <a:pt x="25908" y="12192"/>
                  </a:lnTo>
                  <a:lnTo>
                    <a:pt x="25908" y="25146"/>
                  </a:lnTo>
                  <a:lnTo>
                    <a:pt x="990600" y="25146"/>
                  </a:lnTo>
                  <a:lnTo>
                    <a:pt x="990600" y="12192"/>
                  </a:lnTo>
                  <a:lnTo>
                    <a:pt x="1003554" y="25146"/>
                  </a:lnTo>
                  <a:lnTo>
                    <a:pt x="1003554" y="406146"/>
                  </a:lnTo>
                  <a:lnTo>
                    <a:pt x="1016508" y="406146"/>
                  </a:lnTo>
                  <a:close/>
                </a:path>
                <a:path w="1016635" h="406400">
                  <a:moveTo>
                    <a:pt x="25908" y="25146"/>
                  </a:moveTo>
                  <a:lnTo>
                    <a:pt x="25908" y="12192"/>
                  </a:lnTo>
                  <a:lnTo>
                    <a:pt x="12954" y="25146"/>
                  </a:lnTo>
                  <a:lnTo>
                    <a:pt x="25908" y="25146"/>
                  </a:lnTo>
                  <a:close/>
                </a:path>
                <a:path w="1016635" h="406400">
                  <a:moveTo>
                    <a:pt x="25908" y="381000"/>
                  </a:moveTo>
                  <a:lnTo>
                    <a:pt x="25908" y="25146"/>
                  </a:lnTo>
                  <a:lnTo>
                    <a:pt x="12954" y="25146"/>
                  </a:lnTo>
                  <a:lnTo>
                    <a:pt x="12954" y="381000"/>
                  </a:lnTo>
                  <a:lnTo>
                    <a:pt x="25908" y="381000"/>
                  </a:lnTo>
                  <a:close/>
                </a:path>
                <a:path w="1016635" h="406400">
                  <a:moveTo>
                    <a:pt x="1003554" y="381000"/>
                  </a:moveTo>
                  <a:lnTo>
                    <a:pt x="12954" y="381000"/>
                  </a:lnTo>
                  <a:lnTo>
                    <a:pt x="25908" y="393192"/>
                  </a:lnTo>
                  <a:lnTo>
                    <a:pt x="25908" y="406146"/>
                  </a:lnTo>
                  <a:lnTo>
                    <a:pt x="990600" y="406146"/>
                  </a:lnTo>
                  <a:lnTo>
                    <a:pt x="990600" y="393192"/>
                  </a:lnTo>
                  <a:lnTo>
                    <a:pt x="1003554" y="381000"/>
                  </a:lnTo>
                  <a:close/>
                </a:path>
                <a:path w="1016635" h="406400">
                  <a:moveTo>
                    <a:pt x="25908" y="406146"/>
                  </a:moveTo>
                  <a:lnTo>
                    <a:pt x="25908" y="393192"/>
                  </a:lnTo>
                  <a:lnTo>
                    <a:pt x="12954" y="381000"/>
                  </a:lnTo>
                  <a:lnTo>
                    <a:pt x="12954" y="406146"/>
                  </a:lnTo>
                  <a:lnTo>
                    <a:pt x="25908" y="406146"/>
                  </a:lnTo>
                  <a:close/>
                </a:path>
                <a:path w="1016635" h="406400">
                  <a:moveTo>
                    <a:pt x="1003554" y="25146"/>
                  </a:moveTo>
                  <a:lnTo>
                    <a:pt x="990600" y="12192"/>
                  </a:lnTo>
                  <a:lnTo>
                    <a:pt x="990600" y="25146"/>
                  </a:lnTo>
                  <a:lnTo>
                    <a:pt x="1003554" y="25146"/>
                  </a:lnTo>
                  <a:close/>
                </a:path>
                <a:path w="1016635" h="406400">
                  <a:moveTo>
                    <a:pt x="1003554" y="381000"/>
                  </a:moveTo>
                  <a:lnTo>
                    <a:pt x="1003554" y="25146"/>
                  </a:lnTo>
                  <a:lnTo>
                    <a:pt x="990600" y="25146"/>
                  </a:lnTo>
                  <a:lnTo>
                    <a:pt x="990600" y="381000"/>
                  </a:lnTo>
                  <a:lnTo>
                    <a:pt x="1003554" y="381000"/>
                  </a:lnTo>
                  <a:close/>
                </a:path>
                <a:path w="1016635" h="406400">
                  <a:moveTo>
                    <a:pt x="1003554" y="406146"/>
                  </a:moveTo>
                  <a:lnTo>
                    <a:pt x="1003554" y="381000"/>
                  </a:lnTo>
                  <a:lnTo>
                    <a:pt x="990600" y="393192"/>
                  </a:lnTo>
                  <a:lnTo>
                    <a:pt x="990600" y="406146"/>
                  </a:lnTo>
                  <a:lnTo>
                    <a:pt x="1003554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89641" y="3315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47889" y="4330953"/>
            <a:ext cx="2388235" cy="406400"/>
            <a:chOff x="1047889" y="4330953"/>
            <a:chExt cx="2388235" cy="406400"/>
          </a:xfrm>
        </p:grpSpPr>
        <p:sp>
          <p:nvSpPr>
            <p:cNvPr id="17" name="object 17"/>
            <p:cNvSpPr/>
            <p:nvPr/>
          </p:nvSpPr>
          <p:spPr>
            <a:xfrm>
              <a:off x="1060843" y="43431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199" y="381000"/>
                  </a:moveTo>
                  <a:lnTo>
                    <a:pt x="2362199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199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47889" y="4330953"/>
              <a:ext cx="2388235" cy="406400"/>
            </a:xfrm>
            <a:custGeom>
              <a:avLst/>
              <a:gdLst/>
              <a:ahLst/>
              <a:cxnLst/>
              <a:rect l="l" t="t" r="r" b="b"/>
              <a:pathLst>
                <a:path w="2388235" h="406400">
                  <a:moveTo>
                    <a:pt x="2388107" y="406146"/>
                  </a:moveTo>
                  <a:lnTo>
                    <a:pt x="2388107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954" y="406146"/>
                  </a:lnTo>
                  <a:lnTo>
                    <a:pt x="12954" y="25146"/>
                  </a:lnTo>
                  <a:lnTo>
                    <a:pt x="25907" y="12192"/>
                  </a:lnTo>
                  <a:lnTo>
                    <a:pt x="25907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5154" y="25146"/>
                  </a:lnTo>
                  <a:lnTo>
                    <a:pt x="2375154" y="406146"/>
                  </a:lnTo>
                  <a:lnTo>
                    <a:pt x="2388107" y="406146"/>
                  </a:lnTo>
                  <a:close/>
                </a:path>
                <a:path w="2388235" h="406400">
                  <a:moveTo>
                    <a:pt x="25907" y="25146"/>
                  </a:moveTo>
                  <a:lnTo>
                    <a:pt x="25907" y="12192"/>
                  </a:lnTo>
                  <a:lnTo>
                    <a:pt x="12954" y="25146"/>
                  </a:lnTo>
                  <a:lnTo>
                    <a:pt x="25907" y="25146"/>
                  </a:lnTo>
                  <a:close/>
                </a:path>
                <a:path w="2388235" h="406400">
                  <a:moveTo>
                    <a:pt x="25907" y="381000"/>
                  </a:moveTo>
                  <a:lnTo>
                    <a:pt x="25907" y="25146"/>
                  </a:lnTo>
                  <a:lnTo>
                    <a:pt x="12954" y="25146"/>
                  </a:lnTo>
                  <a:lnTo>
                    <a:pt x="12954" y="381000"/>
                  </a:lnTo>
                  <a:lnTo>
                    <a:pt x="25907" y="381000"/>
                  </a:lnTo>
                  <a:close/>
                </a:path>
                <a:path w="2388235" h="406400">
                  <a:moveTo>
                    <a:pt x="2375154" y="381000"/>
                  </a:moveTo>
                  <a:lnTo>
                    <a:pt x="12954" y="381000"/>
                  </a:lnTo>
                  <a:lnTo>
                    <a:pt x="25907" y="393192"/>
                  </a:lnTo>
                  <a:lnTo>
                    <a:pt x="25907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5154" y="381000"/>
                  </a:lnTo>
                  <a:close/>
                </a:path>
                <a:path w="2388235" h="406400">
                  <a:moveTo>
                    <a:pt x="25907" y="406146"/>
                  </a:moveTo>
                  <a:lnTo>
                    <a:pt x="25907" y="393192"/>
                  </a:lnTo>
                  <a:lnTo>
                    <a:pt x="12954" y="381000"/>
                  </a:lnTo>
                  <a:lnTo>
                    <a:pt x="12954" y="406146"/>
                  </a:lnTo>
                  <a:lnTo>
                    <a:pt x="25907" y="406146"/>
                  </a:lnTo>
                  <a:close/>
                </a:path>
                <a:path w="2388235" h="406400">
                  <a:moveTo>
                    <a:pt x="2375154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5154" y="25146"/>
                  </a:lnTo>
                  <a:close/>
                </a:path>
                <a:path w="2388235" h="406400">
                  <a:moveTo>
                    <a:pt x="2375154" y="381000"/>
                  </a:moveTo>
                  <a:lnTo>
                    <a:pt x="2375154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5154" y="381000"/>
                  </a:lnTo>
                  <a:close/>
                </a:path>
                <a:path w="2388235" h="406400">
                  <a:moveTo>
                    <a:pt x="2375154" y="406146"/>
                  </a:moveTo>
                  <a:lnTo>
                    <a:pt x="2375154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5154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458855" y="43822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276489" y="2654426"/>
            <a:ext cx="2235835" cy="1308100"/>
            <a:chOff x="1276489" y="2654426"/>
            <a:chExt cx="2235835" cy="1308100"/>
          </a:xfrm>
        </p:grpSpPr>
        <p:sp>
          <p:nvSpPr>
            <p:cNvPr id="21" name="object 21"/>
            <p:cNvSpPr/>
            <p:nvPr/>
          </p:nvSpPr>
          <p:spPr>
            <a:xfrm>
              <a:off x="1276489" y="3047745"/>
              <a:ext cx="1702435" cy="914400"/>
            </a:xfrm>
            <a:custGeom>
              <a:avLst/>
              <a:gdLst/>
              <a:ahLst/>
              <a:cxnLst/>
              <a:rect l="l" t="t" r="r" b="b"/>
              <a:pathLst>
                <a:path w="1702435" h="914400">
                  <a:moveTo>
                    <a:pt x="25908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908" y="914400"/>
                  </a:lnTo>
                  <a:lnTo>
                    <a:pt x="25908" y="609600"/>
                  </a:lnTo>
                  <a:close/>
                </a:path>
                <a:path w="1702435" h="914400">
                  <a:moveTo>
                    <a:pt x="25908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908" y="228600"/>
                  </a:lnTo>
                  <a:lnTo>
                    <a:pt x="25908" y="0"/>
                  </a:lnTo>
                  <a:close/>
                </a:path>
                <a:path w="1702435" h="914400">
                  <a:moveTo>
                    <a:pt x="1702308" y="609600"/>
                  </a:moveTo>
                  <a:lnTo>
                    <a:pt x="1676400" y="609600"/>
                  </a:lnTo>
                  <a:lnTo>
                    <a:pt x="1676400" y="914400"/>
                  </a:lnTo>
                  <a:lnTo>
                    <a:pt x="1702308" y="914400"/>
                  </a:lnTo>
                  <a:lnTo>
                    <a:pt x="1702308" y="609600"/>
                  </a:lnTo>
                  <a:close/>
                </a:path>
                <a:path w="1702435" h="914400">
                  <a:moveTo>
                    <a:pt x="1702308" y="0"/>
                  </a:moveTo>
                  <a:lnTo>
                    <a:pt x="1676400" y="0"/>
                  </a:lnTo>
                  <a:lnTo>
                    <a:pt x="1676400" y="228600"/>
                  </a:lnTo>
                  <a:lnTo>
                    <a:pt x="1702308" y="228600"/>
                  </a:lnTo>
                  <a:lnTo>
                    <a:pt x="17023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70443" y="2667126"/>
              <a:ext cx="889635" cy="0"/>
            </a:xfrm>
            <a:custGeom>
              <a:avLst/>
              <a:gdLst/>
              <a:ahLst/>
              <a:cxnLst/>
              <a:rect l="l" t="t" r="r" b="b"/>
              <a:pathLst>
                <a:path w="889635">
                  <a:moveTo>
                    <a:pt x="0" y="0"/>
                  </a:moveTo>
                  <a:lnTo>
                    <a:pt x="889254" y="0"/>
                  </a:lnTo>
                </a:path>
              </a:pathLst>
            </a:custGeom>
            <a:ln w="2514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508643" y="3276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495677" y="3264153"/>
              <a:ext cx="1016635" cy="406400"/>
            </a:xfrm>
            <a:custGeom>
              <a:avLst/>
              <a:gdLst/>
              <a:ahLst/>
              <a:cxnLst/>
              <a:rect l="l" t="t" r="r" b="b"/>
              <a:pathLst>
                <a:path w="1016635" h="406400">
                  <a:moveTo>
                    <a:pt x="1016508" y="406146"/>
                  </a:moveTo>
                  <a:lnTo>
                    <a:pt x="1016508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966" y="406146"/>
                  </a:lnTo>
                  <a:lnTo>
                    <a:pt x="12966" y="25146"/>
                  </a:lnTo>
                  <a:lnTo>
                    <a:pt x="25920" y="12192"/>
                  </a:lnTo>
                  <a:lnTo>
                    <a:pt x="25920" y="25146"/>
                  </a:lnTo>
                  <a:lnTo>
                    <a:pt x="990612" y="25146"/>
                  </a:lnTo>
                  <a:lnTo>
                    <a:pt x="990612" y="12192"/>
                  </a:lnTo>
                  <a:lnTo>
                    <a:pt x="1003566" y="25146"/>
                  </a:lnTo>
                  <a:lnTo>
                    <a:pt x="1003566" y="406146"/>
                  </a:lnTo>
                  <a:lnTo>
                    <a:pt x="1016508" y="406146"/>
                  </a:lnTo>
                  <a:close/>
                </a:path>
                <a:path w="1016635" h="406400">
                  <a:moveTo>
                    <a:pt x="25920" y="25146"/>
                  </a:moveTo>
                  <a:lnTo>
                    <a:pt x="25920" y="12192"/>
                  </a:lnTo>
                  <a:lnTo>
                    <a:pt x="12966" y="25146"/>
                  </a:lnTo>
                  <a:lnTo>
                    <a:pt x="25920" y="25146"/>
                  </a:lnTo>
                  <a:close/>
                </a:path>
                <a:path w="1016635" h="406400">
                  <a:moveTo>
                    <a:pt x="25920" y="381000"/>
                  </a:moveTo>
                  <a:lnTo>
                    <a:pt x="25920" y="25146"/>
                  </a:lnTo>
                  <a:lnTo>
                    <a:pt x="12966" y="25146"/>
                  </a:lnTo>
                  <a:lnTo>
                    <a:pt x="12966" y="381000"/>
                  </a:lnTo>
                  <a:lnTo>
                    <a:pt x="25920" y="381000"/>
                  </a:lnTo>
                  <a:close/>
                </a:path>
                <a:path w="1016635" h="406400">
                  <a:moveTo>
                    <a:pt x="1003566" y="381000"/>
                  </a:moveTo>
                  <a:lnTo>
                    <a:pt x="12966" y="381000"/>
                  </a:lnTo>
                  <a:lnTo>
                    <a:pt x="25920" y="393192"/>
                  </a:lnTo>
                  <a:lnTo>
                    <a:pt x="25920" y="406146"/>
                  </a:lnTo>
                  <a:lnTo>
                    <a:pt x="990612" y="406146"/>
                  </a:lnTo>
                  <a:lnTo>
                    <a:pt x="990612" y="393192"/>
                  </a:lnTo>
                  <a:lnTo>
                    <a:pt x="1003566" y="381000"/>
                  </a:lnTo>
                  <a:close/>
                </a:path>
                <a:path w="1016635" h="406400">
                  <a:moveTo>
                    <a:pt x="25920" y="406146"/>
                  </a:moveTo>
                  <a:lnTo>
                    <a:pt x="25920" y="393192"/>
                  </a:lnTo>
                  <a:lnTo>
                    <a:pt x="12966" y="381000"/>
                  </a:lnTo>
                  <a:lnTo>
                    <a:pt x="12966" y="406146"/>
                  </a:lnTo>
                  <a:lnTo>
                    <a:pt x="25920" y="406146"/>
                  </a:lnTo>
                  <a:close/>
                </a:path>
                <a:path w="1016635" h="406400">
                  <a:moveTo>
                    <a:pt x="1003566" y="25146"/>
                  </a:moveTo>
                  <a:lnTo>
                    <a:pt x="990612" y="12192"/>
                  </a:lnTo>
                  <a:lnTo>
                    <a:pt x="990612" y="25146"/>
                  </a:lnTo>
                  <a:lnTo>
                    <a:pt x="1003566" y="25146"/>
                  </a:lnTo>
                  <a:close/>
                </a:path>
                <a:path w="1016635" h="406400">
                  <a:moveTo>
                    <a:pt x="1003566" y="381000"/>
                  </a:moveTo>
                  <a:lnTo>
                    <a:pt x="1003566" y="25146"/>
                  </a:lnTo>
                  <a:lnTo>
                    <a:pt x="990612" y="25146"/>
                  </a:lnTo>
                  <a:lnTo>
                    <a:pt x="990612" y="381000"/>
                  </a:lnTo>
                  <a:lnTo>
                    <a:pt x="1003566" y="381000"/>
                  </a:lnTo>
                  <a:close/>
                </a:path>
                <a:path w="1016635" h="406400">
                  <a:moveTo>
                    <a:pt x="1003566" y="406146"/>
                  </a:moveTo>
                  <a:lnTo>
                    <a:pt x="1003566" y="381000"/>
                  </a:lnTo>
                  <a:lnTo>
                    <a:pt x="990612" y="393192"/>
                  </a:lnTo>
                  <a:lnTo>
                    <a:pt x="990612" y="406146"/>
                  </a:lnTo>
                  <a:lnTo>
                    <a:pt x="1003566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642241" y="3315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08443" y="3473703"/>
            <a:ext cx="2667000" cy="869950"/>
            <a:chOff x="908443" y="3473703"/>
            <a:chExt cx="2667000" cy="869950"/>
          </a:xfrm>
        </p:grpSpPr>
        <p:sp>
          <p:nvSpPr>
            <p:cNvPr id="27" name="object 27"/>
            <p:cNvSpPr/>
            <p:nvPr/>
          </p:nvSpPr>
          <p:spPr>
            <a:xfrm>
              <a:off x="1746643" y="3486276"/>
              <a:ext cx="737235" cy="0"/>
            </a:xfrm>
            <a:custGeom>
              <a:avLst/>
              <a:gdLst/>
              <a:ahLst/>
              <a:cxnLst/>
              <a:rect l="l" t="t" r="r" b="b"/>
              <a:pathLst>
                <a:path w="737235">
                  <a:moveTo>
                    <a:pt x="0" y="0"/>
                  </a:moveTo>
                  <a:lnTo>
                    <a:pt x="736853" y="0"/>
                  </a:lnTo>
                </a:path>
              </a:pathLst>
            </a:custGeom>
            <a:ln w="2514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08443" y="3924045"/>
              <a:ext cx="2667000" cy="419100"/>
            </a:xfrm>
            <a:custGeom>
              <a:avLst/>
              <a:gdLst/>
              <a:ahLst/>
              <a:cxnLst/>
              <a:rect l="l" t="t" r="r" b="b"/>
              <a:pathLst>
                <a:path w="2667000" h="419100">
                  <a:moveTo>
                    <a:pt x="2667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1282446" y="76200"/>
                  </a:lnTo>
                  <a:lnTo>
                    <a:pt x="1282446" y="419100"/>
                  </a:lnTo>
                  <a:lnTo>
                    <a:pt x="1308354" y="419100"/>
                  </a:lnTo>
                  <a:lnTo>
                    <a:pt x="1308354" y="76200"/>
                  </a:lnTo>
                  <a:lnTo>
                    <a:pt x="2667000" y="762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976253" y="3613403"/>
            <a:ext cx="4000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Dancehall</a:t>
            </a:r>
            <a:r>
              <a:rPr spc="-16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03173" y="1742694"/>
            <a:ext cx="4590415" cy="36901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274320" indent="-342900">
              <a:lnSpc>
                <a:spcPct val="100000"/>
              </a:lnSpc>
              <a:spcBef>
                <a:spcPts val="9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600" dirty="0">
                <a:latin typeface="Arial MT"/>
                <a:cs typeface="Arial MT"/>
              </a:rPr>
              <a:t>Scalable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Point-to-Point </a:t>
            </a:r>
            <a:r>
              <a:rPr sz="2600" dirty="0">
                <a:latin typeface="Arial MT"/>
                <a:cs typeface="Arial MT"/>
              </a:rPr>
              <a:t>Network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placed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between </a:t>
            </a:r>
            <a:r>
              <a:rPr sz="2600" dirty="0">
                <a:latin typeface="Arial MT"/>
                <a:cs typeface="Arial MT"/>
              </a:rPr>
              <a:t>caches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memory </a:t>
            </a:r>
            <a:r>
              <a:rPr sz="2600" dirty="0">
                <a:latin typeface="Arial MT"/>
                <a:cs typeface="Arial MT"/>
              </a:rPr>
              <a:t>modules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that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together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form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main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memory</a:t>
            </a:r>
            <a:endParaRPr sz="2600" dirty="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62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600" dirty="0">
                <a:latin typeface="Arial MT"/>
                <a:cs typeface="Arial MT"/>
              </a:rPr>
              <a:t>Due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size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25" dirty="0">
                <a:latin typeface="Arial MT"/>
                <a:cs typeface="Arial MT"/>
              </a:rPr>
              <a:t> the </a:t>
            </a:r>
            <a:r>
              <a:rPr sz="2600" dirty="0">
                <a:latin typeface="Arial MT"/>
                <a:cs typeface="Arial MT"/>
              </a:rPr>
              <a:t>interconnection</a:t>
            </a:r>
            <a:r>
              <a:rPr sz="2600" spc="-1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network,</a:t>
            </a:r>
            <a:r>
              <a:rPr sz="2600" spc="-114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the </a:t>
            </a:r>
            <a:r>
              <a:rPr sz="2600" dirty="0">
                <a:latin typeface="Arial MT"/>
                <a:cs typeface="Arial MT"/>
              </a:rPr>
              <a:t>memory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can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very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far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from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processors</a:t>
            </a:r>
            <a:endParaRPr lang="en-US" sz="2600" spc="-1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95489" y="2169502"/>
            <a:ext cx="788035" cy="786130"/>
            <a:chOff x="895489" y="2169502"/>
            <a:chExt cx="788035" cy="786130"/>
          </a:xfrm>
        </p:grpSpPr>
        <p:sp>
          <p:nvSpPr>
            <p:cNvPr id="5" name="object 5"/>
            <p:cNvSpPr/>
            <p:nvPr/>
          </p:nvSpPr>
          <p:spPr>
            <a:xfrm>
              <a:off x="908443" y="2181351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29" y="333229"/>
                  </a:lnTo>
                  <a:lnTo>
                    <a:pt x="750357" y="287223"/>
                  </a:lnTo>
                  <a:lnTo>
                    <a:pt x="736341" y="243340"/>
                  </a:lnTo>
                  <a:lnTo>
                    <a:pt x="717338" y="201937"/>
                  </a:lnTo>
                  <a:lnTo>
                    <a:pt x="693707" y="163373"/>
                  </a:lnTo>
                  <a:lnTo>
                    <a:pt x="665806" y="128006"/>
                  </a:lnTo>
                  <a:lnTo>
                    <a:pt x="633993" y="96193"/>
                  </a:lnTo>
                  <a:lnTo>
                    <a:pt x="598626" y="68292"/>
                  </a:lnTo>
                  <a:lnTo>
                    <a:pt x="560062" y="44661"/>
                  </a:lnTo>
                  <a:lnTo>
                    <a:pt x="518659" y="25658"/>
                  </a:lnTo>
                  <a:lnTo>
                    <a:pt x="474776" y="11642"/>
                  </a:lnTo>
                  <a:lnTo>
                    <a:pt x="42877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770"/>
                  </a:lnTo>
                  <a:lnTo>
                    <a:pt x="11642" y="474776"/>
                  </a:lnTo>
                  <a:lnTo>
                    <a:pt x="25658" y="518659"/>
                  </a:lnTo>
                  <a:lnTo>
                    <a:pt x="44661" y="560062"/>
                  </a:lnTo>
                  <a:lnTo>
                    <a:pt x="68292" y="598626"/>
                  </a:lnTo>
                  <a:lnTo>
                    <a:pt x="96193" y="633993"/>
                  </a:lnTo>
                  <a:lnTo>
                    <a:pt x="128006" y="665806"/>
                  </a:lnTo>
                  <a:lnTo>
                    <a:pt x="163373" y="693707"/>
                  </a:lnTo>
                  <a:lnTo>
                    <a:pt x="201937" y="717338"/>
                  </a:lnTo>
                  <a:lnTo>
                    <a:pt x="243340" y="736341"/>
                  </a:lnTo>
                  <a:lnTo>
                    <a:pt x="287223" y="750357"/>
                  </a:lnTo>
                  <a:lnTo>
                    <a:pt x="333229" y="759029"/>
                  </a:lnTo>
                  <a:lnTo>
                    <a:pt x="381000" y="762000"/>
                  </a:lnTo>
                  <a:lnTo>
                    <a:pt x="428770" y="759029"/>
                  </a:lnTo>
                  <a:lnTo>
                    <a:pt x="474776" y="750357"/>
                  </a:lnTo>
                  <a:lnTo>
                    <a:pt x="518659" y="736341"/>
                  </a:lnTo>
                  <a:lnTo>
                    <a:pt x="560062" y="717338"/>
                  </a:lnTo>
                  <a:lnTo>
                    <a:pt x="598626" y="693707"/>
                  </a:lnTo>
                  <a:lnTo>
                    <a:pt x="633993" y="665806"/>
                  </a:lnTo>
                  <a:lnTo>
                    <a:pt x="665806" y="633993"/>
                  </a:lnTo>
                  <a:lnTo>
                    <a:pt x="693707" y="598626"/>
                  </a:lnTo>
                  <a:lnTo>
                    <a:pt x="717338" y="560062"/>
                  </a:lnTo>
                  <a:lnTo>
                    <a:pt x="736341" y="518659"/>
                  </a:lnTo>
                  <a:lnTo>
                    <a:pt x="750357" y="474776"/>
                  </a:lnTo>
                  <a:lnTo>
                    <a:pt x="759029" y="42877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5489" y="2169502"/>
              <a:ext cx="788035" cy="786130"/>
            </a:xfrm>
            <a:custGeom>
              <a:avLst/>
              <a:gdLst/>
              <a:ahLst/>
              <a:cxnLst/>
              <a:rect l="l" t="t" r="r" b="b"/>
              <a:pathLst>
                <a:path w="788035" h="786130">
                  <a:moveTo>
                    <a:pt x="787908" y="392849"/>
                  </a:moveTo>
                  <a:lnTo>
                    <a:pt x="785622" y="352463"/>
                  </a:lnTo>
                  <a:lnTo>
                    <a:pt x="777793" y="309721"/>
                  </a:lnTo>
                  <a:lnTo>
                    <a:pt x="766737" y="269744"/>
                  </a:lnTo>
                  <a:lnTo>
                    <a:pt x="752669" y="232530"/>
                  </a:lnTo>
                  <a:lnTo>
                    <a:pt x="735805" y="198079"/>
                  </a:lnTo>
                  <a:lnTo>
                    <a:pt x="694548" y="137464"/>
                  </a:lnTo>
                  <a:lnTo>
                    <a:pt x="644689" y="87895"/>
                  </a:lnTo>
                  <a:lnTo>
                    <a:pt x="587950" y="49368"/>
                  </a:lnTo>
                  <a:lnTo>
                    <a:pt x="526052" y="21879"/>
                  </a:lnTo>
                  <a:lnTo>
                    <a:pt x="460719" y="5424"/>
                  </a:lnTo>
                  <a:lnTo>
                    <a:pt x="393673" y="0"/>
                  </a:lnTo>
                  <a:lnTo>
                    <a:pt x="360045" y="1422"/>
                  </a:lnTo>
                  <a:lnTo>
                    <a:pt x="293657" y="12536"/>
                  </a:lnTo>
                  <a:lnTo>
                    <a:pt x="229862" y="34670"/>
                  </a:lnTo>
                  <a:lnTo>
                    <a:pt x="170381" y="67821"/>
                  </a:lnTo>
                  <a:lnTo>
                    <a:pt x="116937" y="111984"/>
                  </a:lnTo>
                  <a:lnTo>
                    <a:pt x="71251" y="167156"/>
                  </a:lnTo>
                  <a:lnTo>
                    <a:pt x="35047" y="233333"/>
                  </a:lnTo>
                  <a:lnTo>
                    <a:pt x="21039" y="270548"/>
                  </a:lnTo>
                  <a:lnTo>
                    <a:pt x="10046" y="310511"/>
                  </a:lnTo>
                  <a:lnTo>
                    <a:pt x="2285" y="353225"/>
                  </a:lnTo>
                  <a:lnTo>
                    <a:pt x="0" y="392849"/>
                  </a:lnTo>
                  <a:lnTo>
                    <a:pt x="762" y="413423"/>
                  </a:lnTo>
                  <a:lnTo>
                    <a:pt x="2286" y="433235"/>
                  </a:lnTo>
                  <a:lnTo>
                    <a:pt x="8382" y="472097"/>
                  </a:lnTo>
                  <a:lnTo>
                    <a:pt x="21039" y="518548"/>
                  </a:lnTo>
                  <a:lnTo>
                    <a:pt x="25908" y="530594"/>
                  </a:lnTo>
                  <a:lnTo>
                    <a:pt x="25908" y="373799"/>
                  </a:lnTo>
                  <a:lnTo>
                    <a:pt x="27432" y="354749"/>
                  </a:lnTo>
                  <a:lnTo>
                    <a:pt x="35732" y="311290"/>
                  </a:lnTo>
                  <a:lnTo>
                    <a:pt x="47539" y="270933"/>
                  </a:lnTo>
                  <a:lnTo>
                    <a:pt x="62597" y="233672"/>
                  </a:lnTo>
                  <a:lnTo>
                    <a:pt x="80649" y="199499"/>
                  </a:lnTo>
                  <a:lnTo>
                    <a:pt x="124713" y="140393"/>
                  </a:lnTo>
                  <a:lnTo>
                    <a:pt x="177680" y="93563"/>
                  </a:lnTo>
                  <a:lnTo>
                    <a:pt x="237504" y="58957"/>
                  </a:lnTo>
                  <a:lnTo>
                    <a:pt x="302133" y="36524"/>
                  </a:lnTo>
                  <a:lnTo>
                    <a:pt x="369520" y="26211"/>
                  </a:lnTo>
                  <a:lnTo>
                    <a:pt x="403607" y="25584"/>
                  </a:lnTo>
                  <a:lnTo>
                    <a:pt x="437615" y="27967"/>
                  </a:lnTo>
                  <a:lnTo>
                    <a:pt x="504370" y="41739"/>
                  </a:lnTo>
                  <a:lnTo>
                    <a:pt x="567735" y="67475"/>
                  </a:lnTo>
                  <a:lnTo>
                    <a:pt x="625661" y="105123"/>
                  </a:lnTo>
                  <a:lnTo>
                    <a:pt x="676100" y="154632"/>
                  </a:lnTo>
                  <a:lnTo>
                    <a:pt x="717002" y="215948"/>
                  </a:lnTo>
                  <a:lnTo>
                    <a:pt x="733236" y="251019"/>
                  </a:lnTo>
                  <a:lnTo>
                    <a:pt x="746318" y="289021"/>
                  </a:lnTo>
                  <a:lnTo>
                    <a:pt x="755991" y="329950"/>
                  </a:lnTo>
                  <a:lnTo>
                    <a:pt x="762000" y="373799"/>
                  </a:lnTo>
                  <a:lnTo>
                    <a:pt x="762000" y="531331"/>
                  </a:lnTo>
                  <a:lnTo>
                    <a:pt x="769873" y="510746"/>
                  </a:lnTo>
                  <a:lnTo>
                    <a:pt x="781564" y="462744"/>
                  </a:lnTo>
                  <a:lnTo>
                    <a:pt x="787146" y="412661"/>
                  </a:lnTo>
                  <a:lnTo>
                    <a:pt x="787908" y="392849"/>
                  </a:lnTo>
                  <a:close/>
                </a:path>
                <a:path w="788035" h="786130">
                  <a:moveTo>
                    <a:pt x="762000" y="531331"/>
                  </a:moveTo>
                  <a:lnTo>
                    <a:pt x="762000" y="411899"/>
                  </a:lnTo>
                  <a:lnTo>
                    <a:pt x="756290" y="454765"/>
                  </a:lnTo>
                  <a:lnTo>
                    <a:pt x="747008" y="494873"/>
                  </a:lnTo>
                  <a:lnTo>
                    <a:pt x="734399" y="532211"/>
                  </a:lnTo>
                  <a:lnTo>
                    <a:pt x="700174" y="598526"/>
                  </a:lnTo>
                  <a:lnTo>
                    <a:pt x="655574" y="653612"/>
                  </a:lnTo>
                  <a:lnTo>
                    <a:pt x="602554" y="697372"/>
                  </a:lnTo>
                  <a:lnTo>
                    <a:pt x="543070" y="729708"/>
                  </a:lnTo>
                  <a:lnTo>
                    <a:pt x="479081" y="750523"/>
                  </a:lnTo>
                  <a:lnTo>
                    <a:pt x="412542" y="759718"/>
                  </a:lnTo>
                  <a:lnTo>
                    <a:pt x="393673" y="759836"/>
                  </a:lnTo>
                  <a:lnTo>
                    <a:pt x="378927" y="759928"/>
                  </a:lnTo>
                  <a:lnTo>
                    <a:pt x="312232" y="751512"/>
                  </a:lnTo>
                  <a:lnTo>
                    <a:pt x="247878" y="731233"/>
                  </a:lnTo>
                  <a:lnTo>
                    <a:pt x="187823" y="698993"/>
                  </a:lnTo>
                  <a:lnTo>
                    <a:pt x="134022" y="654695"/>
                  </a:lnTo>
                  <a:lnTo>
                    <a:pt x="88434" y="598241"/>
                  </a:lnTo>
                  <a:lnTo>
                    <a:pt x="53013" y="529533"/>
                  </a:lnTo>
                  <a:lnTo>
                    <a:pt x="39727" y="490554"/>
                  </a:lnTo>
                  <a:lnTo>
                    <a:pt x="29718" y="448475"/>
                  </a:lnTo>
                  <a:lnTo>
                    <a:pt x="25908" y="411137"/>
                  </a:lnTo>
                  <a:lnTo>
                    <a:pt x="25908" y="530594"/>
                  </a:lnTo>
                  <a:lnTo>
                    <a:pt x="61303" y="603232"/>
                  </a:lnTo>
                  <a:lnTo>
                    <a:pt x="88109" y="640659"/>
                  </a:lnTo>
                  <a:lnTo>
                    <a:pt x="118885" y="674471"/>
                  </a:lnTo>
                  <a:lnTo>
                    <a:pt x="153262" y="704383"/>
                  </a:lnTo>
                  <a:lnTo>
                    <a:pt x="190871" y="730110"/>
                  </a:lnTo>
                  <a:lnTo>
                    <a:pt x="231346" y="751370"/>
                  </a:lnTo>
                  <a:lnTo>
                    <a:pt x="274317" y="767876"/>
                  </a:lnTo>
                  <a:lnTo>
                    <a:pt x="319416" y="779347"/>
                  </a:lnTo>
                  <a:lnTo>
                    <a:pt x="366276" y="785496"/>
                  </a:lnTo>
                  <a:lnTo>
                    <a:pt x="393673" y="785805"/>
                  </a:lnTo>
                  <a:lnTo>
                    <a:pt x="403607" y="785917"/>
                  </a:lnTo>
                  <a:lnTo>
                    <a:pt x="454152" y="782231"/>
                  </a:lnTo>
                  <a:lnTo>
                    <a:pt x="503258" y="771202"/>
                  </a:lnTo>
                  <a:lnTo>
                    <a:pt x="549770" y="754443"/>
                  </a:lnTo>
                  <a:lnTo>
                    <a:pt x="593295" y="732359"/>
                  </a:lnTo>
                  <a:lnTo>
                    <a:pt x="633443" y="705356"/>
                  </a:lnTo>
                  <a:lnTo>
                    <a:pt x="669824" y="673839"/>
                  </a:lnTo>
                  <a:lnTo>
                    <a:pt x="702049" y="638214"/>
                  </a:lnTo>
                  <a:lnTo>
                    <a:pt x="729725" y="598887"/>
                  </a:lnTo>
                  <a:lnTo>
                    <a:pt x="752463" y="556262"/>
                  </a:lnTo>
                  <a:lnTo>
                    <a:pt x="762000" y="5313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58627" y="2410967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96549" y="2543555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71889" y="2169502"/>
            <a:ext cx="788035" cy="786130"/>
            <a:chOff x="2571889" y="2169502"/>
            <a:chExt cx="788035" cy="786130"/>
          </a:xfrm>
        </p:grpSpPr>
        <p:sp>
          <p:nvSpPr>
            <p:cNvPr id="10" name="object 10"/>
            <p:cNvSpPr/>
            <p:nvPr/>
          </p:nvSpPr>
          <p:spPr>
            <a:xfrm>
              <a:off x="2584843" y="2181351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29" y="333229"/>
                  </a:lnTo>
                  <a:lnTo>
                    <a:pt x="750357" y="287223"/>
                  </a:lnTo>
                  <a:lnTo>
                    <a:pt x="736341" y="243340"/>
                  </a:lnTo>
                  <a:lnTo>
                    <a:pt x="717338" y="201937"/>
                  </a:lnTo>
                  <a:lnTo>
                    <a:pt x="693707" y="163373"/>
                  </a:lnTo>
                  <a:lnTo>
                    <a:pt x="665806" y="128006"/>
                  </a:lnTo>
                  <a:lnTo>
                    <a:pt x="633993" y="96193"/>
                  </a:lnTo>
                  <a:lnTo>
                    <a:pt x="598626" y="68292"/>
                  </a:lnTo>
                  <a:lnTo>
                    <a:pt x="560062" y="44661"/>
                  </a:lnTo>
                  <a:lnTo>
                    <a:pt x="518659" y="25658"/>
                  </a:lnTo>
                  <a:lnTo>
                    <a:pt x="474776" y="11642"/>
                  </a:lnTo>
                  <a:lnTo>
                    <a:pt x="42877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770"/>
                  </a:lnTo>
                  <a:lnTo>
                    <a:pt x="11642" y="474776"/>
                  </a:lnTo>
                  <a:lnTo>
                    <a:pt x="25658" y="518659"/>
                  </a:lnTo>
                  <a:lnTo>
                    <a:pt x="44661" y="560062"/>
                  </a:lnTo>
                  <a:lnTo>
                    <a:pt x="68292" y="598626"/>
                  </a:lnTo>
                  <a:lnTo>
                    <a:pt x="96193" y="633993"/>
                  </a:lnTo>
                  <a:lnTo>
                    <a:pt x="128006" y="665806"/>
                  </a:lnTo>
                  <a:lnTo>
                    <a:pt x="163373" y="693707"/>
                  </a:lnTo>
                  <a:lnTo>
                    <a:pt x="201937" y="717338"/>
                  </a:lnTo>
                  <a:lnTo>
                    <a:pt x="243340" y="736341"/>
                  </a:lnTo>
                  <a:lnTo>
                    <a:pt x="287223" y="750357"/>
                  </a:lnTo>
                  <a:lnTo>
                    <a:pt x="333229" y="759029"/>
                  </a:lnTo>
                  <a:lnTo>
                    <a:pt x="381000" y="762000"/>
                  </a:lnTo>
                  <a:lnTo>
                    <a:pt x="428770" y="759029"/>
                  </a:lnTo>
                  <a:lnTo>
                    <a:pt x="474776" y="750357"/>
                  </a:lnTo>
                  <a:lnTo>
                    <a:pt x="518659" y="736341"/>
                  </a:lnTo>
                  <a:lnTo>
                    <a:pt x="560062" y="717338"/>
                  </a:lnTo>
                  <a:lnTo>
                    <a:pt x="598626" y="693707"/>
                  </a:lnTo>
                  <a:lnTo>
                    <a:pt x="633993" y="665806"/>
                  </a:lnTo>
                  <a:lnTo>
                    <a:pt x="665806" y="633993"/>
                  </a:lnTo>
                  <a:lnTo>
                    <a:pt x="693707" y="598626"/>
                  </a:lnTo>
                  <a:lnTo>
                    <a:pt x="717338" y="560062"/>
                  </a:lnTo>
                  <a:lnTo>
                    <a:pt x="736341" y="518659"/>
                  </a:lnTo>
                  <a:lnTo>
                    <a:pt x="750357" y="474776"/>
                  </a:lnTo>
                  <a:lnTo>
                    <a:pt x="759029" y="42877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71889" y="2169502"/>
              <a:ext cx="788035" cy="786130"/>
            </a:xfrm>
            <a:custGeom>
              <a:avLst/>
              <a:gdLst/>
              <a:ahLst/>
              <a:cxnLst/>
              <a:rect l="l" t="t" r="r" b="b"/>
              <a:pathLst>
                <a:path w="788035" h="786130">
                  <a:moveTo>
                    <a:pt x="787908" y="392849"/>
                  </a:moveTo>
                  <a:lnTo>
                    <a:pt x="785622" y="352463"/>
                  </a:lnTo>
                  <a:lnTo>
                    <a:pt x="777793" y="309721"/>
                  </a:lnTo>
                  <a:lnTo>
                    <a:pt x="766737" y="269744"/>
                  </a:lnTo>
                  <a:lnTo>
                    <a:pt x="752669" y="232530"/>
                  </a:lnTo>
                  <a:lnTo>
                    <a:pt x="735805" y="198079"/>
                  </a:lnTo>
                  <a:lnTo>
                    <a:pt x="694548" y="137464"/>
                  </a:lnTo>
                  <a:lnTo>
                    <a:pt x="644689" y="87895"/>
                  </a:lnTo>
                  <a:lnTo>
                    <a:pt x="587950" y="49368"/>
                  </a:lnTo>
                  <a:lnTo>
                    <a:pt x="526052" y="21879"/>
                  </a:lnTo>
                  <a:lnTo>
                    <a:pt x="460719" y="5424"/>
                  </a:lnTo>
                  <a:lnTo>
                    <a:pt x="393673" y="0"/>
                  </a:lnTo>
                  <a:lnTo>
                    <a:pt x="360045" y="1422"/>
                  </a:lnTo>
                  <a:lnTo>
                    <a:pt x="293657" y="12536"/>
                  </a:lnTo>
                  <a:lnTo>
                    <a:pt x="229862" y="34670"/>
                  </a:lnTo>
                  <a:lnTo>
                    <a:pt x="170381" y="67821"/>
                  </a:lnTo>
                  <a:lnTo>
                    <a:pt x="116937" y="111984"/>
                  </a:lnTo>
                  <a:lnTo>
                    <a:pt x="71251" y="167156"/>
                  </a:lnTo>
                  <a:lnTo>
                    <a:pt x="35047" y="233333"/>
                  </a:lnTo>
                  <a:lnTo>
                    <a:pt x="21039" y="270548"/>
                  </a:lnTo>
                  <a:lnTo>
                    <a:pt x="10046" y="310511"/>
                  </a:lnTo>
                  <a:lnTo>
                    <a:pt x="2285" y="353225"/>
                  </a:lnTo>
                  <a:lnTo>
                    <a:pt x="0" y="392849"/>
                  </a:lnTo>
                  <a:lnTo>
                    <a:pt x="762" y="413423"/>
                  </a:lnTo>
                  <a:lnTo>
                    <a:pt x="2286" y="433235"/>
                  </a:lnTo>
                  <a:lnTo>
                    <a:pt x="8382" y="472097"/>
                  </a:lnTo>
                  <a:lnTo>
                    <a:pt x="21039" y="518545"/>
                  </a:lnTo>
                  <a:lnTo>
                    <a:pt x="25908" y="530591"/>
                  </a:lnTo>
                  <a:lnTo>
                    <a:pt x="25908" y="373799"/>
                  </a:lnTo>
                  <a:lnTo>
                    <a:pt x="27432" y="354749"/>
                  </a:lnTo>
                  <a:lnTo>
                    <a:pt x="35732" y="311290"/>
                  </a:lnTo>
                  <a:lnTo>
                    <a:pt x="47539" y="270933"/>
                  </a:lnTo>
                  <a:lnTo>
                    <a:pt x="62597" y="233672"/>
                  </a:lnTo>
                  <a:lnTo>
                    <a:pt x="80649" y="199499"/>
                  </a:lnTo>
                  <a:lnTo>
                    <a:pt x="124713" y="140393"/>
                  </a:lnTo>
                  <a:lnTo>
                    <a:pt x="177680" y="93563"/>
                  </a:lnTo>
                  <a:lnTo>
                    <a:pt x="237504" y="58957"/>
                  </a:lnTo>
                  <a:lnTo>
                    <a:pt x="302133" y="36524"/>
                  </a:lnTo>
                  <a:lnTo>
                    <a:pt x="369520" y="26211"/>
                  </a:lnTo>
                  <a:lnTo>
                    <a:pt x="403607" y="25584"/>
                  </a:lnTo>
                  <a:lnTo>
                    <a:pt x="437615" y="27967"/>
                  </a:lnTo>
                  <a:lnTo>
                    <a:pt x="504370" y="41739"/>
                  </a:lnTo>
                  <a:lnTo>
                    <a:pt x="567735" y="67475"/>
                  </a:lnTo>
                  <a:lnTo>
                    <a:pt x="625661" y="105123"/>
                  </a:lnTo>
                  <a:lnTo>
                    <a:pt x="676100" y="154632"/>
                  </a:lnTo>
                  <a:lnTo>
                    <a:pt x="717002" y="215948"/>
                  </a:lnTo>
                  <a:lnTo>
                    <a:pt x="733236" y="251019"/>
                  </a:lnTo>
                  <a:lnTo>
                    <a:pt x="746318" y="289021"/>
                  </a:lnTo>
                  <a:lnTo>
                    <a:pt x="755991" y="329950"/>
                  </a:lnTo>
                  <a:lnTo>
                    <a:pt x="762000" y="373799"/>
                  </a:lnTo>
                  <a:lnTo>
                    <a:pt x="762000" y="531331"/>
                  </a:lnTo>
                  <a:lnTo>
                    <a:pt x="769873" y="510746"/>
                  </a:lnTo>
                  <a:lnTo>
                    <a:pt x="781564" y="462744"/>
                  </a:lnTo>
                  <a:lnTo>
                    <a:pt x="787146" y="412661"/>
                  </a:lnTo>
                  <a:lnTo>
                    <a:pt x="787908" y="392849"/>
                  </a:lnTo>
                  <a:close/>
                </a:path>
                <a:path w="788035" h="786130">
                  <a:moveTo>
                    <a:pt x="762000" y="531331"/>
                  </a:moveTo>
                  <a:lnTo>
                    <a:pt x="762000" y="411899"/>
                  </a:lnTo>
                  <a:lnTo>
                    <a:pt x="756290" y="454765"/>
                  </a:lnTo>
                  <a:lnTo>
                    <a:pt x="747008" y="494873"/>
                  </a:lnTo>
                  <a:lnTo>
                    <a:pt x="734399" y="532211"/>
                  </a:lnTo>
                  <a:lnTo>
                    <a:pt x="700174" y="598526"/>
                  </a:lnTo>
                  <a:lnTo>
                    <a:pt x="655574" y="653612"/>
                  </a:lnTo>
                  <a:lnTo>
                    <a:pt x="602554" y="697372"/>
                  </a:lnTo>
                  <a:lnTo>
                    <a:pt x="543070" y="729708"/>
                  </a:lnTo>
                  <a:lnTo>
                    <a:pt x="479081" y="750523"/>
                  </a:lnTo>
                  <a:lnTo>
                    <a:pt x="412542" y="759718"/>
                  </a:lnTo>
                  <a:lnTo>
                    <a:pt x="393673" y="759836"/>
                  </a:lnTo>
                  <a:lnTo>
                    <a:pt x="378927" y="759928"/>
                  </a:lnTo>
                  <a:lnTo>
                    <a:pt x="312232" y="751512"/>
                  </a:lnTo>
                  <a:lnTo>
                    <a:pt x="247878" y="731233"/>
                  </a:lnTo>
                  <a:lnTo>
                    <a:pt x="187823" y="698993"/>
                  </a:lnTo>
                  <a:lnTo>
                    <a:pt x="134022" y="654695"/>
                  </a:lnTo>
                  <a:lnTo>
                    <a:pt x="88434" y="598241"/>
                  </a:lnTo>
                  <a:lnTo>
                    <a:pt x="53013" y="529533"/>
                  </a:lnTo>
                  <a:lnTo>
                    <a:pt x="39727" y="490554"/>
                  </a:lnTo>
                  <a:lnTo>
                    <a:pt x="29718" y="448475"/>
                  </a:lnTo>
                  <a:lnTo>
                    <a:pt x="25908" y="411137"/>
                  </a:lnTo>
                  <a:lnTo>
                    <a:pt x="25908" y="530591"/>
                  </a:lnTo>
                  <a:lnTo>
                    <a:pt x="61303" y="603227"/>
                  </a:lnTo>
                  <a:lnTo>
                    <a:pt x="88109" y="640654"/>
                  </a:lnTo>
                  <a:lnTo>
                    <a:pt x="118885" y="674466"/>
                  </a:lnTo>
                  <a:lnTo>
                    <a:pt x="153262" y="704378"/>
                  </a:lnTo>
                  <a:lnTo>
                    <a:pt x="190871" y="730106"/>
                  </a:lnTo>
                  <a:lnTo>
                    <a:pt x="231346" y="751367"/>
                  </a:lnTo>
                  <a:lnTo>
                    <a:pt x="274317" y="767875"/>
                  </a:lnTo>
                  <a:lnTo>
                    <a:pt x="319416" y="779346"/>
                  </a:lnTo>
                  <a:lnTo>
                    <a:pt x="366276" y="785496"/>
                  </a:lnTo>
                  <a:lnTo>
                    <a:pt x="393673" y="785805"/>
                  </a:lnTo>
                  <a:lnTo>
                    <a:pt x="403607" y="785917"/>
                  </a:lnTo>
                  <a:lnTo>
                    <a:pt x="454152" y="782231"/>
                  </a:lnTo>
                  <a:lnTo>
                    <a:pt x="503258" y="771202"/>
                  </a:lnTo>
                  <a:lnTo>
                    <a:pt x="549770" y="754443"/>
                  </a:lnTo>
                  <a:lnTo>
                    <a:pt x="593295" y="732359"/>
                  </a:lnTo>
                  <a:lnTo>
                    <a:pt x="633443" y="705356"/>
                  </a:lnTo>
                  <a:lnTo>
                    <a:pt x="669824" y="673839"/>
                  </a:lnTo>
                  <a:lnTo>
                    <a:pt x="702049" y="638214"/>
                  </a:lnTo>
                  <a:lnTo>
                    <a:pt x="729725" y="598887"/>
                  </a:lnTo>
                  <a:lnTo>
                    <a:pt x="752463" y="556262"/>
                  </a:lnTo>
                  <a:lnTo>
                    <a:pt x="762000" y="5313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809119" y="2410967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47041" y="2543555"/>
            <a:ext cx="1739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m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43089" y="3158998"/>
            <a:ext cx="1245235" cy="2083435"/>
            <a:chOff x="743089" y="3158998"/>
            <a:chExt cx="1245235" cy="2083435"/>
          </a:xfrm>
        </p:grpSpPr>
        <p:sp>
          <p:nvSpPr>
            <p:cNvPr id="15" name="object 15"/>
            <p:cNvSpPr/>
            <p:nvPr/>
          </p:nvSpPr>
          <p:spPr>
            <a:xfrm>
              <a:off x="756043" y="3171952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43089" y="3158998"/>
              <a:ext cx="1016635" cy="407034"/>
            </a:xfrm>
            <a:custGeom>
              <a:avLst/>
              <a:gdLst/>
              <a:ahLst/>
              <a:cxnLst/>
              <a:rect l="l" t="t" r="r" b="b"/>
              <a:pathLst>
                <a:path w="1016635" h="407035">
                  <a:moveTo>
                    <a:pt x="1016508" y="406908"/>
                  </a:moveTo>
                  <a:lnTo>
                    <a:pt x="1016508" y="0"/>
                  </a:lnTo>
                  <a:lnTo>
                    <a:pt x="0" y="0"/>
                  </a:lnTo>
                  <a:lnTo>
                    <a:pt x="0" y="406908"/>
                  </a:lnTo>
                  <a:lnTo>
                    <a:pt x="12954" y="406908"/>
                  </a:lnTo>
                  <a:lnTo>
                    <a:pt x="12954" y="25908"/>
                  </a:lnTo>
                  <a:lnTo>
                    <a:pt x="25908" y="12954"/>
                  </a:lnTo>
                  <a:lnTo>
                    <a:pt x="25908" y="25908"/>
                  </a:lnTo>
                  <a:lnTo>
                    <a:pt x="990600" y="25908"/>
                  </a:lnTo>
                  <a:lnTo>
                    <a:pt x="990600" y="12954"/>
                  </a:lnTo>
                  <a:lnTo>
                    <a:pt x="1003554" y="25908"/>
                  </a:lnTo>
                  <a:lnTo>
                    <a:pt x="1003554" y="406908"/>
                  </a:lnTo>
                  <a:lnTo>
                    <a:pt x="1016508" y="406908"/>
                  </a:lnTo>
                  <a:close/>
                </a:path>
                <a:path w="1016635" h="407035">
                  <a:moveTo>
                    <a:pt x="25908" y="25908"/>
                  </a:moveTo>
                  <a:lnTo>
                    <a:pt x="25908" y="12954"/>
                  </a:lnTo>
                  <a:lnTo>
                    <a:pt x="12954" y="25908"/>
                  </a:lnTo>
                  <a:lnTo>
                    <a:pt x="25908" y="25908"/>
                  </a:lnTo>
                  <a:close/>
                </a:path>
                <a:path w="1016635" h="407035">
                  <a:moveTo>
                    <a:pt x="25908" y="381000"/>
                  </a:moveTo>
                  <a:lnTo>
                    <a:pt x="25908" y="25908"/>
                  </a:lnTo>
                  <a:lnTo>
                    <a:pt x="12954" y="25908"/>
                  </a:lnTo>
                  <a:lnTo>
                    <a:pt x="12954" y="381000"/>
                  </a:lnTo>
                  <a:lnTo>
                    <a:pt x="25908" y="381000"/>
                  </a:lnTo>
                  <a:close/>
                </a:path>
                <a:path w="1016635" h="407035">
                  <a:moveTo>
                    <a:pt x="1003554" y="381000"/>
                  </a:moveTo>
                  <a:lnTo>
                    <a:pt x="12954" y="381000"/>
                  </a:lnTo>
                  <a:lnTo>
                    <a:pt x="25908" y="393954"/>
                  </a:lnTo>
                  <a:lnTo>
                    <a:pt x="25907" y="406908"/>
                  </a:lnTo>
                  <a:lnTo>
                    <a:pt x="990600" y="406908"/>
                  </a:lnTo>
                  <a:lnTo>
                    <a:pt x="990600" y="393954"/>
                  </a:lnTo>
                  <a:lnTo>
                    <a:pt x="1003554" y="381000"/>
                  </a:lnTo>
                  <a:close/>
                </a:path>
                <a:path w="1016635" h="407035">
                  <a:moveTo>
                    <a:pt x="25907" y="406908"/>
                  </a:moveTo>
                  <a:lnTo>
                    <a:pt x="25908" y="393954"/>
                  </a:lnTo>
                  <a:lnTo>
                    <a:pt x="12954" y="381000"/>
                  </a:lnTo>
                  <a:lnTo>
                    <a:pt x="12954" y="406908"/>
                  </a:lnTo>
                  <a:lnTo>
                    <a:pt x="25907" y="406908"/>
                  </a:lnTo>
                  <a:close/>
                </a:path>
                <a:path w="1016635" h="407035">
                  <a:moveTo>
                    <a:pt x="1003554" y="25908"/>
                  </a:moveTo>
                  <a:lnTo>
                    <a:pt x="990600" y="12954"/>
                  </a:lnTo>
                  <a:lnTo>
                    <a:pt x="990600" y="25908"/>
                  </a:lnTo>
                  <a:lnTo>
                    <a:pt x="1003554" y="25908"/>
                  </a:lnTo>
                  <a:close/>
                </a:path>
                <a:path w="1016635" h="407035">
                  <a:moveTo>
                    <a:pt x="1003554" y="381000"/>
                  </a:moveTo>
                  <a:lnTo>
                    <a:pt x="1003554" y="25908"/>
                  </a:lnTo>
                  <a:lnTo>
                    <a:pt x="990600" y="25908"/>
                  </a:lnTo>
                  <a:lnTo>
                    <a:pt x="990600" y="381000"/>
                  </a:lnTo>
                  <a:lnTo>
                    <a:pt x="1003554" y="381000"/>
                  </a:lnTo>
                  <a:close/>
                </a:path>
                <a:path w="1016635" h="407035">
                  <a:moveTo>
                    <a:pt x="1003554" y="406908"/>
                  </a:moveTo>
                  <a:lnTo>
                    <a:pt x="1003554" y="381000"/>
                  </a:lnTo>
                  <a:lnTo>
                    <a:pt x="990600" y="393954"/>
                  </a:lnTo>
                  <a:lnTo>
                    <a:pt x="990600" y="406908"/>
                  </a:lnTo>
                  <a:lnTo>
                    <a:pt x="1003554" y="406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08443" y="4848352"/>
              <a:ext cx="1066800" cy="381000"/>
            </a:xfrm>
            <a:custGeom>
              <a:avLst/>
              <a:gdLst/>
              <a:ahLst/>
              <a:cxnLst/>
              <a:rect l="l" t="t" r="r" b="b"/>
              <a:pathLst>
                <a:path w="1066800" h="381000">
                  <a:moveTo>
                    <a:pt x="1066800" y="381000"/>
                  </a:moveTo>
                  <a:lnTo>
                    <a:pt x="10668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10668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95489" y="4835398"/>
              <a:ext cx="1092835" cy="407034"/>
            </a:xfrm>
            <a:custGeom>
              <a:avLst/>
              <a:gdLst/>
              <a:ahLst/>
              <a:cxnLst/>
              <a:rect l="l" t="t" r="r" b="b"/>
              <a:pathLst>
                <a:path w="1092835" h="407035">
                  <a:moveTo>
                    <a:pt x="1092708" y="406908"/>
                  </a:moveTo>
                  <a:lnTo>
                    <a:pt x="1092708" y="0"/>
                  </a:lnTo>
                  <a:lnTo>
                    <a:pt x="0" y="0"/>
                  </a:lnTo>
                  <a:lnTo>
                    <a:pt x="0" y="406908"/>
                  </a:lnTo>
                  <a:lnTo>
                    <a:pt x="12954" y="406908"/>
                  </a:lnTo>
                  <a:lnTo>
                    <a:pt x="12954" y="25908"/>
                  </a:lnTo>
                  <a:lnTo>
                    <a:pt x="25907" y="12954"/>
                  </a:lnTo>
                  <a:lnTo>
                    <a:pt x="25907" y="25908"/>
                  </a:lnTo>
                  <a:lnTo>
                    <a:pt x="1066800" y="25908"/>
                  </a:lnTo>
                  <a:lnTo>
                    <a:pt x="1066800" y="12954"/>
                  </a:lnTo>
                  <a:lnTo>
                    <a:pt x="1079754" y="25908"/>
                  </a:lnTo>
                  <a:lnTo>
                    <a:pt x="1079754" y="406908"/>
                  </a:lnTo>
                  <a:lnTo>
                    <a:pt x="1092708" y="406908"/>
                  </a:lnTo>
                  <a:close/>
                </a:path>
                <a:path w="1092835" h="407035">
                  <a:moveTo>
                    <a:pt x="25907" y="25908"/>
                  </a:moveTo>
                  <a:lnTo>
                    <a:pt x="25907" y="12954"/>
                  </a:lnTo>
                  <a:lnTo>
                    <a:pt x="12954" y="25908"/>
                  </a:lnTo>
                  <a:lnTo>
                    <a:pt x="25907" y="25908"/>
                  </a:lnTo>
                  <a:close/>
                </a:path>
                <a:path w="1092835" h="407035">
                  <a:moveTo>
                    <a:pt x="25907" y="381000"/>
                  </a:moveTo>
                  <a:lnTo>
                    <a:pt x="25907" y="25908"/>
                  </a:lnTo>
                  <a:lnTo>
                    <a:pt x="12954" y="25908"/>
                  </a:lnTo>
                  <a:lnTo>
                    <a:pt x="12954" y="381000"/>
                  </a:lnTo>
                  <a:lnTo>
                    <a:pt x="25907" y="381000"/>
                  </a:lnTo>
                  <a:close/>
                </a:path>
                <a:path w="1092835" h="407035">
                  <a:moveTo>
                    <a:pt x="1079754" y="381000"/>
                  </a:moveTo>
                  <a:lnTo>
                    <a:pt x="12954" y="381000"/>
                  </a:lnTo>
                  <a:lnTo>
                    <a:pt x="25907" y="393954"/>
                  </a:lnTo>
                  <a:lnTo>
                    <a:pt x="25907" y="406908"/>
                  </a:lnTo>
                  <a:lnTo>
                    <a:pt x="1066800" y="406908"/>
                  </a:lnTo>
                  <a:lnTo>
                    <a:pt x="1066800" y="393954"/>
                  </a:lnTo>
                  <a:lnTo>
                    <a:pt x="1079754" y="381000"/>
                  </a:lnTo>
                  <a:close/>
                </a:path>
                <a:path w="1092835" h="407035">
                  <a:moveTo>
                    <a:pt x="25907" y="406908"/>
                  </a:moveTo>
                  <a:lnTo>
                    <a:pt x="25907" y="393954"/>
                  </a:lnTo>
                  <a:lnTo>
                    <a:pt x="12954" y="381000"/>
                  </a:lnTo>
                  <a:lnTo>
                    <a:pt x="12954" y="406908"/>
                  </a:lnTo>
                  <a:lnTo>
                    <a:pt x="25907" y="406908"/>
                  </a:lnTo>
                  <a:close/>
                </a:path>
                <a:path w="1092835" h="407035">
                  <a:moveTo>
                    <a:pt x="1079754" y="25908"/>
                  </a:moveTo>
                  <a:lnTo>
                    <a:pt x="1066800" y="12954"/>
                  </a:lnTo>
                  <a:lnTo>
                    <a:pt x="1066800" y="25908"/>
                  </a:lnTo>
                  <a:lnTo>
                    <a:pt x="1079754" y="25908"/>
                  </a:lnTo>
                  <a:close/>
                </a:path>
                <a:path w="1092835" h="407035">
                  <a:moveTo>
                    <a:pt x="1079754" y="381000"/>
                  </a:moveTo>
                  <a:lnTo>
                    <a:pt x="1079754" y="25908"/>
                  </a:lnTo>
                  <a:lnTo>
                    <a:pt x="1066800" y="25908"/>
                  </a:lnTo>
                  <a:lnTo>
                    <a:pt x="1066800" y="381000"/>
                  </a:lnTo>
                  <a:lnTo>
                    <a:pt x="1079754" y="381000"/>
                  </a:lnTo>
                  <a:close/>
                </a:path>
                <a:path w="1092835" h="407035">
                  <a:moveTo>
                    <a:pt x="1079754" y="406908"/>
                  </a:moveTo>
                  <a:lnTo>
                    <a:pt x="1079754" y="381000"/>
                  </a:lnTo>
                  <a:lnTo>
                    <a:pt x="1066800" y="393954"/>
                  </a:lnTo>
                  <a:lnTo>
                    <a:pt x="1066800" y="406908"/>
                  </a:lnTo>
                  <a:lnTo>
                    <a:pt x="1079754" y="406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67365" y="4887467"/>
            <a:ext cx="948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71689" y="2549334"/>
            <a:ext cx="2540635" cy="2299335"/>
            <a:chOff x="971689" y="2549334"/>
            <a:chExt cx="2540635" cy="2299335"/>
          </a:xfrm>
        </p:grpSpPr>
        <p:sp>
          <p:nvSpPr>
            <p:cNvPr id="21" name="object 21"/>
            <p:cNvSpPr/>
            <p:nvPr/>
          </p:nvSpPr>
          <p:spPr>
            <a:xfrm>
              <a:off x="1276489" y="2943351"/>
              <a:ext cx="1702435" cy="914400"/>
            </a:xfrm>
            <a:custGeom>
              <a:avLst/>
              <a:gdLst/>
              <a:ahLst/>
              <a:cxnLst/>
              <a:rect l="l" t="t" r="r" b="b"/>
              <a:pathLst>
                <a:path w="1702435" h="914400">
                  <a:moveTo>
                    <a:pt x="25908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908" y="914400"/>
                  </a:lnTo>
                  <a:lnTo>
                    <a:pt x="25908" y="609600"/>
                  </a:lnTo>
                  <a:close/>
                </a:path>
                <a:path w="1702435" h="914400">
                  <a:moveTo>
                    <a:pt x="25908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908" y="228600"/>
                  </a:lnTo>
                  <a:lnTo>
                    <a:pt x="25908" y="0"/>
                  </a:lnTo>
                  <a:close/>
                </a:path>
                <a:path w="1702435" h="914400">
                  <a:moveTo>
                    <a:pt x="1702308" y="609600"/>
                  </a:moveTo>
                  <a:lnTo>
                    <a:pt x="1676400" y="609600"/>
                  </a:lnTo>
                  <a:lnTo>
                    <a:pt x="1676400" y="914400"/>
                  </a:lnTo>
                  <a:lnTo>
                    <a:pt x="1702308" y="914400"/>
                  </a:lnTo>
                  <a:lnTo>
                    <a:pt x="1702308" y="609600"/>
                  </a:lnTo>
                  <a:close/>
                </a:path>
                <a:path w="1702435" h="914400">
                  <a:moveTo>
                    <a:pt x="1702308" y="0"/>
                  </a:moveTo>
                  <a:lnTo>
                    <a:pt x="1676400" y="0"/>
                  </a:lnTo>
                  <a:lnTo>
                    <a:pt x="1676400" y="228600"/>
                  </a:lnTo>
                  <a:lnTo>
                    <a:pt x="1702308" y="228600"/>
                  </a:lnTo>
                  <a:lnTo>
                    <a:pt x="17023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70443" y="2562352"/>
              <a:ext cx="889635" cy="0"/>
            </a:xfrm>
            <a:custGeom>
              <a:avLst/>
              <a:gdLst/>
              <a:ahLst/>
              <a:cxnLst/>
              <a:rect l="l" t="t" r="r" b="b"/>
              <a:pathLst>
                <a:path w="889635">
                  <a:moveTo>
                    <a:pt x="0" y="0"/>
                  </a:moveTo>
                  <a:lnTo>
                    <a:pt x="889254" y="0"/>
                  </a:lnTo>
                </a:path>
              </a:pathLst>
            </a:custGeom>
            <a:ln w="25907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508643" y="3171952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495677" y="3158998"/>
              <a:ext cx="1016635" cy="407034"/>
            </a:xfrm>
            <a:custGeom>
              <a:avLst/>
              <a:gdLst/>
              <a:ahLst/>
              <a:cxnLst/>
              <a:rect l="l" t="t" r="r" b="b"/>
              <a:pathLst>
                <a:path w="1016635" h="407035">
                  <a:moveTo>
                    <a:pt x="1016508" y="406908"/>
                  </a:moveTo>
                  <a:lnTo>
                    <a:pt x="1016508" y="0"/>
                  </a:lnTo>
                  <a:lnTo>
                    <a:pt x="0" y="0"/>
                  </a:lnTo>
                  <a:lnTo>
                    <a:pt x="0" y="406908"/>
                  </a:lnTo>
                  <a:lnTo>
                    <a:pt x="12966" y="406908"/>
                  </a:lnTo>
                  <a:lnTo>
                    <a:pt x="12966" y="25908"/>
                  </a:lnTo>
                  <a:lnTo>
                    <a:pt x="25920" y="12954"/>
                  </a:lnTo>
                  <a:lnTo>
                    <a:pt x="25920" y="25908"/>
                  </a:lnTo>
                  <a:lnTo>
                    <a:pt x="990612" y="25908"/>
                  </a:lnTo>
                  <a:lnTo>
                    <a:pt x="990612" y="12954"/>
                  </a:lnTo>
                  <a:lnTo>
                    <a:pt x="1003566" y="25908"/>
                  </a:lnTo>
                  <a:lnTo>
                    <a:pt x="1003566" y="406908"/>
                  </a:lnTo>
                  <a:lnTo>
                    <a:pt x="1016508" y="406908"/>
                  </a:lnTo>
                  <a:close/>
                </a:path>
                <a:path w="1016635" h="407035">
                  <a:moveTo>
                    <a:pt x="25920" y="25908"/>
                  </a:moveTo>
                  <a:lnTo>
                    <a:pt x="25920" y="12954"/>
                  </a:lnTo>
                  <a:lnTo>
                    <a:pt x="12966" y="25908"/>
                  </a:lnTo>
                  <a:lnTo>
                    <a:pt x="25920" y="25908"/>
                  </a:lnTo>
                  <a:close/>
                </a:path>
                <a:path w="1016635" h="407035">
                  <a:moveTo>
                    <a:pt x="25920" y="381000"/>
                  </a:moveTo>
                  <a:lnTo>
                    <a:pt x="25920" y="25908"/>
                  </a:lnTo>
                  <a:lnTo>
                    <a:pt x="12966" y="25908"/>
                  </a:lnTo>
                  <a:lnTo>
                    <a:pt x="12966" y="381000"/>
                  </a:lnTo>
                  <a:lnTo>
                    <a:pt x="25920" y="381000"/>
                  </a:lnTo>
                  <a:close/>
                </a:path>
                <a:path w="1016635" h="407035">
                  <a:moveTo>
                    <a:pt x="1003566" y="381000"/>
                  </a:moveTo>
                  <a:lnTo>
                    <a:pt x="12966" y="381000"/>
                  </a:lnTo>
                  <a:lnTo>
                    <a:pt x="25920" y="393954"/>
                  </a:lnTo>
                  <a:lnTo>
                    <a:pt x="25920" y="406908"/>
                  </a:lnTo>
                  <a:lnTo>
                    <a:pt x="990612" y="406908"/>
                  </a:lnTo>
                  <a:lnTo>
                    <a:pt x="990612" y="393954"/>
                  </a:lnTo>
                  <a:lnTo>
                    <a:pt x="1003566" y="381000"/>
                  </a:lnTo>
                  <a:close/>
                </a:path>
                <a:path w="1016635" h="407035">
                  <a:moveTo>
                    <a:pt x="25920" y="406908"/>
                  </a:moveTo>
                  <a:lnTo>
                    <a:pt x="25920" y="393954"/>
                  </a:lnTo>
                  <a:lnTo>
                    <a:pt x="12966" y="381000"/>
                  </a:lnTo>
                  <a:lnTo>
                    <a:pt x="12966" y="406908"/>
                  </a:lnTo>
                  <a:lnTo>
                    <a:pt x="25920" y="406908"/>
                  </a:lnTo>
                  <a:close/>
                </a:path>
                <a:path w="1016635" h="407035">
                  <a:moveTo>
                    <a:pt x="1003566" y="25908"/>
                  </a:moveTo>
                  <a:lnTo>
                    <a:pt x="990612" y="12954"/>
                  </a:lnTo>
                  <a:lnTo>
                    <a:pt x="990612" y="25908"/>
                  </a:lnTo>
                  <a:lnTo>
                    <a:pt x="1003566" y="25908"/>
                  </a:lnTo>
                  <a:close/>
                </a:path>
                <a:path w="1016635" h="407035">
                  <a:moveTo>
                    <a:pt x="1003566" y="381000"/>
                  </a:moveTo>
                  <a:lnTo>
                    <a:pt x="1003566" y="25908"/>
                  </a:lnTo>
                  <a:lnTo>
                    <a:pt x="990612" y="25908"/>
                  </a:lnTo>
                  <a:lnTo>
                    <a:pt x="990612" y="381000"/>
                  </a:lnTo>
                  <a:lnTo>
                    <a:pt x="1003566" y="381000"/>
                  </a:lnTo>
                  <a:close/>
                </a:path>
                <a:path w="1016635" h="407035">
                  <a:moveTo>
                    <a:pt x="1003566" y="406908"/>
                  </a:moveTo>
                  <a:lnTo>
                    <a:pt x="1003566" y="381000"/>
                  </a:lnTo>
                  <a:lnTo>
                    <a:pt x="990612" y="393954"/>
                  </a:lnTo>
                  <a:lnTo>
                    <a:pt x="990612" y="406908"/>
                  </a:lnTo>
                  <a:lnTo>
                    <a:pt x="1003566" y="406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46643" y="3381502"/>
              <a:ext cx="737235" cy="0"/>
            </a:xfrm>
            <a:custGeom>
              <a:avLst/>
              <a:gdLst/>
              <a:ahLst/>
              <a:cxnLst/>
              <a:rect l="l" t="t" r="r" b="b"/>
              <a:pathLst>
                <a:path w="737235">
                  <a:moveTo>
                    <a:pt x="0" y="0"/>
                  </a:moveTo>
                  <a:lnTo>
                    <a:pt x="736853" y="0"/>
                  </a:lnTo>
                </a:path>
              </a:pathLst>
            </a:custGeom>
            <a:ln w="2590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28889" y="4467351"/>
              <a:ext cx="26034" cy="381000"/>
            </a:xfrm>
            <a:custGeom>
              <a:avLst/>
              <a:gdLst/>
              <a:ahLst/>
              <a:cxnLst/>
              <a:rect l="l" t="t" r="r" b="b"/>
              <a:pathLst>
                <a:path w="26034" h="381000">
                  <a:moveTo>
                    <a:pt x="25907" y="381000"/>
                  </a:moveTo>
                  <a:lnTo>
                    <a:pt x="25907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5907" y="381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84643" y="3857752"/>
              <a:ext cx="2362200" cy="609600"/>
            </a:xfrm>
            <a:custGeom>
              <a:avLst/>
              <a:gdLst/>
              <a:ahLst/>
              <a:cxnLst/>
              <a:rect l="l" t="t" r="r" b="b"/>
              <a:pathLst>
                <a:path w="2362200" h="609600">
                  <a:moveTo>
                    <a:pt x="2362199" y="609600"/>
                  </a:moveTo>
                  <a:lnTo>
                    <a:pt x="2362199" y="0"/>
                  </a:lnTo>
                  <a:lnTo>
                    <a:pt x="0" y="0"/>
                  </a:lnTo>
                  <a:lnTo>
                    <a:pt x="0" y="609600"/>
                  </a:lnTo>
                  <a:lnTo>
                    <a:pt x="2362199" y="609600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71689" y="3844797"/>
              <a:ext cx="2388235" cy="635635"/>
            </a:xfrm>
            <a:custGeom>
              <a:avLst/>
              <a:gdLst/>
              <a:ahLst/>
              <a:cxnLst/>
              <a:rect l="l" t="t" r="r" b="b"/>
              <a:pathLst>
                <a:path w="2388235" h="635635">
                  <a:moveTo>
                    <a:pt x="2388107" y="635508"/>
                  </a:moveTo>
                  <a:lnTo>
                    <a:pt x="2388107" y="0"/>
                  </a:lnTo>
                  <a:lnTo>
                    <a:pt x="0" y="0"/>
                  </a:lnTo>
                  <a:lnTo>
                    <a:pt x="0" y="635508"/>
                  </a:lnTo>
                  <a:lnTo>
                    <a:pt x="12954" y="635508"/>
                  </a:lnTo>
                  <a:lnTo>
                    <a:pt x="12954" y="25908"/>
                  </a:lnTo>
                  <a:lnTo>
                    <a:pt x="25907" y="12954"/>
                  </a:lnTo>
                  <a:lnTo>
                    <a:pt x="25907" y="25908"/>
                  </a:lnTo>
                  <a:lnTo>
                    <a:pt x="2362200" y="25908"/>
                  </a:lnTo>
                  <a:lnTo>
                    <a:pt x="2362200" y="12954"/>
                  </a:lnTo>
                  <a:lnTo>
                    <a:pt x="2375154" y="25908"/>
                  </a:lnTo>
                  <a:lnTo>
                    <a:pt x="2375154" y="635508"/>
                  </a:lnTo>
                  <a:lnTo>
                    <a:pt x="2388107" y="635508"/>
                  </a:lnTo>
                  <a:close/>
                </a:path>
                <a:path w="2388235" h="635635">
                  <a:moveTo>
                    <a:pt x="25907" y="25908"/>
                  </a:moveTo>
                  <a:lnTo>
                    <a:pt x="25907" y="12954"/>
                  </a:lnTo>
                  <a:lnTo>
                    <a:pt x="12954" y="25908"/>
                  </a:lnTo>
                  <a:lnTo>
                    <a:pt x="25907" y="25908"/>
                  </a:lnTo>
                  <a:close/>
                </a:path>
                <a:path w="2388235" h="635635">
                  <a:moveTo>
                    <a:pt x="25907" y="609600"/>
                  </a:moveTo>
                  <a:lnTo>
                    <a:pt x="25907" y="25908"/>
                  </a:lnTo>
                  <a:lnTo>
                    <a:pt x="12954" y="25908"/>
                  </a:lnTo>
                  <a:lnTo>
                    <a:pt x="12954" y="609600"/>
                  </a:lnTo>
                  <a:lnTo>
                    <a:pt x="25907" y="609600"/>
                  </a:lnTo>
                  <a:close/>
                </a:path>
                <a:path w="2388235" h="635635">
                  <a:moveTo>
                    <a:pt x="2375154" y="609600"/>
                  </a:moveTo>
                  <a:lnTo>
                    <a:pt x="12954" y="609600"/>
                  </a:lnTo>
                  <a:lnTo>
                    <a:pt x="25907" y="622554"/>
                  </a:lnTo>
                  <a:lnTo>
                    <a:pt x="25907" y="635508"/>
                  </a:lnTo>
                  <a:lnTo>
                    <a:pt x="2362200" y="635508"/>
                  </a:lnTo>
                  <a:lnTo>
                    <a:pt x="2362200" y="622554"/>
                  </a:lnTo>
                  <a:lnTo>
                    <a:pt x="2375154" y="609600"/>
                  </a:lnTo>
                  <a:close/>
                </a:path>
                <a:path w="2388235" h="635635">
                  <a:moveTo>
                    <a:pt x="25907" y="635508"/>
                  </a:moveTo>
                  <a:lnTo>
                    <a:pt x="25907" y="622554"/>
                  </a:lnTo>
                  <a:lnTo>
                    <a:pt x="12954" y="609600"/>
                  </a:lnTo>
                  <a:lnTo>
                    <a:pt x="12954" y="635508"/>
                  </a:lnTo>
                  <a:lnTo>
                    <a:pt x="25907" y="635508"/>
                  </a:lnTo>
                  <a:close/>
                </a:path>
                <a:path w="2388235" h="635635">
                  <a:moveTo>
                    <a:pt x="2375154" y="25908"/>
                  </a:moveTo>
                  <a:lnTo>
                    <a:pt x="2362200" y="12954"/>
                  </a:lnTo>
                  <a:lnTo>
                    <a:pt x="2362200" y="25908"/>
                  </a:lnTo>
                  <a:lnTo>
                    <a:pt x="2375154" y="25908"/>
                  </a:lnTo>
                  <a:close/>
                </a:path>
                <a:path w="2388235" h="635635">
                  <a:moveTo>
                    <a:pt x="2375154" y="609600"/>
                  </a:moveTo>
                  <a:lnTo>
                    <a:pt x="2375154" y="25908"/>
                  </a:lnTo>
                  <a:lnTo>
                    <a:pt x="2362200" y="25908"/>
                  </a:lnTo>
                  <a:lnTo>
                    <a:pt x="2362200" y="609600"/>
                  </a:lnTo>
                  <a:lnTo>
                    <a:pt x="2375154" y="609600"/>
                  </a:lnTo>
                  <a:close/>
                </a:path>
                <a:path w="2388235" h="635635">
                  <a:moveTo>
                    <a:pt x="2375154" y="635508"/>
                  </a:moveTo>
                  <a:lnTo>
                    <a:pt x="2375154" y="609600"/>
                  </a:lnTo>
                  <a:lnTo>
                    <a:pt x="2362200" y="622554"/>
                  </a:lnTo>
                  <a:lnTo>
                    <a:pt x="2362200" y="635508"/>
                  </a:lnTo>
                  <a:lnTo>
                    <a:pt x="2375154" y="6355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89641" y="3211067"/>
            <a:ext cx="2474595" cy="1236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4664" algn="l"/>
              </a:tabLst>
            </a:pPr>
            <a:r>
              <a:rPr sz="1800" spc="-10" dirty="0">
                <a:latin typeface="Verdana"/>
                <a:cs typeface="Verdana"/>
              </a:rPr>
              <a:t>Cache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1800">
              <a:latin typeface="Verdana"/>
              <a:cs typeface="Verdana"/>
            </a:endParaRPr>
          </a:p>
          <a:p>
            <a:pPr marL="796925" marR="289560" indent="-424180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Interconnection Network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419489" y="4467352"/>
            <a:ext cx="1092835" cy="775335"/>
            <a:chOff x="2419489" y="4467352"/>
            <a:chExt cx="1092835" cy="775335"/>
          </a:xfrm>
        </p:grpSpPr>
        <p:sp>
          <p:nvSpPr>
            <p:cNvPr id="31" name="object 31"/>
            <p:cNvSpPr/>
            <p:nvPr/>
          </p:nvSpPr>
          <p:spPr>
            <a:xfrm>
              <a:off x="2952889" y="4467352"/>
              <a:ext cx="26034" cy="381000"/>
            </a:xfrm>
            <a:custGeom>
              <a:avLst/>
              <a:gdLst/>
              <a:ahLst/>
              <a:cxnLst/>
              <a:rect l="l" t="t" r="r" b="b"/>
              <a:pathLst>
                <a:path w="26035" h="381000">
                  <a:moveTo>
                    <a:pt x="25908" y="381000"/>
                  </a:moveTo>
                  <a:lnTo>
                    <a:pt x="25908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5908" y="381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432443" y="4848352"/>
              <a:ext cx="1066800" cy="381000"/>
            </a:xfrm>
            <a:custGeom>
              <a:avLst/>
              <a:gdLst/>
              <a:ahLst/>
              <a:cxnLst/>
              <a:rect l="l" t="t" r="r" b="b"/>
              <a:pathLst>
                <a:path w="1066800" h="381000">
                  <a:moveTo>
                    <a:pt x="1066799" y="381000"/>
                  </a:moveTo>
                  <a:lnTo>
                    <a:pt x="1066799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1066799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419489" y="4835398"/>
              <a:ext cx="1092835" cy="407034"/>
            </a:xfrm>
            <a:custGeom>
              <a:avLst/>
              <a:gdLst/>
              <a:ahLst/>
              <a:cxnLst/>
              <a:rect l="l" t="t" r="r" b="b"/>
              <a:pathLst>
                <a:path w="1092835" h="407035">
                  <a:moveTo>
                    <a:pt x="1092707" y="406908"/>
                  </a:moveTo>
                  <a:lnTo>
                    <a:pt x="1092707" y="0"/>
                  </a:lnTo>
                  <a:lnTo>
                    <a:pt x="0" y="0"/>
                  </a:lnTo>
                  <a:lnTo>
                    <a:pt x="0" y="406908"/>
                  </a:lnTo>
                  <a:lnTo>
                    <a:pt x="12954" y="406908"/>
                  </a:lnTo>
                  <a:lnTo>
                    <a:pt x="12954" y="25908"/>
                  </a:lnTo>
                  <a:lnTo>
                    <a:pt x="25907" y="12954"/>
                  </a:lnTo>
                  <a:lnTo>
                    <a:pt x="25907" y="25908"/>
                  </a:lnTo>
                  <a:lnTo>
                    <a:pt x="1066800" y="25908"/>
                  </a:lnTo>
                  <a:lnTo>
                    <a:pt x="1066800" y="12954"/>
                  </a:lnTo>
                  <a:lnTo>
                    <a:pt x="1079753" y="25908"/>
                  </a:lnTo>
                  <a:lnTo>
                    <a:pt x="1079753" y="406908"/>
                  </a:lnTo>
                  <a:lnTo>
                    <a:pt x="1092707" y="406908"/>
                  </a:lnTo>
                  <a:close/>
                </a:path>
                <a:path w="1092835" h="407035">
                  <a:moveTo>
                    <a:pt x="25907" y="25908"/>
                  </a:moveTo>
                  <a:lnTo>
                    <a:pt x="25907" y="12954"/>
                  </a:lnTo>
                  <a:lnTo>
                    <a:pt x="12954" y="25908"/>
                  </a:lnTo>
                  <a:lnTo>
                    <a:pt x="25907" y="25908"/>
                  </a:lnTo>
                  <a:close/>
                </a:path>
                <a:path w="1092835" h="407035">
                  <a:moveTo>
                    <a:pt x="25907" y="381000"/>
                  </a:moveTo>
                  <a:lnTo>
                    <a:pt x="25907" y="25908"/>
                  </a:lnTo>
                  <a:lnTo>
                    <a:pt x="12954" y="25908"/>
                  </a:lnTo>
                  <a:lnTo>
                    <a:pt x="12954" y="381000"/>
                  </a:lnTo>
                  <a:lnTo>
                    <a:pt x="25907" y="381000"/>
                  </a:lnTo>
                  <a:close/>
                </a:path>
                <a:path w="1092835" h="407035">
                  <a:moveTo>
                    <a:pt x="1079753" y="381000"/>
                  </a:moveTo>
                  <a:lnTo>
                    <a:pt x="12954" y="381000"/>
                  </a:lnTo>
                  <a:lnTo>
                    <a:pt x="25907" y="393954"/>
                  </a:lnTo>
                  <a:lnTo>
                    <a:pt x="25907" y="406908"/>
                  </a:lnTo>
                  <a:lnTo>
                    <a:pt x="1066800" y="406908"/>
                  </a:lnTo>
                  <a:lnTo>
                    <a:pt x="1066800" y="393954"/>
                  </a:lnTo>
                  <a:lnTo>
                    <a:pt x="1079753" y="381000"/>
                  </a:lnTo>
                  <a:close/>
                </a:path>
                <a:path w="1092835" h="407035">
                  <a:moveTo>
                    <a:pt x="25907" y="406908"/>
                  </a:moveTo>
                  <a:lnTo>
                    <a:pt x="25907" y="393954"/>
                  </a:lnTo>
                  <a:lnTo>
                    <a:pt x="12954" y="381000"/>
                  </a:lnTo>
                  <a:lnTo>
                    <a:pt x="12954" y="406908"/>
                  </a:lnTo>
                  <a:lnTo>
                    <a:pt x="25907" y="406908"/>
                  </a:lnTo>
                  <a:close/>
                </a:path>
                <a:path w="1092835" h="407035">
                  <a:moveTo>
                    <a:pt x="1079753" y="25908"/>
                  </a:moveTo>
                  <a:lnTo>
                    <a:pt x="1066800" y="12954"/>
                  </a:lnTo>
                  <a:lnTo>
                    <a:pt x="1066800" y="25908"/>
                  </a:lnTo>
                  <a:lnTo>
                    <a:pt x="1079753" y="25908"/>
                  </a:lnTo>
                  <a:close/>
                </a:path>
                <a:path w="1092835" h="407035">
                  <a:moveTo>
                    <a:pt x="1079753" y="381000"/>
                  </a:moveTo>
                  <a:lnTo>
                    <a:pt x="1079753" y="25908"/>
                  </a:lnTo>
                  <a:lnTo>
                    <a:pt x="1066800" y="25908"/>
                  </a:lnTo>
                  <a:lnTo>
                    <a:pt x="1066800" y="381000"/>
                  </a:lnTo>
                  <a:lnTo>
                    <a:pt x="1079753" y="381000"/>
                  </a:lnTo>
                  <a:close/>
                </a:path>
                <a:path w="1092835" h="407035">
                  <a:moveTo>
                    <a:pt x="1079753" y="406908"/>
                  </a:moveTo>
                  <a:lnTo>
                    <a:pt x="1079753" y="381000"/>
                  </a:lnTo>
                  <a:lnTo>
                    <a:pt x="1066800" y="393954"/>
                  </a:lnTo>
                  <a:lnTo>
                    <a:pt x="1066800" y="406908"/>
                  </a:lnTo>
                  <a:lnTo>
                    <a:pt x="1079753" y="406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491365" y="4887467"/>
            <a:ext cx="948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Memory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Distributed</a:t>
            </a:r>
            <a:r>
              <a:rPr spc="-180" dirty="0"/>
              <a:t> </a:t>
            </a:r>
            <a:r>
              <a:rPr spc="-10" dirty="0"/>
              <a:t>Memory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34471" y="1505332"/>
            <a:ext cx="4333107" cy="31027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26670" indent="-342900">
              <a:lnSpc>
                <a:spcPct val="100000"/>
              </a:lnSpc>
              <a:spcBef>
                <a:spcPts val="9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No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symmetric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approach</a:t>
            </a:r>
            <a:endParaRPr lang="en-US" sz="2000" spc="-10" dirty="0">
              <a:latin typeface="Arial MT"/>
              <a:cs typeface="Arial MT"/>
            </a:endParaRPr>
          </a:p>
          <a:p>
            <a:pPr marL="355600" marR="26670" lvl="3" indent="-342900">
              <a:spcBef>
                <a:spcPts val="9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local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memory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is </a:t>
            </a:r>
            <a:r>
              <a:rPr sz="2000" dirty="0">
                <a:latin typeface="Arial MT"/>
                <a:cs typeface="Arial MT"/>
              </a:rPr>
              <a:t>much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closer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rest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global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memory</a:t>
            </a:r>
            <a:endParaRPr sz="2000" dirty="0">
              <a:latin typeface="Arial MT"/>
              <a:cs typeface="Arial MT"/>
            </a:endParaRPr>
          </a:p>
          <a:p>
            <a:pPr marL="355600" marR="67945" indent="-342900">
              <a:lnSpc>
                <a:spcPct val="100000"/>
              </a:lnSpc>
              <a:spcBef>
                <a:spcPts val="62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Structure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works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very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well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scaling</a:t>
            </a:r>
            <a:endParaRPr sz="2000" dirty="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62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Important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design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to </a:t>
            </a: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local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memory efficiently</a:t>
            </a:r>
            <a:endParaRPr lang="en-US" sz="2000" spc="-10" dirty="0">
              <a:latin typeface="Arial MT"/>
              <a:cs typeface="Arial MT"/>
            </a:endParaRPr>
          </a:p>
          <a:p>
            <a:pPr marL="355600" marR="5080" indent="-342900">
              <a:spcBef>
                <a:spcPts val="62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lang="en-US" sz="2000" spc="-10" dirty="0">
                <a:latin typeface="Arial MT"/>
                <a:cs typeface="Arial MT"/>
              </a:rPr>
              <a:t>cc-NUMA</a:t>
            </a:r>
            <a:endParaRPr lang="en-US" sz="2000" dirty="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62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lang="en-US" sz="2000" dirty="0">
                <a:latin typeface="Arial MT"/>
                <a:cs typeface="Arial MT"/>
              </a:rPr>
              <a:t>Locality aware task scheduling</a:t>
            </a:r>
            <a:endParaRPr sz="20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13471" y="1968753"/>
            <a:ext cx="787400" cy="786765"/>
            <a:chOff x="1513471" y="1968753"/>
            <a:chExt cx="787400" cy="786765"/>
          </a:xfrm>
        </p:grpSpPr>
        <p:sp>
          <p:nvSpPr>
            <p:cNvPr id="5" name="object 5"/>
            <p:cNvSpPr/>
            <p:nvPr/>
          </p:nvSpPr>
          <p:spPr>
            <a:xfrm>
              <a:off x="1526425" y="19809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29" y="333229"/>
                  </a:lnTo>
                  <a:lnTo>
                    <a:pt x="750357" y="287223"/>
                  </a:lnTo>
                  <a:lnTo>
                    <a:pt x="736341" y="243340"/>
                  </a:lnTo>
                  <a:lnTo>
                    <a:pt x="717338" y="201937"/>
                  </a:lnTo>
                  <a:lnTo>
                    <a:pt x="693707" y="163373"/>
                  </a:lnTo>
                  <a:lnTo>
                    <a:pt x="665806" y="128006"/>
                  </a:lnTo>
                  <a:lnTo>
                    <a:pt x="633993" y="96193"/>
                  </a:lnTo>
                  <a:lnTo>
                    <a:pt x="598626" y="68292"/>
                  </a:lnTo>
                  <a:lnTo>
                    <a:pt x="560062" y="44661"/>
                  </a:lnTo>
                  <a:lnTo>
                    <a:pt x="518659" y="25658"/>
                  </a:lnTo>
                  <a:lnTo>
                    <a:pt x="474776" y="11642"/>
                  </a:lnTo>
                  <a:lnTo>
                    <a:pt x="428770" y="2970"/>
                  </a:lnTo>
                  <a:lnTo>
                    <a:pt x="380999" y="0"/>
                  </a:lnTo>
                  <a:lnTo>
                    <a:pt x="333079" y="2970"/>
                  </a:lnTo>
                  <a:lnTo>
                    <a:pt x="286971" y="11642"/>
                  </a:lnTo>
                  <a:lnTo>
                    <a:pt x="243028" y="25658"/>
                  </a:lnTo>
                  <a:lnTo>
                    <a:pt x="201600" y="44661"/>
                  </a:lnTo>
                  <a:lnTo>
                    <a:pt x="163040" y="68292"/>
                  </a:lnTo>
                  <a:lnTo>
                    <a:pt x="127700" y="96193"/>
                  </a:lnTo>
                  <a:lnTo>
                    <a:pt x="95930" y="128006"/>
                  </a:lnTo>
                  <a:lnTo>
                    <a:pt x="68084" y="163373"/>
                  </a:lnTo>
                  <a:lnTo>
                    <a:pt x="44511" y="201937"/>
                  </a:lnTo>
                  <a:lnTo>
                    <a:pt x="25565" y="243340"/>
                  </a:lnTo>
                  <a:lnTo>
                    <a:pt x="11596" y="287223"/>
                  </a:lnTo>
                  <a:lnTo>
                    <a:pt x="2957" y="333229"/>
                  </a:lnTo>
                  <a:lnTo>
                    <a:pt x="0" y="381000"/>
                  </a:lnTo>
                  <a:lnTo>
                    <a:pt x="2957" y="428920"/>
                  </a:lnTo>
                  <a:lnTo>
                    <a:pt x="11596" y="475028"/>
                  </a:lnTo>
                  <a:lnTo>
                    <a:pt x="25565" y="518971"/>
                  </a:lnTo>
                  <a:lnTo>
                    <a:pt x="44511" y="560399"/>
                  </a:lnTo>
                  <a:lnTo>
                    <a:pt x="68084" y="598959"/>
                  </a:lnTo>
                  <a:lnTo>
                    <a:pt x="95930" y="634299"/>
                  </a:lnTo>
                  <a:lnTo>
                    <a:pt x="127700" y="666069"/>
                  </a:lnTo>
                  <a:lnTo>
                    <a:pt x="163040" y="693915"/>
                  </a:lnTo>
                  <a:lnTo>
                    <a:pt x="201600" y="717488"/>
                  </a:lnTo>
                  <a:lnTo>
                    <a:pt x="243028" y="736434"/>
                  </a:lnTo>
                  <a:lnTo>
                    <a:pt x="286971" y="750403"/>
                  </a:lnTo>
                  <a:lnTo>
                    <a:pt x="333079" y="759042"/>
                  </a:lnTo>
                  <a:lnTo>
                    <a:pt x="381000" y="762000"/>
                  </a:lnTo>
                  <a:lnTo>
                    <a:pt x="428770" y="759042"/>
                  </a:lnTo>
                  <a:lnTo>
                    <a:pt x="474776" y="750403"/>
                  </a:lnTo>
                  <a:lnTo>
                    <a:pt x="518659" y="736434"/>
                  </a:lnTo>
                  <a:lnTo>
                    <a:pt x="560062" y="717488"/>
                  </a:lnTo>
                  <a:lnTo>
                    <a:pt x="598626" y="693915"/>
                  </a:lnTo>
                  <a:lnTo>
                    <a:pt x="633993" y="666069"/>
                  </a:lnTo>
                  <a:lnTo>
                    <a:pt x="665806" y="634299"/>
                  </a:lnTo>
                  <a:lnTo>
                    <a:pt x="693707" y="598959"/>
                  </a:lnTo>
                  <a:lnTo>
                    <a:pt x="717338" y="560399"/>
                  </a:lnTo>
                  <a:lnTo>
                    <a:pt x="736341" y="518971"/>
                  </a:lnTo>
                  <a:lnTo>
                    <a:pt x="750357" y="475028"/>
                  </a:lnTo>
                  <a:lnTo>
                    <a:pt x="759029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13471" y="19687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72617"/>
                  </a:lnTo>
                  <a:lnTo>
                    <a:pt x="785622" y="352805"/>
                  </a:lnTo>
                  <a:lnTo>
                    <a:pt x="771841" y="283938"/>
                  </a:lnTo>
                  <a:lnTo>
                    <a:pt x="755261" y="237525"/>
                  </a:lnTo>
                  <a:lnTo>
                    <a:pt x="733263" y="194127"/>
                  </a:lnTo>
                  <a:lnTo>
                    <a:pt x="706276" y="154114"/>
                  </a:lnTo>
                  <a:lnTo>
                    <a:pt x="674730" y="117858"/>
                  </a:lnTo>
                  <a:lnTo>
                    <a:pt x="639054" y="85730"/>
                  </a:lnTo>
                  <a:lnTo>
                    <a:pt x="599679" y="58101"/>
                  </a:lnTo>
                  <a:lnTo>
                    <a:pt x="557032" y="35343"/>
                  </a:lnTo>
                  <a:lnTo>
                    <a:pt x="511545" y="17825"/>
                  </a:lnTo>
                  <a:lnTo>
                    <a:pt x="463646" y="5921"/>
                  </a:lnTo>
                  <a:lnTo>
                    <a:pt x="414528" y="90"/>
                  </a:lnTo>
                  <a:lnTo>
                    <a:pt x="373379" y="0"/>
                  </a:lnTo>
                  <a:lnTo>
                    <a:pt x="323401" y="5895"/>
                  </a:lnTo>
                  <a:lnTo>
                    <a:pt x="275440" y="17813"/>
                  </a:lnTo>
                  <a:lnTo>
                    <a:pt x="229922" y="35378"/>
                  </a:lnTo>
                  <a:lnTo>
                    <a:pt x="187269" y="58210"/>
                  </a:lnTo>
                  <a:lnTo>
                    <a:pt x="147907" y="85931"/>
                  </a:lnTo>
                  <a:lnTo>
                    <a:pt x="112200" y="118232"/>
                  </a:lnTo>
                  <a:lnTo>
                    <a:pt x="80748" y="154529"/>
                  </a:lnTo>
                  <a:lnTo>
                    <a:pt x="53801" y="194649"/>
                  </a:lnTo>
                  <a:lnTo>
                    <a:pt x="31839" y="238146"/>
                  </a:lnTo>
                  <a:lnTo>
                    <a:pt x="15288" y="284641"/>
                  </a:lnTo>
                  <a:lnTo>
                    <a:pt x="4571" y="333755"/>
                  </a:lnTo>
                  <a:lnTo>
                    <a:pt x="761" y="373379"/>
                  </a:lnTo>
                  <a:lnTo>
                    <a:pt x="0" y="393953"/>
                  </a:lnTo>
                  <a:lnTo>
                    <a:pt x="762" y="413765"/>
                  </a:lnTo>
                  <a:lnTo>
                    <a:pt x="4572" y="454151"/>
                  </a:lnTo>
                  <a:lnTo>
                    <a:pt x="20383" y="519205"/>
                  </a:lnTo>
                  <a:lnTo>
                    <a:pt x="25146" y="531085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506" y="288950"/>
                  </a:lnTo>
                  <a:lnTo>
                    <a:pt x="57053" y="243904"/>
                  </a:lnTo>
                  <a:lnTo>
                    <a:pt x="78927" y="202030"/>
                  </a:lnTo>
                  <a:lnTo>
                    <a:pt x="105698" y="163696"/>
                  </a:lnTo>
                  <a:lnTo>
                    <a:pt x="136933" y="129265"/>
                  </a:lnTo>
                  <a:lnTo>
                    <a:pt x="172202" y="99104"/>
                  </a:lnTo>
                  <a:lnTo>
                    <a:pt x="211073" y="73579"/>
                  </a:lnTo>
                  <a:lnTo>
                    <a:pt x="253115" y="53055"/>
                  </a:lnTo>
                  <a:lnTo>
                    <a:pt x="297896" y="37897"/>
                  </a:lnTo>
                  <a:lnTo>
                    <a:pt x="344986" y="28472"/>
                  </a:lnTo>
                  <a:lnTo>
                    <a:pt x="393191" y="25197"/>
                  </a:lnTo>
                  <a:lnTo>
                    <a:pt x="393953" y="25145"/>
                  </a:lnTo>
                  <a:lnTo>
                    <a:pt x="477336" y="34832"/>
                  </a:lnTo>
                  <a:lnTo>
                    <a:pt x="521400" y="47959"/>
                  </a:lnTo>
                  <a:lnTo>
                    <a:pt x="563065" y="66404"/>
                  </a:lnTo>
                  <a:lnTo>
                    <a:pt x="601912" y="89756"/>
                  </a:lnTo>
                  <a:lnTo>
                    <a:pt x="637522" y="117605"/>
                  </a:lnTo>
                  <a:lnTo>
                    <a:pt x="669474" y="149537"/>
                  </a:lnTo>
                  <a:lnTo>
                    <a:pt x="697351" y="185139"/>
                  </a:lnTo>
                  <a:lnTo>
                    <a:pt x="720724" y="223982"/>
                  </a:lnTo>
                  <a:lnTo>
                    <a:pt x="739184" y="265655"/>
                  </a:lnTo>
                  <a:lnTo>
                    <a:pt x="752319" y="309750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64"/>
                  </a:lnTo>
                  <a:lnTo>
                    <a:pt x="769300" y="511511"/>
                  </a:lnTo>
                  <a:lnTo>
                    <a:pt x="781211" y="463624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64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9714" y="431291"/>
                  </a:lnTo>
                  <a:lnTo>
                    <a:pt x="752319" y="477340"/>
                  </a:lnTo>
                  <a:lnTo>
                    <a:pt x="739184" y="521377"/>
                  </a:lnTo>
                  <a:lnTo>
                    <a:pt x="720724" y="563024"/>
                  </a:lnTo>
                  <a:lnTo>
                    <a:pt x="697351" y="601874"/>
                  </a:lnTo>
                  <a:lnTo>
                    <a:pt x="669474" y="637508"/>
                  </a:lnTo>
                  <a:lnTo>
                    <a:pt x="637522" y="669488"/>
                  </a:lnTo>
                  <a:lnTo>
                    <a:pt x="601912" y="697390"/>
                  </a:lnTo>
                  <a:lnTo>
                    <a:pt x="563065" y="720788"/>
                  </a:lnTo>
                  <a:lnTo>
                    <a:pt x="521400" y="739257"/>
                  </a:lnTo>
                  <a:lnTo>
                    <a:pt x="477336" y="752374"/>
                  </a:lnTo>
                  <a:lnTo>
                    <a:pt x="431292" y="759713"/>
                  </a:lnTo>
                  <a:lnTo>
                    <a:pt x="413766" y="761116"/>
                  </a:lnTo>
                  <a:lnTo>
                    <a:pt x="412242" y="761237"/>
                  </a:lnTo>
                  <a:lnTo>
                    <a:pt x="393954" y="761969"/>
                  </a:lnTo>
                  <a:lnTo>
                    <a:pt x="393192" y="761999"/>
                  </a:lnTo>
                  <a:lnTo>
                    <a:pt x="346124" y="758845"/>
                  </a:lnTo>
                  <a:lnTo>
                    <a:pt x="300675" y="749958"/>
                  </a:lnTo>
                  <a:lnTo>
                    <a:pt x="257260" y="735671"/>
                  </a:lnTo>
                  <a:lnTo>
                    <a:pt x="216290" y="716320"/>
                  </a:lnTo>
                  <a:lnTo>
                    <a:pt x="178182" y="692238"/>
                  </a:lnTo>
                  <a:lnTo>
                    <a:pt x="143347" y="663759"/>
                  </a:lnTo>
                  <a:lnTo>
                    <a:pt x="112200" y="631218"/>
                  </a:lnTo>
                  <a:lnTo>
                    <a:pt x="85155" y="594947"/>
                  </a:lnTo>
                  <a:lnTo>
                    <a:pt x="62625" y="555283"/>
                  </a:lnTo>
                  <a:lnTo>
                    <a:pt x="45024" y="512557"/>
                  </a:lnTo>
                  <a:lnTo>
                    <a:pt x="32766" y="467105"/>
                  </a:lnTo>
                  <a:lnTo>
                    <a:pt x="25908" y="412241"/>
                  </a:lnTo>
                  <a:lnTo>
                    <a:pt x="25146" y="393191"/>
                  </a:lnTo>
                  <a:lnTo>
                    <a:pt x="25146" y="531085"/>
                  </a:lnTo>
                  <a:lnTo>
                    <a:pt x="60283" y="603443"/>
                  </a:lnTo>
                  <a:lnTo>
                    <a:pt x="87296" y="640991"/>
                  </a:lnTo>
                  <a:lnTo>
                    <a:pt x="118429" y="675035"/>
                  </a:lnTo>
                  <a:lnTo>
                    <a:pt x="153238" y="705230"/>
                  </a:lnTo>
                  <a:lnTo>
                    <a:pt x="191281" y="731235"/>
                  </a:lnTo>
                  <a:lnTo>
                    <a:pt x="232116" y="752706"/>
                  </a:lnTo>
                  <a:lnTo>
                    <a:pt x="275301" y="769299"/>
                  </a:lnTo>
                  <a:lnTo>
                    <a:pt x="320392" y="780672"/>
                  </a:lnTo>
                  <a:lnTo>
                    <a:pt x="366949" y="786481"/>
                  </a:lnTo>
                  <a:lnTo>
                    <a:pt x="414528" y="786383"/>
                  </a:lnTo>
                  <a:lnTo>
                    <a:pt x="454152" y="782573"/>
                  </a:lnTo>
                  <a:lnTo>
                    <a:pt x="503215" y="771848"/>
                  </a:lnTo>
                  <a:lnTo>
                    <a:pt x="549629" y="755267"/>
                  </a:lnTo>
                  <a:lnTo>
                    <a:pt x="593025" y="733263"/>
                  </a:lnTo>
                  <a:lnTo>
                    <a:pt x="633032" y="706267"/>
                  </a:lnTo>
                  <a:lnTo>
                    <a:pt x="669281" y="674711"/>
                  </a:lnTo>
                  <a:lnTo>
                    <a:pt x="701402" y="639026"/>
                  </a:lnTo>
                  <a:lnTo>
                    <a:pt x="729025" y="599643"/>
                  </a:lnTo>
                  <a:lnTo>
                    <a:pt x="751781" y="556994"/>
                  </a:lnTo>
                  <a:lnTo>
                    <a:pt x="762000" y="5304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51209" y="2210561"/>
            <a:ext cx="311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89871" y="1968753"/>
            <a:ext cx="787400" cy="786765"/>
            <a:chOff x="3189871" y="1968753"/>
            <a:chExt cx="787400" cy="786765"/>
          </a:xfrm>
        </p:grpSpPr>
        <p:sp>
          <p:nvSpPr>
            <p:cNvPr id="9" name="object 9"/>
            <p:cNvSpPr/>
            <p:nvPr/>
          </p:nvSpPr>
          <p:spPr>
            <a:xfrm>
              <a:off x="3202825" y="19809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29" y="333229"/>
                  </a:lnTo>
                  <a:lnTo>
                    <a:pt x="750357" y="287223"/>
                  </a:lnTo>
                  <a:lnTo>
                    <a:pt x="736341" y="243340"/>
                  </a:lnTo>
                  <a:lnTo>
                    <a:pt x="717338" y="201937"/>
                  </a:lnTo>
                  <a:lnTo>
                    <a:pt x="693707" y="163373"/>
                  </a:lnTo>
                  <a:lnTo>
                    <a:pt x="665806" y="128006"/>
                  </a:lnTo>
                  <a:lnTo>
                    <a:pt x="633993" y="96193"/>
                  </a:lnTo>
                  <a:lnTo>
                    <a:pt x="598626" y="68292"/>
                  </a:lnTo>
                  <a:lnTo>
                    <a:pt x="560062" y="44661"/>
                  </a:lnTo>
                  <a:lnTo>
                    <a:pt x="518659" y="25658"/>
                  </a:lnTo>
                  <a:lnTo>
                    <a:pt x="474776" y="11642"/>
                  </a:lnTo>
                  <a:lnTo>
                    <a:pt x="428770" y="2970"/>
                  </a:lnTo>
                  <a:lnTo>
                    <a:pt x="380999" y="0"/>
                  </a:lnTo>
                  <a:lnTo>
                    <a:pt x="333079" y="2970"/>
                  </a:lnTo>
                  <a:lnTo>
                    <a:pt x="286971" y="11642"/>
                  </a:lnTo>
                  <a:lnTo>
                    <a:pt x="243028" y="25658"/>
                  </a:lnTo>
                  <a:lnTo>
                    <a:pt x="201600" y="44661"/>
                  </a:lnTo>
                  <a:lnTo>
                    <a:pt x="163040" y="68292"/>
                  </a:lnTo>
                  <a:lnTo>
                    <a:pt x="127700" y="96193"/>
                  </a:lnTo>
                  <a:lnTo>
                    <a:pt x="95930" y="128006"/>
                  </a:lnTo>
                  <a:lnTo>
                    <a:pt x="68084" y="163373"/>
                  </a:lnTo>
                  <a:lnTo>
                    <a:pt x="44511" y="201937"/>
                  </a:lnTo>
                  <a:lnTo>
                    <a:pt x="25565" y="243340"/>
                  </a:lnTo>
                  <a:lnTo>
                    <a:pt x="11596" y="287223"/>
                  </a:lnTo>
                  <a:lnTo>
                    <a:pt x="2957" y="333229"/>
                  </a:lnTo>
                  <a:lnTo>
                    <a:pt x="0" y="381000"/>
                  </a:lnTo>
                  <a:lnTo>
                    <a:pt x="2957" y="428920"/>
                  </a:lnTo>
                  <a:lnTo>
                    <a:pt x="11596" y="475028"/>
                  </a:lnTo>
                  <a:lnTo>
                    <a:pt x="25565" y="518971"/>
                  </a:lnTo>
                  <a:lnTo>
                    <a:pt x="44511" y="560399"/>
                  </a:lnTo>
                  <a:lnTo>
                    <a:pt x="68084" y="598959"/>
                  </a:lnTo>
                  <a:lnTo>
                    <a:pt x="95930" y="634299"/>
                  </a:lnTo>
                  <a:lnTo>
                    <a:pt x="127700" y="666069"/>
                  </a:lnTo>
                  <a:lnTo>
                    <a:pt x="163040" y="693915"/>
                  </a:lnTo>
                  <a:lnTo>
                    <a:pt x="201600" y="717488"/>
                  </a:lnTo>
                  <a:lnTo>
                    <a:pt x="243028" y="736434"/>
                  </a:lnTo>
                  <a:lnTo>
                    <a:pt x="286971" y="750403"/>
                  </a:lnTo>
                  <a:lnTo>
                    <a:pt x="333079" y="759042"/>
                  </a:lnTo>
                  <a:lnTo>
                    <a:pt x="381000" y="762000"/>
                  </a:lnTo>
                  <a:lnTo>
                    <a:pt x="428770" y="759042"/>
                  </a:lnTo>
                  <a:lnTo>
                    <a:pt x="474776" y="750403"/>
                  </a:lnTo>
                  <a:lnTo>
                    <a:pt x="518659" y="736434"/>
                  </a:lnTo>
                  <a:lnTo>
                    <a:pt x="560062" y="717488"/>
                  </a:lnTo>
                  <a:lnTo>
                    <a:pt x="598626" y="693915"/>
                  </a:lnTo>
                  <a:lnTo>
                    <a:pt x="633993" y="666069"/>
                  </a:lnTo>
                  <a:lnTo>
                    <a:pt x="665806" y="634299"/>
                  </a:lnTo>
                  <a:lnTo>
                    <a:pt x="693707" y="598959"/>
                  </a:lnTo>
                  <a:lnTo>
                    <a:pt x="717338" y="560399"/>
                  </a:lnTo>
                  <a:lnTo>
                    <a:pt x="736341" y="518971"/>
                  </a:lnTo>
                  <a:lnTo>
                    <a:pt x="750357" y="475028"/>
                  </a:lnTo>
                  <a:lnTo>
                    <a:pt x="759029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89871" y="19687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72617"/>
                  </a:lnTo>
                  <a:lnTo>
                    <a:pt x="785622" y="352805"/>
                  </a:lnTo>
                  <a:lnTo>
                    <a:pt x="771841" y="283938"/>
                  </a:lnTo>
                  <a:lnTo>
                    <a:pt x="755261" y="237525"/>
                  </a:lnTo>
                  <a:lnTo>
                    <a:pt x="733263" y="194127"/>
                  </a:lnTo>
                  <a:lnTo>
                    <a:pt x="706276" y="154114"/>
                  </a:lnTo>
                  <a:lnTo>
                    <a:pt x="674730" y="117858"/>
                  </a:lnTo>
                  <a:lnTo>
                    <a:pt x="639054" y="85730"/>
                  </a:lnTo>
                  <a:lnTo>
                    <a:pt x="599679" y="58101"/>
                  </a:lnTo>
                  <a:lnTo>
                    <a:pt x="557032" y="35343"/>
                  </a:lnTo>
                  <a:lnTo>
                    <a:pt x="511545" y="17825"/>
                  </a:lnTo>
                  <a:lnTo>
                    <a:pt x="463646" y="5921"/>
                  </a:lnTo>
                  <a:lnTo>
                    <a:pt x="414528" y="90"/>
                  </a:lnTo>
                  <a:lnTo>
                    <a:pt x="373379" y="0"/>
                  </a:lnTo>
                  <a:lnTo>
                    <a:pt x="323401" y="5895"/>
                  </a:lnTo>
                  <a:lnTo>
                    <a:pt x="275440" y="17813"/>
                  </a:lnTo>
                  <a:lnTo>
                    <a:pt x="229922" y="35378"/>
                  </a:lnTo>
                  <a:lnTo>
                    <a:pt x="187269" y="58210"/>
                  </a:lnTo>
                  <a:lnTo>
                    <a:pt x="147907" y="85931"/>
                  </a:lnTo>
                  <a:lnTo>
                    <a:pt x="112200" y="118232"/>
                  </a:lnTo>
                  <a:lnTo>
                    <a:pt x="80748" y="154529"/>
                  </a:lnTo>
                  <a:lnTo>
                    <a:pt x="53801" y="194649"/>
                  </a:lnTo>
                  <a:lnTo>
                    <a:pt x="31839" y="238146"/>
                  </a:lnTo>
                  <a:lnTo>
                    <a:pt x="15288" y="284641"/>
                  </a:lnTo>
                  <a:lnTo>
                    <a:pt x="4571" y="333755"/>
                  </a:lnTo>
                  <a:lnTo>
                    <a:pt x="761" y="373379"/>
                  </a:lnTo>
                  <a:lnTo>
                    <a:pt x="0" y="393953"/>
                  </a:lnTo>
                  <a:lnTo>
                    <a:pt x="762" y="413765"/>
                  </a:lnTo>
                  <a:lnTo>
                    <a:pt x="4572" y="454151"/>
                  </a:lnTo>
                  <a:lnTo>
                    <a:pt x="20383" y="519205"/>
                  </a:lnTo>
                  <a:lnTo>
                    <a:pt x="25146" y="531085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506" y="288950"/>
                  </a:lnTo>
                  <a:lnTo>
                    <a:pt x="57053" y="243904"/>
                  </a:lnTo>
                  <a:lnTo>
                    <a:pt x="78927" y="202030"/>
                  </a:lnTo>
                  <a:lnTo>
                    <a:pt x="105698" y="163696"/>
                  </a:lnTo>
                  <a:lnTo>
                    <a:pt x="136933" y="129265"/>
                  </a:lnTo>
                  <a:lnTo>
                    <a:pt x="172202" y="99104"/>
                  </a:lnTo>
                  <a:lnTo>
                    <a:pt x="211073" y="73579"/>
                  </a:lnTo>
                  <a:lnTo>
                    <a:pt x="253115" y="53055"/>
                  </a:lnTo>
                  <a:lnTo>
                    <a:pt x="297896" y="37897"/>
                  </a:lnTo>
                  <a:lnTo>
                    <a:pt x="344986" y="28472"/>
                  </a:lnTo>
                  <a:lnTo>
                    <a:pt x="393191" y="25197"/>
                  </a:lnTo>
                  <a:lnTo>
                    <a:pt x="393953" y="25145"/>
                  </a:lnTo>
                  <a:lnTo>
                    <a:pt x="477336" y="34832"/>
                  </a:lnTo>
                  <a:lnTo>
                    <a:pt x="521400" y="47959"/>
                  </a:lnTo>
                  <a:lnTo>
                    <a:pt x="563065" y="66404"/>
                  </a:lnTo>
                  <a:lnTo>
                    <a:pt x="601912" y="89756"/>
                  </a:lnTo>
                  <a:lnTo>
                    <a:pt x="637522" y="117605"/>
                  </a:lnTo>
                  <a:lnTo>
                    <a:pt x="669474" y="149537"/>
                  </a:lnTo>
                  <a:lnTo>
                    <a:pt x="697351" y="185139"/>
                  </a:lnTo>
                  <a:lnTo>
                    <a:pt x="720724" y="223982"/>
                  </a:lnTo>
                  <a:lnTo>
                    <a:pt x="739184" y="265655"/>
                  </a:lnTo>
                  <a:lnTo>
                    <a:pt x="752319" y="309750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64"/>
                  </a:lnTo>
                  <a:lnTo>
                    <a:pt x="769300" y="511511"/>
                  </a:lnTo>
                  <a:lnTo>
                    <a:pt x="781211" y="463624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64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9714" y="431291"/>
                  </a:lnTo>
                  <a:lnTo>
                    <a:pt x="752319" y="477340"/>
                  </a:lnTo>
                  <a:lnTo>
                    <a:pt x="739184" y="521377"/>
                  </a:lnTo>
                  <a:lnTo>
                    <a:pt x="720724" y="563024"/>
                  </a:lnTo>
                  <a:lnTo>
                    <a:pt x="697351" y="601874"/>
                  </a:lnTo>
                  <a:lnTo>
                    <a:pt x="669474" y="637508"/>
                  </a:lnTo>
                  <a:lnTo>
                    <a:pt x="637522" y="669488"/>
                  </a:lnTo>
                  <a:lnTo>
                    <a:pt x="601912" y="697390"/>
                  </a:lnTo>
                  <a:lnTo>
                    <a:pt x="563065" y="720788"/>
                  </a:lnTo>
                  <a:lnTo>
                    <a:pt x="521400" y="739257"/>
                  </a:lnTo>
                  <a:lnTo>
                    <a:pt x="477336" y="752374"/>
                  </a:lnTo>
                  <a:lnTo>
                    <a:pt x="431292" y="759713"/>
                  </a:lnTo>
                  <a:lnTo>
                    <a:pt x="413766" y="761116"/>
                  </a:lnTo>
                  <a:lnTo>
                    <a:pt x="412242" y="761237"/>
                  </a:lnTo>
                  <a:lnTo>
                    <a:pt x="393954" y="761969"/>
                  </a:lnTo>
                  <a:lnTo>
                    <a:pt x="393192" y="761999"/>
                  </a:lnTo>
                  <a:lnTo>
                    <a:pt x="346124" y="758845"/>
                  </a:lnTo>
                  <a:lnTo>
                    <a:pt x="300675" y="749958"/>
                  </a:lnTo>
                  <a:lnTo>
                    <a:pt x="257260" y="735671"/>
                  </a:lnTo>
                  <a:lnTo>
                    <a:pt x="216290" y="716320"/>
                  </a:lnTo>
                  <a:lnTo>
                    <a:pt x="178182" y="692238"/>
                  </a:lnTo>
                  <a:lnTo>
                    <a:pt x="143347" y="663759"/>
                  </a:lnTo>
                  <a:lnTo>
                    <a:pt x="112200" y="631218"/>
                  </a:lnTo>
                  <a:lnTo>
                    <a:pt x="85155" y="594947"/>
                  </a:lnTo>
                  <a:lnTo>
                    <a:pt x="62625" y="555283"/>
                  </a:lnTo>
                  <a:lnTo>
                    <a:pt x="45024" y="512557"/>
                  </a:lnTo>
                  <a:lnTo>
                    <a:pt x="32766" y="467105"/>
                  </a:lnTo>
                  <a:lnTo>
                    <a:pt x="25908" y="412241"/>
                  </a:lnTo>
                  <a:lnTo>
                    <a:pt x="25146" y="393191"/>
                  </a:lnTo>
                  <a:lnTo>
                    <a:pt x="25146" y="531085"/>
                  </a:lnTo>
                  <a:lnTo>
                    <a:pt x="60283" y="603443"/>
                  </a:lnTo>
                  <a:lnTo>
                    <a:pt x="87296" y="640991"/>
                  </a:lnTo>
                  <a:lnTo>
                    <a:pt x="118429" y="675035"/>
                  </a:lnTo>
                  <a:lnTo>
                    <a:pt x="153238" y="705230"/>
                  </a:lnTo>
                  <a:lnTo>
                    <a:pt x="191281" y="731235"/>
                  </a:lnTo>
                  <a:lnTo>
                    <a:pt x="232116" y="752706"/>
                  </a:lnTo>
                  <a:lnTo>
                    <a:pt x="275301" y="769299"/>
                  </a:lnTo>
                  <a:lnTo>
                    <a:pt x="320392" y="780672"/>
                  </a:lnTo>
                  <a:lnTo>
                    <a:pt x="366949" y="786481"/>
                  </a:lnTo>
                  <a:lnTo>
                    <a:pt x="414528" y="786383"/>
                  </a:lnTo>
                  <a:lnTo>
                    <a:pt x="454152" y="782573"/>
                  </a:lnTo>
                  <a:lnTo>
                    <a:pt x="503215" y="771848"/>
                  </a:lnTo>
                  <a:lnTo>
                    <a:pt x="549629" y="755267"/>
                  </a:lnTo>
                  <a:lnTo>
                    <a:pt x="593025" y="733263"/>
                  </a:lnTo>
                  <a:lnTo>
                    <a:pt x="633032" y="706267"/>
                  </a:lnTo>
                  <a:lnTo>
                    <a:pt x="669281" y="674711"/>
                  </a:lnTo>
                  <a:lnTo>
                    <a:pt x="701402" y="639026"/>
                  </a:lnTo>
                  <a:lnTo>
                    <a:pt x="729025" y="599643"/>
                  </a:lnTo>
                  <a:lnTo>
                    <a:pt x="751781" y="556994"/>
                  </a:lnTo>
                  <a:lnTo>
                    <a:pt x="762000" y="5304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401701" y="2210561"/>
            <a:ext cx="362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m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361071" y="2959354"/>
            <a:ext cx="1016000" cy="406400"/>
            <a:chOff x="1361071" y="2959354"/>
            <a:chExt cx="1016000" cy="406400"/>
          </a:xfrm>
        </p:grpSpPr>
        <p:sp>
          <p:nvSpPr>
            <p:cNvPr id="13" name="object 13"/>
            <p:cNvSpPr/>
            <p:nvPr/>
          </p:nvSpPr>
          <p:spPr>
            <a:xfrm>
              <a:off x="1374025" y="29715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61071" y="29593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954" y="406146"/>
                  </a:lnTo>
                  <a:lnTo>
                    <a:pt x="12954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990600" y="25146"/>
                  </a:lnTo>
                  <a:lnTo>
                    <a:pt x="990600" y="12192"/>
                  </a:lnTo>
                  <a:lnTo>
                    <a:pt x="1003554" y="25146"/>
                  </a:lnTo>
                  <a:lnTo>
                    <a:pt x="1003554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954" y="25146"/>
                  </a:lnTo>
                  <a:lnTo>
                    <a:pt x="25146" y="25146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954" y="25146"/>
                  </a:lnTo>
                  <a:lnTo>
                    <a:pt x="12954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3554" y="381000"/>
                  </a:moveTo>
                  <a:lnTo>
                    <a:pt x="12954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2"/>
                  </a:lnTo>
                  <a:lnTo>
                    <a:pt x="1003554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954" y="381000"/>
                  </a:lnTo>
                  <a:lnTo>
                    <a:pt x="12954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3554" y="25146"/>
                  </a:moveTo>
                  <a:lnTo>
                    <a:pt x="990600" y="12192"/>
                  </a:lnTo>
                  <a:lnTo>
                    <a:pt x="990600" y="25146"/>
                  </a:lnTo>
                  <a:lnTo>
                    <a:pt x="1003554" y="25146"/>
                  </a:lnTo>
                  <a:close/>
                </a:path>
                <a:path w="1016000" h="406400">
                  <a:moveTo>
                    <a:pt x="1003554" y="381000"/>
                  </a:moveTo>
                  <a:lnTo>
                    <a:pt x="1003554" y="25146"/>
                  </a:lnTo>
                  <a:lnTo>
                    <a:pt x="990600" y="25146"/>
                  </a:lnTo>
                  <a:lnTo>
                    <a:pt x="990600" y="381000"/>
                  </a:lnTo>
                  <a:lnTo>
                    <a:pt x="1003554" y="381000"/>
                  </a:lnTo>
                  <a:close/>
                </a:path>
                <a:path w="1016000" h="406400">
                  <a:moveTo>
                    <a:pt x="1003554" y="406146"/>
                  </a:moveTo>
                  <a:lnTo>
                    <a:pt x="1003554" y="381000"/>
                  </a:lnTo>
                  <a:lnTo>
                    <a:pt x="990600" y="393192"/>
                  </a:lnTo>
                  <a:lnTo>
                    <a:pt x="990600" y="406146"/>
                  </a:lnTo>
                  <a:lnTo>
                    <a:pt x="1003554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07623" y="30106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99071" y="3721353"/>
            <a:ext cx="1092200" cy="406400"/>
            <a:chOff x="599071" y="3721353"/>
            <a:chExt cx="1092200" cy="406400"/>
          </a:xfrm>
        </p:grpSpPr>
        <p:sp>
          <p:nvSpPr>
            <p:cNvPr id="17" name="object 17"/>
            <p:cNvSpPr/>
            <p:nvPr/>
          </p:nvSpPr>
          <p:spPr>
            <a:xfrm>
              <a:off x="612025" y="3733545"/>
              <a:ext cx="1066800" cy="381000"/>
            </a:xfrm>
            <a:custGeom>
              <a:avLst/>
              <a:gdLst/>
              <a:ahLst/>
              <a:cxnLst/>
              <a:rect l="l" t="t" r="r" b="b"/>
              <a:pathLst>
                <a:path w="1066800" h="381000">
                  <a:moveTo>
                    <a:pt x="1066800" y="381000"/>
                  </a:moveTo>
                  <a:lnTo>
                    <a:pt x="10668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10668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9071" y="3721353"/>
              <a:ext cx="1092200" cy="406400"/>
            </a:xfrm>
            <a:custGeom>
              <a:avLst/>
              <a:gdLst/>
              <a:ahLst/>
              <a:cxnLst/>
              <a:rect l="l" t="t" r="r" b="b"/>
              <a:pathLst>
                <a:path w="1092200" h="406400">
                  <a:moveTo>
                    <a:pt x="1091946" y="406146"/>
                  </a:moveTo>
                  <a:lnTo>
                    <a:pt x="10919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954" y="406146"/>
                  </a:lnTo>
                  <a:lnTo>
                    <a:pt x="12953" y="25146"/>
                  </a:lnTo>
                  <a:lnTo>
                    <a:pt x="25145" y="12192"/>
                  </a:lnTo>
                  <a:lnTo>
                    <a:pt x="25145" y="25146"/>
                  </a:lnTo>
                  <a:lnTo>
                    <a:pt x="1066800" y="25146"/>
                  </a:lnTo>
                  <a:lnTo>
                    <a:pt x="1066800" y="12192"/>
                  </a:lnTo>
                  <a:lnTo>
                    <a:pt x="1079754" y="25146"/>
                  </a:lnTo>
                  <a:lnTo>
                    <a:pt x="1079754" y="406146"/>
                  </a:lnTo>
                  <a:lnTo>
                    <a:pt x="1091946" y="406146"/>
                  </a:lnTo>
                  <a:close/>
                </a:path>
                <a:path w="1092200" h="406400">
                  <a:moveTo>
                    <a:pt x="25145" y="25146"/>
                  </a:moveTo>
                  <a:lnTo>
                    <a:pt x="25145" y="12192"/>
                  </a:lnTo>
                  <a:lnTo>
                    <a:pt x="12953" y="25146"/>
                  </a:lnTo>
                  <a:lnTo>
                    <a:pt x="25145" y="25146"/>
                  </a:lnTo>
                  <a:close/>
                </a:path>
                <a:path w="1092200" h="406400">
                  <a:moveTo>
                    <a:pt x="25146" y="381000"/>
                  </a:moveTo>
                  <a:lnTo>
                    <a:pt x="25145" y="25146"/>
                  </a:lnTo>
                  <a:lnTo>
                    <a:pt x="12953" y="25146"/>
                  </a:lnTo>
                  <a:lnTo>
                    <a:pt x="12954" y="381000"/>
                  </a:lnTo>
                  <a:lnTo>
                    <a:pt x="25146" y="381000"/>
                  </a:lnTo>
                  <a:close/>
                </a:path>
                <a:path w="1092200" h="406400">
                  <a:moveTo>
                    <a:pt x="1079754" y="381000"/>
                  </a:moveTo>
                  <a:lnTo>
                    <a:pt x="12954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1066800" y="406146"/>
                  </a:lnTo>
                  <a:lnTo>
                    <a:pt x="1066800" y="393192"/>
                  </a:lnTo>
                  <a:lnTo>
                    <a:pt x="1079754" y="381000"/>
                  </a:lnTo>
                  <a:close/>
                </a:path>
                <a:path w="10922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954" y="381000"/>
                  </a:lnTo>
                  <a:lnTo>
                    <a:pt x="12954" y="406146"/>
                  </a:lnTo>
                  <a:lnTo>
                    <a:pt x="25146" y="406146"/>
                  </a:lnTo>
                  <a:close/>
                </a:path>
                <a:path w="1092200" h="406400">
                  <a:moveTo>
                    <a:pt x="1079754" y="25146"/>
                  </a:moveTo>
                  <a:lnTo>
                    <a:pt x="1066800" y="12192"/>
                  </a:lnTo>
                  <a:lnTo>
                    <a:pt x="1066800" y="25146"/>
                  </a:lnTo>
                  <a:lnTo>
                    <a:pt x="1079754" y="25146"/>
                  </a:lnTo>
                  <a:close/>
                </a:path>
                <a:path w="1092200" h="406400">
                  <a:moveTo>
                    <a:pt x="1079754" y="381000"/>
                  </a:moveTo>
                  <a:lnTo>
                    <a:pt x="1079754" y="25146"/>
                  </a:lnTo>
                  <a:lnTo>
                    <a:pt x="1066800" y="25146"/>
                  </a:lnTo>
                  <a:lnTo>
                    <a:pt x="1066800" y="381000"/>
                  </a:lnTo>
                  <a:lnTo>
                    <a:pt x="1079754" y="381000"/>
                  </a:lnTo>
                  <a:close/>
                </a:path>
                <a:path w="1092200" h="406400">
                  <a:moveTo>
                    <a:pt x="1079754" y="406146"/>
                  </a:moveTo>
                  <a:lnTo>
                    <a:pt x="1079754" y="381000"/>
                  </a:lnTo>
                  <a:lnTo>
                    <a:pt x="1066800" y="393192"/>
                  </a:lnTo>
                  <a:lnTo>
                    <a:pt x="1066800" y="406146"/>
                  </a:lnTo>
                  <a:lnTo>
                    <a:pt x="1079754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70947" y="3772661"/>
            <a:ext cx="948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894471" y="2349626"/>
            <a:ext cx="2235200" cy="2298700"/>
            <a:chOff x="1894471" y="2349626"/>
            <a:chExt cx="2235200" cy="2298700"/>
          </a:xfrm>
        </p:grpSpPr>
        <p:sp>
          <p:nvSpPr>
            <p:cNvPr id="21" name="object 21"/>
            <p:cNvSpPr/>
            <p:nvPr/>
          </p:nvSpPr>
          <p:spPr>
            <a:xfrm>
              <a:off x="1894471" y="2742945"/>
              <a:ext cx="1701800" cy="1905000"/>
            </a:xfrm>
            <a:custGeom>
              <a:avLst/>
              <a:gdLst/>
              <a:ahLst/>
              <a:cxnLst/>
              <a:rect l="l" t="t" r="r" b="b"/>
              <a:pathLst>
                <a:path w="1701800" h="1905000">
                  <a:moveTo>
                    <a:pt x="25146" y="609600"/>
                  </a:moveTo>
                  <a:lnTo>
                    <a:pt x="0" y="609600"/>
                  </a:lnTo>
                  <a:lnTo>
                    <a:pt x="0" y="1905000"/>
                  </a:lnTo>
                  <a:lnTo>
                    <a:pt x="25146" y="1905000"/>
                  </a:lnTo>
                  <a:lnTo>
                    <a:pt x="25146" y="609600"/>
                  </a:lnTo>
                  <a:close/>
                </a:path>
                <a:path w="1701800" h="19050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  <a:path w="1701800" h="1905000">
                  <a:moveTo>
                    <a:pt x="1701546" y="609600"/>
                  </a:moveTo>
                  <a:lnTo>
                    <a:pt x="1676400" y="609600"/>
                  </a:lnTo>
                  <a:lnTo>
                    <a:pt x="1676400" y="1524000"/>
                  </a:lnTo>
                  <a:lnTo>
                    <a:pt x="1701546" y="1524000"/>
                  </a:lnTo>
                  <a:lnTo>
                    <a:pt x="1701546" y="609600"/>
                  </a:lnTo>
                  <a:close/>
                </a:path>
                <a:path w="1701800" h="1905000">
                  <a:moveTo>
                    <a:pt x="1701546" y="0"/>
                  </a:moveTo>
                  <a:lnTo>
                    <a:pt x="1676400" y="0"/>
                  </a:lnTo>
                  <a:lnTo>
                    <a:pt x="1676400" y="228600"/>
                  </a:lnTo>
                  <a:lnTo>
                    <a:pt x="1701546" y="228600"/>
                  </a:lnTo>
                  <a:lnTo>
                    <a:pt x="17015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88425" y="2362326"/>
              <a:ext cx="889000" cy="0"/>
            </a:xfrm>
            <a:custGeom>
              <a:avLst/>
              <a:gdLst/>
              <a:ahLst/>
              <a:cxnLst/>
              <a:rect l="l" t="t" r="r" b="b"/>
              <a:pathLst>
                <a:path w="889000">
                  <a:moveTo>
                    <a:pt x="0" y="0"/>
                  </a:moveTo>
                  <a:lnTo>
                    <a:pt x="888492" y="0"/>
                  </a:lnTo>
                </a:path>
              </a:pathLst>
            </a:custGeom>
            <a:ln w="2514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126625" y="29715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13671" y="29593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953" y="406146"/>
                  </a:lnTo>
                  <a:lnTo>
                    <a:pt x="12953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990600" y="25146"/>
                  </a:lnTo>
                  <a:lnTo>
                    <a:pt x="990600" y="12192"/>
                  </a:lnTo>
                  <a:lnTo>
                    <a:pt x="1003553" y="25146"/>
                  </a:lnTo>
                  <a:lnTo>
                    <a:pt x="1003553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953" y="25146"/>
                  </a:lnTo>
                  <a:lnTo>
                    <a:pt x="25146" y="25146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953" y="25146"/>
                  </a:lnTo>
                  <a:lnTo>
                    <a:pt x="12953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3553" y="381000"/>
                  </a:moveTo>
                  <a:lnTo>
                    <a:pt x="12953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2"/>
                  </a:lnTo>
                  <a:lnTo>
                    <a:pt x="1003553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953" y="381000"/>
                  </a:lnTo>
                  <a:lnTo>
                    <a:pt x="12953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3553" y="25146"/>
                  </a:moveTo>
                  <a:lnTo>
                    <a:pt x="990600" y="12192"/>
                  </a:lnTo>
                  <a:lnTo>
                    <a:pt x="990600" y="25146"/>
                  </a:lnTo>
                  <a:lnTo>
                    <a:pt x="1003553" y="25146"/>
                  </a:lnTo>
                  <a:close/>
                </a:path>
                <a:path w="1016000" h="406400">
                  <a:moveTo>
                    <a:pt x="1003553" y="381000"/>
                  </a:moveTo>
                  <a:lnTo>
                    <a:pt x="1003553" y="25146"/>
                  </a:lnTo>
                  <a:lnTo>
                    <a:pt x="990600" y="25146"/>
                  </a:lnTo>
                  <a:lnTo>
                    <a:pt x="990600" y="381000"/>
                  </a:lnTo>
                  <a:lnTo>
                    <a:pt x="1003553" y="381000"/>
                  </a:lnTo>
                  <a:close/>
                </a:path>
                <a:path w="1016000" h="406400">
                  <a:moveTo>
                    <a:pt x="1003553" y="406146"/>
                  </a:moveTo>
                  <a:lnTo>
                    <a:pt x="1003553" y="381000"/>
                  </a:lnTo>
                  <a:lnTo>
                    <a:pt x="990600" y="393192"/>
                  </a:lnTo>
                  <a:lnTo>
                    <a:pt x="990600" y="406146"/>
                  </a:lnTo>
                  <a:lnTo>
                    <a:pt x="1003553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260223" y="30106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513471" y="3168776"/>
            <a:ext cx="2387600" cy="2101850"/>
            <a:chOff x="1513471" y="3168776"/>
            <a:chExt cx="2387600" cy="2101850"/>
          </a:xfrm>
        </p:grpSpPr>
        <p:sp>
          <p:nvSpPr>
            <p:cNvPr id="27" name="object 27"/>
            <p:cNvSpPr/>
            <p:nvPr/>
          </p:nvSpPr>
          <p:spPr>
            <a:xfrm>
              <a:off x="2364625" y="3181476"/>
              <a:ext cx="736600" cy="0"/>
            </a:xfrm>
            <a:custGeom>
              <a:avLst/>
              <a:gdLst/>
              <a:ahLst/>
              <a:cxnLst/>
              <a:rect l="l" t="t" r="r" b="b"/>
              <a:pathLst>
                <a:path w="736600">
                  <a:moveTo>
                    <a:pt x="0" y="0"/>
                  </a:moveTo>
                  <a:lnTo>
                    <a:pt x="736091" y="0"/>
                  </a:lnTo>
                </a:path>
              </a:pathLst>
            </a:custGeom>
            <a:ln w="2514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26425" y="4647945"/>
              <a:ext cx="2362200" cy="609600"/>
            </a:xfrm>
            <a:custGeom>
              <a:avLst/>
              <a:gdLst/>
              <a:ahLst/>
              <a:cxnLst/>
              <a:rect l="l" t="t" r="r" b="b"/>
              <a:pathLst>
                <a:path w="2362200" h="609600">
                  <a:moveTo>
                    <a:pt x="2362200" y="6096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609600"/>
                  </a:lnTo>
                  <a:lnTo>
                    <a:pt x="2362200" y="609600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13471" y="4635753"/>
              <a:ext cx="2387600" cy="635000"/>
            </a:xfrm>
            <a:custGeom>
              <a:avLst/>
              <a:gdLst/>
              <a:ahLst/>
              <a:cxnLst/>
              <a:rect l="l" t="t" r="r" b="b"/>
              <a:pathLst>
                <a:path w="2387600" h="635000">
                  <a:moveTo>
                    <a:pt x="2387345" y="6347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634746"/>
                  </a:lnTo>
                  <a:lnTo>
                    <a:pt x="12954" y="634746"/>
                  </a:lnTo>
                  <a:lnTo>
                    <a:pt x="12954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199" y="25146"/>
                  </a:lnTo>
                  <a:lnTo>
                    <a:pt x="2362199" y="12192"/>
                  </a:lnTo>
                  <a:lnTo>
                    <a:pt x="2375153" y="25146"/>
                  </a:lnTo>
                  <a:lnTo>
                    <a:pt x="2375153" y="634746"/>
                  </a:lnTo>
                  <a:lnTo>
                    <a:pt x="2387345" y="634746"/>
                  </a:lnTo>
                  <a:close/>
                </a:path>
                <a:path w="2387600" h="635000">
                  <a:moveTo>
                    <a:pt x="25146" y="25146"/>
                  </a:moveTo>
                  <a:lnTo>
                    <a:pt x="25146" y="12192"/>
                  </a:lnTo>
                  <a:lnTo>
                    <a:pt x="12954" y="25146"/>
                  </a:lnTo>
                  <a:lnTo>
                    <a:pt x="25146" y="25146"/>
                  </a:lnTo>
                  <a:close/>
                </a:path>
                <a:path w="2387600" h="635000">
                  <a:moveTo>
                    <a:pt x="25146" y="609600"/>
                  </a:moveTo>
                  <a:lnTo>
                    <a:pt x="25146" y="25146"/>
                  </a:lnTo>
                  <a:lnTo>
                    <a:pt x="12954" y="25146"/>
                  </a:lnTo>
                  <a:lnTo>
                    <a:pt x="12954" y="609600"/>
                  </a:lnTo>
                  <a:lnTo>
                    <a:pt x="25146" y="609600"/>
                  </a:lnTo>
                  <a:close/>
                </a:path>
                <a:path w="2387600" h="635000">
                  <a:moveTo>
                    <a:pt x="2375153" y="609600"/>
                  </a:moveTo>
                  <a:lnTo>
                    <a:pt x="12954" y="609600"/>
                  </a:lnTo>
                  <a:lnTo>
                    <a:pt x="25146" y="621792"/>
                  </a:lnTo>
                  <a:lnTo>
                    <a:pt x="25145" y="634746"/>
                  </a:lnTo>
                  <a:lnTo>
                    <a:pt x="2362199" y="634746"/>
                  </a:lnTo>
                  <a:lnTo>
                    <a:pt x="2362199" y="621792"/>
                  </a:lnTo>
                  <a:lnTo>
                    <a:pt x="2375153" y="609600"/>
                  </a:lnTo>
                  <a:close/>
                </a:path>
                <a:path w="2387600" h="635000">
                  <a:moveTo>
                    <a:pt x="25145" y="634746"/>
                  </a:moveTo>
                  <a:lnTo>
                    <a:pt x="25146" y="621792"/>
                  </a:lnTo>
                  <a:lnTo>
                    <a:pt x="12954" y="609600"/>
                  </a:lnTo>
                  <a:lnTo>
                    <a:pt x="12954" y="634746"/>
                  </a:lnTo>
                  <a:lnTo>
                    <a:pt x="25145" y="634746"/>
                  </a:lnTo>
                  <a:close/>
                </a:path>
                <a:path w="2387600" h="635000">
                  <a:moveTo>
                    <a:pt x="2375153" y="25146"/>
                  </a:moveTo>
                  <a:lnTo>
                    <a:pt x="2362199" y="12192"/>
                  </a:lnTo>
                  <a:lnTo>
                    <a:pt x="2362199" y="25146"/>
                  </a:lnTo>
                  <a:lnTo>
                    <a:pt x="2375153" y="25146"/>
                  </a:lnTo>
                  <a:close/>
                </a:path>
                <a:path w="2387600" h="635000">
                  <a:moveTo>
                    <a:pt x="2375153" y="609600"/>
                  </a:moveTo>
                  <a:lnTo>
                    <a:pt x="2375153" y="25146"/>
                  </a:lnTo>
                  <a:lnTo>
                    <a:pt x="2362199" y="25146"/>
                  </a:lnTo>
                  <a:lnTo>
                    <a:pt x="2362199" y="609600"/>
                  </a:lnTo>
                  <a:lnTo>
                    <a:pt x="2375153" y="609600"/>
                  </a:lnTo>
                  <a:close/>
                </a:path>
                <a:path w="2387600" h="635000">
                  <a:moveTo>
                    <a:pt x="2375153" y="634746"/>
                  </a:moveTo>
                  <a:lnTo>
                    <a:pt x="2375153" y="609600"/>
                  </a:lnTo>
                  <a:lnTo>
                    <a:pt x="2362199" y="621792"/>
                  </a:lnTo>
                  <a:lnTo>
                    <a:pt x="2362199" y="634746"/>
                  </a:lnTo>
                  <a:lnTo>
                    <a:pt x="2375153" y="6347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792611" y="4664202"/>
            <a:ext cx="182816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6245" marR="5080" indent="-4241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Interconnection Network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275471" y="3721353"/>
            <a:ext cx="1320800" cy="927100"/>
            <a:chOff x="2275471" y="3721353"/>
            <a:chExt cx="1320800" cy="927100"/>
          </a:xfrm>
        </p:grpSpPr>
        <p:sp>
          <p:nvSpPr>
            <p:cNvPr id="32" name="object 32"/>
            <p:cNvSpPr/>
            <p:nvPr/>
          </p:nvSpPr>
          <p:spPr>
            <a:xfrm>
              <a:off x="3570871" y="4266945"/>
              <a:ext cx="25400" cy="381000"/>
            </a:xfrm>
            <a:custGeom>
              <a:avLst/>
              <a:gdLst/>
              <a:ahLst/>
              <a:cxnLst/>
              <a:rect l="l" t="t" r="r" b="b"/>
              <a:pathLst>
                <a:path w="25400" h="381000">
                  <a:moveTo>
                    <a:pt x="25146" y="381000"/>
                  </a:moveTo>
                  <a:lnTo>
                    <a:pt x="25146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5146" y="381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288425" y="3733545"/>
              <a:ext cx="1066800" cy="381000"/>
            </a:xfrm>
            <a:custGeom>
              <a:avLst/>
              <a:gdLst/>
              <a:ahLst/>
              <a:cxnLst/>
              <a:rect l="l" t="t" r="r" b="b"/>
              <a:pathLst>
                <a:path w="1066800" h="381000">
                  <a:moveTo>
                    <a:pt x="1066800" y="381000"/>
                  </a:moveTo>
                  <a:lnTo>
                    <a:pt x="10668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10668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75471" y="3721353"/>
              <a:ext cx="1092200" cy="406400"/>
            </a:xfrm>
            <a:custGeom>
              <a:avLst/>
              <a:gdLst/>
              <a:ahLst/>
              <a:cxnLst/>
              <a:rect l="l" t="t" r="r" b="b"/>
              <a:pathLst>
                <a:path w="1092200" h="406400">
                  <a:moveTo>
                    <a:pt x="1091945" y="406146"/>
                  </a:moveTo>
                  <a:lnTo>
                    <a:pt x="10919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954" y="406146"/>
                  </a:lnTo>
                  <a:lnTo>
                    <a:pt x="12954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1066799" y="25146"/>
                  </a:lnTo>
                  <a:lnTo>
                    <a:pt x="1066799" y="12192"/>
                  </a:lnTo>
                  <a:lnTo>
                    <a:pt x="1079753" y="25146"/>
                  </a:lnTo>
                  <a:lnTo>
                    <a:pt x="1079753" y="406146"/>
                  </a:lnTo>
                  <a:lnTo>
                    <a:pt x="1091945" y="406146"/>
                  </a:lnTo>
                  <a:close/>
                </a:path>
                <a:path w="10922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954" y="25146"/>
                  </a:lnTo>
                  <a:lnTo>
                    <a:pt x="25146" y="25146"/>
                  </a:lnTo>
                  <a:close/>
                </a:path>
                <a:path w="10922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954" y="25146"/>
                  </a:lnTo>
                  <a:lnTo>
                    <a:pt x="12954" y="381000"/>
                  </a:lnTo>
                  <a:lnTo>
                    <a:pt x="25146" y="381000"/>
                  </a:lnTo>
                  <a:close/>
                </a:path>
                <a:path w="1092200" h="406400">
                  <a:moveTo>
                    <a:pt x="1079753" y="381000"/>
                  </a:moveTo>
                  <a:lnTo>
                    <a:pt x="12954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1066799" y="406146"/>
                  </a:lnTo>
                  <a:lnTo>
                    <a:pt x="1066799" y="393192"/>
                  </a:lnTo>
                  <a:lnTo>
                    <a:pt x="1079753" y="381000"/>
                  </a:lnTo>
                  <a:close/>
                </a:path>
                <a:path w="10922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954" y="381000"/>
                  </a:lnTo>
                  <a:lnTo>
                    <a:pt x="12954" y="406146"/>
                  </a:lnTo>
                  <a:lnTo>
                    <a:pt x="25146" y="406146"/>
                  </a:lnTo>
                  <a:close/>
                </a:path>
                <a:path w="1092200" h="406400">
                  <a:moveTo>
                    <a:pt x="1079753" y="25146"/>
                  </a:moveTo>
                  <a:lnTo>
                    <a:pt x="1066799" y="12192"/>
                  </a:lnTo>
                  <a:lnTo>
                    <a:pt x="1066799" y="25146"/>
                  </a:lnTo>
                  <a:lnTo>
                    <a:pt x="1079753" y="25146"/>
                  </a:lnTo>
                  <a:close/>
                </a:path>
                <a:path w="1092200" h="406400">
                  <a:moveTo>
                    <a:pt x="1079753" y="381000"/>
                  </a:moveTo>
                  <a:lnTo>
                    <a:pt x="1079753" y="25146"/>
                  </a:lnTo>
                  <a:lnTo>
                    <a:pt x="1066799" y="25146"/>
                  </a:lnTo>
                  <a:lnTo>
                    <a:pt x="1066799" y="381000"/>
                  </a:lnTo>
                  <a:lnTo>
                    <a:pt x="1079753" y="381000"/>
                  </a:lnTo>
                  <a:close/>
                </a:path>
                <a:path w="1092200" h="406400">
                  <a:moveTo>
                    <a:pt x="1079753" y="406146"/>
                  </a:moveTo>
                  <a:lnTo>
                    <a:pt x="1079753" y="381000"/>
                  </a:lnTo>
                  <a:lnTo>
                    <a:pt x="1066799" y="393192"/>
                  </a:lnTo>
                  <a:lnTo>
                    <a:pt x="1066799" y="406146"/>
                  </a:lnTo>
                  <a:lnTo>
                    <a:pt x="1079753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347347" y="3772661"/>
            <a:ext cx="948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678825" y="3949953"/>
            <a:ext cx="1905000" cy="25400"/>
            <a:chOff x="1678825" y="3949953"/>
            <a:chExt cx="1905000" cy="25400"/>
          </a:xfrm>
        </p:grpSpPr>
        <p:sp>
          <p:nvSpPr>
            <p:cNvPr id="37" name="object 37"/>
            <p:cNvSpPr/>
            <p:nvPr/>
          </p:nvSpPr>
          <p:spPr>
            <a:xfrm>
              <a:off x="1678825" y="3949953"/>
              <a:ext cx="1905000" cy="25400"/>
            </a:xfrm>
            <a:custGeom>
              <a:avLst/>
              <a:gdLst/>
              <a:ahLst/>
              <a:cxnLst/>
              <a:rect l="l" t="t" r="r" b="b"/>
              <a:pathLst>
                <a:path w="1905000" h="25400">
                  <a:moveTo>
                    <a:pt x="228600" y="0"/>
                  </a:moveTo>
                  <a:lnTo>
                    <a:pt x="0" y="0"/>
                  </a:lnTo>
                  <a:lnTo>
                    <a:pt x="0" y="25146"/>
                  </a:lnTo>
                  <a:lnTo>
                    <a:pt x="228600" y="25146"/>
                  </a:lnTo>
                  <a:lnTo>
                    <a:pt x="228600" y="0"/>
                  </a:lnTo>
                  <a:close/>
                </a:path>
                <a:path w="1905000" h="25400">
                  <a:moveTo>
                    <a:pt x="1905000" y="0"/>
                  </a:moveTo>
                  <a:lnTo>
                    <a:pt x="1676400" y="0"/>
                  </a:lnTo>
                  <a:lnTo>
                    <a:pt x="1676400" y="25146"/>
                  </a:lnTo>
                  <a:lnTo>
                    <a:pt x="1905000" y="25146"/>
                  </a:lnTo>
                  <a:lnTo>
                    <a:pt x="1905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907425" y="3962526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2514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8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ARM’s</a:t>
            </a:r>
            <a:r>
              <a:rPr spc="-100" dirty="0"/>
              <a:t> </a:t>
            </a:r>
            <a:r>
              <a:rPr spc="-30" dirty="0"/>
              <a:t>Cortex-</a:t>
            </a:r>
            <a:r>
              <a:rPr spc="-25" dirty="0"/>
              <a:t>A9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773" y="6302109"/>
            <a:ext cx="8045450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  <a:tabLst>
                <a:tab pos="3543935" algn="l"/>
                <a:tab pos="7903209" algn="l"/>
              </a:tabLst>
            </a:pPr>
            <a:r>
              <a:rPr sz="1000" dirty="0">
                <a:latin typeface="Arial MT"/>
                <a:cs typeface="Arial MT"/>
              </a:rPr>
              <a:t>January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25,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2011</a:t>
            </a:r>
            <a:r>
              <a:rPr sz="1000" dirty="0">
                <a:latin typeface="Arial MT"/>
                <a:cs typeface="Arial MT"/>
              </a:rPr>
              <a:t>	SoC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Architecture</a:t>
            </a:r>
            <a:r>
              <a:rPr sz="1000" dirty="0">
                <a:latin typeface="Arial MT"/>
                <a:cs typeface="Arial MT"/>
              </a:rPr>
              <a:t>	</a:t>
            </a:r>
            <a:r>
              <a:rPr sz="1000" spc="-25" dirty="0">
                <a:latin typeface="Arial MT"/>
                <a:cs typeface="Arial MT"/>
              </a:rPr>
              <a:t>10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4989" y="5030470"/>
            <a:ext cx="6487160" cy="318770"/>
            <a:chOff x="704989" y="5030470"/>
            <a:chExt cx="6487160" cy="318770"/>
          </a:xfrm>
        </p:grpSpPr>
        <p:sp>
          <p:nvSpPr>
            <p:cNvPr id="5" name="object 5"/>
            <p:cNvSpPr/>
            <p:nvPr/>
          </p:nvSpPr>
          <p:spPr>
            <a:xfrm>
              <a:off x="711847" y="5036566"/>
              <a:ext cx="6474460" cy="306705"/>
            </a:xfrm>
            <a:custGeom>
              <a:avLst/>
              <a:gdLst/>
              <a:ahLst/>
              <a:cxnLst/>
              <a:rect l="l" t="t" r="r" b="b"/>
              <a:pathLst>
                <a:path w="6474459" h="306704">
                  <a:moveTo>
                    <a:pt x="6473952" y="306324"/>
                  </a:moveTo>
                  <a:lnTo>
                    <a:pt x="6473952" y="0"/>
                  </a:lnTo>
                  <a:lnTo>
                    <a:pt x="0" y="0"/>
                  </a:lnTo>
                  <a:lnTo>
                    <a:pt x="0" y="306324"/>
                  </a:lnTo>
                  <a:lnTo>
                    <a:pt x="6473952" y="306324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4989" y="5030470"/>
              <a:ext cx="6487160" cy="318770"/>
            </a:xfrm>
            <a:custGeom>
              <a:avLst/>
              <a:gdLst/>
              <a:ahLst/>
              <a:cxnLst/>
              <a:rect l="l" t="t" r="r" b="b"/>
              <a:pathLst>
                <a:path w="6487159" h="318770">
                  <a:moveTo>
                    <a:pt x="6486906" y="318515"/>
                  </a:moveTo>
                  <a:lnTo>
                    <a:pt x="6486906" y="0"/>
                  </a:lnTo>
                  <a:lnTo>
                    <a:pt x="0" y="0"/>
                  </a:lnTo>
                  <a:lnTo>
                    <a:pt x="0" y="318516"/>
                  </a:lnTo>
                  <a:lnTo>
                    <a:pt x="6858" y="318516"/>
                  </a:lnTo>
                  <a:lnTo>
                    <a:pt x="6858" y="12192"/>
                  </a:lnTo>
                  <a:lnTo>
                    <a:pt x="12953" y="6096"/>
                  </a:lnTo>
                  <a:lnTo>
                    <a:pt x="12953" y="12192"/>
                  </a:lnTo>
                  <a:lnTo>
                    <a:pt x="6473952" y="12191"/>
                  </a:lnTo>
                  <a:lnTo>
                    <a:pt x="6473952" y="6095"/>
                  </a:lnTo>
                  <a:lnTo>
                    <a:pt x="6480797" y="12191"/>
                  </a:lnTo>
                  <a:lnTo>
                    <a:pt x="6480797" y="318515"/>
                  </a:lnTo>
                  <a:lnTo>
                    <a:pt x="6486906" y="318515"/>
                  </a:lnTo>
                  <a:close/>
                </a:path>
                <a:path w="6487159" h="318770">
                  <a:moveTo>
                    <a:pt x="12953" y="12192"/>
                  </a:moveTo>
                  <a:lnTo>
                    <a:pt x="12953" y="6096"/>
                  </a:lnTo>
                  <a:lnTo>
                    <a:pt x="6858" y="12192"/>
                  </a:lnTo>
                  <a:lnTo>
                    <a:pt x="12953" y="12192"/>
                  </a:lnTo>
                  <a:close/>
                </a:path>
                <a:path w="6487159" h="318770">
                  <a:moveTo>
                    <a:pt x="12953" y="306324"/>
                  </a:moveTo>
                  <a:lnTo>
                    <a:pt x="12953" y="12192"/>
                  </a:lnTo>
                  <a:lnTo>
                    <a:pt x="6858" y="12192"/>
                  </a:lnTo>
                  <a:lnTo>
                    <a:pt x="6858" y="306324"/>
                  </a:lnTo>
                  <a:lnTo>
                    <a:pt x="12953" y="306324"/>
                  </a:lnTo>
                  <a:close/>
                </a:path>
                <a:path w="6487159" h="318770">
                  <a:moveTo>
                    <a:pt x="6480797" y="306324"/>
                  </a:moveTo>
                  <a:lnTo>
                    <a:pt x="6858" y="306324"/>
                  </a:lnTo>
                  <a:lnTo>
                    <a:pt x="12953" y="312419"/>
                  </a:lnTo>
                  <a:lnTo>
                    <a:pt x="12953" y="318516"/>
                  </a:lnTo>
                  <a:lnTo>
                    <a:pt x="6473952" y="318515"/>
                  </a:lnTo>
                  <a:lnTo>
                    <a:pt x="6473952" y="312419"/>
                  </a:lnTo>
                  <a:lnTo>
                    <a:pt x="6480797" y="306324"/>
                  </a:lnTo>
                  <a:close/>
                </a:path>
                <a:path w="6487159" h="318770">
                  <a:moveTo>
                    <a:pt x="12953" y="318516"/>
                  </a:moveTo>
                  <a:lnTo>
                    <a:pt x="12953" y="312419"/>
                  </a:lnTo>
                  <a:lnTo>
                    <a:pt x="6858" y="306324"/>
                  </a:lnTo>
                  <a:lnTo>
                    <a:pt x="6858" y="318516"/>
                  </a:lnTo>
                  <a:lnTo>
                    <a:pt x="12953" y="318516"/>
                  </a:lnTo>
                  <a:close/>
                </a:path>
                <a:path w="6487159" h="318770">
                  <a:moveTo>
                    <a:pt x="6480797" y="12191"/>
                  </a:moveTo>
                  <a:lnTo>
                    <a:pt x="6473952" y="6095"/>
                  </a:lnTo>
                  <a:lnTo>
                    <a:pt x="6473952" y="12191"/>
                  </a:lnTo>
                  <a:lnTo>
                    <a:pt x="6480797" y="12191"/>
                  </a:lnTo>
                  <a:close/>
                </a:path>
                <a:path w="6487159" h="318770">
                  <a:moveTo>
                    <a:pt x="6480797" y="306324"/>
                  </a:moveTo>
                  <a:lnTo>
                    <a:pt x="6480797" y="12191"/>
                  </a:lnTo>
                  <a:lnTo>
                    <a:pt x="6473952" y="12191"/>
                  </a:lnTo>
                  <a:lnTo>
                    <a:pt x="6473952" y="306324"/>
                  </a:lnTo>
                  <a:lnTo>
                    <a:pt x="6480797" y="306324"/>
                  </a:lnTo>
                  <a:close/>
                </a:path>
                <a:path w="6487159" h="318770">
                  <a:moveTo>
                    <a:pt x="6480797" y="318515"/>
                  </a:moveTo>
                  <a:lnTo>
                    <a:pt x="6480797" y="306324"/>
                  </a:lnTo>
                  <a:lnTo>
                    <a:pt x="6473952" y="312419"/>
                  </a:lnTo>
                  <a:lnTo>
                    <a:pt x="6473952" y="318515"/>
                  </a:lnTo>
                  <a:lnTo>
                    <a:pt x="6480797" y="318515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146173" y="5081016"/>
            <a:ext cx="19583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L2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Cache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Controller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(PL310)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04989" y="1342389"/>
            <a:ext cx="6515100" cy="3512820"/>
            <a:chOff x="704989" y="1342389"/>
            <a:chExt cx="6515100" cy="351282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1847" y="1348485"/>
              <a:ext cx="6502146" cy="350062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04989" y="1342389"/>
              <a:ext cx="6515100" cy="3512820"/>
            </a:xfrm>
            <a:custGeom>
              <a:avLst/>
              <a:gdLst/>
              <a:ahLst/>
              <a:cxnLst/>
              <a:rect l="l" t="t" r="r" b="b"/>
              <a:pathLst>
                <a:path w="6515100" h="3512820">
                  <a:moveTo>
                    <a:pt x="6515100" y="3512820"/>
                  </a:moveTo>
                  <a:lnTo>
                    <a:pt x="6515100" y="0"/>
                  </a:lnTo>
                  <a:lnTo>
                    <a:pt x="0" y="0"/>
                  </a:lnTo>
                  <a:lnTo>
                    <a:pt x="0" y="3512820"/>
                  </a:lnTo>
                  <a:lnTo>
                    <a:pt x="6858" y="3512820"/>
                  </a:lnTo>
                  <a:lnTo>
                    <a:pt x="6858" y="12954"/>
                  </a:lnTo>
                  <a:lnTo>
                    <a:pt x="12954" y="6096"/>
                  </a:lnTo>
                  <a:lnTo>
                    <a:pt x="12954" y="12954"/>
                  </a:lnTo>
                  <a:lnTo>
                    <a:pt x="6502908" y="12954"/>
                  </a:lnTo>
                  <a:lnTo>
                    <a:pt x="6502908" y="6096"/>
                  </a:lnTo>
                  <a:lnTo>
                    <a:pt x="6509004" y="12954"/>
                  </a:lnTo>
                  <a:lnTo>
                    <a:pt x="6509004" y="3512820"/>
                  </a:lnTo>
                  <a:lnTo>
                    <a:pt x="6515100" y="3512820"/>
                  </a:lnTo>
                  <a:close/>
                </a:path>
                <a:path w="6515100" h="3512820">
                  <a:moveTo>
                    <a:pt x="12954" y="12954"/>
                  </a:moveTo>
                  <a:lnTo>
                    <a:pt x="12954" y="6096"/>
                  </a:lnTo>
                  <a:lnTo>
                    <a:pt x="6858" y="12954"/>
                  </a:lnTo>
                  <a:lnTo>
                    <a:pt x="12954" y="12954"/>
                  </a:lnTo>
                  <a:close/>
                </a:path>
                <a:path w="6515100" h="3512820">
                  <a:moveTo>
                    <a:pt x="12954" y="3500628"/>
                  </a:moveTo>
                  <a:lnTo>
                    <a:pt x="12954" y="12954"/>
                  </a:lnTo>
                  <a:lnTo>
                    <a:pt x="6858" y="12954"/>
                  </a:lnTo>
                  <a:lnTo>
                    <a:pt x="6858" y="3500628"/>
                  </a:lnTo>
                  <a:lnTo>
                    <a:pt x="12954" y="3500628"/>
                  </a:lnTo>
                  <a:close/>
                </a:path>
                <a:path w="6515100" h="3512820">
                  <a:moveTo>
                    <a:pt x="6509004" y="3500628"/>
                  </a:moveTo>
                  <a:lnTo>
                    <a:pt x="6858" y="3500628"/>
                  </a:lnTo>
                  <a:lnTo>
                    <a:pt x="12954" y="3506724"/>
                  </a:lnTo>
                  <a:lnTo>
                    <a:pt x="12953" y="3512820"/>
                  </a:lnTo>
                  <a:lnTo>
                    <a:pt x="6502908" y="3512820"/>
                  </a:lnTo>
                  <a:lnTo>
                    <a:pt x="6502908" y="3506724"/>
                  </a:lnTo>
                  <a:lnTo>
                    <a:pt x="6509004" y="3500628"/>
                  </a:lnTo>
                  <a:close/>
                </a:path>
                <a:path w="6515100" h="3512820">
                  <a:moveTo>
                    <a:pt x="12953" y="3512820"/>
                  </a:moveTo>
                  <a:lnTo>
                    <a:pt x="12954" y="3506724"/>
                  </a:lnTo>
                  <a:lnTo>
                    <a:pt x="6858" y="3500628"/>
                  </a:lnTo>
                  <a:lnTo>
                    <a:pt x="6858" y="3512820"/>
                  </a:lnTo>
                  <a:lnTo>
                    <a:pt x="12953" y="3512820"/>
                  </a:lnTo>
                  <a:close/>
                </a:path>
                <a:path w="6515100" h="3512820">
                  <a:moveTo>
                    <a:pt x="6509004" y="12954"/>
                  </a:moveTo>
                  <a:lnTo>
                    <a:pt x="6502908" y="6096"/>
                  </a:lnTo>
                  <a:lnTo>
                    <a:pt x="6502908" y="12954"/>
                  </a:lnTo>
                  <a:lnTo>
                    <a:pt x="6509004" y="12954"/>
                  </a:lnTo>
                  <a:close/>
                </a:path>
                <a:path w="6515100" h="3512820">
                  <a:moveTo>
                    <a:pt x="6509004" y="3500628"/>
                  </a:moveTo>
                  <a:lnTo>
                    <a:pt x="6509004" y="12954"/>
                  </a:lnTo>
                  <a:lnTo>
                    <a:pt x="6502908" y="12954"/>
                  </a:lnTo>
                  <a:lnTo>
                    <a:pt x="6502908" y="3500628"/>
                  </a:lnTo>
                  <a:lnTo>
                    <a:pt x="6509004" y="3500628"/>
                  </a:lnTo>
                  <a:close/>
                </a:path>
                <a:path w="6515100" h="3512820">
                  <a:moveTo>
                    <a:pt x="6509004" y="3512820"/>
                  </a:moveTo>
                  <a:lnTo>
                    <a:pt x="6509004" y="3500628"/>
                  </a:lnTo>
                  <a:lnTo>
                    <a:pt x="6502908" y="3506724"/>
                  </a:lnTo>
                  <a:lnTo>
                    <a:pt x="6502908" y="3512820"/>
                  </a:lnTo>
                  <a:lnTo>
                    <a:pt x="6509004" y="3512820"/>
                  </a:lnTo>
                  <a:close/>
                </a:path>
              </a:pathLst>
            </a:custGeom>
            <a:solidFill>
              <a:srgbClr val="E67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48267" y="3475227"/>
              <a:ext cx="1479803" cy="58064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013335" y="3605022"/>
            <a:ext cx="9144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Cache-2-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Cache</a:t>
            </a:r>
            <a:endParaRPr sz="10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Transfers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57027" y="3475228"/>
            <a:ext cx="975360" cy="58064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454230" y="3605784"/>
            <a:ext cx="4787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Snoop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Filtering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3777" y="3044698"/>
            <a:ext cx="1609343" cy="1014983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446709" y="3315461"/>
            <a:ext cx="97345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31140" algn="just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Generalized Interrupt</a:t>
            </a:r>
            <a:r>
              <a:rPr sz="10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Control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Distribution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48267" y="3044698"/>
            <a:ext cx="3432048" cy="39776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397127" y="3160775"/>
            <a:ext cx="14801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Snoop</a:t>
            </a:r>
            <a:r>
              <a:rPr sz="1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Control</a:t>
            </a:r>
            <a:r>
              <a:rPr sz="1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Unit</a:t>
            </a:r>
            <a:r>
              <a:rPr sz="1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(SCU)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62867" y="3475228"/>
            <a:ext cx="908304" cy="58064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5461641" y="3681222"/>
            <a:ext cx="4152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Timers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3777" y="4088638"/>
            <a:ext cx="6131813" cy="58064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164211" y="4141470"/>
            <a:ext cx="162433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Advanced</a:t>
            </a:r>
            <a:r>
              <a:rPr sz="1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Bus</a:t>
            </a:r>
            <a:r>
              <a:rPr sz="1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Interface</a:t>
            </a:r>
            <a:r>
              <a:rPr sz="1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Unit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247527" y="4458208"/>
            <a:ext cx="1981200" cy="214883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386205" y="4496561"/>
            <a:ext cx="17691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Optional</a:t>
            </a:r>
            <a:r>
              <a:rPr sz="8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sz="750" baseline="27777" dirty="0">
                <a:solidFill>
                  <a:srgbClr val="FFFFFF"/>
                </a:solidFill>
                <a:latin typeface="Arial MT"/>
                <a:cs typeface="Arial MT"/>
              </a:rPr>
              <a:t>nd</a:t>
            </a:r>
            <a:r>
              <a:rPr sz="750" spc="112" baseline="27777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I/F with</a:t>
            </a:r>
            <a:r>
              <a:rPr sz="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Address 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Filtering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07197" y="4458208"/>
            <a:ext cx="1853183" cy="214883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1881003" y="4496561"/>
            <a:ext cx="14814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Primary</a:t>
            </a:r>
            <a:r>
              <a:rPr sz="800" spc="1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AMBA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r>
              <a:rPr sz="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64bit</a:t>
            </a:r>
            <a:r>
              <a:rPr sz="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Interface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007735" y="3044698"/>
            <a:ext cx="1036320" cy="1011173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6165759" y="3239261"/>
            <a:ext cx="77978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685" marR="5080" indent="-22225" algn="r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Accelerator Coherence</a:t>
            </a:r>
            <a:endParaRPr sz="1000">
              <a:latin typeface="Arial MT"/>
              <a:cs typeface="Arial MT"/>
            </a:endParaRPr>
          </a:p>
          <a:p>
            <a:pPr marL="12700" marR="5080" indent="520065" algn="r">
              <a:lnSpc>
                <a:spcPct val="100000"/>
              </a:lnSpc>
            </a:pPr>
            <a:r>
              <a:rPr sz="1000" spc="-20" dirty="0">
                <a:solidFill>
                  <a:srgbClr val="FFFFFF"/>
                </a:solidFill>
                <a:latin typeface="Arial MT"/>
                <a:cs typeface="Arial MT"/>
              </a:rPr>
              <a:t>Port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(AXI-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3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Slave)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49007" y="1468119"/>
            <a:ext cx="6266815" cy="3270250"/>
            <a:chOff x="849007" y="1468119"/>
            <a:chExt cx="6266815" cy="3270250"/>
          </a:xfrm>
        </p:grpSpPr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9007" y="2979927"/>
              <a:ext cx="6266688" cy="175793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62723" y="1468119"/>
              <a:ext cx="6229350" cy="1543050"/>
            </a:xfrm>
            <a:custGeom>
              <a:avLst/>
              <a:gdLst/>
              <a:ahLst/>
              <a:cxnLst/>
              <a:rect l="l" t="t" r="r" b="b"/>
              <a:pathLst>
                <a:path w="6229350" h="1543050">
                  <a:moveTo>
                    <a:pt x="6229350" y="1543049"/>
                  </a:moveTo>
                  <a:lnTo>
                    <a:pt x="6229350" y="0"/>
                  </a:lnTo>
                  <a:lnTo>
                    <a:pt x="0" y="0"/>
                  </a:lnTo>
                  <a:lnTo>
                    <a:pt x="0" y="1543050"/>
                  </a:lnTo>
                  <a:lnTo>
                    <a:pt x="3048" y="1543050"/>
                  </a:lnTo>
                  <a:lnTo>
                    <a:pt x="3047" y="6095"/>
                  </a:lnTo>
                  <a:lnTo>
                    <a:pt x="6095" y="3047"/>
                  </a:lnTo>
                  <a:lnTo>
                    <a:pt x="6095" y="6095"/>
                  </a:lnTo>
                  <a:lnTo>
                    <a:pt x="6222491" y="6095"/>
                  </a:lnTo>
                  <a:lnTo>
                    <a:pt x="6222491" y="3047"/>
                  </a:lnTo>
                  <a:lnTo>
                    <a:pt x="6226289" y="6095"/>
                  </a:lnTo>
                  <a:lnTo>
                    <a:pt x="6226289" y="1543049"/>
                  </a:lnTo>
                  <a:lnTo>
                    <a:pt x="6229350" y="1543049"/>
                  </a:lnTo>
                  <a:close/>
                </a:path>
                <a:path w="6229350" h="1543050">
                  <a:moveTo>
                    <a:pt x="6095" y="6095"/>
                  </a:moveTo>
                  <a:lnTo>
                    <a:pt x="6095" y="3047"/>
                  </a:lnTo>
                  <a:lnTo>
                    <a:pt x="3047" y="6095"/>
                  </a:lnTo>
                  <a:lnTo>
                    <a:pt x="6095" y="6095"/>
                  </a:lnTo>
                  <a:close/>
                </a:path>
                <a:path w="6229350" h="1543050">
                  <a:moveTo>
                    <a:pt x="6096" y="1536191"/>
                  </a:moveTo>
                  <a:lnTo>
                    <a:pt x="6095" y="6095"/>
                  </a:lnTo>
                  <a:lnTo>
                    <a:pt x="3047" y="6095"/>
                  </a:lnTo>
                  <a:lnTo>
                    <a:pt x="3048" y="1536191"/>
                  </a:lnTo>
                  <a:lnTo>
                    <a:pt x="6096" y="1536191"/>
                  </a:lnTo>
                  <a:close/>
                </a:path>
                <a:path w="6229350" h="1543050">
                  <a:moveTo>
                    <a:pt x="6226289" y="1536191"/>
                  </a:moveTo>
                  <a:lnTo>
                    <a:pt x="3048" y="1536191"/>
                  </a:lnTo>
                  <a:lnTo>
                    <a:pt x="6096" y="1539239"/>
                  </a:lnTo>
                  <a:lnTo>
                    <a:pt x="6096" y="1543050"/>
                  </a:lnTo>
                  <a:lnTo>
                    <a:pt x="6222491" y="1543049"/>
                  </a:lnTo>
                  <a:lnTo>
                    <a:pt x="6222491" y="1539240"/>
                  </a:lnTo>
                  <a:lnTo>
                    <a:pt x="6226289" y="1536191"/>
                  </a:lnTo>
                  <a:close/>
                </a:path>
                <a:path w="6229350" h="1543050">
                  <a:moveTo>
                    <a:pt x="6096" y="1543050"/>
                  </a:moveTo>
                  <a:lnTo>
                    <a:pt x="6096" y="1539239"/>
                  </a:lnTo>
                  <a:lnTo>
                    <a:pt x="3048" y="1536191"/>
                  </a:lnTo>
                  <a:lnTo>
                    <a:pt x="3048" y="1543050"/>
                  </a:lnTo>
                  <a:lnTo>
                    <a:pt x="6096" y="1543050"/>
                  </a:lnTo>
                  <a:close/>
                </a:path>
                <a:path w="6229350" h="1543050">
                  <a:moveTo>
                    <a:pt x="6226289" y="6095"/>
                  </a:moveTo>
                  <a:lnTo>
                    <a:pt x="6222491" y="3047"/>
                  </a:lnTo>
                  <a:lnTo>
                    <a:pt x="6222491" y="6095"/>
                  </a:lnTo>
                  <a:lnTo>
                    <a:pt x="6226289" y="6095"/>
                  </a:lnTo>
                  <a:close/>
                </a:path>
                <a:path w="6229350" h="1543050">
                  <a:moveTo>
                    <a:pt x="6226289" y="1536191"/>
                  </a:moveTo>
                  <a:lnTo>
                    <a:pt x="6226289" y="6095"/>
                  </a:lnTo>
                  <a:lnTo>
                    <a:pt x="6222491" y="6095"/>
                  </a:lnTo>
                  <a:lnTo>
                    <a:pt x="6222491" y="1536191"/>
                  </a:lnTo>
                  <a:lnTo>
                    <a:pt x="6226289" y="1536191"/>
                  </a:lnTo>
                  <a:close/>
                </a:path>
                <a:path w="6229350" h="1543050">
                  <a:moveTo>
                    <a:pt x="6226289" y="1543049"/>
                  </a:moveTo>
                  <a:lnTo>
                    <a:pt x="6226289" y="1536191"/>
                  </a:lnTo>
                  <a:lnTo>
                    <a:pt x="6222491" y="1539240"/>
                  </a:lnTo>
                  <a:lnTo>
                    <a:pt x="6222491" y="1543049"/>
                  </a:lnTo>
                  <a:lnTo>
                    <a:pt x="6226289" y="15430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17587" y="1505457"/>
              <a:ext cx="938783" cy="504444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1136529" y="1683258"/>
            <a:ext cx="6165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FPU/NEON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17587" y="1977898"/>
            <a:ext cx="1418843" cy="504444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1419993" y="2154173"/>
            <a:ext cx="8115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Cortex-</a:t>
            </a:r>
            <a:r>
              <a:rPr sz="900" dirty="0">
                <a:latin typeface="Arial MT"/>
                <a:cs typeface="Arial MT"/>
              </a:rPr>
              <a:t>A9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CPU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917587" y="1505457"/>
            <a:ext cx="1415415" cy="1445895"/>
            <a:chOff x="917587" y="1505457"/>
            <a:chExt cx="1415415" cy="1445895"/>
          </a:xfrm>
        </p:grpSpPr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17587" y="2446527"/>
              <a:ext cx="725423" cy="500633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07197" y="2446527"/>
              <a:ext cx="725423" cy="50444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820557" y="1505457"/>
              <a:ext cx="512064" cy="504444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1962537" y="1614678"/>
            <a:ext cx="267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 MT"/>
                <a:cs typeface="Arial MT"/>
              </a:rPr>
              <a:t>PTM</a:t>
            </a:r>
            <a:endParaRPr sz="9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900" spc="-25" dirty="0">
                <a:latin typeface="Arial MT"/>
                <a:cs typeface="Arial MT"/>
              </a:rPr>
              <a:t>I/F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1" name="object 4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491117" y="1505457"/>
            <a:ext cx="938021" cy="500633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2707773" y="1683258"/>
            <a:ext cx="6165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FPU/NEON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3" name="object 4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491117" y="1977898"/>
            <a:ext cx="1414272" cy="504444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2991237" y="2154173"/>
            <a:ext cx="8115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Cortex-</a:t>
            </a:r>
            <a:r>
              <a:rPr sz="900" dirty="0">
                <a:latin typeface="Arial MT"/>
                <a:cs typeface="Arial MT"/>
              </a:rPr>
              <a:t>A9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CPU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491117" y="1505457"/>
            <a:ext cx="1415415" cy="1445895"/>
            <a:chOff x="2491117" y="1505457"/>
            <a:chExt cx="1415415" cy="1445895"/>
          </a:xfrm>
        </p:grpSpPr>
        <p:pic>
          <p:nvPicPr>
            <p:cNvPr id="46" name="object 4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491117" y="2446527"/>
              <a:ext cx="725423" cy="50444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180727" y="2446527"/>
              <a:ext cx="725423" cy="500633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390277" y="1505457"/>
              <a:ext cx="512064" cy="504444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3534543" y="1614678"/>
            <a:ext cx="267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 MT"/>
                <a:cs typeface="Arial MT"/>
              </a:rPr>
              <a:t>PTM</a:t>
            </a:r>
            <a:endParaRPr sz="9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900" spc="-25" dirty="0">
                <a:latin typeface="Arial MT"/>
                <a:cs typeface="Arial MT"/>
              </a:rPr>
              <a:t>I/F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50" name="object 5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996067" y="1505457"/>
            <a:ext cx="938783" cy="504444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4215771" y="1683258"/>
            <a:ext cx="6165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FPU/NEON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52" name="object 52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996067" y="1977898"/>
            <a:ext cx="1420367" cy="500633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4499235" y="2154173"/>
            <a:ext cx="8115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Cortex-</a:t>
            </a:r>
            <a:r>
              <a:rPr sz="900" dirty="0">
                <a:latin typeface="Arial MT"/>
                <a:cs typeface="Arial MT"/>
              </a:rPr>
              <a:t>A9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CPU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996067" y="1505457"/>
            <a:ext cx="1419225" cy="1445895"/>
            <a:chOff x="3996067" y="1505457"/>
            <a:chExt cx="1419225" cy="1445895"/>
          </a:xfrm>
        </p:grpSpPr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996067" y="2446527"/>
              <a:ext cx="725423" cy="504444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689487" y="2446527"/>
              <a:ext cx="725423" cy="50444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899037" y="1505457"/>
              <a:ext cx="512064" cy="500633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5042541" y="1614678"/>
            <a:ext cx="267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 MT"/>
                <a:cs typeface="Arial MT"/>
              </a:rPr>
              <a:t>PTM</a:t>
            </a:r>
            <a:endParaRPr sz="9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900" spc="-25" dirty="0">
                <a:latin typeface="Arial MT"/>
                <a:cs typeface="Arial MT"/>
              </a:rPr>
              <a:t>I/F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59" name="object 59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5569597" y="1505457"/>
            <a:ext cx="938783" cy="504444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5787777" y="1683258"/>
            <a:ext cx="6165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FPU/NEON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61" name="object 6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5569597" y="1977898"/>
            <a:ext cx="1418069" cy="504444"/>
          </a:xfrm>
          <a:prstGeom prst="rect">
            <a:avLst/>
          </a:prstGeom>
        </p:spPr>
      </p:pic>
      <p:sp>
        <p:nvSpPr>
          <p:cNvPr id="62" name="object 62"/>
          <p:cNvSpPr txBox="1"/>
          <p:nvPr/>
        </p:nvSpPr>
        <p:spPr>
          <a:xfrm>
            <a:off x="6071241" y="2154173"/>
            <a:ext cx="8115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Cortex-</a:t>
            </a:r>
            <a:r>
              <a:rPr sz="900" dirty="0">
                <a:latin typeface="Arial MT"/>
                <a:cs typeface="Arial MT"/>
              </a:rPr>
              <a:t>A9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CPU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5569597" y="2446527"/>
            <a:ext cx="1421130" cy="504825"/>
            <a:chOff x="5569597" y="2446527"/>
            <a:chExt cx="1421130" cy="504825"/>
          </a:xfrm>
        </p:grpSpPr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569597" y="2446527"/>
              <a:ext cx="725423" cy="500633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259195" y="2446527"/>
              <a:ext cx="731520" cy="504444"/>
            </a:xfrm>
            <a:prstGeom prst="rect">
              <a:avLst/>
            </a:prstGeom>
          </p:spPr>
        </p:pic>
      </p:grpSp>
      <p:graphicFrame>
        <p:nvGraphicFramePr>
          <p:cNvPr id="66" name="object 66"/>
          <p:cNvGraphicFramePr>
            <a:graphicFrameLocks noGrp="1"/>
          </p:cNvGraphicFramePr>
          <p:nvPr/>
        </p:nvGraphicFramePr>
        <p:xfrm>
          <a:off x="970413" y="2547525"/>
          <a:ext cx="5931532" cy="327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9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4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5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70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22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3830">
                <a:tc>
                  <a:txBody>
                    <a:bodyPr/>
                    <a:lstStyle/>
                    <a:p>
                      <a:pPr marR="172720" algn="r">
                        <a:lnSpc>
                          <a:spcPts val="1030"/>
                        </a:lnSpc>
                        <a:spcBef>
                          <a:spcPts val="165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Instruction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168910" algn="r">
                        <a:lnSpc>
                          <a:spcPts val="1030"/>
                        </a:lnSpc>
                        <a:spcBef>
                          <a:spcPts val="165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Data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ts val="1030"/>
                        </a:lnSpc>
                        <a:spcBef>
                          <a:spcPts val="165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Instruction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136525" algn="r">
                        <a:lnSpc>
                          <a:spcPts val="1030"/>
                        </a:lnSpc>
                        <a:spcBef>
                          <a:spcPts val="165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Data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ts val="1030"/>
                        </a:lnSpc>
                        <a:spcBef>
                          <a:spcPts val="165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Instruction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92710" algn="ctr">
                        <a:lnSpc>
                          <a:spcPts val="1030"/>
                        </a:lnSpc>
                        <a:spcBef>
                          <a:spcPts val="165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Data</a:t>
                      </a:r>
                      <a:endParaRPr sz="900" dirty="0">
                        <a:latin typeface="Arial MT"/>
                        <a:cs typeface="Arial MT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ts val="1030"/>
                        </a:lnSpc>
                        <a:spcBef>
                          <a:spcPts val="165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Instruction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030"/>
                        </a:lnSpc>
                        <a:spcBef>
                          <a:spcPts val="165"/>
                        </a:spcBef>
                      </a:pPr>
                      <a:r>
                        <a:rPr sz="900" spc="-20" dirty="0">
                          <a:latin typeface="Arial MT"/>
                          <a:cs typeface="Arial MT"/>
                        </a:rPr>
                        <a:t>Data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095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marR="173355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Cache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8910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Cache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Cache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7160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Cache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Cache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Cache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Cache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Cache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7" name="object 67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6472554" y="1505457"/>
            <a:ext cx="512064" cy="504444"/>
          </a:xfrm>
          <a:prstGeom prst="rect">
            <a:avLst/>
          </a:prstGeom>
        </p:spPr>
      </p:pic>
      <p:sp>
        <p:nvSpPr>
          <p:cNvPr id="68" name="object 68"/>
          <p:cNvSpPr txBox="1"/>
          <p:nvPr/>
        </p:nvSpPr>
        <p:spPr>
          <a:xfrm>
            <a:off x="6614547" y="1614678"/>
            <a:ext cx="267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 MT"/>
                <a:cs typeface="Arial MT"/>
              </a:rPr>
              <a:t>PTM</a:t>
            </a:r>
            <a:endParaRPr sz="9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900" spc="-25" dirty="0">
                <a:latin typeface="Arial MT"/>
                <a:cs typeface="Arial MT"/>
              </a:rPr>
              <a:t>I/F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487819" y="3026410"/>
            <a:ext cx="6697980" cy="2707005"/>
            <a:chOff x="487819" y="3026410"/>
            <a:chExt cx="6697980" cy="2707005"/>
          </a:xfrm>
        </p:grpSpPr>
        <p:pic>
          <p:nvPicPr>
            <p:cNvPr id="70" name="object 7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87819" y="3140710"/>
              <a:ext cx="451104" cy="579119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2505595" y="4664709"/>
              <a:ext cx="2908935" cy="1068705"/>
            </a:xfrm>
            <a:custGeom>
              <a:avLst/>
              <a:gdLst/>
              <a:ahLst/>
              <a:cxnLst/>
              <a:rect l="l" t="t" r="r" b="b"/>
              <a:pathLst>
                <a:path w="2908935" h="1068704">
                  <a:moveTo>
                    <a:pt x="114300" y="941832"/>
                  </a:moveTo>
                  <a:lnTo>
                    <a:pt x="76200" y="941832"/>
                  </a:lnTo>
                  <a:lnTo>
                    <a:pt x="76200" y="685800"/>
                  </a:lnTo>
                  <a:lnTo>
                    <a:pt x="38100" y="685800"/>
                  </a:lnTo>
                  <a:lnTo>
                    <a:pt x="38100" y="941832"/>
                  </a:lnTo>
                  <a:lnTo>
                    <a:pt x="0" y="941832"/>
                  </a:lnTo>
                  <a:lnTo>
                    <a:pt x="38100" y="1018032"/>
                  </a:lnTo>
                  <a:lnTo>
                    <a:pt x="57150" y="1056132"/>
                  </a:lnTo>
                  <a:lnTo>
                    <a:pt x="76200" y="1018032"/>
                  </a:lnTo>
                  <a:lnTo>
                    <a:pt x="114300" y="941832"/>
                  </a:lnTo>
                  <a:close/>
                </a:path>
                <a:path w="2908935" h="1068704">
                  <a:moveTo>
                    <a:pt x="114300" y="256032"/>
                  </a:moveTo>
                  <a:lnTo>
                    <a:pt x="76200" y="256032"/>
                  </a:lnTo>
                  <a:lnTo>
                    <a:pt x="76200" y="0"/>
                  </a:lnTo>
                  <a:lnTo>
                    <a:pt x="38100" y="0"/>
                  </a:lnTo>
                  <a:lnTo>
                    <a:pt x="38100" y="256032"/>
                  </a:lnTo>
                  <a:lnTo>
                    <a:pt x="0" y="256032"/>
                  </a:lnTo>
                  <a:lnTo>
                    <a:pt x="38100" y="332232"/>
                  </a:lnTo>
                  <a:lnTo>
                    <a:pt x="57150" y="370332"/>
                  </a:lnTo>
                  <a:lnTo>
                    <a:pt x="76200" y="332232"/>
                  </a:lnTo>
                  <a:lnTo>
                    <a:pt x="114300" y="256032"/>
                  </a:lnTo>
                  <a:close/>
                </a:path>
                <a:path w="2908935" h="1068704">
                  <a:moveTo>
                    <a:pt x="2879598" y="256032"/>
                  </a:moveTo>
                  <a:lnTo>
                    <a:pt x="2841498" y="256032"/>
                  </a:lnTo>
                  <a:lnTo>
                    <a:pt x="2841498" y="64008"/>
                  </a:lnTo>
                  <a:lnTo>
                    <a:pt x="2803398" y="64008"/>
                  </a:lnTo>
                  <a:lnTo>
                    <a:pt x="2803398" y="256032"/>
                  </a:lnTo>
                  <a:lnTo>
                    <a:pt x="2765298" y="256032"/>
                  </a:lnTo>
                  <a:lnTo>
                    <a:pt x="2803398" y="332232"/>
                  </a:lnTo>
                  <a:lnTo>
                    <a:pt x="2822448" y="370332"/>
                  </a:lnTo>
                  <a:lnTo>
                    <a:pt x="2841498" y="332232"/>
                  </a:lnTo>
                  <a:lnTo>
                    <a:pt x="2879598" y="256032"/>
                  </a:lnTo>
                  <a:close/>
                </a:path>
                <a:path w="2908935" h="1068704">
                  <a:moveTo>
                    <a:pt x="2908554" y="954024"/>
                  </a:moveTo>
                  <a:lnTo>
                    <a:pt x="2870454" y="954024"/>
                  </a:lnTo>
                  <a:lnTo>
                    <a:pt x="2870454" y="698754"/>
                  </a:lnTo>
                  <a:lnTo>
                    <a:pt x="2832354" y="698754"/>
                  </a:lnTo>
                  <a:lnTo>
                    <a:pt x="2832354" y="954024"/>
                  </a:lnTo>
                  <a:lnTo>
                    <a:pt x="2794254" y="954024"/>
                  </a:lnTo>
                  <a:lnTo>
                    <a:pt x="2832354" y="1030224"/>
                  </a:lnTo>
                  <a:lnTo>
                    <a:pt x="2851404" y="1068324"/>
                  </a:lnTo>
                  <a:lnTo>
                    <a:pt x="2870454" y="1030224"/>
                  </a:lnTo>
                  <a:lnTo>
                    <a:pt x="2908554" y="954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957187" y="3031744"/>
              <a:ext cx="223520" cy="993775"/>
            </a:xfrm>
            <a:custGeom>
              <a:avLst/>
              <a:gdLst/>
              <a:ahLst/>
              <a:cxnLst/>
              <a:rect l="l" t="t" r="r" b="b"/>
              <a:pathLst>
                <a:path w="223520" h="993775">
                  <a:moveTo>
                    <a:pt x="223266" y="993648"/>
                  </a:moveTo>
                  <a:lnTo>
                    <a:pt x="223266" y="0"/>
                  </a:lnTo>
                  <a:lnTo>
                    <a:pt x="0" y="0"/>
                  </a:lnTo>
                  <a:lnTo>
                    <a:pt x="0" y="993648"/>
                  </a:lnTo>
                  <a:lnTo>
                    <a:pt x="223266" y="993648"/>
                  </a:lnTo>
                  <a:close/>
                </a:path>
              </a:pathLst>
            </a:custGeom>
            <a:solidFill>
              <a:srgbClr val="FFF0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951865" y="3026410"/>
              <a:ext cx="234315" cy="1003935"/>
            </a:xfrm>
            <a:custGeom>
              <a:avLst/>
              <a:gdLst/>
              <a:ahLst/>
              <a:cxnLst/>
              <a:rect l="l" t="t" r="r" b="b"/>
              <a:pathLst>
                <a:path w="234315" h="1003935">
                  <a:moveTo>
                    <a:pt x="233933" y="1003553"/>
                  </a:moveTo>
                  <a:lnTo>
                    <a:pt x="233933" y="0"/>
                  </a:lnTo>
                  <a:lnTo>
                    <a:pt x="0" y="0"/>
                  </a:lnTo>
                  <a:lnTo>
                    <a:pt x="0" y="1003553"/>
                  </a:lnTo>
                  <a:lnTo>
                    <a:pt x="5321" y="1003553"/>
                  </a:lnTo>
                  <a:lnTo>
                    <a:pt x="5321" y="9905"/>
                  </a:lnTo>
                  <a:lnTo>
                    <a:pt x="9906" y="5334"/>
                  </a:lnTo>
                  <a:lnTo>
                    <a:pt x="9906" y="9905"/>
                  </a:lnTo>
                  <a:lnTo>
                    <a:pt x="224027" y="9905"/>
                  </a:lnTo>
                  <a:lnTo>
                    <a:pt x="224027" y="5334"/>
                  </a:lnTo>
                  <a:lnTo>
                    <a:pt x="228600" y="9905"/>
                  </a:lnTo>
                  <a:lnTo>
                    <a:pt x="228600" y="1003553"/>
                  </a:lnTo>
                  <a:lnTo>
                    <a:pt x="233933" y="1003553"/>
                  </a:lnTo>
                  <a:close/>
                </a:path>
                <a:path w="234315" h="1003935">
                  <a:moveTo>
                    <a:pt x="9906" y="9905"/>
                  </a:moveTo>
                  <a:lnTo>
                    <a:pt x="9906" y="5334"/>
                  </a:lnTo>
                  <a:lnTo>
                    <a:pt x="5321" y="9905"/>
                  </a:lnTo>
                  <a:lnTo>
                    <a:pt x="9906" y="9905"/>
                  </a:lnTo>
                  <a:close/>
                </a:path>
                <a:path w="234315" h="1003935">
                  <a:moveTo>
                    <a:pt x="9906" y="994410"/>
                  </a:moveTo>
                  <a:lnTo>
                    <a:pt x="9906" y="9905"/>
                  </a:lnTo>
                  <a:lnTo>
                    <a:pt x="5321" y="9905"/>
                  </a:lnTo>
                  <a:lnTo>
                    <a:pt x="5321" y="994410"/>
                  </a:lnTo>
                  <a:lnTo>
                    <a:pt x="9906" y="994410"/>
                  </a:lnTo>
                  <a:close/>
                </a:path>
                <a:path w="234315" h="1003935">
                  <a:moveTo>
                    <a:pt x="228600" y="994410"/>
                  </a:moveTo>
                  <a:lnTo>
                    <a:pt x="5321" y="994410"/>
                  </a:lnTo>
                  <a:lnTo>
                    <a:pt x="9906" y="998981"/>
                  </a:lnTo>
                  <a:lnTo>
                    <a:pt x="9906" y="1003553"/>
                  </a:lnTo>
                  <a:lnTo>
                    <a:pt x="224027" y="1003553"/>
                  </a:lnTo>
                  <a:lnTo>
                    <a:pt x="224027" y="998981"/>
                  </a:lnTo>
                  <a:lnTo>
                    <a:pt x="228600" y="994410"/>
                  </a:lnTo>
                  <a:close/>
                </a:path>
                <a:path w="234315" h="1003935">
                  <a:moveTo>
                    <a:pt x="9906" y="1003553"/>
                  </a:moveTo>
                  <a:lnTo>
                    <a:pt x="9906" y="998981"/>
                  </a:lnTo>
                  <a:lnTo>
                    <a:pt x="5321" y="994410"/>
                  </a:lnTo>
                  <a:lnTo>
                    <a:pt x="5321" y="1003553"/>
                  </a:lnTo>
                  <a:lnTo>
                    <a:pt x="9906" y="1003553"/>
                  </a:lnTo>
                  <a:close/>
                </a:path>
                <a:path w="234315" h="1003935">
                  <a:moveTo>
                    <a:pt x="228600" y="9905"/>
                  </a:moveTo>
                  <a:lnTo>
                    <a:pt x="224027" y="5334"/>
                  </a:lnTo>
                  <a:lnTo>
                    <a:pt x="224027" y="9905"/>
                  </a:lnTo>
                  <a:lnTo>
                    <a:pt x="228600" y="9905"/>
                  </a:lnTo>
                  <a:close/>
                </a:path>
                <a:path w="234315" h="1003935">
                  <a:moveTo>
                    <a:pt x="228600" y="994410"/>
                  </a:moveTo>
                  <a:lnTo>
                    <a:pt x="228600" y="9905"/>
                  </a:lnTo>
                  <a:lnTo>
                    <a:pt x="224027" y="9905"/>
                  </a:lnTo>
                  <a:lnTo>
                    <a:pt x="224027" y="994410"/>
                  </a:lnTo>
                  <a:lnTo>
                    <a:pt x="228600" y="994410"/>
                  </a:lnTo>
                  <a:close/>
                </a:path>
                <a:path w="234315" h="1003935">
                  <a:moveTo>
                    <a:pt x="228600" y="1003553"/>
                  </a:moveTo>
                  <a:lnTo>
                    <a:pt x="228600" y="994410"/>
                  </a:lnTo>
                  <a:lnTo>
                    <a:pt x="224027" y="998981"/>
                  </a:lnTo>
                  <a:lnTo>
                    <a:pt x="224027" y="1003553"/>
                  </a:lnTo>
                  <a:lnTo>
                    <a:pt x="228600" y="10035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6996765" y="3124097"/>
            <a:ext cx="139065" cy="822325"/>
          </a:xfrm>
          <a:prstGeom prst="rect">
            <a:avLst/>
          </a:prstGeom>
        </p:spPr>
        <p:txBody>
          <a:bodyPr vert="vert270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b="1" dirty="0">
                <a:latin typeface="Arial"/>
                <a:cs typeface="Arial"/>
              </a:rPr>
              <a:t>ACP </a:t>
            </a:r>
            <a:r>
              <a:rPr sz="800" b="1" spc="-10" dirty="0">
                <a:latin typeface="Arial"/>
                <a:cs typeface="Arial"/>
              </a:rPr>
              <a:t>AXI-</a:t>
            </a:r>
            <a:r>
              <a:rPr sz="800" b="1" dirty="0">
                <a:latin typeface="Arial"/>
                <a:cs typeface="Arial"/>
              </a:rPr>
              <a:t>3</a:t>
            </a:r>
            <a:r>
              <a:rPr sz="800" b="1" spc="10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Slave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2065921" y="3501135"/>
            <a:ext cx="5337175" cy="2030730"/>
            <a:chOff x="2065921" y="3501135"/>
            <a:chExt cx="5337175" cy="2030730"/>
          </a:xfrm>
        </p:grpSpPr>
        <p:pic>
          <p:nvPicPr>
            <p:cNvPr id="76" name="object 7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180452" y="3501135"/>
              <a:ext cx="222503" cy="111252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2070493" y="5303266"/>
              <a:ext cx="1054100" cy="224154"/>
            </a:xfrm>
            <a:custGeom>
              <a:avLst/>
              <a:gdLst/>
              <a:ahLst/>
              <a:cxnLst/>
              <a:rect l="l" t="t" r="r" b="b"/>
              <a:pathLst>
                <a:path w="1054100" h="224154">
                  <a:moveTo>
                    <a:pt x="1053845" y="224027"/>
                  </a:moveTo>
                  <a:lnTo>
                    <a:pt x="1053845" y="0"/>
                  </a:lnTo>
                  <a:lnTo>
                    <a:pt x="0" y="0"/>
                  </a:lnTo>
                  <a:lnTo>
                    <a:pt x="0" y="224027"/>
                  </a:lnTo>
                  <a:lnTo>
                    <a:pt x="1053845" y="224027"/>
                  </a:lnTo>
                  <a:close/>
                </a:path>
              </a:pathLst>
            </a:custGeom>
            <a:solidFill>
              <a:srgbClr val="FFF0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065921" y="5298694"/>
              <a:ext cx="1064260" cy="233679"/>
            </a:xfrm>
            <a:custGeom>
              <a:avLst/>
              <a:gdLst/>
              <a:ahLst/>
              <a:cxnLst/>
              <a:rect l="l" t="t" r="r" b="b"/>
              <a:pathLst>
                <a:path w="1064260" h="233679">
                  <a:moveTo>
                    <a:pt x="1063751" y="233172"/>
                  </a:moveTo>
                  <a:lnTo>
                    <a:pt x="1063751" y="0"/>
                  </a:lnTo>
                  <a:lnTo>
                    <a:pt x="0" y="0"/>
                  </a:lnTo>
                  <a:lnTo>
                    <a:pt x="0" y="233172"/>
                  </a:lnTo>
                  <a:lnTo>
                    <a:pt x="4572" y="233172"/>
                  </a:lnTo>
                  <a:lnTo>
                    <a:pt x="4572" y="9144"/>
                  </a:lnTo>
                  <a:lnTo>
                    <a:pt x="9143" y="4572"/>
                  </a:lnTo>
                  <a:lnTo>
                    <a:pt x="9143" y="9144"/>
                  </a:lnTo>
                  <a:lnTo>
                    <a:pt x="1053845" y="9144"/>
                  </a:lnTo>
                  <a:lnTo>
                    <a:pt x="1053845" y="4572"/>
                  </a:lnTo>
                  <a:lnTo>
                    <a:pt x="1058418" y="9144"/>
                  </a:lnTo>
                  <a:lnTo>
                    <a:pt x="1058418" y="233172"/>
                  </a:lnTo>
                  <a:lnTo>
                    <a:pt x="1063751" y="233172"/>
                  </a:lnTo>
                  <a:close/>
                </a:path>
                <a:path w="1064260" h="233679">
                  <a:moveTo>
                    <a:pt x="9143" y="9144"/>
                  </a:moveTo>
                  <a:lnTo>
                    <a:pt x="9143" y="4572"/>
                  </a:lnTo>
                  <a:lnTo>
                    <a:pt x="4572" y="9144"/>
                  </a:lnTo>
                  <a:lnTo>
                    <a:pt x="9143" y="9144"/>
                  </a:lnTo>
                  <a:close/>
                </a:path>
                <a:path w="1064260" h="233679">
                  <a:moveTo>
                    <a:pt x="9143" y="223266"/>
                  </a:moveTo>
                  <a:lnTo>
                    <a:pt x="9143" y="9144"/>
                  </a:lnTo>
                  <a:lnTo>
                    <a:pt x="4572" y="9144"/>
                  </a:lnTo>
                  <a:lnTo>
                    <a:pt x="4572" y="223266"/>
                  </a:lnTo>
                  <a:lnTo>
                    <a:pt x="9143" y="223266"/>
                  </a:lnTo>
                  <a:close/>
                </a:path>
                <a:path w="1064260" h="233679">
                  <a:moveTo>
                    <a:pt x="1058418" y="223266"/>
                  </a:moveTo>
                  <a:lnTo>
                    <a:pt x="4572" y="223266"/>
                  </a:lnTo>
                  <a:lnTo>
                    <a:pt x="9143" y="228600"/>
                  </a:lnTo>
                  <a:lnTo>
                    <a:pt x="9143" y="233172"/>
                  </a:lnTo>
                  <a:lnTo>
                    <a:pt x="1053845" y="233172"/>
                  </a:lnTo>
                  <a:lnTo>
                    <a:pt x="1053845" y="228600"/>
                  </a:lnTo>
                  <a:lnTo>
                    <a:pt x="1058418" y="223266"/>
                  </a:lnTo>
                  <a:close/>
                </a:path>
                <a:path w="1064260" h="233679">
                  <a:moveTo>
                    <a:pt x="9143" y="233172"/>
                  </a:moveTo>
                  <a:lnTo>
                    <a:pt x="9143" y="228600"/>
                  </a:lnTo>
                  <a:lnTo>
                    <a:pt x="4572" y="223266"/>
                  </a:lnTo>
                  <a:lnTo>
                    <a:pt x="4572" y="233172"/>
                  </a:lnTo>
                  <a:lnTo>
                    <a:pt x="9143" y="233172"/>
                  </a:lnTo>
                  <a:close/>
                </a:path>
                <a:path w="1064260" h="233679">
                  <a:moveTo>
                    <a:pt x="1058418" y="9144"/>
                  </a:moveTo>
                  <a:lnTo>
                    <a:pt x="1053845" y="4572"/>
                  </a:lnTo>
                  <a:lnTo>
                    <a:pt x="1053845" y="9144"/>
                  </a:lnTo>
                  <a:lnTo>
                    <a:pt x="1058418" y="9144"/>
                  </a:lnTo>
                  <a:close/>
                </a:path>
                <a:path w="1064260" h="233679">
                  <a:moveTo>
                    <a:pt x="1058418" y="223266"/>
                  </a:moveTo>
                  <a:lnTo>
                    <a:pt x="1058418" y="9144"/>
                  </a:lnTo>
                  <a:lnTo>
                    <a:pt x="1053845" y="9144"/>
                  </a:lnTo>
                  <a:lnTo>
                    <a:pt x="1053845" y="223266"/>
                  </a:lnTo>
                  <a:lnTo>
                    <a:pt x="1058418" y="223266"/>
                  </a:lnTo>
                  <a:close/>
                </a:path>
                <a:path w="1064260" h="233679">
                  <a:moveTo>
                    <a:pt x="1058418" y="233172"/>
                  </a:moveTo>
                  <a:lnTo>
                    <a:pt x="1058418" y="223266"/>
                  </a:lnTo>
                  <a:lnTo>
                    <a:pt x="1053845" y="228600"/>
                  </a:lnTo>
                  <a:lnTo>
                    <a:pt x="1053845" y="233172"/>
                  </a:lnTo>
                  <a:lnTo>
                    <a:pt x="1058418" y="233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2070493" y="5303265"/>
            <a:ext cx="1054100" cy="22415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40"/>
              </a:spcBef>
            </a:pPr>
            <a:r>
              <a:rPr sz="800" b="1" dirty="0">
                <a:latin typeface="Arial"/>
                <a:cs typeface="Arial"/>
              </a:rPr>
              <a:t>ACP</a:t>
            </a:r>
            <a:r>
              <a:rPr sz="800" b="1" spc="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AXI-</a:t>
            </a:r>
            <a:r>
              <a:rPr sz="800" b="1" dirty="0">
                <a:latin typeface="Arial"/>
                <a:cs typeface="Arial"/>
              </a:rPr>
              <a:t>3</a:t>
            </a:r>
            <a:r>
              <a:rPr sz="800" b="1" spc="10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Master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4847221" y="5298694"/>
            <a:ext cx="1064260" cy="233679"/>
            <a:chOff x="4847221" y="5298694"/>
            <a:chExt cx="1064260" cy="233679"/>
          </a:xfrm>
        </p:grpSpPr>
        <p:sp>
          <p:nvSpPr>
            <p:cNvPr id="81" name="object 81"/>
            <p:cNvSpPr/>
            <p:nvPr/>
          </p:nvSpPr>
          <p:spPr>
            <a:xfrm>
              <a:off x="4851793" y="5303266"/>
              <a:ext cx="1054100" cy="224154"/>
            </a:xfrm>
            <a:custGeom>
              <a:avLst/>
              <a:gdLst/>
              <a:ahLst/>
              <a:cxnLst/>
              <a:rect l="l" t="t" r="r" b="b"/>
              <a:pathLst>
                <a:path w="1054100" h="224154">
                  <a:moveTo>
                    <a:pt x="1053845" y="224027"/>
                  </a:moveTo>
                  <a:lnTo>
                    <a:pt x="1053845" y="0"/>
                  </a:lnTo>
                  <a:lnTo>
                    <a:pt x="0" y="0"/>
                  </a:lnTo>
                  <a:lnTo>
                    <a:pt x="0" y="224028"/>
                  </a:lnTo>
                  <a:lnTo>
                    <a:pt x="1053845" y="224027"/>
                  </a:lnTo>
                  <a:close/>
                </a:path>
              </a:pathLst>
            </a:custGeom>
            <a:solidFill>
              <a:srgbClr val="FFF0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847221" y="5298694"/>
              <a:ext cx="1064260" cy="233679"/>
            </a:xfrm>
            <a:custGeom>
              <a:avLst/>
              <a:gdLst/>
              <a:ahLst/>
              <a:cxnLst/>
              <a:rect l="l" t="t" r="r" b="b"/>
              <a:pathLst>
                <a:path w="1064260" h="233679">
                  <a:moveTo>
                    <a:pt x="1063752" y="233172"/>
                  </a:moveTo>
                  <a:lnTo>
                    <a:pt x="1063752" y="0"/>
                  </a:lnTo>
                  <a:lnTo>
                    <a:pt x="0" y="0"/>
                  </a:lnTo>
                  <a:lnTo>
                    <a:pt x="0" y="233172"/>
                  </a:lnTo>
                  <a:lnTo>
                    <a:pt x="4572" y="233172"/>
                  </a:ln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lnTo>
                    <a:pt x="1053845" y="9144"/>
                  </a:lnTo>
                  <a:lnTo>
                    <a:pt x="1053845" y="4572"/>
                  </a:lnTo>
                  <a:lnTo>
                    <a:pt x="1058405" y="9144"/>
                  </a:lnTo>
                  <a:lnTo>
                    <a:pt x="1058405" y="233172"/>
                  </a:lnTo>
                  <a:lnTo>
                    <a:pt x="1063752" y="233172"/>
                  </a:lnTo>
                  <a:close/>
                </a:path>
                <a:path w="1064260" h="233679">
                  <a:moveTo>
                    <a:pt x="9144" y="9144"/>
                  </a:move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close/>
                </a:path>
                <a:path w="1064260" h="233679">
                  <a:moveTo>
                    <a:pt x="9144" y="223266"/>
                  </a:moveTo>
                  <a:lnTo>
                    <a:pt x="9144" y="9144"/>
                  </a:lnTo>
                  <a:lnTo>
                    <a:pt x="4572" y="9144"/>
                  </a:lnTo>
                  <a:lnTo>
                    <a:pt x="4572" y="223266"/>
                  </a:lnTo>
                  <a:lnTo>
                    <a:pt x="9144" y="223266"/>
                  </a:lnTo>
                  <a:close/>
                </a:path>
                <a:path w="1064260" h="233679">
                  <a:moveTo>
                    <a:pt x="1058405" y="223266"/>
                  </a:moveTo>
                  <a:lnTo>
                    <a:pt x="4572" y="223266"/>
                  </a:lnTo>
                  <a:lnTo>
                    <a:pt x="9144" y="228600"/>
                  </a:lnTo>
                  <a:lnTo>
                    <a:pt x="9144" y="233172"/>
                  </a:lnTo>
                  <a:lnTo>
                    <a:pt x="1053845" y="233172"/>
                  </a:lnTo>
                  <a:lnTo>
                    <a:pt x="1053845" y="228600"/>
                  </a:lnTo>
                  <a:lnTo>
                    <a:pt x="1058405" y="223266"/>
                  </a:lnTo>
                  <a:close/>
                </a:path>
                <a:path w="1064260" h="233679">
                  <a:moveTo>
                    <a:pt x="9144" y="233172"/>
                  </a:moveTo>
                  <a:lnTo>
                    <a:pt x="9144" y="228600"/>
                  </a:lnTo>
                  <a:lnTo>
                    <a:pt x="4572" y="223266"/>
                  </a:lnTo>
                  <a:lnTo>
                    <a:pt x="4572" y="233172"/>
                  </a:lnTo>
                  <a:lnTo>
                    <a:pt x="9144" y="233172"/>
                  </a:lnTo>
                  <a:close/>
                </a:path>
                <a:path w="1064260" h="233679">
                  <a:moveTo>
                    <a:pt x="1058405" y="9144"/>
                  </a:moveTo>
                  <a:lnTo>
                    <a:pt x="1053845" y="4572"/>
                  </a:lnTo>
                  <a:lnTo>
                    <a:pt x="1053845" y="9144"/>
                  </a:lnTo>
                  <a:lnTo>
                    <a:pt x="1058405" y="9144"/>
                  </a:lnTo>
                  <a:close/>
                </a:path>
                <a:path w="1064260" h="233679">
                  <a:moveTo>
                    <a:pt x="1058405" y="223266"/>
                  </a:moveTo>
                  <a:lnTo>
                    <a:pt x="1058405" y="9144"/>
                  </a:lnTo>
                  <a:lnTo>
                    <a:pt x="1053845" y="9144"/>
                  </a:lnTo>
                  <a:lnTo>
                    <a:pt x="1053845" y="223266"/>
                  </a:lnTo>
                  <a:lnTo>
                    <a:pt x="1058405" y="223266"/>
                  </a:lnTo>
                  <a:close/>
                </a:path>
                <a:path w="1064260" h="233679">
                  <a:moveTo>
                    <a:pt x="1058405" y="233172"/>
                  </a:moveTo>
                  <a:lnTo>
                    <a:pt x="1058405" y="223266"/>
                  </a:lnTo>
                  <a:lnTo>
                    <a:pt x="1053845" y="228600"/>
                  </a:lnTo>
                  <a:lnTo>
                    <a:pt x="1053845" y="233172"/>
                  </a:lnTo>
                  <a:lnTo>
                    <a:pt x="1058405" y="233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4851793" y="5303265"/>
            <a:ext cx="1054100" cy="22415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40"/>
              </a:spcBef>
            </a:pPr>
            <a:r>
              <a:rPr sz="800" b="1" dirty="0">
                <a:latin typeface="Arial"/>
                <a:cs typeface="Arial"/>
              </a:rPr>
              <a:t>ACP</a:t>
            </a:r>
            <a:r>
              <a:rPr sz="800" b="1" spc="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AXI-</a:t>
            </a:r>
            <a:r>
              <a:rPr sz="800" b="1" dirty="0">
                <a:latin typeface="Arial"/>
                <a:cs typeface="Arial"/>
              </a:rPr>
              <a:t>3</a:t>
            </a:r>
            <a:r>
              <a:rPr sz="800" b="1" spc="10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Master</a:t>
            </a:r>
            <a:endParaRPr sz="800">
              <a:latin typeface="Arial"/>
              <a:cs typeface="Arial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7328293" y="3042411"/>
            <a:ext cx="1625600" cy="1066800"/>
          </a:xfrm>
          <a:custGeom>
            <a:avLst/>
            <a:gdLst/>
            <a:ahLst/>
            <a:cxnLst/>
            <a:rect l="l" t="t" r="r" b="b"/>
            <a:pathLst>
              <a:path w="1625600" h="1066800">
                <a:moveTo>
                  <a:pt x="1625346" y="546366"/>
                </a:moveTo>
                <a:lnTo>
                  <a:pt x="1621485" y="501307"/>
                </a:lnTo>
                <a:lnTo>
                  <a:pt x="1610271" y="458304"/>
                </a:lnTo>
                <a:lnTo>
                  <a:pt x="1592262" y="417830"/>
                </a:lnTo>
                <a:lnTo>
                  <a:pt x="1567992" y="380365"/>
                </a:lnTo>
                <a:lnTo>
                  <a:pt x="1538008" y="346367"/>
                </a:lnTo>
                <a:lnTo>
                  <a:pt x="1502854" y="316306"/>
                </a:lnTo>
                <a:lnTo>
                  <a:pt x="1463078" y="290652"/>
                </a:lnTo>
                <a:lnTo>
                  <a:pt x="1419237" y="269875"/>
                </a:lnTo>
                <a:lnTo>
                  <a:pt x="1371866" y="254457"/>
                </a:lnTo>
                <a:lnTo>
                  <a:pt x="1363268" y="252831"/>
                </a:lnTo>
                <a:lnTo>
                  <a:pt x="1357223" y="229704"/>
                </a:lnTo>
                <a:lnTo>
                  <a:pt x="1339138" y="189230"/>
                </a:lnTo>
                <a:lnTo>
                  <a:pt x="1314780" y="151765"/>
                </a:lnTo>
                <a:lnTo>
                  <a:pt x="1284693" y="117767"/>
                </a:lnTo>
                <a:lnTo>
                  <a:pt x="1249438" y="87706"/>
                </a:lnTo>
                <a:lnTo>
                  <a:pt x="1209560" y="62052"/>
                </a:lnTo>
                <a:lnTo>
                  <a:pt x="1165631" y="41275"/>
                </a:lnTo>
                <a:lnTo>
                  <a:pt x="1118184" y="25857"/>
                </a:lnTo>
                <a:lnTo>
                  <a:pt x="1067790" y="16268"/>
                </a:lnTo>
                <a:lnTo>
                  <a:pt x="1014984" y="12966"/>
                </a:lnTo>
                <a:lnTo>
                  <a:pt x="962164" y="16268"/>
                </a:lnTo>
                <a:lnTo>
                  <a:pt x="911771" y="25857"/>
                </a:lnTo>
                <a:lnTo>
                  <a:pt x="864323" y="41275"/>
                </a:lnTo>
                <a:lnTo>
                  <a:pt x="839444" y="53047"/>
                </a:lnTo>
                <a:lnTo>
                  <a:pt x="833335" y="49098"/>
                </a:lnTo>
                <a:lnTo>
                  <a:pt x="789495" y="28321"/>
                </a:lnTo>
                <a:lnTo>
                  <a:pt x="742175" y="12903"/>
                </a:lnTo>
                <a:lnTo>
                  <a:pt x="691934" y="3314"/>
                </a:lnTo>
                <a:lnTo>
                  <a:pt x="639318" y="0"/>
                </a:lnTo>
                <a:lnTo>
                  <a:pt x="586498" y="3314"/>
                </a:lnTo>
                <a:lnTo>
                  <a:pt x="536105" y="12903"/>
                </a:lnTo>
                <a:lnTo>
                  <a:pt x="488657" y="28321"/>
                </a:lnTo>
                <a:lnTo>
                  <a:pt x="444728" y="49098"/>
                </a:lnTo>
                <a:lnTo>
                  <a:pt x="404850" y="74752"/>
                </a:lnTo>
                <a:lnTo>
                  <a:pt x="369595" y="104813"/>
                </a:lnTo>
                <a:lnTo>
                  <a:pt x="339509" y="138811"/>
                </a:lnTo>
                <a:lnTo>
                  <a:pt x="315150" y="176276"/>
                </a:lnTo>
                <a:lnTo>
                  <a:pt x="301244" y="207403"/>
                </a:lnTo>
                <a:lnTo>
                  <a:pt x="254165" y="216357"/>
                </a:lnTo>
                <a:lnTo>
                  <a:pt x="206717" y="231775"/>
                </a:lnTo>
                <a:lnTo>
                  <a:pt x="162788" y="252552"/>
                </a:lnTo>
                <a:lnTo>
                  <a:pt x="122910" y="278206"/>
                </a:lnTo>
                <a:lnTo>
                  <a:pt x="87655" y="308267"/>
                </a:lnTo>
                <a:lnTo>
                  <a:pt x="57569" y="342265"/>
                </a:lnTo>
                <a:lnTo>
                  <a:pt x="33210" y="379730"/>
                </a:lnTo>
                <a:lnTo>
                  <a:pt x="15125" y="420204"/>
                </a:lnTo>
                <a:lnTo>
                  <a:pt x="3873" y="463207"/>
                </a:lnTo>
                <a:lnTo>
                  <a:pt x="0" y="508266"/>
                </a:lnTo>
                <a:lnTo>
                  <a:pt x="3873" y="553313"/>
                </a:lnTo>
                <a:lnTo>
                  <a:pt x="15125" y="596315"/>
                </a:lnTo>
                <a:lnTo>
                  <a:pt x="33210" y="636790"/>
                </a:lnTo>
                <a:lnTo>
                  <a:pt x="57569" y="674255"/>
                </a:lnTo>
                <a:lnTo>
                  <a:pt x="87655" y="708253"/>
                </a:lnTo>
                <a:lnTo>
                  <a:pt x="122910" y="738314"/>
                </a:lnTo>
                <a:lnTo>
                  <a:pt x="162788" y="763968"/>
                </a:lnTo>
                <a:lnTo>
                  <a:pt x="169595" y="767194"/>
                </a:lnTo>
                <a:lnTo>
                  <a:pt x="173037" y="807059"/>
                </a:lnTo>
                <a:lnTo>
                  <a:pt x="184289" y="850061"/>
                </a:lnTo>
                <a:lnTo>
                  <a:pt x="202374" y="890536"/>
                </a:lnTo>
                <a:lnTo>
                  <a:pt x="226733" y="928001"/>
                </a:lnTo>
                <a:lnTo>
                  <a:pt x="256819" y="961999"/>
                </a:lnTo>
                <a:lnTo>
                  <a:pt x="292074" y="992060"/>
                </a:lnTo>
                <a:lnTo>
                  <a:pt x="331952" y="1017714"/>
                </a:lnTo>
                <a:lnTo>
                  <a:pt x="375881" y="1038491"/>
                </a:lnTo>
                <a:lnTo>
                  <a:pt x="423329" y="1053909"/>
                </a:lnTo>
                <a:lnTo>
                  <a:pt x="473722" y="1063498"/>
                </a:lnTo>
                <a:lnTo>
                  <a:pt x="526529" y="1066800"/>
                </a:lnTo>
                <a:lnTo>
                  <a:pt x="579158" y="1063498"/>
                </a:lnTo>
                <a:lnTo>
                  <a:pt x="629399" y="1053909"/>
                </a:lnTo>
                <a:lnTo>
                  <a:pt x="676719" y="1038491"/>
                </a:lnTo>
                <a:lnTo>
                  <a:pt x="720559" y="1017714"/>
                </a:lnTo>
                <a:lnTo>
                  <a:pt x="760361" y="992060"/>
                </a:lnTo>
                <a:lnTo>
                  <a:pt x="795553" y="961999"/>
                </a:lnTo>
                <a:lnTo>
                  <a:pt x="802335" y="954328"/>
                </a:lnTo>
                <a:lnTo>
                  <a:pt x="836396" y="965454"/>
                </a:lnTo>
                <a:lnTo>
                  <a:pt x="886752" y="975093"/>
                </a:lnTo>
                <a:lnTo>
                  <a:pt x="939533" y="978420"/>
                </a:lnTo>
                <a:lnTo>
                  <a:pt x="992352" y="975093"/>
                </a:lnTo>
                <a:lnTo>
                  <a:pt x="1042746" y="965454"/>
                </a:lnTo>
                <a:lnTo>
                  <a:pt x="1090193" y="949972"/>
                </a:lnTo>
                <a:lnTo>
                  <a:pt x="1134122" y="929132"/>
                </a:lnTo>
                <a:lnTo>
                  <a:pt x="1174000" y="903414"/>
                </a:lnTo>
                <a:lnTo>
                  <a:pt x="1209255" y="873302"/>
                </a:lnTo>
                <a:lnTo>
                  <a:pt x="1230922" y="848804"/>
                </a:lnTo>
                <a:lnTo>
                  <a:pt x="1268730" y="851166"/>
                </a:lnTo>
                <a:lnTo>
                  <a:pt x="1321511" y="847852"/>
                </a:lnTo>
                <a:lnTo>
                  <a:pt x="1371866" y="838263"/>
                </a:lnTo>
                <a:lnTo>
                  <a:pt x="1419237" y="822845"/>
                </a:lnTo>
                <a:lnTo>
                  <a:pt x="1463078" y="802068"/>
                </a:lnTo>
                <a:lnTo>
                  <a:pt x="1502854" y="776414"/>
                </a:lnTo>
                <a:lnTo>
                  <a:pt x="1538008" y="746353"/>
                </a:lnTo>
                <a:lnTo>
                  <a:pt x="1567992" y="712355"/>
                </a:lnTo>
                <a:lnTo>
                  <a:pt x="1592262" y="674890"/>
                </a:lnTo>
                <a:lnTo>
                  <a:pt x="1610271" y="634415"/>
                </a:lnTo>
                <a:lnTo>
                  <a:pt x="1621485" y="591413"/>
                </a:lnTo>
                <a:lnTo>
                  <a:pt x="1625346" y="546366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7477131" y="3243834"/>
            <a:ext cx="1346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00" algn="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H/W</a:t>
            </a:r>
            <a:r>
              <a:rPr sz="1200" b="1" spc="-8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Accelerators 64-</a:t>
            </a:r>
            <a:r>
              <a:rPr sz="1200" b="1" dirty="0">
                <a:latin typeface="Arial"/>
                <a:cs typeface="Arial"/>
              </a:rPr>
              <a:t>bit Non-</a:t>
            </a:r>
            <a:r>
              <a:rPr sz="1200" b="1" spc="-10" dirty="0">
                <a:latin typeface="Arial"/>
                <a:cs typeface="Arial"/>
              </a:rPr>
              <a:t>cached </a:t>
            </a:r>
            <a:r>
              <a:rPr sz="1200" b="1" dirty="0">
                <a:latin typeface="Arial"/>
                <a:cs typeface="Arial"/>
              </a:rPr>
              <a:t>AXI-3</a:t>
            </a:r>
            <a:r>
              <a:rPr sz="1200" b="1" spc="33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Masters</a:t>
            </a:r>
            <a:endParaRPr sz="1200">
              <a:latin typeface="Arial"/>
              <a:cs typeface="Arial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139" y="5877052"/>
            <a:ext cx="9144000" cy="981075"/>
          </a:xfrm>
          <a:custGeom>
            <a:avLst/>
            <a:gdLst/>
            <a:ahLst/>
            <a:cxnLst/>
            <a:rect l="l" t="t" r="r" b="b"/>
            <a:pathLst>
              <a:path w="9144000" h="981075">
                <a:moveTo>
                  <a:pt x="9143999" y="980694"/>
                </a:moveTo>
                <a:lnTo>
                  <a:pt x="9143999" y="0"/>
                </a:lnTo>
                <a:lnTo>
                  <a:pt x="0" y="0"/>
                </a:lnTo>
                <a:lnTo>
                  <a:pt x="0" y="980694"/>
                </a:lnTo>
                <a:lnTo>
                  <a:pt x="9143999" y="9806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78873" y="5850635"/>
            <a:ext cx="8940800" cy="720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7495" indent="-264795">
              <a:lnSpc>
                <a:spcPts val="2205"/>
              </a:lnSpc>
              <a:spcBef>
                <a:spcPts val="95"/>
              </a:spcBef>
              <a:buClr>
                <a:srgbClr val="659A9A"/>
              </a:buClr>
              <a:buFont typeface="Wingdings"/>
              <a:buChar char=""/>
              <a:tabLst>
                <a:tab pos="277495" algn="l"/>
              </a:tabLst>
            </a:pPr>
            <a:r>
              <a:rPr sz="2000" spc="-20" dirty="0">
                <a:latin typeface="Arial MT"/>
                <a:cs typeface="Arial MT"/>
              </a:rPr>
              <a:t>Three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AXI-</a:t>
            </a:r>
            <a:r>
              <a:rPr sz="2000" dirty="0">
                <a:latin typeface="Arial MT"/>
                <a:cs typeface="Arial MT"/>
              </a:rPr>
              <a:t>buses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Cortex-</a:t>
            </a:r>
            <a:r>
              <a:rPr sz="2000" spc="-25" dirty="0">
                <a:latin typeface="Arial MT"/>
                <a:cs typeface="Arial MT"/>
              </a:rPr>
              <a:t>A9</a:t>
            </a:r>
            <a:endParaRPr sz="2000" dirty="0">
              <a:latin typeface="Arial MT"/>
              <a:cs typeface="Arial MT"/>
            </a:endParaRPr>
          </a:p>
          <a:p>
            <a:pPr marL="734695" lvl="1" indent="-278130">
              <a:lnSpc>
                <a:spcPts val="1535"/>
              </a:lnSpc>
              <a:buClr>
                <a:srgbClr val="659A9A"/>
              </a:buClr>
              <a:buFont typeface="Wingdings"/>
              <a:buChar char=""/>
              <a:tabLst>
                <a:tab pos="734695" algn="l"/>
              </a:tabLst>
            </a:pPr>
            <a:r>
              <a:rPr sz="1600" dirty="0">
                <a:latin typeface="Arial MT"/>
                <a:cs typeface="Arial MT"/>
              </a:rPr>
              <a:t>ACP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port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provides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coherent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access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L1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lang="en-US" sz="1600" spc="-15" dirty="0">
                <a:latin typeface="Arial MT"/>
                <a:cs typeface="Arial MT"/>
              </a:rPr>
              <a:t>a</a:t>
            </a:r>
            <a:r>
              <a:rPr sz="1600" dirty="0">
                <a:latin typeface="Arial MT"/>
                <a:cs typeface="Arial MT"/>
              </a:rPr>
              <a:t>nd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L2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caches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through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Snoop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Control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Unit</a:t>
            </a:r>
            <a:endParaRPr sz="1600" dirty="0">
              <a:latin typeface="Arial MT"/>
              <a:cs typeface="Arial MT"/>
            </a:endParaRPr>
          </a:p>
          <a:p>
            <a:pPr marL="734695" lvl="1" indent="-278130">
              <a:lnSpc>
                <a:spcPts val="1730"/>
              </a:lnSpc>
              <a:buClr>
                <a:srgbClr val="659A9A"/>
              </a:buClr>
              <a:buFont typeface="Wingdings"/>
              <a:buChar char=""/>
              <a:tabLst>
                <a:tab pos="734695" algn="l"/>
              </a:tabLst>
            </a:pPr>
            <a:r>
              <a:rPr sz="1600" spc="-35" dirty="0">
                <a:latin typeface="Arial MT"/>
                <a:cs typeface="Arial MT"/>
              </a:rPr>
              <a:t>Two</a:t>
            </a:r>
            <a:r>
              <a:rPr sz="1600" spc="-10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AXI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masters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off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L2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cache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provide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8GB/s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500Mhz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access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main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SoC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bus</a:t>
            </a:r>
            <a:endParaRPr sz="16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58467" y="152145"/>
            <a:ext cx="10160" cy="1524000"/>
          </a:xfrm>
          <a:custGeom>
            <a:avLst/>
            <a:gdLst/>
            <a:ahLst/>
            <a:cxnLst/>
            <a:rect l="l" t="t" r="r" b="b"/>
            <a:pathLst>
              <a:path w="10159" h="1524000">
                <a:moveTo>
                  <a:pt x="9905" y="1524000"/>
                </a:moveTo>
                <a:lnTo>
                  <a:pt x="9905" y="0"/>
                </a:lnTo>
                <a:lnTo>
                  <a:pt x="0" y="0"/>
                </a:lnTo>
                <a:lnTo>
                  <a:pt x="0" y="1524000"/>
                </a:lnTo>
                <a:lnTo>
                  <a:pt x="9905" y="1524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3527" y="152146"/>
            <a:ext cx="120396" cy="1203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21941" y="152146"/>
            <a:ext cx="118872" cy="1203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90343" y="152146"/>
            <a:ext cx="113538" cy="1203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53527" y="320548"/>
            <a:ext cx="120396" cy="11506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21941" y="320548"/>
            <a:ext cx="118872" cy="1150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90343" y="320548"/>
            <a:ext cx="113538" cy="11506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657970" y="320548"/>
            <a:ext cx="109727" cy="11506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153527" y="488187"/>
            <a:ext cx="120396" cy="10972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321941" y="488187"/>
            <a:ext cx="118872" cy="10972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490343" y="488187"/>
            <a:ext cx="113538" cy="10972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657970" y="488187"/>
            <a:ext cx="109727" cy="10972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153527" y="656590"/>
            <a:ext cx="120396" cy="11963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826372" y="488187"/>
            <a:ext cx="119633" cy="10972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321941" y="656590"/>
            <a:ext cx="118872" cy="11963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490343" y="656590"/>
            <a:ext cx="113538" cy="11963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657970" y="656590"/>
            <a:ext cx="109727" cy="11963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153527" y="824230"/>
            <a:ext cx="120396" cy="11963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321941" y="824230"/>
            <a:ext cx="118872" cy="11963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490343" y="824230"/>
            <a:ext cx="113538" cy="11963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657970" y="824230"/>
            <a:ext cx="109727" cy="11963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826372" y="824230"/>
            <a:ext cx="119633" cy="11963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153527" y="991869"/>
            <a:ext cx="120396" cy="118872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490343" y="991869"/>
            <a:ext cx="113538" cy="118872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321941" y="991869"/>
            <a:ext cx="118872" cy="118872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657970" y="991869"/>
            <a:ext cx="109727" cy="118872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8153527" y="1160272"/>
            <a:ext cx="120396" cy="112013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8490343" y="1160272"/>
            <a:ext cx="113538" cy="112013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8321941" y="1160272"/>
            <a:ext cx="118872" cy="11201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8321941" y="1327912"/>
            <a:ext cx="118872" cy="119634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8657970" y="1160272"/>
            <a:ext cx="109727" cy="112013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8657970" y="1327912"/>
            <a:ext cx="109727" cy="119634"/>
          </a:xfrm>
          <a:prstGeom prst="rect">
            <a:avLst/>
          </a:prstGeom>
        </p:spPr>
      </p:pic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04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Tilera</a:t>
            </a:r>
            <a:r>
              <a:rPr spc="-80" dirty="0"/>
              <a:t> </a:t>
            </a:r>
            <a:r>
              <a:rPr dirty="0"/>
              <a:t>Gx</a:t>
            </a:r>
            <a:r>
              <a:rPr spc="-85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5" name="object 35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25157" y="943863"/>
            <a:ext cx="7965186" cy="5437632"/>
          </a:xfrm>
          <a:prstGeom prst="rect">
            <a:avLst/>
          </a:prstGeom>
        </p:spPr>
      </p:pic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January</a:t>
            </a:r>
            <a:r>
              <a:rPr spc="-40" dirty="0"/>
              <a:t> </a:t>
            </a:r>
            <a:r>
              <a:rPr dirty="0"/>
              <a:t>25,</a:t>
            </a:r>
            <a:r>
              <a:rPr spc="-30" dirty="0"/>
              <a:t> </a:t>
            </a:r>
            <a:r>
              <a:rPr spc="-20" dirty="0"/>
              <a:t>2011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C937CDA0-ED07-473F-A972-8CFB992AD74F}" type="datetime1">
              <a:rPr lang="en-US" spc="-10" smtClean="0"/>
              <a:t>9/10/2025</a:t>
            </a:fld>
            <a:endParaRPr spc="-10" dirty="0"/>
          </a:p>
        </p:txBody>
      </p:sp>
      <p:sp>
        <p:nvSpPr>
          <p:cNvPr id="38" name="object 38"/>
          <p:cNvSpPr txBox="1"/>
          <p:nvPr/>
        </p:nvSpPr>
        <p:spPr>
          <a:xfrm>
            <a:off x="8439437" y="6289409"/>
            <a:ext cx="16764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25" dirty="0">
                <a:latin typeface="Arial MT"/>
                <a:cs typeface="Arial MT"/>
              </a:rPr>
              <a:t>11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EBC3288-4791-3D95-5B44-F2F7566C2259}"/>
              </a:ext>
            </a:extLst>
          </p:cNvPr>
          <p:cNvSpPr txBox="1"/>
          <p:nvPr/>
        </p:nvSpPr>
        <p:spPr>
          <a:xfrm>
            <a:off x="898386" y="6457048"/>
            <a:ext cx="7255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</a:t>
            </a:r>
            <a:r>
              <a:rPr lang="en-US" sz="1400" dirty="0">
                <a:hlinkClick r:id="rId34"/>
              </a:rPr>
              <a:t>https://www.pcmag.com/encyclopedia/term/tile-gx</a:t>
            </a:r>
            <a:r>
              <a:rPr lang="en-US" sz="1400" dirty="0"/>
              <a:t> </a:t>
            </a:r>
          </a:p>
        </p:txBody>
      </p:sp>
    </p:spTree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1905000"/>
            <a:ext cx="6923297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272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Cache</a:t>
            </a:r>
            <a:r>
              <a:rPr sz="4800" spc="-135" dirty="0"/>
              <a:t> </a:t>
            </a:r>
            <a:r>
              <a:rPr sz="4800" spc="-10" dirty="0"/>
              <a:t>Coherency</a:t>
            </a:r>
            <a:endParaRPr sz="4800" dirty="0"/>
          </a:p>
        </p:txBody>
      </p:sp>
    </p:spTree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073" y="750570"/>
            <a:ext cx="713549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Caches</a:t>
            </a:r>
            <a:r>
              <a:rPr spc="-100" dirty="0"/>
              <a:t> </a:t>
            </a:r>
            <a:r>
              <a:rPr dirty="0"/>
              <a:t>and</a:t>
            </a:r>
            <a:r>
              <a:rPr spc="-100" dirty="0"/>
              <a:t> </a:t>
            </a:r>
            <a:r>
              <a:rPr dirty="0"/>
              <a:t>Cache</a:t>
            </a:r>
            <a:r>
              <a:rPr spc="-100" dirty="0"/>
              <a:t> </a:t>
            </a:r>
            <a:r>
              <a:rPr spc="-10" dirty="0"/>
              <a:t>Coherence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447800"/>
            <a:ext cx="8011795" cy="407733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3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4965" algn="l"/>
              </a:tabLst>
            </a:pPr>
            <a:r>
              <a:rPr sz="2600" dirty="0">
                <a:latin typeface="Arial MT"/>
                <a:cs typeface="Arial MT"/>
              </a:rPr>
              <a:t>Caches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play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key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role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all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cases</a:t>
            </a:r>
            <a:endParaRPr sz="2600" dirty="0">
              <a:latin typeface="Arial MT"/>
              <a:cs typeface="Arial MT"/>
            </a:endParaRPr>
          </a:p>
          <a:p>
            <a:pPr marL="755015" lvl="1" indent="-285750">
              <a:lnSpc>
                <a:spcPct val="100000"/>
              </a:lnSpc>
              <a:spcBef>
                <a:spcPts val="545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755015" algn="l"/>
              </a:tabLst>
            </a:pPr>
            <a:r>
              <a:rPr sz="2200" dirty="0">
                <a:latin typeface="Arial MT"/>
                <a:cs typeface="Arial MT"/>
              </a:rPr>
              <a:t>Reduce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average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data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access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time</a:t>
            </a:r>
            <a:endParaRPr sz="2200" dirty="0">
              <a:latin typeface="Arial MT"/>
              <a:cs typeface="Arial MT"/>
            </a:endParaRPr>
          </a:p>
          <a:p>
            <a:pPr marL="755650" marR="1481455" lvl="1" indent="-285750">
              <a:lnSpc>
                <a:spcPct val="100000"/>
              </a:lnSpc>
              <a:spcBef>
                <a:spcPts val="530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755650" algn="l"/>
              </a:tabLst>
            </a:pPr>
            <a:r>
              <a:rPr sz="2200" dirty="0">
                <a:latin typeface="Arial MT"/>
                <a:cs typeface="Arial MT"/>
              </a:rPr>
              <a:t>Reduce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bandwidth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demands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placed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shared interconnect</a:t>
            </a:r>
            <a:endParaRPr sz="22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0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4965" algn="l"/>
              </a:tabLst>
            </a:pPr>
            <a:r>
              <a:rPr sz="2600" dirty="0">
                <a:latin typeface="Arial MT"/>
                <a:cs typeface="Arial MT"/>
              </a:rPr>
              <a:t>But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private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processor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caches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create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problem</a:t>
            </a:r>
            <a:endParaRPr sz="2600" dirty="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545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755015" algn="l"/>
              </a:tabLst>
            </a:pPr>
            <a:r>
              <a:rPr sz="2200" dirty="0">
                <a:latin typeface="Arial MT"/>
                <a:cs typeface="Arial MT"/>
              </a:rPr>
              <a:t>Copies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variable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can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present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multiple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caches</a:t>
            </a:r>
            <a:endParaRPr sz="2200" dirty="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530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755015" algn="l"/>
              </a:tabLst>
            </a:pPr>
            <a:r>
              <a:rPr sz="2200" dirty="0">
                <a:latin typeface="Arial MT"/>
                <a:cs typeface="Arial MT"/>
              </a:rPr>
              <a:t>A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write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processor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may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not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become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visible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others</a:t>
            </a:r>
            <a:endParaRPr sz="2200" dirty="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459"/>
              </a:spcBef>
              <a:buClr>
                <a:srgbClr val="CCCC00"/>
              </a:buClr>
              <a:buSzPct val="68421"/>
              <a:buFont typeface="Wingdings"/>
              <a:buChar char=""/>
              <a:tabLst>
                <a:tab pos="1155065" algn="l"/>
              </a:tabLst>
            </a:pPr>
            <a:r>
              <a:rPr sz="1900" dirty="0">
                <a:latin typeface="Arial MT"/>
                <a:cs typeface="Arial MT"/>
              </a:rPr>
              <a:t>They’ll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keep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accessing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stale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value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their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caches</a:t>
            </a:r>
            <a:endParaRPr sz="1900" dirty="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520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755015" algn="l"/>
              </a:tabLst>
            </a:pPr>
            <a:r>
              <a:rPr sz="2200" i="1" dirty="0">
                <a:latin typeface="Arial"/>
                <a:cs typeface="Arial"/>
              </a:rPr>
              <a:t>Cache</a:t>
            </a:r>
            <a:r>
              <a:rPr sz="2200" i="1" spc="-9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coherence</a:t>
            </a:r>
            <a:r>
              <a:rPr sz="2200" i="1" spc="-80" dirty="0">
                <a:latin typeface="Arial"/>
                <a:cs typeface="Arial"/>
              </a:rPr>
              <a:t> </a:t>
            </a:r>
            <a:r>
              <a:rPr sz="2200" spc="-10" dirty="0">
                <a:latin typeface="Arial MT"/>
                <a:cs typeface="Arial MT"/>
              </a:rPr>
              <a:t>problem</a:t>
            </a:r>
            <a:endParaRPr sz="2200" dirty="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530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755015" algn="l"/>
              </a:tabLst>
            </a:pPr>
            <a:r>
              <a:rPr sz="2200" dirty="0">
                <a:latin typeface="Arial MT"/>
                <a:cs typeface="Arial MT"/>
              </a:rPr>
              <a:t>Need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take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actions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ensure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visibility</a:t>
            </a:r>
            <a:endParaRPr sz="22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14" dirty="0"/>
              <a:t> </a:t>
            </a:r>
            <a:r>
              <a:rPr spc="-10" dirty="0"/>
              <a:t>Memories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9997" y="3526535"/>
            <a:ext cx="7899400" cy="2010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813435" indent="-342900">
              <a:lnSpc>
                <a:spcPct val="100000"/>
              </a:lnSpc>
              <a:spcBef>
                <a:spcPts val="100"/>
              </a:spcBef>
              <a:buClr>
                <a:srgbClr val="330065"/>
              </a:buClr>
              <a:buSzPct val="69354"/>
              <a:buFont typeface="Wingdings"/>
              <a:buChar char=""/>
              <a:tabLst>
                <a:tab pos="355600" algn="l"/>
              </a:tabLst>
            </a:pPr>
            <a:r>
              <a:rPr sz="3100" dirty="0">
                <a:latin typeface="Arial MT"/>
                <a:cs typeface="Arial MT"/>
              </a:rPr>
              <a:t>A</a:t>
            </a:r>
            <a:r>
              <a:rPr sz="3100" spc="-4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cache</a:t>
            </a:r>
            <a:r>
              <a:rPr sz="3100" spc="-5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memory</a:t>
            </a:r>
            <a:r>
              <a:rPr sz="3100" spc="-3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is</a:t>
            </a:r>
            <a:r>
              <a:rPr sz="3100" spc="-4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used</a:t>
            </a:r>
            <a:r>
              <a:rPr sz="3100" spc="-4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to</a:t>
            </a:r>
            <a:r>
              <a:rPr sz="3100" spc="-3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reduce</a:t>
            </a:r>
            <a:r>
              <a:rPr sz="3100" spc="-40" dirty="0">
                <a:latin typeface="Arial MT"/>
                <a:cs typeface="Arial MT"/>
              </a:rPr>
              <a:t> </a:t>
            </a:r>
            <a:r>
              <a:rPr sz="3100" spc="-25" dirty="0">
                <a:latin typeface="Arial MT"/>
                <a:cs typeface="Arial MT"/>
              </a:rPr>
              <a:t>the </a:t>
            </a:r>
            <a:r>
              <a:rPr sz="3100" dirty="0">
                <a:latin typeface="Arial MT"/>
                <a:cs typeface="Arial MT"/>
              </a:rPr>
              <a:t>access</a:t>
            </a:r>
            <a:r>
              <a:rPr sz="3100" spc="-5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time</a:t>
            </a:r>
            <a:r>
              <a:rPr sz="3100" spc="-3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to</a:t>
            </a:r>
            <a:r>
              <a:rPr sz="3100" spc="-3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memory</a:t>
            </a:r>
            <a:endParaRPr sz="31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745"/>
              </a:spcBef>
              <a:buClr>
                <a:srgbClr val="330065"/>
              </a:buClr>
              <a:buSzPct val="69354"/>
              <a:buFont typeface="Wingdings"/>
              <a:buChar char=""/>
              <a:tabLst>
                <a:tab pos="355600" algn="l"/>
              </a:tabLst>
            </a:pPr>
            <a:r>
              <a:rPr sz="3100" dirty="0">
                <a:latin typeface="Arial MT"/>
                <a:cs typeface="Arial MT"/>
              </a:rPr>
              <a:t>Cache</a:t>
            </a:r>
            <a:r>
              <a:rPr sz="3100" spc="-2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misses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can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occur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since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the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cache</a:t>
            </a:r>
            <a:r>
              <a:rPr sz="3100" spc="-25" dirty="0">
                <a:latin typeface="Arial MT"/>
                <a:cs typeface="Arial MT"/>
              </a:rPr>
              <a:t> is </a:t>
            </a:r>
            <a:r>
              <a:rPr sz="3100" dirty="0">
                <a:latin typeface="Arial MT"/>
                <a:cs typeface="Arial MT"/>
              </a:rPr>
              <a:t>much</a:t>
            </a:r>
            <a:r>
              <a:rPr sz="3100" spc="-5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smaller</a:t>
            </a:r>
            <a:r>
              <a:rPr sz="3100" spc="-5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than</a:t>
            </a:r>
            <a:r>
              <a:rPr sz="3100" spc="-5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the</a:t>
            </a:r>
            <a:r>
              <a:rPr sz="3100" spc="-5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memory</a:t>
            </a:r>
            <a:endParaRPr sz="31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00289" y="1892554"/>
            <a:ext cx="1550035" cy="1397000"/>
            <a:chOff x="1200289" y="1892554"/>
            <a:chExt cx="1550035" cy="1397000"/>
          </a:xfrm>
        </p:grpSpPr>
        <p:sp>
          <p:nvSpPr>
            <p:cNvPr id="5" name="object 5"/>
            <p:cNvSpPr/>
            <p:nvPr/>
          </p:nvSpPr>
          <p:spPr>
            <a:xfrm>
              <a:off x="1213243" y="1904746"/>
              <a:ext cx="1524000" cy="1371600"/>
            </a:xfrm>
            <a:custGeom>
              <a:avLst/>
              <a:gdLst/>
              <a:ahLst/>
              <a:cxnLst/>
              <a:rect l="l" t="t" r="r" b="b"/>
              <a:pathLst>
                <a:path w="1524000" h="1371600">
                  <a:moveTo>
                    <a:pt x="1524000" y="1371600"/>
                  </a:moveTo>
                  <a:lnTo>
                    <a:pt x="1524000" y="0"/>
                  </a:lnTo>
                  <a:lnTo>
                    <a:pt x="0" y="0"/>
                  </a:lnTo>
                  <a:lnTo>
                    <a:pt x="0" y="1371600"/>
                  </a:lnTo>
                  <a:lnTo>
                    <a:pt x="1524000" y="13716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0289" y="1892554"/>
              <a:ext cx="1550035" cy="1397000"/>
            </a:xfrm>
            <a:custGeom>
              <a:avLst/>
              <a:gdLst/>
              <a:ahLst/>
              <a:cxnLst/>
              <a:rect l="l" t="t" r="r" b="b"/>
              <a:pathLst>
                <a:path w="1550035" h="1397000">
                  <a:moveTo>
                    <a:pt x="1549908" y="1396746"/>
                  </a:moveTo>
                  <a:lnTo>
                    <a:pt x="1549908" y="0"/>
                  </a:lnTo>
                  <a:lnTo>
                    <a:pt x="0" y="0"/>
                  </a:lnTo>
                  <a:lnTo>
                    <a:pt x="0" y="1396746"/>
                  </a:lnTo>
                  <a:lnTo>
                    <a:pt x="12954" y="1396746"/>
                  </a:lnTo>
                  <a:lnTo>
                    <a:pt x="12954" y="25146"/>
                  </a:lnTo>
                  <a:lnTo>
                    <a:pt x="25907" y="12192"/>
                  </a:lnTo>
                  <a:lnTo>
                    <a:pt x="25907" y="25146"/>
                  </a:lnTo>
                  <a:lnTo>
                    <a:pt x="1524000" y="25145"/>
                  </a:lnTo>
                  <a:lnTo>
                    <a:pt x="1524000" y="12191"/>
                  </a:lnTo>
                  <a:lnTo>
                    <a:pt x="1536954" y="25145"/>
                  </a:lnTo>
                  <a:lnTo>
                    <a:pt x="1536954" y="1396746"/>
                  </a:lnTo>
                  <a:lnTo>
                    <a:pt x="1549908" y="1396746"/>
                  </a:lnTo>
                  <a:close/>
                </a:path>
                <a:path w="1550035" h="1397000">
                  <a:moveTo>
                    <a:pt x="25907" y="25146"/>
                  </a:moveTo>
                  <a:lnTo>
                    <a:pt x="25907" y="12192"/>
                  </a:lnTo>
                  <a:lnTo>
                    <a:pt x="12954" y="25146"/>
                  </a:lnTo>
                  <a:lnTo>
                    <a:pt x="25907" y="25146"/>
                  </a:lnTo>
                  <a:close/>
                </a:path>
                <a:path w="1550035" h="1397000">
                  <a:moveTo>
                    <a:pt x="25908" y="1371600"/>
                  </a:moveTo>
                  <a:lnTo>
                    <a:pt x="25907" y="25146"/>
                  </a:lnTo>
                  <a:lnTo>
                    <a:pt x="12954" y="25146"/>
                  </a:lnTo>
                  <a:lnTo>
                    <a:pt x="12954" y="1371600"/>
                  </a:lnTo>
                  <a:lnTo>
                    <a:pt x="25908" y="1371600"/>
                  </a:lnTo>
                  <a:close/>
                </a:path>
                <a:path w="1550035" h="1397000">
                  <a:moveTo>
                    <a:pt x="1536954" y="1371600"/>
                  </a:moveTo>
                  <a:lnTo>
                    <a:pt x="12954" y="1371600"/>
                  </a:lnTo>
                  <a:lnTo>
                    <a:pt x="25908" y="1383792"/>
                  </a:lnTo>
                  <a:lnTo>
                    <a:pt x="25908" y="1396746"/>
                  </a:lnTo>
                  <a:lnTo>
                    <a:pt x="1524000" y="1396746"/>
                  </a:lnTo>
                  <a:lnTo>
                    <a:pt x="1524000" y="1383792"/>
                  </a:lnTo>
                  <a:lnTo>
                    <a:pt x="1536954" y="1371600"/>
                  </a:lnTo>
                  <a:close/>
                </a:path>
                <a:path w="1550035" h="1397000">
                  <a:moveTo>
                    <a:pt x="25908" y="1396746"/>
                  </a:moveTo>
                  <a:lnTo>
                    <a:pt x="25908" y="1383792"/>
                  </a:lnTo>
                  <a:lnTo>
                    <a:pt x="12954" y="1371600"/>
                  </a:lnTo>
                  <a:lnTo>
                    <a:pt x="12954" y="1396746"/>
                  </a:lnTo>
                  <a:lnTo>
                    <a:pt x="25908" y="1396746"/>
                  </a:lnTo>
                  <a:close/>
                </a:path>
                <a:path w="1550035" h="1397000">
                  <a:moveTo>
                    <a:pt x="1536954" y="25145"/>
                  </a:moveTo>
                  <a:lnTo>
                    <a:pt x="1524000" y="12191"/>
                  </a:lnTo>
                  <a:lnTo>
                    <a:pt x="1524000" y="25145"/>
                  </a:lnTo>
                  <a:lnTo>
                    <a:pt x="1536954" y="25145"/>
                  </a:lnTo>
                  <a:close/>
                </a:path>
                <a:path w="1550035" h="1397000">
                  <a:moveTo>
                    <a:pt x="1536954" y="1371600"/>
                  </a:moveTo>
                  <a:lnTo>
                    <a:pt x="1536954" y="25145"/>
                  </a:lnTo>
                  <a:lnTo>
                    <a:pt x="1524000" y="25145"/>
                  </a:lnTo>
                  <a:lnTo>
                    <a:pt x="1524000" y="1371600"/>
                  </a:lnTo>
                  <a:lnTo>
                    <a:pt x="1536954" y="1371600"/>
                  </a:lnTo>
                  <a:close/>
                </a:path>
                <a:path w="1550035" h="1397000">
                  <a:moveTo>
                    <a:pt x="1536954" y="1396746"/>
                  </a:moveTo>
                  <a:lnTo>
                    <a:pt x="1536954" y="1371600"/>
                  </a:lnTo>
                  <a:lnTo>
                    <a:pt x="1524000" y="1383792"/>
                  </a:lnTo>
                  <a:lnTo>
                    <a:pt x="1524000" y="1396746"/>
                  </a:lnTo>
                  <a:lnTo>
                    <a:pt x="1536954" y="13967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49889" y="2423922"/>
            <a:ext cx="12496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Processor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14889" y="2035048"/>
            <a:ext cx="1245235" cy="1122680"/>
            <a:chOff x="3714889" y="2035048"/>
            <a:chExt cx="1245235" cy="1122680"/>
          </a:xfrm>
        </p:grpSpPr>
        <p:sp>
          <p:nvSpPr>
            <p:cNvPr id="9" name="object 9"/>
            <p:cNvSpPr/>
            <p:nvPr/>
          </p:nvSpPr>
          <p:spPr>
            <a:xfrm>
              <a:off x="3727843" y="2048002"/>
              <a:ext cx="1219200" cy="1097280"/>
            </a:xfrm>
            <a:custGeom>
              <a:avLst/>
              <a:gdLst/>
              <a:ahLst/>
              <a:cxnLst/>
              <a:rect l="l" t="t" r="r" b="b"/>
              <a:pathLst>
                <a:path w="1219200" h="1097280">
                  <a:moveTo>
                    <a:pt x="1219200" y="1097279"/>
                  </a:moveTo>
                  <a:lnTo>
                    <a:pt x="1219200" y="0"/>
                  </a:lnTo>
                  <a:lnTo>
                    <a:pt x="0" y="0"/>
                  </a:lnTo>
                  <a:lnTo>
                    <a:pt x="0" y="1097279"/>
                  </a:lnTo>
                  <a:lnTo>
                    <a:pt x="1219200" y="1097279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14889" y="2035048"/>
              <a:ext cx="1245235" cy="1122680"/>
            </a:xfrm>
            <a:custGeom>
              <a:avLst/>
              <a:gdLst/>
              <a:ahLst/>
              <a:cxnLst/>
              <a:rect l="l" t="t" r="r" b="b"/>
              <a:pathLst>
                <a:path w="1245235" h="1122680">
                  <a:moveTo>
                    <a:pt x="1245108" y="1122426"/>
                  </a:moveTo>
                  <a:lnTo>
                    <a:pt x="1245108" y="0"/>
                  </a:lnTo>
                  <a:lnTo>
                    <a:pt x="0" y="0"/>
                  </a:lnTo>
                  <a:lnTo>
                    <a:pt x="0" y="1122426"/>
                  </a:lnTo>
                  <a:lnTo>
                    <a:pt x="12953" y="1122426"/>
                  </a:lnTo>
                  <a:lnTo>
                    <a:pt x="12953" y="25907"/>
                  </a:lnTo>
                  <a:lnTo>
                    <a:pt x="25907" y="12953"/>
                  </a:lnTo>
                  <a:lnTo>
                    <a:pt x="25907" y="25907"/>
                  </a:lnTo>
                  <a:lnTo>
                    <a:pt x="1219200" y="25907"/>
                  </a:lnTo>
                  <a:lnTo>
                    <a:pt x="1219200" y="12953"/>
                  </a:lnTo>
                  <a:lnTo>
                    <a:pt x="1232153" y="25907"/>
                  </a:lnTo>
                  <a:lnTo>
                    <a:pt x="1232153" y="1122426"/>
                  </a:lnTo>
                  <a:lnTo>
                    <a:pt x="1245108" y="1122426"/>
                  </a:lnTo>
                  <a:close/>
                </a:path>
                <a:path w="1245235" h="1122680">
                  <a:moveTo>
                    <a:pt x="25907" y="25907"/>
                  </a:moveTo>
                  <a:lnTo>
                    <a:pt x="25907" y="12953"/>
                  </a:lnTo>
                  <a:lnTo>
                    <a:pt x="12953" y="25907"/>
                  </a:lnTo>
                  <a:lnTo>
                    <a:pt x="25907" y="25907"/>
                  </a:lnTo>
                  <a:close/>
                </a:path>
                <a:path w="1245235" h="1122680">
                  <a:moveTo>
                    <a:pt x="25907" y="1097279"/>
                  </a:moveTo>
                  <a:lnTo>
                    <a:pt x="25907" y="25907"/>
                  </a:lnTo>
                  <a:lnTo>
                    <a:pt x="12953" y="25907"/>
                  </a:lnTo>
                  <a:lnTo>
                    <a:pt x="12953" y="1097279"/>
                  </a:lnTo>
                  <a:lnTo>
                    <a:pt x="25907" y="1097279"/>
                  </a:lnTo>
                  <a:close/>
                </a:path>
                <a:path w="1245235" h="1122680">
                  <a:moveTo>
                    <a:pt x="1232153" y="1097279"/>
                  </a:moveTo>
                  <a:lnTo>
                    <a:pt x="12953" y="1097279"/>
                  </a:lnTo>
                  <a:lnTo>
                    <a:pt x="25907" y="1110234"/>
                  </a:lnTo>
                  <a:lnTo>
                    <a:pt x="25907" y="1122426"/>
                  </a:lnTo>
                  <a:lnTo>
                    <a:pt x="1219200" y="1122426"/>
                  </a:lnTo>
                  <a:lnTo>
                    <a:pt x="1219200" y="1110234"/>
                  </a:lnTo>
                  <a:lnTo>
                    <a:pt x="1232153" y="1097279"/>
                  </a:lnTo>
                  <a:close/>
                </a:path>
                <a:path w="1245235" h="1122680">
                  <a:moveTo>
                    <a:pt x="25907" y="1122426"/>
                  </a:moveTo>
                  <a:lnTo>
                    <a:pt x="25907" y="1110234"/>
                  </a:lnTo>
                  <a:lnTo>
                    <a:pt x="12953" y="1097279"/>
                  </a:lnTo>
                  <a:lnTo>
                    <a:pt x="12953" y="1122426"/>
                  </a:lnTo>
                  <a:lnTo>
                    <a:pt x="25907" y="1122426"/>
                  </a:lnTo>
                  <a:close/>
                </a:path>
                <a:path w="1245235" h="1122680">
                  <a:moveTo>
                    <a:pt x="1232153" y="25907"/>
                  </a:moveTo>
                  <a:lnTo>
                    <a:pt x="1219200" y="12953"/>
                  </a:lnTo>
                  <a:lnTo>
                    <a:pt x="1219200" y="25907"/>
                  </a:lnTo>
                  <a:lnTo>
                    <a:pt x="1232153" y="25907"/>
                  </a:lnTo>
                  <a:close/>
                </a:path>
                <a:path w="1245235" h="1122680">
                  <a:moveTo>
                    <a:pt x="1232153" y="1097279"/>
                  </a:moveTo>
                  <a:lnTo>
                    <a:pt x="1232153" y="25907"/>
                  </a:lnTo>
                  <a:lnTo>
                    <a:pt x="1219200" y="25907"/>
                  </a:lnTo>
                  <a:lnTo>
                    <a:pt x="1219200" y="1097279"/>
                  </a:lnTo>
                  <a:lnTo>
                    <a:pt x="1232153" y="1097279"/>
                  </a:lnTo>
                  <a:close/>
                </a:path>
                <a:path w="1245235" h="1122680">
                  <a:moveTo>
                    <a:pt x="1232153" y="1122426"/>
                  </a:moveTo>
                  <a:lnTo>
                    <a:pt x="1232153" y="1097279"/>
                  </a:lnTo>
                  <a:lnTo>
                    <a:pt x="1219200" y="1110234"/>
                  </a:lnTo>
                  <a:lnTo>
                    <a:pt x="1219200" y="1122426"/>
                  </a:lnTo>
                  <a:lnTo>
                    <a:pt x="1232153" y="11224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37641" y="2429256"/>
            <a:ext cx="7994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Cache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924677" y="1740154"/>
            <a:ext cx="1397635" cy="1701800"/>
            <a:chOff x="5924677" y="1740154"/>
            <a:chExt cx="1397635" cy="1701800"/>
          </a:xfrm>
        </p:grpSpPr>
        <p:sp>
          <p:nvSpPr>
            <p:cNvPr id="13" name="object 13"/>
            <p:cNvSpPr/>
            <p:nvPr/>
          </p:nvSpPr>
          <p:spPr>
            <a:xfrm>
              <a:off x="5937643" y="1752346"/>
              <a:ext cx="1371600" cy="1676400"/>
            </a:xfrm>
            <a:custGeom>
              <a:avLst/>
              <a:gdLst/>
              <a:ahLst/>
              <a:cxnLst/>
              <a:rect l="l" t="t" r="r" b="b"/>
              <a:pathLst>
                <a:path w="1371600" h="1676400">
                  <a:moveTo>
                    <a:pt x="1371600" y="1676400"/>
                  </a:moveTo>
                  <a:lnTo>
                    <a:pt x="1371600" y="0"/>
                  </a:lnTo>
                  <a:lnTo>
                    <a:pt x="0" y="0"/>
                  </a:lnTo>
                  <a:lnTo>
                    <a:pt x="0" y="1676400"/>
                  </a:lnTo>
                  <a:lnTo>
                    <a:pt x="1371600" y="16764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24677" y="1740154"/>
              <a:ext cx="1397635" cy="1701800"/>
            </a:xfrm>
            <a:custGeom>
              <a:avLst/>
              <a:gdLst/>
              <a:ahLst/>
              <a:cxnLst/>
              <a:rect l="l" t="t" r="r" b="b"/>
              <a:pathLst>
                <a:path w="1397634" h="1701800">
                  <a:moveTo>
                    <a:pt x="1397507" y="1701545"/>
                  </a:moveTo>
                  <a:lnTo>
                    <a:pt x="1397507" y="0"/>
                  </a:lnTo>
                  <a:lnTo>
                    <a:pt x="0" y="0"/>
                  </a:lnTo>
                  <a:lnTo>
                    <a:pt x="0" y="1701545"/>
                  </a:lnTo>
                  <a:lnTo>
                    <a:pt x="12966" y="1701545"/>
                  </a:lnTo>
                  <a:lnTo>
                    <a:pt x="12966" y="25145"/>
                  </a:lnTo>
                  <a:lnTo>
                    <a:pt x="25907" y="12191"/>
                  </a:lnTo>
                  <a:lnTo>
                    <a:pt x="25907" y="25145"/>
                  </a:lnTo>
                  <a:lnTo>
                    <a:pt x="1371600" y="25145"/>
                  </a:lnTo>
                  <a:lnTo>
                    <a:pt x="1371600" y="12191"/>
                  </a:lnTo>
                  <a:lnTo>
                    <a:pt x="1384566" y="25145"/>
                  </a:lnTo>
                  <a:lnTo>
                    <a:pt x="1384566" y="1701545"/>
                  </a:lnTo>
                  <a:lnTo>
                    <a:pt x="1397507" y="1701545"/>
                  </a:lnTo>
                  <a:close/>
                </a:path>
                <a:path w="1397634" h="1701800">
                  <a:moveTo>
                    <a:pt x="25907" y="25145"/>
                  </a:moveTo>
                  <a:lnTo>
                    <a:pt x="25907" y="12191"/>
                  </a:lnTo>
                  <a:lnTo>
                    <a:pt x="12966" y="25145"/>
                  </a:lnTo>
                  <a:lnTo>
                    <a:pt x="25907" y="25145"/>
                  </a:lnTo>
                  <a:close/>
                </a:path>
                <a:path w="1397634" h="1701800">
                  <a:moveTo>
                    <a:pt x="25907" y="1676399"/>
                  </a:moveTo>
                  <a:lnTo>
                    <a:pt x="25907" y="25145"/>
                  </a:lnTo>
                  <a:lnTo>
                    <a:pt x="12966" y="25145"/>
                  </a:lnTo>
                  <a:lnTo>
                    <a:pt x="12966" y="1676399"/>
                  </a:lnTo>
                  <a:lnTo>
                    <a:pt x="25907" y="1676399"/>
                  </a:lnTo>
                  <a:close/>
                </a:path>
                <a:path w="1397634" h="1701800">
                  <a:moveTo>
                    <a:pt x="1384566" y="1676399"/>
                  </a:moveTo>
                  <a:lnTo>
                    <a:pt x="12966" y="1676399"/>
                  </a:lnTo>
                  <a:lnTo>
                    <a:pt x="25907" y="1688591"/>
                  </a:lnTo>
                  <a:lnTo>
                    <a:pt x="25907" y="1701545"/>
                  </a:lnTo>
                  <a:lnTo>
                    <a:pt x="1371600" y="1701545"/>
                  </a:lnTo>
                  <a:lnTo>
                    <a:pt x="1371600" y="1688591"/>
                  </a:lnTo>
                  <a:lnTo>
                    <a:pt x="1384566" y="1676399"/>
                  </a:lnTo>
                  <a:close/>
                </a:path>
                <a:path w="1397634" h="1701800">
                  <a:moveTo>
                    <a:pt x="25907" y="1701545"/>
                  </a:moveTo>
                  <a:lnTo>
                    <a:pt x="25907" y="1688591"/>
                  </a:lnTo>
                  <a:lnTo>
                    <a:pt x="12966" y="1676399"/>
                  </a:lnTo>
                  <a:lnTo>
                    <a:pt x="12966" y="1701545"/>
                  </a:lnTo>
                  <a:lnTo>
                    <a:pt x="25907" y="1701545"/>
                  </a:lnTo>
                  <a:close/>
                </a:path>
                <a:path w="1397634" h="1701800">
                  <a:moveTo>
                    <a:pt x="1384566" y="25145"/>
                  </a:moveTo>
                  <a:lnTo>
                    <a:pt x="1371600" y="12191"/>
                  </a:lnTo>
                  <a:lnTo>
                    <a:pt x="1371600" y="25145"/>
                  </a:lnTo>
                  <a:lnTo>
                    <a:pt x="1384566" y="25145"/>
                  </a:lnTo>
                  <a:close/>
                </a:path>
                <a:path w="1397634" h="1701800">
                  <a:moveTo>
                    <a:pt x="1384566" y="1676399"/>
                  </a:moveTo>
                  <a:lnTo>
                    <a:pt x="1384566" y="25145"/>
                  </a:lnTo>
                  <a:lnTo>
                    <a:pt x="1371600" y="25145"/>
                  </a:lnTo>
                  <a:lnTo>
                    <a:pt x="1371600" y="1676399"/>
                  </a:lnTo>
                  <a:lnTo>
                    <a:pt x="1384566" y="1676399"/>
                  </a:lnTo>
                  <a:close/>
                </a:path>
                <a:path w="1397634" h="1701800">
                  <a:moveTo>
                    <a:pt x="1384566" y="1701545"/>
                  </a:moveTo>
                  <a:lnTo>
                    <a:pt x="1384566" y="1676399"/>
                  </a:lnTo>
                  <a:lnTo>
                    <a:pt x="1371600" y="1688591"/>
                  </a:lnTo>
                  <a:lnTo>
                    <a:pt x="1371600" y="1701545"/>
                  </a:lnTo>
                  <a:lnTo>
                    <a:pt x="1384566" y="17015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097871" y="2271522"/>
            <a:ext cx="10496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3995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Verdana"/>
                <a:cs typeface="Verdana"/>
              </a:rPr>
              <a:t>Main </a:t>
            </a:r>
            <a:r>
              <a:rPr sz="2000" spc="-10" dirty="0">
                <a:latin typeface="Verdana"/>
                <a:cs typeface="Verdana"/>
              </a:rPr>
              <a:t>Memory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50197" y="2553207"/>
            <a:ext cx="3175000" cy="81915"/>
          </a:xfrm>
          <a:custGeom>
            <a:avLst/>
            <a:gdLst/>
            <a:ahLst/>
            <a:cxnLst/>
            <a:rect l="l" t="t" r="r" b="b"/>
            <a:pathLst>
              <a:path w="3175000" h="81914">
                <a:moveTo>
                  <a:pt x="964692" y="44208"/>
                </a:moveTo>
                <a:lnTo>
                  <a:pt x="889254" y="5346"/>
                </a:lnTo>
                <a:lnTo>
                  <a:pt x="888987" y="31153"/>
                </a:lnTo>
                <a:lnTo>
                  <a:pt x="76200" y="25247"/>
                </a:lnTo>
                <a:lnTo>
                  <a:pt x="75946" y="25247"/>
                </a:lnTo>
                <a:lnTo>
                  <a:pt x="76200" y="12"/>
                </a:lnTo>
                <a:lnTo>
                  <a:pt x="0" y="37350"/>
                </a:lnTo>
                <a:lnTo>
                  <a:pt x="63246" y="69926"/>
                </a:lnTo>
                <a:lnTo>
                  <a:pt x="75438" y="76212"/>
                </a:lnTo>
                <a:lnTo>
                  <a:pt x="75679" y="51142"/>
                </a:lnTo>
                <a:lnTo>
                  <a:pt x="888492" y="56311"/>
                </a:lnTo>
                <a:lnTo>
                  <a:pt x="888733" y="56311"/>
                </a:lnTo>
                <a:lnTo>
                  <a:pt x="888492" y="81546"/>
                </a:lnTo>
                <a:lnTo>
                  <a:pt x="901446" y="75196"/>
                </a:lnTo>
                <a:lnTo>
                  <a:pt x="964692" y="44208"/>
                </a:lnTo>
                <a:close/>
              </a:path>
              <a:path w="3175000" h="81914">
                <a:moveTo>
                  <a:pt x="3174492" y="37338"/>
                </a:moveTo>
                <a:lnTo>
                  <a:pt x="3099054" y="381"/>
                </a:lnTo>
                <a:lnTo>
                  <a:pt x="3098800" y="254"/>
                </a:lnTo>
                <a:lnTo>
                  <a:pt x="3098533" y="127"/>
                </a:lnTo>
                <a:lnTo>
                  <a:pt x="3098292" y="0"/>
                </a:lnTo>
                <a:lnTo>
                  <a:pt x="3098533" y="25247"/>
                </a:lnTo>
                <a:lnTo>
                  <a:pt x="2286000" y="31153"/>
                </a:lnTo>
                <a:lnTo>
                  <a:pt x="2285492" y="31153"/>
                </a:lnTo>
                <a:lnTo>
                  <a:pt x="2285238" y="5334"/>
                </a:lnTo>
                <a:lnTo>
                  <a:pt x="2209800" y="44196"/>
                </a:lnTo>
                <a:lnTo>
                  <a:pt x="2273046" y="75196"/>
                </a:lnTo>
                <a:lnTo>
                  <a:pt x="2285238" y="81165"/>
                </a:lnTo>
                <a:lnTo>
                  <a:pt x="2285492" y="81292"/>
                </a:lnTo>
                <a:lnTo>
                  <a:pt x="2285746" y="81419"/>
                </a:lnTo>
                <a:lnTo>
                  <a:pt x="2286000" y="81534"/>
                </a:lnTo>
                <a:lnTo>
                  <a:pt x="2285746" y="56311"/>
                </a:lnTo>
                <a:lnTo>
                  <a:pt x="3098292" y="51142"/>
                </a:lnTo>
                <a:lnTo>
                  <a:pt x="3098800" y="51142"/>
                </a:lnTo>
                <a:lnTo>
                  <a:pt x="3099054" y="76200"/>
                </a:lnTo>
                <a:lnTo>
                  <a:pt x="3111246" y="69926"/>
                </a:lnTo>
                <a:lnTo>
                  <a:pt x="3174492" y="373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14" dirty="0"/>
              <a:t> </a:t>
            </a:r>
            <a:r>
              <a:rPr spc="-10" dirty="0"/>
              <a:t>Memories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9997" y="3526535"/>
            <a:ext cx="7551420" cy="2482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26695" indent="-342900">
              <a:lnSpc>
                <a:spcPct val="100000"/>
              </a:lnSpc>
              <a:spcBef>
                <a:spcPts val="100"/>
              </a:spcBef>
              <a:buClr>
                <a:srgbClr val="330065"/>
              </a:buClr>
              <a:buSzPct val="69354"/>
              <a:buFont typeface="Wingdings"/>
              <a:buChar char=""/>
              <a:tabLst>
                <a:tab pos="355600" algn="l"/>
              </a:tabLst>
            </a:pPr>
            <a:r>
              <a:rPr sz="3100" dirty="0">
                <a:latin typeface="Arial MT"/>
                <a:cs typeface="Arial MT"/>
              </a:rPr>
              <a:t>The</a:t>
            </a:r>
            <a:r>
              <a:rPr sz="3100" spc="-3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decision</a:t>
            </a:r>
            <a:r>
              <a:rPr sz="3100" spc="-3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which</a:t>
            </a:r>
            <a:r>
              <a:rPr sz="3100" spc="-3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parts</a:t>
            </a:r>
            <a:r>
              <a:rPr sz="3100" spc="-3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of</a:t>
            </a:r>
            <a:r>
              <a:rPr sz="3100" spc="-1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the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memory </a:t>
            </a:r>
            <a:r>
              <a:rPr sz="3100" dirty="0">
                <a:latin typeface="Arial MT"/>
                <a:cs typeface="Arial MT"/>
              </a:rPr>
              <a:t>reside</a:t>
            </a:r>
            <a:r>
              <a:rPr sz="3100" spc="-2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in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the</a:t>
            </a:r>
            <a:r>
              <a:rPr sz="3100" spc="-2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cache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is</a:t>
            </a:r>
            <a:r>
              <a:rPr sz="3100" spc="-2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taken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by</a:t>
            </a:r>
            <a:r>
              <a:rPr sz="3100" spc="-20" dirty="0">
                <a:latin typeface="Arial MT"/>
                <a:cs typeface="Arial MT"/>
              </a:rPr>
              <a:t> </a:t>
            </a:r>
            <a:r>
              <a:rPr sz="3100" spc="-50" dirty="0">
                <a:latin typeface="Arial MT"/>
                <a:cs typeface="Arial MT"/>
              </a:rPr>
              <a:t>a </a:t>
            </a:r>
            <a:r>
              <a:rPr sz="3100" spc="-25" dirty="0">
                <a:latin typeface="Arial MT"/>
                <a:cs typeface="Arial MT"/>
              </a:rPr>
              <a:t>replacement-</a:t>
            </a:r>
            <a:r>
              <a:rPr sz="3100" spc="-10" dirty="0">
                <a:latin typeface="Arial MT"/>
                <a:cs typeface="Arial MT"/>
              </a:rPr>
              <a:t>algorithm</a:t>
            </a:r>
            <a:endParaRPr sz="31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745"/>
              </a:spcBef>
              <a:buClr>
                <a:srgbClr val="330065"/>
              </a:buClr>
              <a:buSzPct val="69354"/>
              <a:buFont typeface="Wingdings"/>
              <a:buChar char=""/>
              <a:tabLst>
                <a:tab pos="355600" algn="l"/>
              </a:tabLst>
            </a:pPr>
            <a:r>
              <a:rPr sz="3100" dirty="0">
                <a:latin typeface="Arial MT"/>
                <a:cs typeface="Arial MT"/>
              </a:rPr>
              <a:t>There</a:t>
            </a:r>
            <a:r>
              <a:rPr sz="3100" spc="-4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are</a:t>
            </a:r>
            <a:r>
              <a:rPr sz="3100" spc="-4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different</a:t>
            </a:r>
            <a:r>
              <a:rPr sz="3100" spc="-45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protocols</a:t>
            </a:r>
            <a:r>
              <a:rPr sz="3100" spc="-4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for</a:t>
            </a:r>
            <a:r>
              <a:rPr sz="3100" spc="-30" dirty="0">
                <a:latin typeface="Arial MT"/>
                <a:cs typeface="Arial MT"/>
              </a:rPr>
              <a:t> </a:t>
            </a:r>
            <a:r>
              <a:rPr sz="3100" dirty="0">
                <a:latin typeface="Arial MT"/>
                <a:cs typeface="Arial MT"/>
              </a:rPr>
              <a:t>a</a:t>
            </a:r>
            <a:r>
              <a:rPr sz="3100" spc="-40" dirty="0">
                <a:latin typeface="Arial MT"/>
                <a:cs typeface="Arial MT"/>
              </a:rPr>
              <a:t> </a:t>
            </a:r>
            <a:r>
              <a:rPr sz="3100" spc="-20" dirty="0">
                <a:latin typeface="Arial MT"/>
                <a:cs typeface="Arial MT"/>
              </a:rPr>
              <a:t>write </a:t>
            </a:r>
            <a:r>
              <a:rPr sz="3100" dirty="0">
                <a:latin typeface="Arial MT"/>
                <a:cs typeface="Arial MT"/>
              </a:rPr>
              <a:t>operation:</a:t>
            </a:r>
            <a:r>
              <a:rPr sz="3100" spc="-80" dirty="0">
                <a:latin typeface="Arial MT"/>
                <a:cs typeface="Arial MT"/>
              </a:rPr>
              <a:t> </a:t>
            </a:r>
            <a:r>
              <a:rPr sz="3100" i="1" dirty="0">
                <a:latin typeface="Arial"/>
                <a:cs typeface="Arial"/>
              </a:rPr>
              <a:t>Write-Back</a:t>
            </a:r>
            <a:r>
              <a:rPr sz="3100" i="1" spc="-65" dirty="0">
                <a:latin typeface="Arial"/>
                <a:cs typeface="Arial"/>
              </a:rPr>
              <a:t> </a:t>
            </a:r>
            <a:r>
              <a:rPr sz="3100" dirty="0">
                <a:latin typeface="Arial MT"/>
                <a:cs typeface="Arial MT"/>
              </a:rPr>
              <a:t>and</a:t>
            </a:r>
            <a:r>
              <a:rPr sz="3100" spc="-50" dirty="0">
                <a:latin typeface="Arial MT"/>
                <a:cs typeface="Arial MT"/>
              </a:rPr>
              <a:t> </a:t>
            </a:r>
            <a:r>
              <a:rPr sz="3100" i="1" dirty="0">
                <a:latin typeface="Arial"/>
                <a:cs typeface="Arial"/>
              </a:rPr>
              <a:t>Write-</a:t>
            </a:r>
            <a:r>
              <a:rPr sz="3100" i="1" spc="-10" dirty="0">
                <a:latin typeface="Arial"/>
                <a:cs typeface="Arial"/>
              </a:rPr>
              <a:t>Through</a:t>
            </a:r>
            <a:endParaRPr sz="3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00289" y="1892554"/>
            <a:ext cx="1550035" cy="1397000"/>
            <a:chOff x="1200289" y="1892554"/>
            <a:chExt cx="1550035" cy="1397000"/>
          </a:xfrm>
        </p:grpSpPr>
        <p:sp>
          <p:nvSpPr>
            <p:cNvPr id="5" name="object 5"/>
            <p:cNvSpPr/>
            <p:nvPr/>
          </p:nvSpPr>
          <p:spPr>
            <a:xfrm>
              <a:off x="1213243" y="1904746"/>
              <a:ext cx="1524000" cy="1371600"/>
            </a:xfrm>
            <a:custGeom>
              <a:avLst/>
              <a:gdLst/>
              <a:ahLst/>
              <a:cxnLst/>
              <a:rect l="l" t="t" r="r" b="b"/>
              <a:pathLst>
                <a:path w="1524000" h="1371600">
                  <a:moveTo>
                    <a:pt x="1524000" y="1371600"/>
                  </a:moveTo>
                  <a:lnTo>
                    <a:pt x="1524000" y="0"/>
                  </a:lnTo>
                  <a:lnTo>
                    <a:pt x="0" y="0"/>
                  </a:lnTo>
                  <a:lnTo>
                    <a:pt x="0" y="1371600"/>
                  </a:lnTo>
                  <a:lnTo>
                    <a:pt x="1524000" y="13716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0289" y="1892554"/>
              <a:ext cx="1550035" cy="1397000"/>
            </a:xfrm>
            <a:custGeom>
              <a:avLst/>
              <a:gdLst/>
              <a:ahLst/>
              <a:cxnLst/>
              <a:rect l="l" t="t" r="r" b="b"/>
              <a:pathLst>
                <a:path w="1550035" h="1397000">
                  <a:moveTo>
                    <a:pt x="1549908" y="1396746"/>
                  </a:moveTo>
                  <a:lnTo>
                    <a:pt x="1549908" y="0"/>
                  </a:lnTo>
                  <a:lnTo>
                    <a:pt x="0" y="0"/>
                  </a:lnTo>
                  <a:lnTo>
                    <a:pt x="0" y="1396746"/>
                  </a:lnTo>
                  <a:lnTo>
                    <a:pt x="12954" y="1396746"/>
                  </a:lnTo>
                  <a:lnTo>
                    <a:pt x="12954" y="25146"/>
                  </a:lnTo>
                  <a:lnTo>
                    <a:pt x="25907" y="12192"/>
                  </a:lnTo>
                  <a:lnTo>
                    <a:pt x="25907" y="25146"/>
                  </a:lnTo>
                  <a:lnTo>
                    <a:pt x="1524000" y="25145"/>
                  </a:lnTo>
                  <a:lnTo>
                    <a:pt x="1524000" y="12191"/>
                  </a:lnTo>
                  <a:lnTo>
                    <a:pt x="1536954" y="25145"/>
                  </a:lnTo>
                  <a:lnTo>
                    <a:pt x="1536954" y="1396746"/>
                  </a:lnTo>
                  <a:lnTo>
                    <a:pt x="1549908" y="1396746"/>
                  </a:lnTo>
                  <a:close/>
                </a:path>
                <a:path w="1550035" h="1397000">
                  <a:moveTo>
                    <a:pt x="25907" y="25146"/>
                  </a:moveTo>
                  <a:lnTo>
                    <a:pt x="25907" y="12192"/>
                  </a:lnTo>
                  <a:lnTo>
                    <a:pt x="12954" y="25146"/>
                  </a:lnTo>
                  <a:lnTo>
                    <a:pt x="25907" y="25146"/>
                  </a:lnTo>
                  <a:close/>
                </a:path>
                <a:path w="1550035" h="1397000">
                  <a:moveTo>
                    <a:pt x="25908" y="1371600"/>
                  </a:moveTo>
                  <a:lnTo>
                    <a:pt x="25907" y="25146"/>
                  </a:lnTo>
                  <a:lnTo>
                    <a:pt x="12954" y="25146"/>
                  </a:lnTo>
                  <a:lnTo>
                    <a:pt x="12954" y="1371600"/>
                  </a:lnTo>
                  <a:lnTo>
                    <a:pt x="25908" y="1371600"/>
                  </a:lnTo>
                  <a:close/>
                </a:path>
                <a:path w="1550035" h="1397000">
                  <a:moveTo>
                    <a:pt x="1536954" y="1371600"/>
                  </a:moveTo>
                  <a:lnTo>
                    <a:pt x="12954" y="1371600"/>
                  </a:lnTo>
                  <a:lnTo>
                    <a:pt x="25908" y="1383792"/>
                  </a:lnTo>
                  <a:lnTo>
                    <a:pt x="25908" y="1396746"/>
                  </a:lnTo>
                  <a:lnTo>
                    <a:pt x="1524000" y="1396746"/>
                  </a:lnTo>
                  <a:lnTo>
                    <a:pt x="1524000" y="1383792"/>
                  </a:lnTo>
                  <a:lnTo>
                    <a:pt x="1536954" y="1371600"/>
                  </a:lnTo>
                  <a:close/>
                </a:path>
                <a:path w="1550035" h="1397000">
                  <a:moveTo>
                    <a:pt x="25908" y="1396746"/>
                  </a:moveTo>
                  <a:lnTo>
                    <a:pt x="25908" y="1383792"/>
                  </a:lnTo>
                  <a:lnTo>
                    <a:pt x="12954" y="1371600"/>
                  </a:lnTo>
                  <a:lnTo>
                    <a:pt x="12954" y="1396746"/>
                  </a:lnTo>
                  <a:lnTo>
                    <a:pt x="25908" y="1396746"/>
                  </a:lnTo>
                  <a:close/>
                </a:path>
                <a:path w="1550035" h="1397000">
                  <a:moveTo>
                    <a:pt x="1536954" y="25145"/>
                  </a:moveTo>
                  <a:lnTo>
                    <a:pt x="1524000" y="12191"/>
                  </a:lnTo>
                  <a:lnTo>
                    <a:pt x="1524000" y="25145"/>
                  </a:lnTo>
                  <a:lnTo>
                    <a:pt x="1536954" y="25145"/>
                  </a:lnTo>
                  <a:close/>
                </a:path>
                <a:path w="1550035" h="1397000">
                  <a:moveTo>
                    <a:pt x="1536954" y="1371600"/>
                  </a:moveTo>
                  <a:lnTo>
                    <a:pt x="1536954" y="25145"/>
                  </a:lnTo>
                  <a:lnTo>
                    <a:pt x="1524000" y="25145"/>
                  </a:lnTo>
                  <a:lnTo>
                    <a:pt x="1524000" y="1371600"/>
                  </a:lnTo>
                  <a:lnTo>
                    <a:pt x="1536954" y="1371600"/>
                  </a:lnTo>
                  <a:close/>
                </a:path>
                <a:path w="1550035" h="1397000">
                  <a:moveTo>
                    <a:pt x="1536954" y="1396746"/>
                  </a:moveTo>
                  <a:lnTo>
                    <a:pt x="1536954" y="1371600"/>
                  </a:lnTo>
                  <a:lnTo>
                    <a:pt x="1524000" y="1383792"/>
                  </a:lnTo>
                  <a:lnTo>
                    <a:pt x="1524000" y="1396746"/>
                  </a:lnTo>
                  <a:lnTo>
                    <a:pt x="1536954" y="13967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49889" y="2423922"/>
            <a:ext cx="12496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Processor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14889" y="2035048"/>
            <a:ext cx="1245235" cy="1122680"/>
            <a:chOff x="3714889" y="2035048"/>
            <a:chExt cx="1245235" cy="1122680"/>
          </a:xfrm>
        </p:grpSpPr>
        <p:sp>
          <p:nvSpPr>
            <p:cNvPr id="9" name="object 9"/>
            <p:cNvSpPr/>
            <p:nvPr/>
          </p:nvSpPr>
          <p:spPr>
            <a:xfrm>
              <a:off x="3727843" y="2048002"/>
              <a:ext cx="1219200" cy="1097280"/>
            </a:xfrm>
            <a:custGeom>
              <a:avLst/>
              <a:gdLst/>
              <a:ahLst/>
              <a:cxnLst/>
              <a:rect l="l" t="t" r="r" b="b"/>
              <a:pathLst>
                <a:path w="1219200" h="1097280">
                  <a:moveTo>
                    <a:pt x="1219200" y="1097279"/>
                  </a:moveTo>
                  <a:lnTo>
                    <a:pt x="1219200" y="0"/>
                  </a:lnTo>
                  <a:lnTo>
                    <a:pt x="0" y="0"/>
                  </a:lnTo>
                  <a:lnTo>
                    <a:pt x="0" y="1097279"/>
                  </a:lnTo>
                  <a:lnTo>
                    <a:pt x="1219200" y="1097279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14889" y="2035048"/>
              <a:ext cx="1245235" cy="1122680"/>
            </a:xfrm>
            <a:custGeom>
              <a:avLst/>
              <a:gdLst/>
              <a:ahLst/>
              <a:cxnLst/>
              <a:rect l="l" t="t" r="r" b="b"/>
              <a:pathLst>
                <a:path w="1245235" h="1122680">
                  <a:moveTo>
                    <a:pt x="1245108" y="1122426"/>
                  </a:moveTo>
                  <a:lnTo>
                    <a:pt x="1245108" y="0"/>
                  </a:lnTo>
                  <a:lnTo>
                    <a:pt x="0" y="0"/>
                  </a:lnTo>
                  <a:lnTo>
                    <a:pt x="0" y="1122426"/>
                  </a:lnTo>
                  <a:lnTo>
                    <a:pt x="12953" y="1122426"/>
                  </a:lnTo>
                  <a:lnTo>
                    <a:pt x="12953" y="25907"/>
                  </a:lnTo>
                  <a:lnTo>
                    <a:pt x="25907" y="12953"/>
                  </a:lnTo>
                  <a:lnTo>
                    <a:pt x="25907" y="25907"/>
                  </a:lnTo>
                  <a:lnTo>
                    <a:pt x="1219200" y="25907"/>
                  </a:lnTo>
                  <a:lnTo>
                    <a:pt x="1219200" y="12953"/>
                  </a:lnTo>
                  <a:lnTo>
                    <a:pt x="1232153" y="25907"/>
                  </a:lnTo>
                  <a:lnTo>
                    <a:pt x="1232153" y="1122426"/>
                  </a:lnTo>
                  <a:lnTo>
                    <a:pt x="1245108" y="1122426"/>
                  </a:lnTo>
                  <a:close/>
                </a:path>
                <a:path w="1245235" h="1122680">
                  <a:moveTo>
                    <a:pt x="25907" y="25907"/>
                  </a:moveTo>
                  <a:lnTo>
                    <a:pt x="25907" y="12953"/>
                  </a:lnTo>
                  <a:lnTo>
                    <a:pt x="12953" y="25907"/>
                  </a:lnTo>
                  <a:lnTo>
                    <a:pt x="25907" y="25907"/>
                  </a:lnTo>
                  <a:close/>
                </a:path>
                <a:path w="1245235" h="1122680">
                  <a:moveTo>
                    <a:pt x="25907" y="1097279"/>
                  </a:moveTo>
                  <a:lnTo>
                    <a:pt x="25907" y="25907"/>
                  </a:lnTo>
                  <a:lnTo>
                    <a:pt x="12953" y="25907"/>
                  </a:lnTo>
                  <a:lnTo>
                    <a:pt x="12953" y="1097279"/>
                  </a:lnTo>
                  <a:lnTo>
                    <a:pt x="25907" y="1097279"/>
                  </a:lnTo>
                  <a:close/>
                </a:path>
                <a:path w="1245235" h="1122680">
                  <a:moveTo>
                    <a:pt x="1232153" y="1097279"/>
                  </a:moveTo>
                  <a:lnTo>
                    <a:pt x="12953" y="1097279"/>
                  </a:lnTo>
                  <a:lnTo>
                    <a:pt x="25907" y="1110234"/>
                  </a:lnTo>
                  <a:lnTo>
                    <a:pt x="25907" y="1122426"/>
                  </a:lnTo>
                  <a:lnTo>
                    <a:pt x="1219200" y="1122426"/>
                  </a:lnTo>
                  <a:lnTo>
                    <a:pt x="1219200" y="1110234"/>
                  </a:lnTo>
                  <a:lnTo>
                    <a:pt x="1232153" y="1097279"/>
                  </a:lnTo>
                  <a:close/>
                </a:path>
                <a:path w="1245235" h="1122680">
                  <a:moveTo>
                    <a:pt x="25907" y="1122426"/>
                  </a:moveTo>
                  <a:lnTo>
                    <a:pt x="25907" y="1110234"/>
                  </a:lnTo>
                  <a:lnTo>
                    <a:pt x="12953" y="1097279"/>
                  </a:lnTo>
                  <a:lnTo>
                    <a:pt x="12953" y="1122426"/>
                  </a:lnTo>
                  <a:lnTo>
                    <a:pt x="25907" y="1122426"/>
                  </a:lnTo>
                  <a:close/>
                </a:path>
                <a:path w="1245235" h="1122680">
                  <a:moveTo>
                    <a:pt x="1232153" y="25907"/>
                  </a:moveTo>
                  <a:lnTo>
                    <a:pt x="1219200" y="12953"/>
                  </a:lnTo>
                  <a:lnTo>
                    <a:pt x="1219200" y="25907"/>
                  </a:lnTo>
                  <a:lnTo>
                    <a:pt x="1232153" y="25907"/>
                  </a:lnTo>
                  <a:close/>
                </a:path>
                <a:path w="1245235" h="1122680">
                  <a:moveTo>
                    <a:pt x="1232153" y="1097279"/>
                  </a:moveTo>
                  <a:lnTo>
                    <a:pt x="1232153" y="25907"/>
                  </a:lnTo>
                  <a:lnTo>
                    <a:pt x="1219200" y="25907"/>
                  </a:lnTo>
                  <a:lnTo>
                    <a:pt x="1219200" y="1097279"/>
                  </a:lnTo>
                  <a:lnTo>
                    <a:pt x="1232153" y="1097279"/>
                  </a:lnTo>
                  <a:close/>
                </a:path>
                <a:path w="1245235" h="1122680">
                  <a:moveTo>
                    <a:pt x="1232153" y="1122426"/>
                  </a:moveTo>
                  <a:lnTo>
                    <a:pt x="1232153" y="1097279"/>
                  </a:lnTo>
                  <a:lnTo>
                    <a:pt x="1219200" y="1110234"/>
                  </a:lnTo>
                  <a:lnTo>
                    <a:pt x="1219200" y="1122426"/>
                  </a:lnTo>
                  <a:lnTo>
                    <a:pt x="1232153" y="11224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37641" y="2429256"/>
            <a:ext cx="7994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Cache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924677" y="1740154"/>
            <a:ext cx="1397635" cy="1701800"/>
            <a:chOff x="5924677" y="1740154"/>
            <a:chExt cx="1397635" cy="1701800"/>
          </a:xfrm>
        </p:grpSpPr>
        <p:sp>
          <p:nvSpPr>
            <p:cNvPr id="13" name="object 13"/>
            <p:cNvSpPr/>
            <p:nvPr/>
          </p:nvSpPr>
          <p:spPr>
            <a:xfrm>
              <a:off x="5937643" y="1752346"/>
              <a:ext cx="1371600" cy="1676400"/>
            </a:xfrm>
            <a:custGeom>
              <a:avLst/>
              <a:gdLst/>
              <a:ahLst/>
              <a:cxnLst/>
              <a:rect l="l" t="t" r="r" b="b"/>
              <a:pathLst>
                <a:path w="1371600" h="1676400">
                  <a:moveTo>
                    <a:pt x="1371600" y="1676400"/>
                  </a:moveTo>
                  <a:lnTo>
                    <a:pt x="1371600" y="0"/>
                  </a:lnTo>
                  <a:lnTo>
                    <a:pt x="0" y="0"/>
                  </a:lnTo>
                  <a:lnTo>
                    <a:pt x="0" y="1676400"/>
                  </a:lnTo>
                  <a:lnTo>
                    <a:pt x="1371600" y="16764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24677" y="1740154"/>
              <a:ext cx="1397635" cy="1701800"/>
            </a:xfrm>
            <a:custGeom>
              <a:avLst/>
              <a:gdLst/>
              <a:ahLst/>
              <a:cxnLst/>
              <a:rect l="l" t="t" r="r" b="b"/>
              <a:pathLst>
                <a:path w="1397634" h="1701800">
                  <a:moveTo>
                    <a:pt x="1397507" y="1701545"/>
                  </a:moveTo>
                  <a:lnTo>
                    <a:pt x="1397507" y="0"/>
                  </a:lnTo>
                  <a:lnTo>
                    <a:pt x="0" y="0"/>
                  </a:lnTo>
                  <a:lnTo>
                    <a:pt x="0" y="1701545"/>
                  </a:lnTo>
                  <a:lnTo>
                    <a:pt x="12966" y="1701545"/>
                  </a:lnTo>
                  <a:lnTo>
                    <a:pt x="12966" y="25145"/>
                  </a:lnTo>
                  <a:lnTo>
                    <a:pt x="25907" y="12191"/>
                  </a:lnTo>
                  <a:lnTo>
                    <a:pt x="25907" y="25145"/>
                  </a:lnTo>
                  <a:lnTo>
                    <a:pt x="1371600" y="25145"/>
                  </a:lnTo>
                  <a:lnTo>
                    <a:pt x="1371600" y="12191"/>
                  </a:lnTo>
                  <a:lnTo>
                    <a:pt x="1384566" y="25145"/>
                  </a:lnTo>
                  <a:lnTo>
                    <a:pt x="1384566" y="1701545"/>
                  </a:lnTo>
                  <a:lnTo>
                    <a:pt x="1397507" y="1701545"/>
                  </a:lnTo>
                  <a:close/>
                </a:path>
                <a:path w="1397634" h="1701800">
                  <a:moveTo>
                    <a:pt x="25907" y="25145"/>
                  </a:moveTo>
                  <a:lnTo>
                    <a:pt x="25907" y="12191"/>
                  </a:lnTo>
                  <a:lnTo>
                    <a:pt x="12966" y="25145"/>
                  </a:lnTo>
                  <a:lnTo>
                    <a:pt x="25907" y="25145"/>
                  </a:lnTo>
                  <a:close/>
                </a:path>
                <a:path w="1397634" h="1701800">
                  <a:moveTo>
                    <a:pt x="25907" y="1676399"/>
                  </a:moveTo>
                  <a:lnTo>
                    <a:pt x="25907" y="25145"/>
                  </a:lnTo>
                  <a:lnTo>
                    <a:pt x="12966" y="25145"/>
                  </a:lnTo>
                  <a:lnTo>
                    <a:pt x="12966" y="1676399"/>
                  </a:lnTo>
                  <a:lnTo>
                    <a:pt x="25907" y="1676399"/>
                  </a:lnTo>
                  <a:close/>
                </a:path>
                <a:path w="1397634" h="1701800">
                  <a:moveTo>
                    <a:pt x="1384566" y="1676399"/>
                  </a:moveTo>
                  <a:lnTo>
                    <a:pt x="12966" y="1676399"/>
                  </a:lnTo>
                  <a:lnTo>
                    <a:pt x="25907" y="1688591"/>
                  </a:lnTo>
                  <a:lnTo>
                    <a:pt x="25907" y="1701545"/>
                  </a:lnTo>
                  <a:lnTo>
                    <a:pt x="1371600" y="1701545"/>
                  </a:lnTo>
                  <a:lnTo>
                    <a:pt x="1371600" y="1688591"/>
                  </a:lnTo>
                  <a:lnTo>
                    <a:pt x="1384566" y="1676399"/>
                  </a:lnTo>
                  <a:close/>
                </a:path>
                <a:path w="1397634" h="1701800">
                  <a:moveTo>
                    <a:pt x="25907" y="1701545"/>
                  </a:moveTo>
                  <a:lnTo>
                    <a:pt x="25907" y="1688591"/>
                  </a:lnTo>
                  <a:lnTo>
                    <a:pt x="12966" y="1676399"/>
                  </a:lnTo>
                  <a:lnTo>
                    <a:pt x="12966" y="1701545"/>
                  </a:lnTo>
                  <a:lnTo>
                    <a:pt x="25907" y="1701545"/>
                  </a:lnTo>
                  <a:close/>
                </a:path>
                <a:path w="1397634" h="1701800">
                  <a:moveTo>
                    <a:pt x="1384566" y="25145"/>
                  </a:moveTo>
                  <a:lnTo>
                    <a:pt x="1371600" y="12191"/>
                  </a:lnTo>
                  <a:lnTo>
                    <a:pt x="1371600" y="25145"/>
                  </a:lnTo>
                  <a:lnTo>
                    <a:pt x="1384566" y="25145"/>
                  </a:lnTo>
                  <a:close/>
                </a:path>
                <a:path w="1397634" h="1701800">
                  <a:moveTo>
                    <a:pt x="1384566" y="1676399"/>
                  </a:moveTo>
                  <a:lnTo>
                    <a:pt x="1384566" y="25145"/>
                  </a:lnTo>
                  <a:lnTo>
                    <a:pt x="1371600" y="25145"/>
                  </a:lnTo>
                  <a:lnTo>
                    <a:pt x="1371600" y="1676399"/>
                  </a:lnTo>
                  <a:lnTo>
                    <a:pt x="1384566" y="1676399"/>
                  </a:lnTo>
                  <a:close/>
                </a:path>
                <a:path w="1397634" h="1701800">
                  <a:moveTo>
                    <a:pt x="1384566" y="1701545"/>
                  </a:moveTo>
                  <a:lnTo>
                    <a:pt x="1384566" y="1676399"/>
                  </a:lnTo>
                  <a:lnTo>
                    <a:pt x="1371600" y="1688591"/>
                  </a:lnTo>
                  <a:lnTo>
                    <a:pt x="1371600" y="1701545"/>
                  </a:lnTo>
                  <a:lnTo>
                    <a:pt x="1384566" y="17015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097871" y="2271522"/>
            <a:ext cx="10496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3995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Verdana"/>
                <a:cs typeface="Verdana"/>
              </a:rPr>
              <a:t>Main </a:t>
            </a:r>
            <a:r>
              <a:rPr sz="2000" spc="-10" dirty="0">
                <a:latin typeface="Verdana"/>
                <a:cs typeface="Verdana"/>
              </a:rPr>
              <a:t>Memory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50197" y="2553207"/>
            <a:ext cx="3175000" cy="81915"/>
          </a:xfrm>
          <a:custGeom>
            <a:avLst/>
            <a:gdLst/>
            <a:ahLst/>
            <a:cxnLst/>
            <a:rect l="l" t="t" r="r" b="b"/>
            <a:pathLst>
              <a:path w="3175000" h="81914">
                <a:moveTo>
                  <a:pt x="964692" y="44208"/>
                </a:moveTo>
                <a:lnTo>
                  <a:pt x="889254" y="5346"/>
                </a:lnTo>
                <a:lnTo>
                  <a:pt x="888987" y="31153"/>
                </a:lnTo>
                <a:lnTo>
                  <a:pt x="76200" y="25247"/>
                </a:lnTo>
                <a:lnTo>
                  <a:pt x="75946" y="25247"/>
                </a:lnTo>
                <a:lnTo>
                  <a:pt x="76200" y="12"/>
                </a:lnTo>
                <a:lnTo>
                  <a:pt x="0" y="37350"/>
                </a:lnTo>
                <a:lnTo>
                  <a:pt x="63246" y="69926"/>
                </a:lnTo>
                <a:lnTo>
                  <a:pt x="75438" y="76212"/>
                </a:lnTo>
                <a:lnTo>
                  <a:pt x="75679" y="51142"/>
                </a:lnTo>
                <a:lnTo>
                  <a:pt x="888492" y="56311"/>
                </a:lnTo>
                <a:lnTo>
                  <a:pt x="888733" y="56311"/>
                </a:lnTo>
                <a:lnTo>
                  <a:pt x="888492" y="81546"/>
                </a:lnTo>
                <a:lnTo>
                  <a:pt x="901446" y="75196"/>
                </a:lnTo>
                <a:lnTo>
                  <a:pt x="964692" y="44208"/>
                </a:lnTo>
                <a:close/>
              </a:path>
              <a:path w="3175000" h="81914">
                <a:moveTo>
                  <a:pt x="3174492" y="37338"/>
                </a:moveTo>
                <a:lnTo>
                  <a:pt x="3099054" y="381"/>
                </a:lnTo>
                <a:lnTo>
                  <a:pt x="3098800" y="254"/>
                </a:lnTo>
                <a:lnTo>
                  <a:pt x="3098533" y="127"/>
                </a:lnTo>
                <a:lnTo>
                  <a:pt x="3098292" y="0"/>
                </a:lnTo>
                <a:lnTo>
                  <a:pt x="3098533" y="25247"/>
                </a:lnTo>
                <a:lnTo>
                  <a:pt x="2286000" y="31153"/>
                </a:lnTo>
                <a:lnTo>
                  <a:pt x="2285492" y="31153"/>
                </a:lnTo>
                <a:lnTo>
                  <a:pt x="2285238" y="5334"/>
                </a:lnTo>
                <a:lnTo>
                  <a:pt x="2209800" y="44196"/>
                </a:lnTo>
                <a:lnTo>
                  <a:pt x="2273046" y="75196"/>
                </a:lnTo>
                <a:lnTo>
                  <a:pt x="2285238" y="81165"/>
                </a:lnTo>
                <a:lnTo>
                  <a:pt x="2285492" y="81292"/>
                </a:lnTo>
                <a:lnTo>
                  <a:pt x="2285746" y="81419"/>
                </a:lnTo>
                <a:lnTo>
                  <a:pt x="2286000" y="81534"/>
                </a:lnTo>
                <a:lnTo>
                  <a:pt x="2285746" y="56311"/>
                </a:lnTo>
                <a:lnTo>
                  <a:pt x="3098292" y="51142"/>
                </a:lnTo>
                <a:lnTo>
                  <a:pt x="3098800" y="51142"/>
                </a:lnTo>
                <a:lnTo>
                  <a:pt x="3099054" y="76200"/>
                </a:lnTo>
                <a:lnTo>
                  <a:pt x="3111246" y="69926"/>
                </a:lnTo>
                <a:lnTo>
                  <a:pt x="3174492" y="373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073" y="156209"/>
            <a:ext cx="3963035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14" dirty="0"/>
              <a:t> </a:t>
            </a:r>
            <a:r>
              <a:rPr spc="-10" dirty="0"/>
              <a:t>Memories </a:t>
            </a:r>
            <a:r>
              <a:rPr dirty="0"/>
              <a:t>Read</a:t>
            </a:r>
            <a:r>
              <a:rPr spc="-80" dirty="0"/>
              <a:t> </a:t>
            </a:r>
            <a:r>
              <a:rPr spc="-10" dirty="0"/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4777" y="3489197"/>
            <a:ext cx="7552690" cy="192722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55600" marR="5080" indent="-342900" algn="just">
              <a:lnSpc>
                <a:spcPts val="2810"/>
              </a:lnSpc>
              <a:spcBef>
                <a:spcPts val="450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600" dirty="0">
                <a:latin typeface="Arial MT"/>
                <a:cs typeface="Arial MT"/>
              </a:rPr>
              <a:t>If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memory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location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</a:t>
            </a:r>
            <a:r>
              <a:rPr sz="2600" i="1" dirty="0">
                <a:latin typeface="Arial"/>
                <a:cs typeface="Arial"/>
              </a:rPr>
              <a:t>cache</a:t>
            </a:r>
            <a:r>
              <a:rPr sz="2600" i="1" spc="-35" dirty="0">
                <a:latin typeface="Arial"/>
                <a:cs typeface="Arial"/>
              </a:rPr>
              <a:t> </a:t>
            </a:r>
            <a:r>
              <a:rPr sz="2600" i="1" spc="-10" dirty="0">
                <a:latin typeface="Arial"/>
                <a:cs typeface="Arial"/>
              </a:rPr>
              <a:t>hit</a:t>
            </a:r>
            <a:r>
              <a:rPr sz="2600" spc="-10" dirty="0">
                <a:latin typeface="Arial MT"/>
                <a:cs typeface="Arial MT"/>
              </a:rPr>
              <a:t>),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data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read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from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cache.</a:t>
            </a:r>
            <a:endParaRPr sz="2600">
              <a:latin typeface="Arial MT"/>
              <a:cs typeface="Arial MT"/>
            </a:endParaRPr>
          </a:p>
          <a:p>
            <a:pPr marL="355600" marR="59690" indent="-342900" algn="just">
              <a:lnSpc>
                <a:spcPts val="2810"/>
              </a:lnSpc>
              <a:spcBef>
                <a:spcPts val="620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5600" algn="l"/>
              </a:tabLst>
            </a:pPr>
            <a:r>
              <a:rPr sz="2600" dirty="0">
                <a:latin typeface="Arial MT"/>
                <a:cs typeface="Arial MT"/>
              </a:rPr>
              <a:t>If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memory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location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not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(</a:t>
            </a:r>
            <a:r>
              <a:rPr sz="2600" i="1" spc="-10" dirty="0">
                <a:latin typeface="Arial"/>
                <a:cs typeface="Arial"/>
              </a:rPr>
              <a:t>cache </a:t>
            </a:r>
            <a:r>
              <a:rPr sz="2600" i="1" dirty="0">
                <a:latin typeface="Arial"/>
                <a:cs typeface="Arial"/>
              </a:rPr>
              <a:t>miss</a:t>
            </a:r>
            <a:r>
              <a:rPr sz="2600" dirty="0">
                <a:latin typeface="Arial MT"/>
                <a:cs typeface="Arial MT"/>
              </a:rPr>
              <a:t>),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block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containing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data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(is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read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from </a:t>
            </a:r>
            <a:r>
              <a:rPr sz="2600" dirty="0">
                <a:latin typeface="Arial MT"/>
                <a:cs typeface="Arial MT"/>
              </a:rPr>
              <a:t>memory)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updated.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84643" y="1892554"/>
            <a:ext cx="1549400" cy="1397000"/>
            <a:chOff x="984643" y="1892554"/>
            <a:chExt cx="1549400" cy="1397000"/>
          </a:xfrm>
        </p:grpSpPr>
        <p:sp>
          <p:nvSpPr>
            <p:cNvPr id="5" name="object 5"/>
            <p:cNvSpPr/>
            <p:nvPr/>
          </p:nvSpPr>
          <p:spPr>
            <a:xfrm>
              <a:off x="997597" y="1904746"/>
              <a:ext cx="1524000" cy="1371600"/>
            </a:xfrm>
            <a:custGeom>
              <a:avLst/>
              <a:gdLst/>
              <a:ahLst/>
              <a:cxnLst/>
              <a:rect l="l" t="t" r="r" b="b"/>
              <a:pathLst>
                <a:path w="1524000" h="1371600">
                  <a:moveTo>
                    <a:pt x="1524000" y="1371600"/>
                  </a:moveTo>
                  <a:lnTo>
                    <a:pt x="1524000" y="0"/>
                  </a:lnTo>
                  <a:lnTo>
                    <a:pt x="0" y="0"/>
                  </a:lnTo>
                  <a:lnTo>
                    <a:pt x="0" y="1371600"/>
                  </a:lnTo>
                  <a:lnTo>
                    <a:pt x="1524000" y="13716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84643" y="1892554"/>
              <a:ext cx="1549400" cy="1397000"/>
            </a:xfrm>
            <a:custGeom>
              <a:avLst/>
              <a:gdLst/>
              <a:ahLst/>
              <a:cxnLst/>
              <a:rect l="l" t="t" r="r" b="b"/>
              <a:pathLst>
                <a:path w="1549400" h="1397000">
                  <a:moveTo>
                    <a:pt x="1549146" y="1396746"/>
                  </a:moveTo>
                  <a:lnTo>
                    <a:pt x="1549146" y="0"/>
                  </a:lnTo>
                  <a:lnTo>
                    <a:pt x="0" y="0"/>
                  </a:lnTo>
                  <a:lnTo>
                    <a:pt x="0" y="1396746"/>
                  </a:lnTo>
                  <a:lnTo>
                    <a:pt x="12954" y="1396746"/>
                  </a:lnTo>
                  <a:lnTo>
                    <a:pt x="12953" y="25146"/>
                  </a:lnTo>
                  <a:lnTo>
                    <a:pt x="25145" y="12192"/>
                  </a:lnTo>
                  <a:lnTo>
                    <a:pt x="25145" y="25146"/>
                  </a:lnTo>
                  <a:lnTo>
                    <a:pt x="1524000" y="25145"/>
                  </a:lnTo>
                  <a:lnTo>
                    <a:pt x="1524000" y="12191"/>
                  </a:lnTo>
                  <a:lnTo>
                    <a:pt x="1536953" y="25145"/>
                  </a:lnTo>
                  <a:lnTo>
                    <a:pt x="1536953" y="1396746"/>
                  </a:lnTo>
                  <a:lnTo>
                    <a:pt x="1549146" y="1396746"/>
                  </a:lnTo>
                  <a:close/>
                </a:path>
                <a:path w="1549400" h="1397000">
                  <a:moveTo>
                    <a:pt x="25145" y="25146"/>
                  </a:moveTo>
                  <a:lnTo>
                    <a:pt x="25145" y="12192"/>
                  </a:lnTo>
                  <a:lnTo>
                    <a:pt x="12953" y="25146"/>
                  </a:lnTo>
                  <a:lnTo>
                    <a:pt x="25145" y="25146"/>
                  </a:lnTo>
                  <a:close/>
                </a:path>
                <a:path w="1549400" h="1397000">
                  <a:moveTo>
                    <a:pt x="25146" y="1371600"/>
                  </a:moveTo>
                  <a:lnTo>
                    <a:pt x="25145" y="25146"/>
                  </a:lnTo>
                  <a:lnTo>
                    <a:pt x="12953" y="25146"/>
                  </a:lnTo>
                  <a:lnTo>
                    <a:pt x="12954" y="1371600"/>
                  </a:lnTo>
                  <a:lnTo>
                    <a:pt x="25146" y="1371600"/>
                  </a:lnTo>
                  <a:close/>
                </a:path>
                <a:path w="1549400" h="1397000">
                  <a:moveTo>
                    <a:pt x="1536953" y="1371600"/>
                  </a:moveTo>
                  <a:lnTo>
                    <a:pt x="12954" y="1371600"/>
                  </a:lnTo>
                  <a:lnTo>
                    <a:pt x="25146" y="1383792"/>
                  </a:lnTo>
                  <a:lnTo>
                    <a:pt x="25146" y="1396746"/>
                  </a:lnTo>
                  <a:lnTo>
                    <a:pt x="1524000" y="1396746"/>
                  </a:lnTo>
                  <a:lnTo>
                    <a:pt x="1524000" y="1383792"/>
                  </a:lnTo>
                  <a:lnTo>
                    <a:pt x="1536953" y="1371600"/>
                  </a:lnTo>
                  <a:close/>
                </a:path>
                <a:path w="1549400" h="1397000">
                  <a:moveTo>
                    <a:pt x="25146" y="1396746"/>
                  </a:moveTo>
                  <a:lnTo>
                    <a:pt x="25146" y="1383792"/>
                  </a:lnTo>
                  <a:lnTo>
                    <a:pt x="12954" y="1371600"/>
                  </a:lnTo>
                  <a:lnTo>
                    <a:pt x="12954" y="1396746"/>
                  </a:lnTo>
                  <a:lnTo>
                    <a:pt x="25146" y="1396746"/>
                  </a:lnTo>
                  <a:close/>
                </a:path>
                <a:path w="1549400" h="1397000">
                  <a:moveTo>
                    <a:pt x="1536953" y="25145"/>
                  </a:moveTo>
                  <a:lnTo>
                    <a:pt x="1524000" y="12191"/>
                  </a:lnTo>
                  <a:lnTo>
                    <a:pt x="1524000" y="25145"/>
                  </a:lnTo>
                  <a:lnTo>
                    <a:pt x="1536953" y="25145"/>
                  </a:lnTo>
                  <a:close/>
                </a:path>
                <a:path w="1549400" h="1397000">
                  <a:moveTo>
                    <a:pt x="1536953" y="1371600"/>
                  </a:moveTo>
                  <a:lnTo>
                    <a:pt x="1536953" y="25145"/>
                  </a:lnTo>
                  <a:lnTo>
                    <a:pt x="1524000" y="25145"/>
                  </a:lnTo>
                  <a:lnTo>
                    <a:pt x="1524000" y="1371600"/>
                  </a:lnTo>
                  <a:lnTo>
                    <a:pt x="1536953" y="1371600"/>
                  </a:lnTo>
                  <a:close/>
                </a:path>
                <a:path w="1549400" h="1397000">
                  <a:moveTo>
                    <a:pt x="1536953" y="1396746"/>
                  </a:moveTo>
                  <a:lnTo>
                    <a:pt x="1536953" y="1371600"/>
                  </a:lnTo>
                  <a:lnTo>
                    <a:pt x="1524000" y="1383792"/>
                  </a:lnTo>
                  <a:lnTo>
                    <a:pt x="1524000" y="1396746"/>
                  </a:lnTo>
                  <a:lnTo>
                    <a:pt x="1536953" y="13967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34243" y="2423922"/>
            <a:ext cx="12496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Processor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99243" y="2035048"/>
            <a:ext cx="1244600" cy="1122680"/>
            <a:chOff x="3499243" y="2035048"/>
            <a:chExt cx="1244600" cy="1122680"/>
          </a:xfrm>
        </p:grpSpPr>
        <p:sp>
          <p:nvSpPr>
            <p:cNvPr id="9" name="object 9"/>
            <p:cNvSpPr/>
            <p:nvPr/>
          </p:nvSpPr>
          <p:spPr>
            <a:xfrm>
              <a:off x="3512197" y="2048002"/>
              <a:ext cx="1219200" cy="1097280"/>
            </a:xfrm>
            <a:custGeom>
              <a:avLst/>
              <a:gdLst/>
              <a:ahLst/>
              <a:cxnLst/>
              <a:rect l="l" t="t" r="r" b="b"/>
              <a:pathLst>
                <a:path w="1219200" h="1097280">
                  <a:moveTo>
                    <a:pt x="1219200" y="1097279"/>
                  </a:moveTo>
                  <a:lnTo>
                    <a:pt x="1219200" y="0"/>
                  </a:lnTo>
                  <a:lnTo>
                    <a:pt x="0" y="0"/>
                  </a:lnTo>
                  <a:lnTo>
                    <a:pt x="0" y="1097279"/>
                  </a:lnTo>
                  <a:lnTo>
                    <a:pt x="1219200" y="1097279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99243" y="2035048"/>
              <a:ext cx="1244600" cy="1122680"/>
            </a:xfrm>
            <a:custGeom>
              <a:avLst/>
              <a:gdLst/>
              <a:ahLst/>
              <a:cxnLst/>
              <a:rect l="l" t="t" r="r" b="b"/>
              <a:pathLst>
                <a:path w="1244600" h="1122680">
                  <a:moveTo>
                    <a:pt x="1244346" y="1122426"/>
                  </a:moveTo>
                  <a:lnTo>
                    <a:pt x="1244346" y="0"/>
                  </a:lnTo>
                  <a:lnTo>
                    <a:pt x="0" y="0"/>
                  </a:lnTo>
                  <a:lnTo>
                    <a:pt x="0" y="1122426"/>
                  </a:lnTo>
                  <a:lnTo>
                    <a:pt x="12953" y="1122426"/>
                  </a:lnTo>
                  <a:lnTo>
                    <a:pt x="12953" y="25907"/>
                  </a:lnTo>
                  <a:lnTo>
                    <a:pt x="25146" y="12953"/>
                  </a:lnTo>
                  <a:lnTo>
                    <a:pt x="25146" y="25907"/>
                  </a:lnTo>
                  <a:lnTo>
                    <a:pt x="1219200" y="25907"/>
                  </a:lnTo>
                  <a:lnTo>
                    <a:pt x="1219200" y="12953"/>
                  </a:lnTo>
                  <a:lnTo>
                    <a:pt x="1232153" y="25907"/>
                  </a:lnTo>
                  <a:lnTo>
                    <a:pt x="1232153" y="1122426"/>
                  </a:lnTo>
                  <a:lnTo>
                    <a:pt x="1244346" y="1122426"/>
                  </a:lnTo>
                  <a:close/>
                </a:path>
                <a:path w="1244600" h="1122680">
                  <a:moveTo>
                    <a:pt x="25146" y="25907"/>
                  </a:moveTo>
                  <a:lnTo>
                    <a:pt x="25146" y="12953"/>
                  </a:lnTo>
                  <a:lnTo>
                    <a:pt x="12953" y="25907"/>
                  </a:lnTo>
                  <a:lnTo>
                    <a:pt x="25146" y="25907"/>
                  </a:lnTo>
                  <a:close/>
                </a:path>
                <a:path w="1244600" h="1122680">
                  <a:moveTo>
                    <a:pt x="25146" y="1097279"/>
                  </a:moveTo>
                  <a:lnTo>
                    <a:pt x="25146" y="25907"/>
                  </a:lnTo>
                  <a:lnTo>
                    <a:pt x="12953" y="25907"/>
                  </a:lnTo>
                  <a:lnTo>
                    <a:pt x="12953" y="1097279"/>
                  </a:lnTo>
                  <a:lnTo>
                    <a:pt x="25146" y="1097279"/>
                  </a:lnTo>
                  <a:close/>
                </a:path>
                <a:path w="1244600" h="1122680">
                  <a:moveTo>
                    <a:pt x="1232153" y="1097279"/>
                  </a:moveTo>
                  <a:lnTo>
                    <a:pt x="12953" y="1097279"/>
                  </a:lnTo>
                  <a:lnTo>
                    <a:pt x="25146" y="1110234"/>
                  </a:lnTo>
                  <a:lnTo>
                    <a:pt x="25146" y="1122426"/>
                  </a:lnTo>
                  <a:lnTo>
                    <a:pt x="1219200" y="1122426"/>
                  </a:lnTo>
                  <a:lnTo>
                    <a:pt x="1219200" y="1110234"/>
                  </a:lnTo>
                  <a:lnTo>
                    <a:pt x="1232153" y="1097279"/>
                  </a:lnTo>
                  <a:close/>
                </a:path>
                <a:path w="1244600" h="1122680">
                  <a:moveTo>
                    <a:pt x="25146" y="1122426"/>
                  </a:moveTo>
                  <a:lnTo>
                    <a:pt x="25146" y="1110234"/>
                  </a:lnTo>
                  <a:lnTo>
                    <a:pt x="12953" y="1097279"/>
                  </a:lnTo>
                  <a:lnTo>
                    <a:pt x="12953" y="1122426"/>
                  </a:lnTo>
                  <a:lnTo>
                    <a:pt x="25146" y="1122426"/>
                  </a:lnTo>
                  <a:close/>
                </a:path>
                <a:path w="1244600" h="1122680">
                  <a:moveTo>
                    <a:pt x="1232153" y="25907"/>
                  </a:moveTo>
                  <a:lnTo>
                    <a:pt x="1219200" y="12953"/>
                  </a:lnTo>
                  <a:lnTo>
                    <a:pt x="1219200" y="25907"/>
                  </a:lnTo>
                  <a:lnTo>
                    <a:pt x="1232153" y="25907"/>
                  </a:lnTo>
                  <a:close/>
                </a:path>
                <a:path w="1244600" h="1122680">
                  <a:moveTo>
                    <a:pt x="1232153" y="1097279"/>
                  </a:moveTo>
                  <a:lnTo>
                    <a:pt x="1232153" y="25907"/>
                  </a:lnTo>
                  <a:lnTo>
                    <a:pt x="1219200" y="25907"/>
                  </a:lnTo>
                  <a:lnTo>
                    <a:pt x="1219200" y="1097279"/>
                  </a:lnTo>
                  <a:lnTo>
                    <a:pt x="1232153" y="1097279"/>
                  </a:lnTo>
                  <a:close/>
                </a:path>
                <a:path w="1244600" h="1122680">
                  <a:moveTo>
                    <a:pt x="1232153" y="1122426"/>
                  </a:moveTo>
                  <a:lnTo>
                    <a:pt x="1232153" y="1097279"/>
                  </a:lnTo>
                  <a:lnTo>
                    <a:pt x="1219200" y="1110234"/>
                  </a:lnTo>
                  <a:lnTo>
                    <a:pt x="1219200" y="1122426"/>
                  </a:lnTo>
                  <a:lnTo>
                    <a:pt x="1232153" y="11224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721995" y="2429256"/>
            <a:ext cx="7994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Cache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709043" y="1740154"/>
            <a:ext cx="1397000" cy="1701800"/>
            <a:chOff x="5709043" y="1740154"/>
            <a:chExt cx="1397000" cy="1701800"/>
          </a:xfrm>
        </p:grpSpPr>
        <p:sp>
          <p:nvSpPr>
            <p:cNvPr id="13" name="object 13"/>
            <p:cNvSpPr/>
            <p:nvPr/>
          </p:nvSpPr>
          <p:spPr>
            <a:xfrm>
              <a:off x="5721997" y="1752346"/>
              <a:ext cx="1371600" cy="1676400"/>
            </a:xfrm>
            <a:custGeom>
              <a:avLst/>
              <a:gdLst/>
              <a:ahLst/>
              <a:cxnLst/>
              <a:rect l="l" t="t" r="r" b="b"/>
              <a:pathLst>
                <a:path w="1371600" h="1676400">
                  <a:moveTo>
                    <a:pt x="1371599" y="1676400"/>
                  </a:moveTo>
                  <a:lnTo>
                    <a:pt x="1371599" y="0"/>
                  </a:lnTo>
                  <a:lnTo>
                    <a:pt x="0" y="0"/>
                  </a:lnTo>
                  <a:lnTo>
                    <a:pt x="0" y="1676400"/>
                  </a:lnTo>
                  <a:lnTo>
                    <a:pt x="1371599" y="16764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09043" y="1740154"/>
              <a:ext cx="1397000" cy="1701800"/>
            </a:xfrm>
            <a:custGeom>
              <a:avLst/>
              <a:gdLst/>
              <a:ahLst/>
              <a:cxnLst/>
              <a:rect l="l" t="t" r="r" b="b"/>
              <a:pathLst>
                <a:path w="1397000" h="1701800">
                  <a:moveTo>
                    <a:pt x="1396745" y="1701545"/>
                  </a:moveTo>
                  <a:lnTo>
                    <a:pt x="1396745" y="0"/>
                  </a:lnTo>
                  <a:lnTo>
                    <a:pt x="0" y="0"/>
                  </a:lnTo>
                  <a:lnTo>
                    <a:pt x="0" y="1701545"/>
                  </a:lnTo>
                  <a:lnTo>
                    <a:pt x="12953" y="1701545"/>
                  </a:lnTo>
                  <a:lnTo>
                    <a:pt x="12953" y="25145"/>
                  </a:lnTo>
                  <a:lnTo>
                    <a:pt x="25133" y="12191"/>
                  </a:lnTo>
                  <a:lnTo>
                    <a:pt x="25133" y="25145"/>
                  </a:lnTo>
                  <a:lnTo>
                    <a:pt x="1371599" y="25145"/>
                  </a:lnTo>
                  <a:lnTo>
                    <a:pt x="1371599" y="12191"/>
                  </a:lnTo>
                  <a:lnTo>
                    <a:pt x="1384554" y="25145"/>
                  </a:lnTo>
                  <a:lnTo>
                    <a:pt x="1384554" y="1701545"/>
                  </a:lnTo>
                  <a:lnTo>
                    <a:pt x="1396745" y="1701545"/>
                  </a:lnTo>
                  <a:close/>
                </a:path>
                <a:path w="1397000" h="1701800">
                  <a:moveTo>
                    <a:pt x="25133" y="25145"/>
                  </a:moveTo>
                  <a:lnTo>
                    <a:pt x="25133" y="12191"/>
                  </a:lnTo>
                  <a:lnTo>
                    <a:pt x="12953" y="25145"/>
                  </a:lnTo>
                  <a:lnTo>
                    <a:pt x="25133" y="25145"/>
                  </a:lnTo>
                  <a:close/>
                </a:path>
                <a:path w="1397000" h="1701800">
                  <a:moveTo>
                    <a:pt x="25133" y="1676399"/>
                  </a:moveTo>
                  <a:lnTo>
                    <a:pt x="25133" y="25145"/>
                  </a:lnTo>
                  <a:lnTo>
                    <a:pt x="12953" y="25145"/>
                  </a:lnTo>
                  <a:lnTo>
                    <a:pt x="12953" y="1676399"/>
                  </a:lnTo>
                  <a:lnTo>
                    <a:pt x="25133" y="1676399"/>
                  </a:lnTo>
                  <a:close/>
                </a:path>
                <a:path w="1397000" h="1701800">
                  <a:moveTo>
                    <a:pt x="1384554" y="1676399"/>
                  </a:moveTo>
                  <a:lnTo>
                    <a:pt x="12953" y="1676399"/>
                  </a:lnTo>
                  <a:lnTo>
                    <a:pt x="25133" y="1688591"/>
                  </a:lnTo>
                  <a:lnTo>
                    <a:pt x="25133" y="1701545"/>
                  </a:lnTo>
                  <a:lnTo>
                    <a:pt x="1371599" y="1701545"/>
                  </a:lnTo>
                  <a:lnTo>
                    <a:pt x="1371599" y="1688591"/>
                  </a:lnTo>
                  <a:lnTo>
                    <a:pt x="1384554" y="1676399"/>
                  </a:lnTo>
                  <a:close/>
                </a:path>
                <a:path w="1397000" h="1701800">
                  <a:moveTo>
                    <a:pt x="25133" y="1701545"/>
                  </a:moveTo>
                  <a:lnTo>
                    <a:pt x="25133" y="1688591"/>
                  </a:lnTo>
                  <a:lnTo>
                    <a:pt x="12953" y="1676399"/>
                  </a:lnTo>
                  <a:lnTo>
                    <a:pt x="12953" y="1701545"/>
                  </a:lnTo>
                  <a:lnTo>
                    <a:pt x="25133" y="1701545"/>
                  </a:lnTo>
                  <a:close/>
                </a:path>
                <a:path w="1397000" h="1701800">
                  <a:moveTo>
                    <a:pt x="1384554" y="25145"/>
                  </a:moveTo>
                  <a:lnTo>
                    <a:pt x="1371599" y="12191"/>
                  </a:lnTo>
                  <a:lnTo>
                    <a:pt x="1371599" y="25145"/>
                  </a:lnTo>
                  <a:lnTo>
                    <a:pt x="1384554" y="25145"/>
                  </a:lnTo>
                  <a:close/>
                </a:path>
                <a:path w="1397000" h="1701800">
                  <a:moveTo>
                    <a:pt x="1384554" y="1676399"/>
                  </a:moveTo>
                  <a:lnTo>
                    <a:pt x="1384554" y="25145"/>
                  </a:lnTo>
                  <a:lnTo>
                    <a:pt x="1371599" y="25145"/>
                  </a:lnTo>
                  <a:lnTo>
                    <a:pt x="1371599" y="1676399"/>
                  </a:lnTo>
                  <a:lnTo>
                    <a:pt x="1384554" y="1676399"/>
                  </a:lnTo>
                  <a:close/>
                </a:path>
                <a:path w="1397000" h="1701800">
                  <a:moveTo>
                    <a:pt x="1384554" y="1701545"/>
                  </a:moveTo>
                  <a:lnTo>
                    <a:pt x="1384554" y="1676399"/>
                  </a:lnTo>
                  <a:lnTo>
                    <a:pt x="1371599" y="1688591"/>
                  </a:lnTo>
                  <a:lnTo>
                    <a:pt x="1371599" y="1701545"/>
                  </a:lnTo>
                  <a:lnTo>
                    <a:pt x="1384554" y="17015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882225" y="2271522"/>
            <a:ext cx="10496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3995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Verdana"/>
                <a:cs typeface="Verdana"/>
              </a:rPr>
              <a:t>Main </a:t>
            </a:r>
            <a:r>
              <a:rPr sz="2000" spc="-10" dirty="0">
                <a:latin typeface="Verdana"/>
                <a:cs typeface="Verdana"/>
              </a:rPr>
              <a:t>Memory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33777" y="2553207"/>
            <a:ext cx="3175635" cy="81915"/>
          </a:xfrm>
          <a:custGeom>
            <a:avLst/>
            <a:gdLst/>
            <a:ahLst/>
            <a:cxnLst/>
            <a:rect l="l" t="t" r="r" b="b"/>
            <a:pathLst>
              <a:path w="3175635" h="81914">
                <a:moveTo>
                  <a:pt x="965454" y="44208"/>
                </a:moveTo>
                <a:lnTo>
                  <a:pt x="889254" y="5346"/>
                </a:lnTo>
                <a:lnTo>
                  <a:pt x="889254" y="31153"/>
                </a:lnTo>
                <a:lnTo>
                  <a:pt x="902208" y="31254"/>
                </a:lnTo>
                <a:lnTo>
                  <a:pt x="76962" y="25247"/>
                </a:lnTo>
                <a:lnTo>
                  <a:pt x="76720" y="25247"/>
                </a:lnTo>
                <a:lnTo>
                  <a:pt x="76962" y="12"/>
                </a:lnTo>
                <a:lnTo>
                  <a:pt x="0" y="37350"/>
                </a:lnTo>
                <a:lnTo>
                  <a:pt x="64008" y="69989"/>
                </a:lnTo>
                <a:lnTo>
                  <a:pt x="76200" y="76212"/>
                </a:lnTo>
                <a:lnTo>
                  <a:pt x="76454" y="51142"/>
                </a:lnTo>
                <a:lnTo>
                  <a:pt x="889254" y="56311"/>
                </a:lnTo>
                <a:lnTo>
                  <a:pt x="889254" y="81546"/>
                </a:lnTo>
                <a:lnTo>
                  <a:pt x="902208" y="75196"/>
                </a:lnTo>
                <a:lnTo>
                  <a:pt x="965454" y="44208"/>
                </a:lnTo>
                <a:close/>
              </a:path>
              <a:path w="3175635" h="81914">
                <a:moveTo>
                  <a:pt x="3175254" y="37338"/>
                </a:moveTo>
                <a:lnTo>
                  <a:pt x="3099054" y="0"/>
                </a:lnTo>
                <a:lnTo>
                  <a:pt x="3099054" y="25247"/>
                </a:lnTo>
                <a:lnTo>
                  <a:pt x="2286762" y="31153"/>
                </a:lnTo>
                <a:lnTo>
                  <a:pt x="2286266" y="31153"/>
                </a:lnTo>
                <a:lnTo>
                  <a:pt x="2286000" y="5334"/>
                </a:lnTo>
                <a:lnTo>
                  <a:pt x="2209800" y="44196"/>
                </a:lnTo>
                <a:lnTo>
                  <a:pt x="2273808" y="75260"/>
                </a:lnTo>
                <a:lnTo>
                  <a:pt x="2286000" y="81165"/>
                </a:lnTo>
                <a:lnTo>
                  <a:pt x="2286266" y="81292"/>
                </a:lnTo>
                <a:lnTo>
                  <a:pt x="2286520" y="81419"/>
                </a:lnTo>
                <a:lnTo>
                  <a:pt x="2286762" y="81534"/>
                </a:lnTo>
                <a:lnTo>
                  <a:pt x="2286520" y="56311"/>
                </a:lnTo>
                <a:lnTo>
                  <a:pt x="3099054" y="51142"/>
                </a:lnTo>
                <a:lnTo>
                  <a:pt x="3099054" y="76200"/>
                </a:lnTo>
                <a:lnTo>
                  <a:pt x="3112008" y="69596"/>
                </a:lnTo>
                <a:lnTo>
                  <a:pt x="3175254" y="373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14" dirty="0"/>
              <a:t> </a:t>
            </a:r>
            <a:r>
              <a:rPr spc="-10" dirty="0"/>
              <a:t>Memories</a:t>
            </a:r>
          </a:p>
          <a:p>
            <a:pPr marL="12700">
              <a:lnSpc>
                <a:spcPct val="100000"/>
              </a:lnSpc>
            </a:pPr>
            <a:r>
              <a:rPr dirty="0"/>
              <a:t>Write</a:t>
            </a:r>
            <a:r>
              <a:rPr spc="-85" dirty="0"/>
              <a:t> </a:t>
            </a:r>
            <a:r>
              <a:rPr dirty="0"/>
              <a:t>Operation</a:t>
            </a:r>
            <a:r>
              <a:rPr spc="-45" dirty="0"/>
              <a:t> </a:t>
            </a:r>
            <a:r>
              <a:rPr dirty="0"/>
              <a:t>(Write</a:t>
            </a:r>
            <a:r>
              <a:rPr spc="-80" dirty="0"/>
              <a:t> </a:t>
            </a:r>
            <a:r>
              <a:rPr spc="-20" dirty="0"/>
              <a:t>Hit)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5643" y="3448479"/>
            <a:ext cx="7457440" cy="1696618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30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4965" algn="l"/>
              </a:tabLst>
            </a:pPr>
            <a:r>
              <a:rPr sz="2600" spc="-25" dirty="0">
                <a:latin typeface="Arial MT"/>
                <a:cs typeface="Arial MT"/>
              </a:rPr>
              <a:t>Write-</a:t>
            </a:r>
            <a:r>
              <a:rPr sz="2600" dirty="0">
                <a:latin typeface="Arial MT"/>
                <a:cs typeface="Arial MT"/>
              </a:rPr>
              <a:t>Through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Protocol</a:t>
            </a:r>
            <a:endParaRPr sz="2600" dirty="0">
              <a:latin typeface="Arial MT"/>
              <a:cs typeface="Arial MT"/>
            </a:endParaRPr>
          </a:p>
          <a:p>
            <a:pPr marL="755650" marR="798195" lvl="1" indent="-285750">
              <a:lnSpc>
                <a:spcPct val="100000"/>
              </a:lnSpc>
              <a:spcBef>
                <a:spcPts val="585"/>
              </a:spcBef>
              <a:buClr>
                <a:srgbClr val="659A9A"/>
              </a:buClr>
              <a:buSzPct val="68750"/>
              <a:buFont typeface="Wingdings"/>
              <a:buChar char="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write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updates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memory location</a:t>
            </a:r>
            <a:endParaRPr sz="2400" dirty="0">
              <a:latin typeface="Arial MT"/>
              <a:cs typeface="Arial MT"/>
            </a:endParaRPr>
          </a:p>
          <a:p>
            <a:pPr marL="1155065" lvl="2" indent="-227965">
              <a:lnSpc>
                <a:spcPct val="100000"/>
              </a:lnSpc>
              <a:spcBef>
                <a:spcPts val="509"/>
              </a:spcBef>
              <a:buClr>
                <a:srgbClr val="CCCC00"/>
              </a:buClr>
              <a:buSzPct val="69047"/>
              <a:buFont typeface="Wingdings"/>
              <a:buChar char=""/>
              <a:tabLst>
                <a:tab pos="1155065" algn="l"/>
              </a:tabLst>
            </a:pPr>
            <a:r>
              <a:rPr sz="2100" dirty="0">
                <a:latin typeface="Arial MT"/>
                <a:cs typeface="Arial MT"/>
              </a:rPr>
              <a:t>depending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on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protocol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cache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may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also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updated</a:t>
            </a:r>
            <a:endParaRPr sz="21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43545" y="1892554"/>
            <a:ext cx="1549400" cy="1397000"/>
            <a:chOff x="1343545" y="1892554"/>
            <a:chExt cx="1549400" cy="1397000"/>
          </a:xfrm>
        </p:grpSpPr>
        <p:sp>
          <p:nvSpPr>
            <p:cNvPr id="5" name="object 5"/>
            <p:cNvSpPr/>
            <p:nvPr/>
          </p:nvSpPr>
          <p:spPr>
            <a:xfrm>
              <a:off x="1356499" y="1904746"/>
              <a:ext cx="1524000" cy="1371600"/>
            </a:xfrm>
            <a:custGeom>
              <a:avLst/>
              <a:gdLst/>
              <a:ahLst/>
              <a:cxnLst/>
              <a:rect l="l" t="t" r="r" b="b"/>
              <a:pathLst>
                <a:path w="1524000" h="1371600">
                  <a:moveTo>
                    <a:pt x="1524000" y="1371600"/>
                  </a:moveTo>
                  <a:lnTo>
                    <a:pt x="1524000" y="0"/>
                  </a:lnTo>
                  <a:lnTo>
                    <a:pt x="0" y="0"/>
                  </a:lnTo>
                  <a:lnTo>
                    <a:pt x="0" y="1371600"/>
                  </a:lnTo>
                  <a:lnTo>
                    <a:pt x="1524000" y="13716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43545" y="1892554"/>
              <a:ext cx="1549400" cy="1397000"/>
            </a:xfrm>
            <a:custGeom>
              <a:avLst/>
              <a:gdLst/>
              <a:ahLst/>
              <a:cxnLst/>
              <a:rect l="l" t="t" r="r" b="b"/>
              <a:pathLst>
                <a:path w="1549400" h="1397000">
                  <a:moveTo>
                    <a:pt x="1549146" y="1396746"/>
                  </a:moveTo>
                  <a:lnTo>
                    <a:pt x="1549146" y="0"/>
                  </a:lnTo>
                  <a:lnTo>
                    <a:pt x="0" y="0"/>
                  </a:lnTo>
                  <a:lnTo>
                    <a:pt x="0" y="1396746"/>
                  </a:lnTo>
                  <a:lnTo>
                    <a:pt x="12954" y="1396746"/>
                  </a:lnTo>
                  <a:lnTo>
                    <a:pt x="12954" y="25146"/>
                  </a:lnTo>
                  <a:lnTo>
                    <a:pt x="25145" y="12192"/>
                  </a:lnTo>
                  <a:lnTo>
                    <a:pt x="25145" y="25146"/>
                  </a:lnTo>
                  <a:lnTo>
                    <a:pt x="1524000" y="25145"/>
                  </a:lnTo>
                  <a:lnTo>
                    <a:pt x="1524000" y="12191"/>
                  </a:lnTo>
                  <a:lnTo>
                    <a:pt x="1536953" y="25145"/>
                  </a:lnTo>
                  <a:lnTo>
                    <a:pt x="1536953" y="1396746"/>
                  </a:lnTo>
                  <a:lnTo>
                    <a:pt x="1549146" y="1396746"/>
                  </a:lnTo>
                  <a:close/>
                </a:path>
                <a:path w="1549400" h="1397000">
                  <a:moveTo>
                    <a:pt x="25145" y="25146"/>
                  </a:moveTo>
                  <a:lnTo>
                    <a:pt x="25145" y="12192"/>
                  </a:lnTo>
                  <a:lnTo>
                    <a:pt x="12954" y="25146"/>
                  </a:lnTo>
                  <a:lnTo>
                    <a:pt x="25145" y="25146"/>
                  </a:lnTo>
                  <a:close/>
                </a:path>
                <a:path w="1549400" h="1397000">
                  <a:moveTo>
                    <a:pt x="25146" y="1371600"/>
                  </a:moveTo>
                  <a:lnTo>
                    <a:pt x="25145" y="25146"/>
                  </a:lnTo>
                  <a:lnTo>
                    <a:pt x="12954" y="25146"/>
                  </a:lnTo>
                  <a:lnTo>
                    <a:pt x="12954" y="1371600"/>
                  </a:lnTo>
                  <a:lnTo>
                    <a:pt x="25146" y="1371600"/>
                  </a:lnTo>
                  <a:close/>
                </a:path>
                <a:path w="1549400" h="1397000">
                  <a:moveTo>
                    <a:pt x="1536953" y="1371600"/>
                  </a:moveTo>
                  <a:lnTo>
                    <a:pt x="12954" y="1371600"/>
                  </a:lnTo>
                  <a:lnTo>
                    <a:pt x="25146" y="1383792"/>
                  </a:lnTo>
                  <a:lnTo>
                    <a:pt x="25146" y="1396746"/>
                  </a:lnTo>
                  <a:lnTo>
                    <a:pt x="1524000" y="1396746"/>
                  </a:lnTo>
                  <a:lnTo>
                    <a:pt x="1524000" y="1383792"/>
                  </a:lnTo>
                  <a:lnTo>
                    <a:pt x="1536953" y="1371600"/>
                  </a:lnTo>
                  <a:close/>
                </a:path>
                <a:path w="1549400" h="1397000">
                  <a:moveTo>
                    <a:pt x="25146" y="1396746"/>
                  </a:moveTo>
                  <a:lnTo>
                    <a:pt x="25146" y="1383792"/>
                  </a:lnTo>
                  <a:lnTo>
                    <a:pt x="12954" y="1371600"/>
                  </a:lnTo>
                  <a:lnTo>
                    <a:pt x="12954" y="1396746"/>
                  </a:lnTo>
                  <a:lnTo>
                    <a:pt x="25146" y="1396746"/>
                  </a:lnTo>
                  <a:close/>
                </a:path>
                <a:path w="1549400" h="1397000">
                  <a:moveTo>
                    <a:pt x="1536953" y="25145"/>
                  </a:moveTo>
                  <a:lnTo>
                    <a:pt x="1524000" y="12191"/>
                  </a:lnTo>
                  <a:lnTo>
                    <a:pt x="1524000" y="25145"/>
                  </a:lnTo>
                  <a:lnTo>
                    <a:pt x="1536953" y="25145"/>
                  </a:lnTo>
                  <a:close/>
                </a:path>
                <a:path w="1549400" h="1397000">
                  <a:moveTo>
                    <a:pt x="1536953" y="1371600"/>
                  </a:moveTo>
                  <a:lnTo>
                    <a:pt x="1536953" y="25145"/>
                  </a:lnTo>
                  <a:lnTo>
                    <a:pt x="1524000" y="25145"/>
                  </a:lnTo>
                  <a:lnTo>
                    <a:pt x="1524000" y="1371600"/>
                  </a:lnTo>
                  <a:lnTo>
                    <a:pt x="1536953" y="1371600"/>
                  </a:lnTo>
                  <a:close/>
                </a:path>
                <a:path w="1549400" h="1397000">
                  <a:moveTo>
                    <a:pt x="1536953" y="1396746"/>
                  </a:moveTo>
                  <a:lnTo>
                    <a:pt x="1536953" y="1371600"/>
                  </a:lnTo>
                  <a:lnTo>
                    <a:pt x="1524000" y="1383792"/>
                  </a:lnTo>
                  <a:lnTo>
                    <a:pt x="1524000" y="1396746"/>
                  </a:lnTo>
                  <a:lnTo>
                    <a:pt x="1536953" y="13967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93145" y="2423922"/>
            <a:ext cx="12496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Processor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58145" y="2035048"/>
            <a:ext cx="1244600" cy="1122680"/>
            <a:chOff x="3858145" y="2035048"/>
            <a:chExt cx="1244600" cy="1122680"/>
          </a:xfrm>
        </p:grpSpPr>
        <p:sp>
          <p:nvSpPr>
            <p:cNvPr id="9" name="object 9"/>
            <p:cNvSpPr/>
            <p:nvPr/>
          </p:nvSpPr>
          <p:spPr>
            <a:xfrm>
              <a:off x="3871099" y="2048002"/>
              <a:ext cx="1219200" cy="1097280"/>
            </a:xfrm>
            <a:custGeom>
              <a:avLst/>
              <a:gdLst/>
              <a:ahLst/>
              <a:cxnLst/>
              <a:rect l="l" t="t" r="r" b="b"/>
              <a:pathLst>
                <a:path w="1219200" h="1097280">
                  <a:moveTo>
                    <a:pt x="1219200" y="1097279"/>
                  </a:moveTo>
                  <a:lnTo>
                    <a:pt x="1219200" y="0"/>
                  </a:lnTo>
                  <a:lnTo>
                    <a:pt x="0" y="0"/>
                  </a:lnTo>
                  <a:lnTo>
                    <a:pt x="0" y="1097279"/>
                  </a:lnTo>
                  <a:lnTo>
                    <a:pt x="1219200" y="1097279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58145" y="2035048"/>
              <a:ext cx="1244600" cy="1122680"/>
            </a:xfrm>
            <a:custGeom>
              <a:avLst/>
              <a:gdLst/>
              <a:ahLst/>
              <a:cxnLst/>
              <a:rect l="l" t="t" r="r" b="b"/>
              <a:pathLst>
                <a:path w="1244600" h="1122680">
                  <a:moveTo>
                    <a:pt x="1244346" y="1122426"/>
                  </a:moveTo>
                  <a:lnTo>
                    <a:pt x="1244346" y="0"/>
                  </a:lnTo>
                  <a:lnTo>
                    <a:pt x="0" y="0"/>
                  </a:lnTo>
                  <a:lnTo>
                    <a:pt x="0" y="1122426"/>
                  </a:lnTo>
                  <a:lnTo>
                    <a:pt x="12953" y="1122426"/>
                  </a:lnTo>
                  <a:lnTo>
                    <a:pt x="12953" y="25907"/>
                  </a:lnTo>
                  <a:lnTo>
                    <a:pt x="25146" y="12953"/>
                  </a:lnTo>
                  <a:lnTo>
                    <a:pt x="25146" y="25907"/>
                  </a:lnTo>
                  <a:lnTo>
                    <a:pt x="1219200" y="25907"/>
                  </a:lnTo>
                  <a:lnTo>
                    <a:pt x="1219200" y="12953"/>
                  </a:lnTo>
                  <a:lnTo>
                    <a:pt x="1232153" y="25907"/>
                  </a:lnTo>
                  <a:lnTo>
                    <a:pt x="1232153" y="1122426"/>
                  </a:lnTo>
                  <a:lnTo>
                    <a:pt x="1244346" y="1122426"/>
                  </a:lnTo>
                  <a:close/>
                </a:path>
                <a:path w="1244600" h="1122680">
                  <a:moveTo>
                    <a:pt x="25146" y="25907"/>
                  </a:moveTo>
                  <a:lnTo>
                    <a:pt x="25146" y="12953"/>
                  </a:lnTo>
                  <a:lnTo>
                    <a:pt x="12953" y="25907"/>
                  </a:lnTo>
                  <a:lnTo>
                    <a:pt x="25146" y="25907"/>
                  </a:lnTo>
                  <a:close/>
                </a:path>
                <a:path w="1244600" h="1122680">
                  <a:moveTo>
                    <a:pt x="25146" y="1097279"/>
                  </a:moveTo>
                  <a:lnTo>
                    <a:pt x="25146" y="25907"/>
                  </a:lnTo>
                  <a:lnTo>
                    <a:pt x="12953" y="25907"/>
                  </a:lnTo>
                  <a:lnTo>
                    <a:pt x="12953" y="1097279"/>
                  </a:lnTo>
                  <a:lnTo>
                    <a:pt x="25146" y="1097279"/>
                  </a:lnTo>
                  <a:close/>
                </a:path>
                <a:path w="1244600" h="1122680">
                  <a:moveTo>
                    <a:pt x="1232153" y="1097279"/>
                  </a:moveTo>
                  <a:lnTo>
                    <a:pt x="12953" y="1097279"/>
                  </a:lnTo>
                  <a:lnTo>
                    <a:pt x="25146" y="1110234"/>
                  </a:lnTo>
                  <a:lnTo>
                    <a:pt x="25146" y="1122426"/>
                  </a:lnTo>
                  <a:lnTo>
                    <a:pt x="1219200" y="1122426"/>
                  </a:lnTo>
                  <a:lnTo>
                    <a:pt x="1219200" y="1110234"/>
                  </a:lnTo>
                  <a:lnTo>
                    <a:pt x="1232153" y="1097279"/>
                  </a:lnTo>
                  <a:close/>
                </a:path>
                <a:path w="1244600" h="1122680">
                  <a:moveTo>
                    <a:pt x="25146" y="1122426"/>
                  </a:moveTo>
                  <a:lnTo>
                    <a:pt x="25146" y="1110234"/>
                  </a:lnTo>
                  <a:lnTo>
                    <a:pt x="12953" y="1097279"/>
                  </a:lnTo>
                  <a:lnTo>
                    <a:pt x="12953" y="1122426"/>
                  </a:lnTo>
                  <a:lnTo>
                    <a:pt x="25146" y="1122426"/>
                  </a:lnTo>
                  <a:close/>
                </a:path>
                <a:path w="1244600" h="1122680">
                  <a:moveTo>
                    <a:pt x="1232153" y="25907"/>
                  </a:moveTo>
                  <a:lnTo>
                    <a:pt x="1219200" y="12953"/>
                  </a:lnTo>
                  <a:lnTo>
                    <a:pt x="1219200" y="25907"/>
                  </a:lnTo>
                  <a:lnTo>
                    <a:pt x="1232153" y="25907"/>
                  </a:lnTo>
                  <a:close/>
                </a:path>
                <a:path w="1244600" h="1122680">
                  <a:moveTo>
                    <a:pt x="1232153" y="1097279"/>
                  </a:moveTo>
                  <a:lnTo>
                    <a:pt x="1232153" y="25907"/>
                  </a:lnTo>
                  <a:lnTo>
                    <a:pt x="1219200" y="25907"/>
                  </a:lnTo>
                  <a:lnTo>
                    <a:pt x="1219200" y="1097279"/>
                  </a:lnTo>
                  <a:lnTo>
                    <a:pt x="1232153" y="1097279"/>
                  </a:lnTo>
                  <a:close/>
                </a:path>
                <a:path w="1244600" h="1122680">
                  <a:moveTo>
                    <a:pt x="1232153" y="1122426"/>
                  </a:moveTo>
                  <a:lnTo>
                    <a:pt x="1232153" y="1097279"/>
                  </a:lnTo>
                  <a:lnTo>
                    <a:pt x="1219200" y="1110234"/>
                  </a:lnTo>
                  <a:lnTo>
                    <a:pt x="1219200" y="1122426"/>
                  </a:lnTo>
                  <a:lnTo>
                    <a:pt x="1232153" y="11224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080897" y="2429256"/>
            <a:ext cx="7994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Cache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67945" y="1740154"/>
            <a:ext cx="1397000" cy="1701800"/>
            <a:chOff x="6067945" y="1740154"/>
            <a:chExt cx="1397000" cy="1701800"/>
          </a:xfrm>
        </p:grpSpPr>
        <p:sp>
          <p:nvSpPr>
            <p:cNvPr id="13" name="object 13"/>
            <p:cNvSpPr/>
            <p:nvPr/>
          </p:nvSpPr>
          <p:spPr>
            <a:xfrm>
              <a:off x="6080886" y="1752346"/>
              <a:ext cx="1371600" cy="1676400"/>
            </a:xfrm>
            <a:custGeom>
              <a:avLst/>
              <a:gdLst/>
              <a:ahLst/>
              <a:cxnLst/>
              <a:rect l="l" t="t" r="r" b="b"/>
              <a:pathLst>
                <a:path w="1371600" h="1676400">
                  <a:moveTo>
                    <a:pt x="1371600" y="1676400"/>
                  </a:moveTo>
                  <a:lnTo>
                    <a:pt x="1371600" y="0"/>
                  </a:lnTo>
                  <a:lnTo>
                    <a:pt x="0" y="0"/>
                  </a:lnTo>
                  <a:lnTo>
                    <a:pt x="0" y="1676400"/>
                  </a:lnTo>
                  <a:lnTo>
                    <a:pt x="1371600" y="16764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67945" y="1740154"/>
              <a:ext cx="1397000" cy="1701800"/>
            </a:xfrm>
            <a:custGeom>
              <a:avLst/>
              <a:gdLst/>
              <a:ahLst/>
              <a:cxnLst/>
              <a:rect l="l" t="t" r="r" b="b"/>
              <a:pathLst>
                <a:path w="1397000" h="1701800">
                  <a:moveTo>
                    <a:pt x="1396746" y="1701545"/>
                  </a:moveTo>
                  <a:lnTo>
                    <a:pt x="1396746" y="0"/>
                  </a:lnTo>
                  <a:lnTo>
                    <a:pt x="0" y="0"/>
                  </a:lnTo>
                  <a:lnTo>
                    <a:pt x="0" y="1701545"/>
                  </a:lnTo>
                  <a:lnTo>
                    <a:pt x="12941" y="1701545"/>
                  </a:lnTo>
                  <a:lnTo>
                    <a:pt x="12941" y="25145"/>
                  </a:lnTo>
                  <a:lnTo>
                    <a:pt x="25145" y="12191"/>
                  </a:lnTo>
                  <a:lnTo>
                    <a:pt x="25145" y="25145"/>
                  </a:lnTo>
                  <a:lnTo>
                    <a:pt x="1371600" y="25145"/>
                  </a:lnTo>
                  <a:lnTo>
                    <a:pt x="1371600" y="12191"/>
                  </a:lnTo>
                  <a:lnTo>
                    <a:pt x="1384541" y="25145"/>
                  </a:lnTo>
                  <a:lnTo>
                    <a:pt x="1384541" y="1701545"/>
                  </a:lnTo>
                  <a:lnTo>
                    <a:pt x="1396746" y="1701545"/>
                  </a:lnTo>
                  <a:close/>
                </a:path>
                <a:path w="1397000" h="1701800">
                  <a:moveTo>
                    <a:pt x="25145" y="25145"/>
                  </a:moveTo>
                  <a:lnTo>
                    <a:pt x="25145" y="12191"/>
                  </a:lnTo>
                  <a:lnTo>
                    <a:pt x="12941" y="25145"/>
                  </a:lnTo>
                  <a:lnTo>
                    <a:pt x="25145" y="25145"/>
                  </a:lnTo>
                  <a:close/>
                </a:path>
                <a:path w="1397000" h="1701800">
                  <a:moveTo>
                    <a:pt x="25145" y="1676399"/>
                  </a:moveTo>
                  <a:lnTo>
                    <a:pt x="25145" y="25145"/>
                  </a:lnTo>
                  <a:lnTo>
                    <a:pt x="12941" y="25145"/>
                  </a:lnTo>
                  <a:lnTo>
                    <a:pt x="12941" y="1676399"/>
                  </a:lnTo>
                  <a:lnTo>
                    <a:pt x="25145" y="1676399"/>
                  </a:lnTo>
                  <a:close/>
                </a:path>
                <a:path w="1397000" h="1701800">
                  <a:moveTo>
                    <a:pt x="1384541" y="1676399"/>
                  </a:moveTo>
                  <a:lnTo>
                    <a:pt x="12941" y="1676399"/>
                  </a:lnTo>
                  <a:lnTo>
                    <a:pt x="25145" y="1688591"/>
                  </a:lnTo>
                  <a:lnTo>
                    <a:pt x="25145" y="1701545"/>
                  </a:lnTo>
                  <a:lnTo>
                    <a:pt x="1371600" y="1701545"/>
                  </a:lnTo>
                  <a:lnTo>
                    <a:pt x="1371600" y="1688591"/>
                  </a:lnTo>
                  <a:lnTo>
                    <a:pt x="1384541" y="1676399"/>
                  </a:lnTo>
                  <a:close/>
                </a:path>
                <a:path w="1397000" h="1701800">
                  <a:moveTo>
                    <a:pt x="25145" y="1701545"/>
                  </a:moveTo>
                  <a:lnTo>
                    <a:pt x="25145" y="1688591"/>
                  </a:lnTo>
                  <a:lnTo>
                    <a:pt x="12941" y="1676399"/>
                  </a:lnTo>
                  <a:lnTo>
                    <a:pt x="12941" y="1701545"/>
                  </a:lnTo>
                  <a:lnTo>
                    <a:pt x="25145" y="1701545"/>
                  </a:lnTo>
                  <a:close/>
                </a:path>
                <a:path w="1397000" h="1701800">
                  <a:moveTo>
                    <a:pt x="1384541" y="25145"/>
                  </a:moveTo>
                  <a:lnTo>
                    <a:pt x="1371600" y="12191"/>
                  </a:lnTo>
                  <a:lnTo>
                    <a:pt x="1371600" y="25145"/>
                  </a:lnTo>
                  <a:lnTo>
                    <a:pt x="1384541" y="25145"/>
                  </a:lnTo>
                  <a:close/>
                </a:path>
                <a:path w="1397000" h="1701800">
                  <a:moveTo>
                    <a:pt x="1384541" y="1676399"/>
                  </a:moveTo>
                  <a:lnTo>
                    <a:pt x="1384541" y="25145"/>
                  </a:lnTo>
                  <a:lnTo>
                    <a:pt x="1371600" y="25145"/>
                  </a:lnTo>
                  <a:lnTo>
                    <a:pt x="1371600" y="1676399"/>
                  </a:lnTo>
                  <a:lnTo>
                    <a:pt x="1384541" y="1676399"/>
                  </a:lnTo>
                  <a:close/>
                </a:path>
                <a:path w="1397000" h="1701800">
                  <a:moveTo>
                    <a:pt x="1384541" y="1701545"/>
                  </a:moveTo>
                  <a:lnTo>
                    <a:pt x="1384541" y="1676399"/>
                  </a:lnTo>
                  <a:lnTo>
                    <a:pt x="1371600" y="1688591"/>
                  </a:lnTo>
                  <a:lnTo>
                    <a:pt x="1371600" y="1701545"/>
                  </a:lnTo>
                  <a:lnTo>
                    <a:pt x="1384541" y="17015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241127" y="2271522"/>
            <a:ext cx="10496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3995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Verdana"/>
                <a:cs typeface="Verdana"/>
              </a:rPr>
              <a:t>Main </a:t>
            </a:r>
            <a:r>
              <a:rPr sz="2000" spc="-10" dirty="0">
                <a:latin typeface="Verdana"/>
                <a:cs typeface="Verdana"/>
              </a:rPr>
              <a:t>Memory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892691" y="2553207"/>
            <a:ext cx="3175635" cy="81915"/>
          </a:xfrm>
          <a:custGeom>
            <a:avLst/>
            <a:gdLst/>
            <a:ahLst/>
            <a:cxnLst/>
            <a:rect l="l" t="t" r="r" b="b"/>
            <a:pathLst>
              <a:path w="3175635" h="81914">
                <a:moveTo>
                  <a:pt x="965454" y="44208"/>
                </a:moveTo>
                <a:lnTo>
                  <a:pt x="889254" y="5346"/>
                </a:lnTo>
                <a:lnTo>
                  <a:pt x="889254" y="31153"/>
                </a:lnTo>
                <a:lnTo>
                  <a:pt x="902208" y="31254"/>
                </a:lnTo>
                <a:lnTo>
                  <a:pt x="76962" y="25247"/>
                </a:lnTo>
                <a:lnTo>
                  <a:pt x="76708" y="25247"/>
                </a:lnTo>
                <a:lnTo>
                  <a:pt x="76962" y="12"/>
                </a:lnTo>
                <a:lnTo>
                  <a:pt x="0" y="37350"/>
                </a:lnTo>
                <a:lnTo>
                  <a:pt x="64008" y="69989"/>
                </a:lnTo>
                <a:lnTo>
                  <a:pt x="76200" y="76212"/>
                </a:lnTo>
                <a:lnTo>
                  <a:pt x="76441" y="51142"/>
                </a:lnTo>
                <a:lnTo>
                  <a:pt x="889254" y="56311"/>
                </a:lnTo>
                <a:lnTo>
                  <a:pt x="889254" y="81546"/>
                </a:lnTo>
                <a:lnTo>
                  <a:pt x="902208" y="75196"/>
                </a:lnTo>
                <a:lnTo>
                  <a:pt x="965454" y="44208"/>
                </a:lnTo>
                <a:close/>
              </a:path>
              <a:path w="3175635" h="81914">
                <a:moveTo>
                  <a:pt x="3175254" y="37338"/>
                </a:moveTo>
                <a:lnTo>
                  <a:pt x="3099054" y="0"/>
                </a:lnTo>
                <a:lnTo>
                  <a:pt x="3099054" y="25247"/>
                </a:lnTo>
                <a:lnTo>
                  <a:pt x="2286762" y="31153"/>
                </a:lnTo>
                <a:lnTo>
                  <a:pt x="2286254" y="31153"/>
                </a:lnTo>
                <a:lnTo>
                  <a:pt x="2286000" y="5334"/>
                </a:lnTo>
                <a:lnTo>
                  <a:pt x="2209800" y="44196"/>
                </a:lnTo>
                <a:lnTo>
                  <a:pt x="2273808" y="75260"/>
                </a:lnTo>
                <a:lnTo>
                  <a:pt x="2286000" y="81165"/>
                </a:lnTo>
                <a:lnTo>
                  <a:pt x="2286254" y="81292"/>
                </a:lnTo>
                <a:lnTo>
                  <a:pt x="2286508" y="81419"/>
                </a:lnTo>
                <a:lnTo>
                  <a:pt x="2286762" y="81534"/>
                </a:lnTo>
                <a:lnTo>
                  <a:pt x="2286508" y="56311"/>
                </a:lnTo>
                <a:lnTo>
                  <a:pt x="3099054" y="51142"/>
                </a:lnTo>
                <a:lnTo>
                  <a:pt x="3099054" y="76200"/>
                </a:lnTo>
                <a:lnTo>
                  <a:pt x="3112008" y="69596"/>
                </a:lnTo>
                <a:lnTo>
                  <a:pt x="3175254" y="373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14" dirty="0"/>
              <a:t> </a:t>
            </a:r>
            <a:r>
              <a:rPr spc="-10" dirty="0"/>
              <a:t>Memories</a:t>
            </a:r>
          </a:p>
          <a:p>
            <a:pPr marL="12700">
              <a:lnSpc>
                <a:spcPct val="100000"/>
              </a:lnSpc>
            </a:pPr>
            <a:r>
              <a:rPr dirty="0"/>
              <a:t>Write</a:t>
            </a:r>
            <a:r>
              <a:rPr spc="-85" dirty="0"/>
              <a:t> </a:t>
            </a:r>
            <a:r>
              <a:rPr dirty="0"/>
              <a:t>Operation</a:t>
            </a:r>
            <a:r>
              <a:rPr spc="-45" dirty="0"/>
              <a:t> </a:t>
            </a:r>
            <a:r>
              <a:rPr dirty="0"/>
              <a:t>(Write</a:t>
            </a:r>
            <a:r>
              <a:rPr spc="-80" dirty="0"/>
              <a:t> </a:t>
            </a:r>
            <a:r>
              <a:rPr spc="-20" dirty="0"/>
              <a:t>Hit)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5643" y="3448449"/>
            <a:ext cx="7596505" cy="258508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15"/>
              </a:spcBef>
              <a:buClr>
                <a:srgbClr val="330065"/>
              </a:buClr>
              <a:buSzPct val="69230"/>
              <a:buFont typeface="Wingdings"/>
              <a:buChar char=""/>
              <a:tabLst>
                <a:tab pos="354965" algn="l"/>
              </a:tabLst>
            </a:pPr>
            <a:r>
              <a:rPr sz="2600" spc="-20" dirty="0">
                <a:latin typeface="Arial MT"/>
                <a:cs typeface="Arial MT"/>
              </a:rPr>
              <a:t>Write-</a:t>
            </a:r>
            <a:r>
              <a:rPr sz="2600" dirty="0">
                <a:latin typeface="Arial MT"/>
                <a:cs typeface="Arial MT"/>
              </a:rPr>
              <a:t>Back</a:t>
            </a:r>
            <a:r>
              <a:rPr sz="2600" spc="-10" dirty="0">
                <a:latin typeface="Arial MT"/>
                <a:cs typeface="Arial MT"/>
              </a:rPr>
              <a:t> Protocol</a:t>
            </a:r>
            <a:endParaRPr sz="2600" dirty="0">
              <a:latin typeface="Arial MT"/>
              <a:cs typeface="Arial MT"/>
            </a:endParaRPr>
          </a:p>
          <a:p>
            <a:pPr marL="755650" marR="5080" lvl="1" indent="-285750">
              <a:lnSpc>
                <a:spcPts val="2590"/>
              </a:lnSpc>
              <a:spcBef>
                <a:spcPts val="625"/>
              </a:spcBef>
              <a:buClr>
                <a:srgbClr val="659A9A"/>
              </a:buClr>
              <a:buSzPct val="68750"/>
              <a:buFont typeface="Wingdings"/>
              <a:buChar char="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write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updates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only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location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marks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updated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associated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flag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bit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dirty</a:t>
            </a:r>
            <a:r>
              <a:rPr sz="2400" i="1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flag)</a:t>
            </a:r>
            <a:endParaRPr sz="2400" dirty="0">
              <a:latin typeface="Arial MT"/>
              <a:cs typeface="Arial MT"/>
            </a:endParaRPr>
          </a:p>
          <a:p>
            <a:pPr marL="755650" marR="5080" lvl="1" indent="-285750">
              <a:lnSpc>
                <a:spcPts val="2590"/>
              </a:lnSpc>
              <a:spcBef>
                <a:spcPts val="585"/>
              </a:spcBef>
              <a:buClr>
                <a:srgbClr val="659A9A"/>
              </a:buClr>
              <a:buSzPct val="68750"/>
              <a:buFont typeface="Wingdings"/>
              <a:buChar char=""/>
              <a:tabLst>
                <a:tab pos="75565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updated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later,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block </a:t>
            </a:r>
            <a:r>
              <a:rPr sz="2400" dirty="0">
                <a:latin typeface="Arial MT"/>
                <a:cs typeface="Arial MT"/>
              </a:rPr>
              <a:t>containing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marked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address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removed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from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cache</a:t>
            </a:r>
            <a:r>
              <a:rPr lang="en-US" sz="2400" spc="-10" dirty="0">
                <a:latin typeface="Arial MT"/>
                <a:cs typeface="Arial MT"/>
              </a:rPr>
              <a:t> (Replacement Policy)</a:t>
            </a:r>
            <a:endParaRPr sz="24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43545" y="1892554"/>
            <a:ext cx="1549400" cy="1397000"/>
            <a:chOff x="1343545" y="1892554"/>
            <a:chExt cx="1549400" cy="1397000"/>
          </a:xfrm>
        </p:grpSpPr>
        <p:sp>
          <p:nvSpPr>
            <p:cNvPr id="5" name="object 5"/>
            <p:cNvSpPr/>
            <p:nvPr/>
          </p:nvSpPr>
          <p:spPr>
            <a:xfrm>
              <a:off x="1356499" y="1904746"/>
              <a:ext cx="1524000" cy="1371600"/>
            </a:xfrm>
            <a:custGeom>
              <a:avLst/>
              <a:gdLst/>
              <a:ahLst/>
              <a:cxnLst/>
              <a:rect l="l" t="t" r="r" b="b"/>
              <a:pathLst>
                <a:path w="1524000" h="1371600">
                  <a:moveTo>
                    <a:pt x="1524000" y="1371600"/>
                  </a:moveTo>
                  <a:lnTo>
                    <a:pt x="1524000" y="0"/>
                  </a:lnTo>
                  <a:lnTo>
                    <a:pt x="0" y="0"/>
                  </a:lnTo>
                  <a:lnTo>
                    <a:pt x="0" y="1371600"/>
                  </a:lnTo>
                  <a:lnTo>
                    <a:pt x="1524000" y="13716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43545" y="1892554"/>
              <a:ext cx="1549400" cy="1397000"/>
            </a:xfrm>
            <a:custGeom>
              <a:avLst/>
              <a:gdLst/>
              <a:ahLst/>
              <a:cxnLst/>
              <a:rect l="l" t="t" r="r" b="b"/>
              <a:pathLst>
                <a:path w="1549400" h="1397000">
                  <a:moveTo>
                    <a:pt x="1549146" y="1396746"/>
                  </a:moveTo>
                  <a:lnTo>
                    <a:pt x="1549146" y="0"/>
                  </a:lnTo>
                  <a:lnTo>
                    <a:pt x="0" y="0"/>
                  </a:lnTo>
                  <a:lnTo>
                    <a:pt x="0" y="1396746"/>
                  </a:lnTo>
                  <a:lnTo>
                    <a:pt x="12954" y="1396746"/>
                  </a:lnTo>
                  <a:lnTo>
                    <a:pt x="12954" y="25146"/>
                  </a:lnTo>
                  <a:lnTo>
                    <a:pt x="25145" y="12192"/>
                  </a:lnTo>
                  <a:lnTo>
                    <a:pt x="25145" y="25146"/>
                  </a:lnTo>
                  <a:lnTo>
                    <a:pt x="1524000" y="25145"/>
                  </a:lnTo>
                  <a:lnTo>
                    <a:pt x="1524000" y="12191"/>
                  </a:lnTo>
                  <a:lnTo>
                    <a:pt x="1536953" y="25145"/>
                  </a:lnTo>
                  <a:lnTo>
                    <a:pt x="1536953" y="1396746"/>
                  </a:lnTo>
                  <a:lnTo>
                    <a:pt x="1549146" y="1396746"/>
                  </a:lnTo>
                  <a:close/>
                </a:path>
                <a:path w="1549400" h="1397000">
                  <a:moveTo>
                    <a:pt x="25145" y="25146"/>
                  </a:moveTo>
                  <a:lnTo>
                    <a:pt x="25145" y="12192"/>
                  </a:lnTo>
                  <a:lnTo>
                    <a:pt x="12954" y="25146"/>
                  </a:lnTo>
                  <a:lnTo>
                    <a:pt x="25145" y="25146"/>
                  </a:lnTo>
                  <a:close/>
                </a:path>
                <a:path w="1549400" h="1397000">
                  <a:moveTo>
                    <a:pt x="25146" y="1371600"/>
                  </a:moveTo>
                  <a:lnTo>
                    <a:pt x="25145" y="25146"/>
                  </a:lnTo>
                  <a:lnTo>
                    <a:pt x="12954" y="25146"/>
                  </a:lnTo>
                  <a:lnTo>
                    <a:pt x="12954" y="1371600"/>
                  </a:lnTo>
                  <a:lnTo>
                    <a:pt x="25146" y="1371600"/>
                  </a:lnTo>
                  <a:close/>
                </a:path>
                <a:path w="1549400" h="1397000">
                  <a:moveTo>
                    <a:pt x="1536953" y="1371600"/>
                  </a:moveTo>
                  <a:lnTo>
                    <a:pt x="12954" y="1371600"/>
                  </a:lnTo>
                  <a:lnTo>
                    <a:pt x="25146" y="1383792"/>
                  </a:lnTo>
                  <a:lnTo>
                    <a:pt x="25146" y="1396746"/>
                  </a:lnTo>
                  <a:lnTo>
                    <a:pt x="1524000" y="1396746"/>
                  </a:lnTo>
                  <a:lnTo>
                    <a:pt x="1524000" y="1383792"/>
                  </a:lnTo>
                  <a:lnTo>
                    <a:pt x="1536953" y="1371600"/>
                  </a:lnTo>
                  <a:close/>
                </a:path>
                <a:path w="1549400" h="1397000">
                  <a:moveTo>
                    <a:pt x="25146" y="1396746"/>
                  </a:moveTo>
                  <a:lnTo>
                    <a:pt x="25146" y="1383792"/>
                  </a:lnTo>
                  <a:lnTo>
                    <a:pt x="12954" y="1371600"/>
                  </a:lnTo>
                  <a:lnTo>
                    <a:pt x="12954" y="1396746"/>
                  </a:lnTo>
                  <a:lnTo>
                    <a:pt x="25146" y="1396746"/>
                  </a:lnTo>
                  <a:close/>
                </a:path>
                <a:path w="1549400" h="1397000">
                  <a:moveTo>
                    <a:pt x="1536953" y="25145"/>
                  </a:moveTo>
                  <a:lnTo>
                    <a:pt x="1524000" y="12191"/>
                  </a:lnTo>
                  <a:lnTo>
                    <a:pt x="1524000" y="25145"/>
                  </a:lnTo>
                  <a:lnTo>
                    <a:pt x="1536953" y="25145"/>
                  </a:lnTo>
                  <a:close/>
                </a:path>
                <a:path w="1549400" h="1397000">
                  <a:moveTo>
                    <a:pt x="1536953" y="1371600"/>
                  </a:moveTo>
                  <a:lnTo>
                    <a:pt x="1536953" y="25145"/>
                  </a:lnTo>
                  <a:lnTo>
                    <a:pt x="1524000" y="25145"/>
                  </a:lnTo>
                  <a:lnTo>
                    <a:pt x="1524000" y="1371600"/>
                  </a:lnTo>
                  <a:lnTo>
                    <a:pt x="1536953" y="1371600"/>
                  </a:lnTo>
                  <a:close/>
                </a:path>
                <a:path w="1549400" h="1397000">
                  <a:moveTo>
                    <a:pt x="1536953" y="1396746"/>
                  </a:moveTo>
                  <a:lnTo>
                    <a:pt x="1536953" y="1371600"/>
                  </a:lnTo>
                  <a:lnTo>
                    <a:pt x="1524000" y="1383792"/>
                  </a:lnTo>
                  <a:lnTo>
                    <a:pt x="1524000" y="1396746"/>
                  </a:lnTo>
                  <a:lnTo>
                    <a:pt x="1536953" y="13967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93145" y="2423922"/>
            <a:ext cx="12496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Processor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58145" y="2035048"/>
            <a:ext cx="1244600" cy="1122680"/>
            <a:chOff x="3858145" y="2035048"/>
            <a:chExt cx="1244600" cy="1122680"/>
          </a:xfrm>
        </p:grpSpPr>
        <p:sp>
          <p:nvSpPr>
            <p:cNvPr id="9" name="object 9"/>
            <p:cNvSpPr/>
            <p:nvPr/>
          </p:nvSpPr>
          <p:spPr>
            <a:xfrm>
              <a:off x="3871099" y="2048002"/>
              <a:ext cx="1219200" cy="1097280"/>
            </a:xfrm>
            <a:custGeom>
              <a:avLst/>
              <a:gdLst/>
              <a:ahLst/>
              <a:cxnLst/>
              <a:rect l="l" t="t" r="r" b="b"/>
              <a:pathLst>
                <a:path w="1219200" h="1097280">
                  <a:moveTo>
                    <a:pt x="1219200" y="1097279"/>
                  </a:moveTo>
                  <a:lnTo>
                    <a:pt x="1219200" y="0"/>
                  </a:lnTo>
                  <a:lnTo>
                    <a:pt x="0" y="0"/>
                  </a:lnTo>
                  <a:lnTo>
                    <a:pt x="0" y="1097279"/>
                  </a:lnTo>
                  <a:lnTo>
                    <a:pt x="1219200" y="1097279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58145" y="2035048"/>
              <a:ext cx="1244600" cy="1122680"/>
            </a:xfrm>
            <a:custGeom>
              <a:avLst/>
              <a:gdLst/>
              <a:ahLst/>
              <a:cxnLst/>
              <a:rect l="l" t="t" r="r" b="b"/>
              <a:pathLst>
                <a:path w="1244600" h="1122680">
                  <a:moveTo>
                    <a:pt x="1244346" y="1122426"/>
                  </a:moveTo>
                  <a:lnTo>
                    <a:pt x="1244346" y="0"/>
                  </a:lnTo>
                  <a:lnTo>
                    <a:pt x="0" y="0"/>
                  </a:lnTo>
                  <a:lnTo>
                    <a:pt x="0" y="1122426"/>
                  </a:lnTo>
                  <a:lnTo>
                    <a:pt x="12953" y="1122426"/>
                  </a:lnTo>
                  <a:lnTo>
                    <a:pt x="12953" y="25907"/>
                  </a:lnTo>
                  <a:lnTo>
                    <a:pt x="25146" y="12953"/>
                  </a:lnTo>
                  <a:lnTo>
                    <a:pt x="25146" y="25907"/>
                  </a:lnTo>
                  <a:lnTo>
                    <a:pt x="1219200" y="25907"/>
                  </a:lnTo>
                  <a:lnTo>
                    <a:pt x="1219200" y="12953"/>
                  </a:lnTo>
                  <a:lnTo>
                    <a:pt x="1232153" y="25907"/>
                  </a:lnTo>
                  <a:lnTo>
                    <a:pt x="1232153" y="1122426"/>
                  </a:lnTo>
                  <a:lnTo>
                    <a:pt x="1244346" y="1122426"/>
                  </a:lnTo>
                  <a:close/>
                </a:path>
                <a:path w="1244600" h="1122680">
                  <a:moveTo>
                    <a:pt x="25146" y="25907"/>
                  </a:moveTo>
                  <a:lnTo>
                    <a:pt x="25146" y="12953"/>
                  </a:lnTo>
                  <a:lnTo>
                    <a:pt x="12953" y="25907"/>
                  </a:lnTo>
                  <a:lnTo>
                    <a:pt x="25146" y="25907"/>
                  </a:lnTo>
                  <a:close/>
                </a:path>
                <a:path w="1244600" h="1122680">
                  <a:moveTo>
                    <a:pt x="25146" y="1097279"/>
                  </a:moveTo>
                  <a:lnTo>
                    <a:pt x="25146" y="25907"/>
                  </a:lnTo>
                  <a:lnTo>
                    <a:pt x="12953" y="25907"/>
                  </a:lnTo>
                  <a:lnTo>
                    <a:pt x="12953" y="1097279"/>
                  </a:lnTo>
                  <a:lnTo>
                    <a:pt x="25146" y="1097279"/>
                  </a:lnTo>
                  <a:close/>
                </a:path>
                <a:path w="1244600" h="1122680">
                  <a:moveTo>
                    <a:pt x="1232153" y="1097279"/>
                  </a:moveTo>
                  <a:lnTo>
                    <a:pt x="12953" y="1097279"/>
                  </a:lnTo>
                  <a:lnTo>
                    <a:pt x="25146" y="1110234"/>
                  </a:lnTo>
                  <a:lnTo>
                    <a:pt x="25146" y="1122426"/>
                  </a:lnTo>
                  <a:lnTo>
                    <a:pt x="1219200" y="1122426"/>
                  </a:lnTo>
                  <a:lnTo>
                    <a:pt x="1219200" y="1110234"/>
                  </a:lnTo>
                  <a:lnTo>
                    <a:pt x="1232153" y="1097279"/>
                  </a:lnTo>
                  <a:close/>
                </a:path>
                <a:path w="1244600" h="1122680">
                  <a:moveTo>
                    <a:pt x="25146" y="1122426"/>
                  </a:moveTo>
                  <a:lnTo>
                    <a:pt x="25146" y="1110234"/>
                  </a:lnTo>
                  <a:lnTo>
                    <a:pt x="12953" y="1097279"/>
                  </a:lnTo>
                  <a:lnTo>
                    <a:pt x="12953" y="1122426"/>
                  </a:lnTo>
                  <a:lnTo>
                    <a:pt x="25146" y="1122426"/>
                  </a:lnTo>
                  <a:close/>
                </a:path>
                <a:path w="1244600" h="1122680">
                  <a:moveTo>
                    <a:pt x="1232153" y="25907"/>
                  </a:moveTo>
                  <a:lnTo>
                    <a:pt x="1219200" y="12953"/>
                  </a:lnTo>
                  <a:lnTo>
                    <a:pt x="1219200" y="25907"/>
                  </a:lnTo>
                  <a:lnTo>
                    <a:pt x="1232153" y="25907"/>
                  </a:lnTo>
                  <a:close/>
                </a:path>
                <a:path w="1244600" h="1122680">
                  <a:moveTo>
                    <a:pt x="1232153" y="1097279"/>
                  </a:moveTo>
                  <a:lnTo>
                    <a:pt x="1232153" y="25907"/>
                  </a:lnTo>
                  <a:lnTo>
                    <a:pt x="1219200" y="25907"/>
                  </a:lnTo>
                  <a:lnTo>
                    <a:pt x="1219200" y="1097279"/>
                  </a:lnTo>
                  <a:lnTo>
                    <a:pt x="1232153" y="1097279"/>
                  </a:lnTo>
                  <a:close/>
                </a:path>
                <a:path w="1244600" h="1122680">
                  <a:moveTo>
                    <a:pt x="1232153" y="1122426"/>
                  </a:moveTo>
                  <a:lnTo>
                    <a:pt x="1232153" y="1097279"/>
                  </a:lnTo>
                  <a:lnTo>
                    <a:pt x="1219200" y="1110234"/>
                  </a:lnTo>
                  <a:lnTo>
                    <a:pt x="1219200" y="1122426"/>
                  </a:lnTo>
                  <a:lnTo>
                    <a:pt x="1232153" y="11224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080897" y="2429256"/>
            <a:ext cx="7994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Cache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67945" y="1740154"/>
            <a:ext cx="1397000" cy="1701800"/>
            <a:chOff x="6067945" y="1740154"/>
            <a:chExt cx="1397000" cy="1701800"/>
          </a:xfrm>
        </p:grpSpPr>
        <p:sp>
          <p:nvSpPr>
            <p:cNvPr id="13" name="object 13"/>
            <p:cNvSpPr/>
            <p:nvPr/>
          </p:nvSpPr>
          <p:spPr>
            <a:xfrm>
              <a:off x="6080886" y="1752346"/>
              <a:ext cx="1371600" cy="1676400"/>
            </a:xfrm>
            <a:custGeom>
              <a:avLst/>
              <a:gdLst/>
              <a:ahLst/>
              <a:cxnLst/>
              <a:rect l="l" t="t" r="r" b="b"/>
              <a:pathLst>
                <a:path w="1371600" h="1676400">
                  <a:moveTo>
                    <a:pt x="1371600" y="1676400"/>
                  </a:moveTo>
                  <a:lnTo>
                    <a:pt x="1371600" y="0"/>
                  </a:lnTo>
                  <a:lnTo>
                    <a:pt x="0" y="0"/>
                  </a:lnTo>
                  <a:lnTo>
                    <a:pt x="0" y="1676400"/>
                  </a:lnTo>
                  <a:lnTo>
                    <a:pt x="1371600" y="16764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67945" y="1740154"/>
              <a:ext cx="1397000" cy="1701800"/>
            </a:xfrm>
            <a:custGeom>
              <a:avLst/>
              <a:gdLst/>
              <a:ahLst/>
              <a:cxnLst/>
              <a:rect l="l" t="t" r="r" b="b"/>
              <a:pathLst>
                <a:path w="1397000" h="1701800">
                  <a:moveTo>
                    <a:pt x="1396746" y="1701545"/>
                  </a:moveTo>
                  <a:lnTo>
                    <a:pt x="1396746" y="0"/>
                  </a:lnTo>
                  <a:lnTo>
                    <a:pt x="0" y="0"/>
                  </a:lnTo>
                  <a:lnTo>
                    <a:pt x="0" y="1701545"/>
                  </a:lnTo>
                  <a:lnTo>
                    <a:pt x="12941" y="1701545"/>
                  </a:lnTo>
                  <a:lnTo>
                    <a:pt x="12941" y="25145"/>
                  </a:lnTo>
                  <a:lnTo>
                    <a:pt x="25145" y="12191"/>
                  </a:lnTo>
                  <a:lnTo>
                    <a:pt x="25145" y="25145"/>
                  </a:lnTo>
                  <a:lnTo>
                    <a:pt x="1371600" y="25145"/>
                  </a:lnTo>
                  <a:lnTo>
                    <a:pt x="1371600" y="12191"/>
                  </a:lnTo>
                  <a:lnTo>
                    <a:pt x="1384541" y="25145"/>
                  </a:lnTo>
                  <a:lnTo>
                    <a:pt x="1384541" y="1701545"/>
                  </a:lnTo>
                  <a:lnTo>
                    <a:pt x="1396746" y="1701545"/>
                  </a:lnTo>
                  <a:close/>
                </a:path>
                <a:path w="1397000" h="1701800">
                  <a:moveTo>
                    <a:pt x="25145" y="25145"/>
                  </a:moveTo>
                  <a:lnTo>
                    <a:pt x="25145" y="12191"/>
                  </a:lnTo>
                  <a:lnTo>
                    <a:pt x="12941" y="25145"/>
                  </a:lnTo>
                  <a:lnTo>
                    <a:pt x="25145" y="25145"/>
                  </a:lnTo>
                  <a:close/>
                </a:path>
                <a:path w="1397000" h="1701800">
                  <a:moveTo>
                    <a:pt x="25145" y="1676399"/>
                  </a:moveTo>
                  <a:lnTo>
                    <a:pt x="25145" y="25145"/>
                  </a:lnTo>
                  <a:lnTo>
                    <a:pt x="12941" y="25145"/>
                  </a:lnTo>
                  <a:lnTo>
                    <a:pt x="12941" y="1676399"/>
                  </a:lnTo>
                  <a:lnTo>
                    <a:pt x="25145" y="1676399"/>
                  </a:lnTo>
                  <a:close/>
                </a:path>
                <a:path w="1397000" h="1701800">
                  <a:moveTo>
                    <a:pt x="1384541" y="1676399"/>
                  </a:moveTo>
                  <a:lnTo>
                    <a:pt x="12941" y="1676399"/>
                  </a:lnTo>
                  <a:lnTo>
                    <a:pt x="25145" y="1688591"/>
                  </a:lnTo>
                  <a:lnTo>
                    <a:pt x="25145" y="1701545"/>
                  </a:lnTo>
                  <a:lnTo>
                    <a:pt x="1371600" y="1701545"/>
                  </a:lnTo>
                  <a:lnTo>
                    <a:pt x="1371600" y="1688591"/>
                  </a:lnTo>
                  <a:lnTo>
                    <a:pt x="1384541" y="1676399"/>
                  </a:lnTo>
                  <a:close/>
                </a:path>
                <a:path w="1397000" h="1701800">
                  <a:moveTo>
                    <a:pt x="25145" y="1701545"/>
                  </a:moveTo>
                  <a:lnTo>
                    <a:pt x="25145" y="1688591"/>
                  </a:lnTo>
                  <a:lnTo>
                    <a:pt x="12941" y="1676399"/>
                  </a:lnTo>
                  <a:lnTo>
                    <a:pt x="12941" y="1701545"/>
                  </a:lnTo>
                  <a:lnTo>
                    <a:pt x="25145" y="1701545"/>
                  </a:lnTo>
                  <a:close/>
                </a:path>
                <a:path w="1397000" h="1701800">
                  <a:moveTo>
                    <a:pt x="1384541" y="25145"/>
                  </a:moveTo>
                  <a:lnTo>
                    <a:pt x="1371600" y="12191"/>
                  </a:lnTo>
                  <a:lnTo>
                    <a:pt x="1371600" y="25145"/>
                  </a:lnTo>
                  <a:lnTo>
                    <a:pt x="1384541" y="25145"/>
                  </a:lnTo>
                  <a:close/>
                </a:path>
                <a:path w="1397000" h="1701800">
                  <a:moveTo>
                    <a:pt x="1384541" y="1676399"/>
                  </a:moveTo>
                  <a:lnTo>
                    <a:pt x="1384541" y="25145"/>
                  </a:lnTo>
                  <a:lnTo>
                    <a:pt x="1371600" y="25145"/>
                  </a:lnTo>
                  <a:lnTo>
                    <a:pt x="1371600" y="1676399"/>
                  </a:lnTo>
                  <a:lnTo>
                    <a:pt x="1384541" y="1676399"/>
                  </a:lnTo>
                  <a:close/>
                </a:path>
                <a:path w="1397000" h="1701800">
                  <a:moveTo>
                    <a:pt x="1384541" y="1701545"/>
                  </a:moveTo>
                  <a:lnTo>
                    <a:pt x="1384541" y="1676399"/>
                  </a:lnTo>
                  <a:lnTo>
                    <a:pt x="1371600" y="1688591"/>
                  </a:lnTo>
                  <a:lnTo>
                    <a:pt x="1371600" y="1701545"/>
                  </a:lnTo>
                  <a:lnTo>
                    <a:pt x="1384541" y="17015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241127" y="2271522"/>
            <a:ext cx="10496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3995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Verdana"/>
                <a:cs typeface="Verdana"/>
              </a:rPr>
              <a:t>Main </a:t>
            </a:r>
            <a:r>
              <a:rPr sz="2000" spc="-10" dirty="0">
                <a:latin typeface="Verdana"/>
                <a:cs typeface="Verdana"/>
              </a:rPr>
              <a:t>Memory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892691" y="2553207"/>
            <a:ext cx="3175635" cy="81915"/>
          </a:xfrm>
          <a:custGeom>
            <a:avLst/>
            <a:gdLst/>
            <a:ahLst/>
            <a:cxnLst/>
            <a:rect l="l" t="t" r="r" b="b"/>
            <a:pathLst>
              <a:path w="3175635" h="81914">
                <a:moveTo>
                  <a:pt x="965454" y="44208"/>
                </a:moveTo>
                <a:lnTo>
                  <a:pt x="889254" y="5346"/>
                </a:lnTo>
                <a:lnTo>
                  <a:pt x="889254" y="31153"/>
                </a:lnTo>
                <a:lnTo>
                  <a:pt x="902208" y="31254"/>
                </a:lnTo>
                <a:lnTo>
                  <a:pt x="76962" y="25247"/>
                </a:lnTo>
                <a:lnTo>
                  <a:pt x="76708" y="25247"/>
                </a:lnTo>
                <a:lnTo>
                  <a:pt x="76962" y="12"/>
                </a:lnTo>
                <a:lnTo>
                  <a:pt x="0" y="37350"/>
                </a:lnTo>
                <a:lnTo>
                  <a:pt x="64008" y="69989"/>
                </a:lnTo>
                <a:lnTo>
                  <a:pt x="76200" y="76212"/>
                </a:lnTo>
                <a:lnTo>
                  <a:pt x="76441" y="51142"/>
                </a:lnTo>
                <a:lnTo>
                  <a:pt x="889254" y="56311"/>
                </a:lnTo>
                <a:lnTo>
                  <a:pt x="889254" y="81546"/>
                </a:lnTo>
                <a:lnTo>
                  <a:pt x="902208" y="75196"/>
                </a:lnTo>
                <a:lnTo>
                  <a:pt x="965454" y="44208"/>
                </a:lnTo>
                <a:close/>
              </a:path>
              <a:path w="3175635" h="81914">
                <a:moveTo>
                  <a:pt x="3175254" y="37338"/>
                </a:moveTo>
                <a:lnTo>
                  <a:pt x="3099054" y="0"/>
                </a:lnTo>
                <a:lnTo>
                  <a:pt x="3099054" y="25247"/>
                </a:lnTo>
                <a:lnTo>
                  <a:pt x="2286762" y="31153"/>
                </a:lnTo>
                <a:lnTo>
                  <a:pt x="2286254" y="31153"/>
                </a:lnTo>
                <a:lnTo>
                  <a:pt x="2286000" y="5334"/>
                </a:lnTo>
                <a:lnTo>
                  <a:pt x="2209800" y="44196"/>
                </a:lnTo>
                <a:lnTo>
                  <a:pt x="2273808" y="75260"/>
                </a:lnTo>
                <a:lnTo>
                  <a:pt x="2286000" y="81165"/>
                </a:lnTo>
                <a:lnTo>
                  <a:pt x="2286254" y="81292"/>
                </a:lnTo>
                <a:lnTo>
                  <a:pt x="2286508" y="81419"/>
                </a:lnTo>
                <a:lnTo>
                  <a:pt x="2286762" y="81534"/>
                </a:lnTo>
                <a:lnTo>
                  <a:pt x="2286508" y="56311"/>
                </a:lnTo>
                <a:lnTo>
                  <a:pt x="3099054" y="51142"/>
                </a:lnTo>
                <a:lnTo>
                  <a:pt x="3099054" y="76200"/>
                </a:lnTo>
                <a:lnTo>
                  <a:pt x="3112008" y="69596"/>
                </a:lnTo>
                <a:lnTo>
                  <a:pt x="3175254" y="373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073" y="156209"/>
            <a:ext cx="6689090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14" dirty="0"/>
              <a:t> </a:t>
            </a:r>
            <a:r>
              <a:rPr spc="-10" dirty="0"/>
              <a:t>Memories</a:t>
            </a:r>
          </a:p>
          <a:p>
            <a:pPr marL="12700">
              <a:lnSpc>
                <a:spcPct val="100000"/>
              </a:lnSpc>
            </a:pPr>
            <a:r>
              <a:rPr dirty="0"/>
              <a:t>Write</a:t>
            </a:r>
            <a:r>
              <a:rPr spc="-85" dirty="0"/>
              <a:t> </a:t>
            </a:r>
            <a:r>
              <a:rPr dirty="0"/>
              <a:t>Operation</a:t>
            </a:r>
            <a:r>
              <a:rPr spc="-45" dirty="0"/>
              <a:t> </a:t>
            </a:r>
            <a:r>
              <a:rPr dirty="0"/>
              <a:t>(Write</a:t>
            </a:r>
            <a:r>
              <a:rPr spc="-80" dirty="0"/>
              <a:t> </a:t>
            </a:r>
            <a:r>
              <a:rPr spc="-10" dirty="0"/>
              <a:t>Miss)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5643" y="3496817"/>
            <a:ext cx="7409815" cy="1922962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55600" marR="5080" indent="-342900">
              <a:lnSpc>
                <a:spcPts val="2380"/>
              </a:lnSpc>
              <a:spcBef>
                <a:spcPts val="395"/>
              </a:spcBef>
              <a:buClr>
                <a:srgbClr val="330065"/>
              </a:buClr>
              <a:buSzPct val="70454"/>
              <a:buFont typeface="Wingdings"/>
              <a:buChar char=""/>
              <a:tabLst>
                <a:tab pos="355600" algn="l"/>
              </a:tabLst>
            </a:pPr>
            <a:r>
              <a:rPr sz="2200" dirty="0">
                <a:latin typeface="Arial MT"/>
                <a:cs typeface="Arial MT"/>
              </a:rPr>
              <a:t>Since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data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not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necessarily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needed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write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there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are </a:t>
            </a:r>
            <a:r>
              <a:rPr sz="2200" dirty="0">
                <a:latin typeface="Arial MT"/>
                <a:cs typeface="Arial MT"/>
              </a:rPr>
              <a:t>two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options</a:t>
            </a:r>
            <a:endParaRPr sz="2200" dirty="0">
              <a:latin typeface="Arial MT"/>
              <a:cs typeface="Arial MT"/>
            </a:endParaRPr>
          </a:p>
          <a:p>
            <a:pPr marL="755650" marR="664845" lvl="1" indent="-285750">
              <a:lnSpc>
                <a:spcPts val="2160"/>
              </a:lnSpc>
              <a:spcBef>
                <a:spcPts val="475"/>
              </a:spcBef>
              <a:buClr>
                <a:srgbClr val="659A9A"/>
              </a:buClr>
              <a:buSzPct val="70000"/>
              <a:buFont typeface="Wingdings"/>
              <a:buChar char=""/>
              <a:tabLst>
                <a:tab pos="755650" algn="l"/>
              </a:tabLst>
            </a:pPr>
            <a:r>
              <a:rPr sz="2000" i="1" dirty="0">
                <a:latin typeface="Arial"/>
                <a:cs typeface="Arial"/>
              </a:rPr>
              <a:t>Write</a:t>
            </a:r>
            <a:r>
              <a:rPr sz="2000" i="1" spc="-6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Allocate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block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allocated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write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miss, </a:t>
            </a:r>
            <a:r>
              <a:rPr sz="2000" dirty="0">
                <a:latin typeface="Arial MT"/>
                <a:cs typeface="Arial MT"/>
              </a:rPr>
              <a:t>followed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corresponding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write-</a:t>
            </a:r>
            <a:r>
              <a:rPr sz="2000" dirty="0">
                <a:latin typeface="Arial MT"/>
                <a:cs typeface="Arial MT"/>
              </a:rPr>
              <a:t>hit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actions</a:t>
            </a:r>
            <a:endParaRPr sz="2000" dirty="0">
              <a:latin typeface="Arial MT"/>
              <a:cs typeface="Arial MT"/>
            </a:endParaRPr>
          </a:p>
          <a:p>
            <a:pPr marL="755650" marR="375285" lvl="1" indent="-285750">
              <a:lnSpc>
                <a:spcPts val="2160"/>
              </a:lnSpc>
              <a:spcBef>
                <a:spcPts val="480"/>
              </a:spcBef>
              <a:buClr>
                <a:srgbClr val="659A9A"/>
              </a:buClr>
              <a:buSzPct val="70000"/>
              <a:buFont typeface="Wingdings"/>
              <a:buChar char=""/>
              <a:tabLst>
                <a:tab pos="755650" algn="l"/>
              </a:tabLst>
            </a:pPr>
            <a:r>
              <a:rPr sz="2000" i="1" spc="-25" dirty="0">
                <a:latin typeface="Arial"/>
                <a:cs typeface="Arial"/>
              </a:rPr>
              <a:t>No-</a:t>
            </a:r>
            <a:r>
              <a:rPr sz="2000" i="1" dirty="0">
                <a:latin typeface="Arial"/>
                <a:cs typeface="Arial"/>
              </a:rPr>
              <a:t>Write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Allocate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Write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misses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affect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cache, </a:t>
            </a:r>
            <a:r>
              <a:rPr sz="2000" dirty="0">
                <a:latin typeface="Arial MT"/>
                <a:cs typeface="Arial MT"/>
              </a:rPr>
              <a:t>instead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only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lower-</a:t>
            </a:r>
            <a:r>
              <a:rPr sz="2000" dirty="0">
                <a:latin typeface="Arial MT"/>
                <a:cs typeface="Arial MT"/>
              </a:rPr>
              <a:t>level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memory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updated</a:t>
            </a:r>
            <a:endParaRPr sz="20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43545" y="1892554"/>
            <a:ext cx="1549400" cy="1397000"/>
            <a:chOff x="1343545" y="1892554"/>
            <a:chExt cx="1549400" cy="1397000"/>
          </a:xfrm>
        </p:grpSpPr>
        <p:sp>
          <p:nvSpPr>
            <p:cNvPr id="5" name="object 5"/>
            <p:cNvSpPr/>
            <p:nvPr/>
          </p:nvSpPr>
          <p:spPr>
            <a:xfrm>
              <a:off x="1356499" y="1904746"/>
              <a:ext cx="1524000" cy="1371600"/>
            </a:xfrm>
            <a:custGeom>
              <a:avLst/>
              <a:gdLst/>
              <a:ahLst/>
              <a:cxnLst/>
              <a:rect l="l" t="t" r="r" b="b"/>
              <a:pathLst>
                <a:path w="1524000" h="1371600">
                  <a:moveTo>
                    <a:pt x="1524000" y="1371600"/>
                  </a:moveTo>
                  <a:lnTo>
                    <a:pt x="1524000" y="0"/>
                  </a:lnTo>
                  <a:lnTo>
                    <a:pt x="0" y="0"/>
                  </a:lnTo>
                  <a:lnTo>
                    <a:pt x="0" y="1371600"/>
                  </a:lnTo>
                  <a:lnTo>
                    <a:pt x="1524000" y="13716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43545" y="1892554"/>
              <a:ext cx="1549400" cy="1397000"/>
            </a:xfrm>
            <a:custGeom>
              <a:avLst/>
              <a:gdLst/>
              <a:ahLst/>
              <a:cxnLst/>
              <a:rect l="l" t="t" r="r" b="b"/>
              <a:pathLst>
                <a:path w="1549400" h="1397000">
                  <a:moveTo>
                    <a:pt x="1549146" y="1396746"/>
                  </a:moveTo>
                  <a:lnTo>
                    <a:pt x="1549146" y="0"/>
                  </a:lnTo>
                  <a:lnTo>
                    <a:pt x="0" y="0"/>
                  </a:lnTo>
                  <a:lnTo>
                    <a:pt x="0" y="1396746"/>
                  </a:lnTo>
                  <a:lnTo>
                    <a:pt x="12954" y="1396746"/>
                  </a:lnTo>
                  <a:lnTo>
                    <a:pt x="12954" y="25146"/>
                  </a:lnTo>
                  <a:lnTo>
                    <a:pt x="25145" y="12192"/>
                  </a:lnTo>
                  <a:lnTo>
                    <a:pt x="25145" y="25146"/>
                  </a:lnTo>
                  <a:lnTo>
                    <a:pt x="1524000" y="25145"/>
                  </a:lnTo>
                  <a:lnTo>
                    <a:pt x="1524000" y="12191"/>
                  </a:lnTo>
                  <a:lnTo>
                    <a:pt x="1536953" y="25145"/>
                  </a:lnTo>
                  <a:lnTo>
                    <a:pt x="1536953" y="1396746"/>
                  </a:lnTo>
                  <a:lnTo>
                    <a:pt x="1549146" y="1396746"/>
                  </a:lnTo>
                  <a:close/>
                </a:path>
                <a:path w="1549400" h="1397000">
                  <a:moveTo>
                    <a:pt x="25145" y="25146"/>
                  </a:moveTo>
                  <a:lnTo>
                    <a:pt x="25145" y="12192"/>
                  </a:lnTo>
                  <a:lnTo>
                    <a:pt x="12954" y="25146"/>
                  </a:lnTo>
                  <a:lnTo>
                    <a:pt x="25145" y="25146"/>
                  </a:lnTo>
                  <a:close/>
                </a:path>
                <a:path w="1549400" h="1397000">
                  <a:moveTo>
                    <a:pt x="25146" y="1371600"/>
                  </a:moveTo>
                  <a:lnTo>
                    <a:pt x="25145" y="25146"/>
                  </a:lnTo>
                  <a:lnTo>
                    <a:pt x="12954" y="25146"/>
                  </a:lnTo>
                  <a:lnTo>
                    <a:pt x="12954" y="1371600"/>
                  </a:lnTo>
                  <a:lnTo>
                    <a:pt x="25146" y="1371600"/>
                  </a:lnTo>
                  <a:close/>
                </a:path>
                <a:path w="1549400" h="1397000">
                  <a:moveTo>
                    <a:pt x="1536953" y="1371600"/>
                  </a:moveTo>
                  <a:lnTo>
                    <a:pt x="12954" y="1371600"/>
                  </a:lnTo>
                  <a:lnTo>
                    <a:pt x="25146" y="1383792"/>
                  </a:lnTo>
                  <a:lnTo>
                    <a:pt x="25146" y="1396746"/>
                  </a:lnTo>
                  <a:lnTo>
                    <a:pt x="1524000" y="1396746"/>
                  </a:lnTo>
                  <a:lnTo>
                    <a:pt x="1524000" y="1383792"/>
                  </a:lnTo>
                  <a:lnTo>
                    <a:pt x="1536953" y="1371600"/>
                  </a:lnTo>
                  <a:close/>
                </a:path>
                <a:path w="1549400" h="1397000">
                  <a:moveTo>
                    <a:pt x="25146" y="1396746"/>
                  </a:moveTo>
                  <a:lnTo>
                    <a:pt x="25146" y="1383792"/>
                  </a:lnTo>
                  <a:lnTo>
                    <a:pt x="12954" y="1371600"/>
                  </a:lnTo>
                  <a:lnTo>
                    <a:pt x="12954" y="1396746"/>
                  </a:lnTo>
                  <a:lnTo>
                    <a:pt x="25146" y="1396746"/>
                  </a:lnTo>
                  <a:close/>
                </a:path>
                <a:path w="1549400" h="1397000">
                  <a:moveTo>
                    <a:pt x="1536953" y="25145"/>
                  </a:moveTo>
                  <a:lnTo>
                    <a:pt x="1524000" y="12191"/>
                  </a:lnTo>
                  <a:lnTo>
                    <a:pt x="1524000" y="25145"/>
                  </a:lnTo>
                  <a:lnTo>
                    <a:pt x="1536953" y="25145"/>
                  </a:lnTo>
                  <a:close/>
                </a:path>
                <a:path w="1549400" h="1397000">
                  <a:moveTo>
                    <a:pt x="1536953" y="1371600"/>
                  </a:moveTo>
                  <a:lnTo>
                    <a:pt x="1536953" y="25145"/>
                  </a:lnTo>
                  <a:lnTo>
                    <a:pt x="1524000" y="25145"/>
                  </a:lnTo>
                  <a:lnTo>
                    <a:pt x="1524000" y="1371600"/>
                  </a:lnTo>
                  <a:lnTo>
                    <a:pt x="1536953" y="1371600"/>
                  </a:lnTo>
                  <a:close/>
                </a:path>
                <a:path w="1549400" h="1397000">
                  <a:moveTo>
                    <a:pt x="1536953" y="1396746"/>
                  </a:moveTo>
                  <a:lnTo>
                    <a:pt x="1536953" y="1371600"/>
                  </a:lnTo>
                  <a:lnTo>
                    <a:pt x="1524000" y="1383792"/>
                  </a:lnTo>
                  <a:lnTo>
                    <a:pt x="1524000" y="1396746"/>
                  </a:lnTo>
                  <a:lnTo>
                    <a:pt x="1536953" y="13967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93145" y="2423922"/>
            <a:ext cx="12496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Processor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58145" y="2035048"/>
            <a:ext cx="1244600" cy="1122680"/>
            <a:chOff x="3858145" y="2035048"/>
            <a:chExt cx="1244600" cy="1122680"/>
          </a:xfrm>
        </p:grpSpPr>
        <p:sp>
          <p:nvSpPr>
            <p:cNvPr id="9" name="object 9"/>
            <p:cNvSpPr/>
            <p:nvPr/>
          </p:nvSpPr>
          <p:spPr>
            <a:xfrm>
              <a:off x="3871099" y="2048002"/>
              <a:ext cx="1219200" cy="1097280"/>
            </a:xfrm>
            <a:custGeom>
              <a:avLst/>
              <a:gdLst/>
              <a:ahLst/>
              <a:cxnLst/>
              <a:rect l="l" t="t" r="r" b="b"/>
              <a:pathLst>
                <a:path w="1219200" h="1097280">
                  <a:moveTo>
                    <a:pt x="1219200" y="1097279"/>
                  </a:moveTo>
                  <a:lnTo>
                    <a:pt x="1219200" y="0"/>
                  </a:lnTo>
                  <a:lnTo>
                    <a:pt x="0" y="0"/>
                  </a:lnTo>
                  <a:lnTo>
                    <a:pt x="0" y="1097279"/>
                  </a:lnTo>
                  <a:lnTo>
                    <a:pt x="1219200" y="1097279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58145" y="2035048"/>
              <a:ext cx="1244600" cy="1122680"/>
            </a:xfrm>
            <a:custGeom>
              <a:avLst/>
              <a:gdLst/>
              <a:ahLst/>
              <a:cxnLst/>
              <a:rect l="l" t="t" r="r" b="b"/>
              <a:pathLst>
                <a:path w="1244600" h="1122680">
                  <a:moveTo>
                    <a:pt x="1244346" y="1122426"/>
                  </a:moveTo>
                  <a:lnTo>
                    <a:pt x="1244346" y="0"/>
                  </a:lnTo>
                  <a:lnTo>
                    <a:pt x="0" y="0"/>
                  </a:lnTo>
                  <a:lnTo>
                    <a:pt x="0" y="1122426"/>
                  </a:lnTo>
                  <a:lnTo>
                    <a:pt x="12953" y="1122426"/>
                  </a:lnTo>
                  <a:lnTo>
                    <a:pt x="12953" y="25907"/>
                  </a:lnTo>
                  <a:lnTo>
                    <a:pt x="25146" y="12953"/>
                  </a:lnTo>
                  <a:lnTo>
                    <a:pt x="25146" y="25907"/>
                  </a:lnTo>
                  <a:lnTo>
                    <a:pt x="1219200" y="25907"/>
                  </a:lnTo>
                  <a:lnTo>
                    <a:pt x="1219200" y="12953"/>
                  </a:lnTo>
                  <a:lnTo>
                    <a:pt x="1232153" y="25907"/>
                  </a:lnTo>
                  <a:lnTo>
                    <a:pt x="1232153" y="1122426"/>
                  </a:lnTo>
                  <a:lnTo>
                    <a:pt x="1244346" y="1122426"/>
                  </a:lnTo>
                  <a:close/>
                </a:path>
                <a:path w="1244600" h="1122680">
                  <a:moveTo>
                    <a:pt x="25146" y="25907"/>
                  </a:moveTo>
                  <a:lnTo>
                    <a:pt x="25146" y="12953"/>
                  </a:lnTo>
                  <a:lnTo>
                    <a:pt x="12953" y="25907"/>
                  </a:lnTo>
                  <a:lnTo>
                    <a:pt x="25146" y="25907"/>
                  </a:lnTo>
                  <a:close/>
                </a:path>
                <a:path w="1244600" h="1122680">
                  <a:moveTo>
                    <a:pt x="25146" y="1097279"/>
                  </a:moveTo>
                  <a:lnTo>
                    <a:pt x="25146" y="25907"/>
                  </a:lnTo>
                  <a:lnTo>
                    <a:pt x="12953" y="25907"/>
                  </a:lnTo>
                  <a:lnTo>
                    <a:pt x="12953" y="1097279"/>
                  </a:lnTo>
                  <a:lnTo>
                    <a:pt x="25146" y="1097279"/>
                  </a:lnTo>
                  <a:close/>
                </a:path>
                <a:path w="1244600" h="1122680">
                  <a:moveTo>
                    <a:pt x="1232153" y="1097279"/>
                  </a:moveTo>
                  <a:lnTo>
                    <a:pt x="12953" y="1097279"/>
                  </a:lnTo>
                  <a:lnTo>
                    <a:pt x="25146" y="1110234"/>
                  </a:lnTo>
                  <a:lnTo>
                    <a:pt x="25146" y="1122426"/>
                  </a:lnTo>
                  <a:lnTo>
                    <a:pt x="1219200" y="1122426"/>
                  </a:lnTo>
                  <a:lnTo>
                    <a:pt x="1219200" y="1110234"/>
                  </a:lnTo>
                  <a:lnTo>
                    <a:pt x="1232153" y="1097279"/>
                  </a:lnTo>
                  <a:close/>
                </a:path>
                <a:path w="1244600" h="1122680">
                  <a:moveTo>
                    <a:pt x="25146" y="1122426"/>
                  </a:moveTo>
                  <a:lnTo>
                    <a:pt x="25146" y="1110234"/>
                  </a:lnTo>
                  <a:lnTo>
                    <a:pt x="12953" y="1097279"/>
                  </a:lnTo>
                  <a:lnTo>
                    <a:pt x="12953" y="1122426"/>
                  </a:lnTo>
                  <a:lnTo>
                    <a:pt x="25146" y="1122426"/>
                  </a:lnTo>
                  <a:close/>
                </a:path>
                <a:path w="1244600" h="1122680">
                  <a:moveTo>
                    <a:pt x="1232153" y="25907"/>
                  </a:moveTo>
                  <a:lnTo>
                    <a:pt x="1219200" y="12953"/>
                  </a:lnTo>
                  <a:lnTo>
                    <a:pt x="1219200" y="25907"/>
                  </a:lnTo>
                  <a:lnTo>
                    <a:pt x="1232153" y="25907"/>
                  </a:lnTo>
                  <a:close/>
                </a:path>
                <a:path w="1244600" h="1122680">
                  <a:moveTo>
                    <a:pt x="1232153" y="1097279"/>
                  </a:moveTo>
                  <a:lnTo>
                    <a:pt x="1232153" y="25907"/>
                  </a:lnTo>
                  <a:lnTo>
                    <a:pt x="1219200" y="25907"/>
                  </a:lnTo>
                  <a:lnTo>
                    <a:pt x="1219200" y="1097279"/>
                  </a:lnTo>
                  <a:lnTo>
                    <a:pt x="1232153" y="1097279"/>
                  </a:lnTo>
                  <a:close/>
                </a:path>
                <a:path w="1244600" h="1122680">
                  <a:moveTo>
                    <a:pt x="1232153" y="1122426"/>
                  </a:moveTo>
                  <a:lnTo>
                    <a:pt x="1232153" y="1097279"/>
                  </a:lnTo>
                  <a:lnTo>
                    <a:pt x="1219200" y="1110234"/>
                  </a:lnTo>
                  <a:lnTo>
                    <a:pt x="1219200" y="1122426"/>
                  </a:lnTo>
                  <a:lnTo>
                    <a:pt x="1232153" y="11224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080897" y="2429256"/>
            <a:ext cx="7994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Cache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67945" y="1740154"/>
            <a:ext cx="1397000" cy="1701800"/>
            <a:chOff x="6067945" y="1740154"/>
            <a:chExt cx="1397000" cy="1701800"/>
          </a:xfrm>
        </p:grpSpPr>
        <p:sp>
          <p:nvSpPr>
            <p:cNvPr id="13" name="object 13"/>
            <p:cNvSpPr/>
            <p:nvPr/>
          </p:nvSpPr>
          <p:spPr>
            <a:xfrm>
              <a:off x="6080886" y="1752346"/>
              <a:ext cx="1371600" cy="1676400"/>
            </a:xfrm>
            <a:custGeom>
              <a:avLst/>
              <a:gdLst/>
              <a:ahLst/>
              <a:cxnLst/>
              <a:rect l="l" t="t" r="r" b="b"/>
              <a:pathLst>
                <a:path w="1371600" h="1676400">
                  <a:moveTo>
                    <a:pt x="1371600" y="1676400"/>
                  </a:moveTo>
                  <a:lnTo>
                    <a:pt x="1371600" y="0"/>
                  </a:lnTo>
                  <a:lnTo>
                    <a:pt x="0" y="0"/>
                  </a:lnTo>
                  <a:lnTo>
                    <a:pt x="0" y="1676400"/>
                  </a:lnTo>
                  <a:lnTo>
                    <a:pt x="1371600" y="16764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67945" y="1740154"/>
              <a:ext cx="1397000" cy="1701800"/>
            </a:xfrm>
            <a:custGeom>
              <a:avLst/>
              <a:gdLst/>
              <a:ahLst/>
              <a:cxnLst/>
              <a:rect l="l" t="t" r="r" b="b"/>
              <a:pathLst>
                <a:path w="1397000" h="1701800">
                  <a:moveTo>
                    <a:pt x="1396746" y="1701545"/>
                  </a:moveTo>
                  <a:lnTo>
                    <a:pt x="1396746" y="0"/>
                  </a:lnTo>
                  <a:lnTo>
                    <a:pt x="0" y="0"/>
                  </a:lnTo>
                  <a:lnTo>
                    <a:pt x="0" y="1701545"/>
                  </a:lnTo>
                  <a:lnTo>
                    <a:pt x="12941" y="1701545"/>
                  </a:lnTo>
                  <a:lnTo>
                    <a:pt x="12941" y="25145"/>
                  </a:lnTo>
                  <a:lnTo>
                    <a:pt x="25145" y="12191"/>
                  </a:lnTo>
                  <a:lnTo>
                    <a:pt x="25145" y="25145"/>
                  </a:lnTo>
                  <a:lnTo>
                    <a:pt x="1371600" y="25145"/>
                  </a:lnTo>
                  <a:lnTo>
                    <a:pt x="1371600" y="12191"/>
                  </a:lnTo>
                  <a:lnTo>
                    <a:pt x="1384541" y="25145"/>
                  </a:lnTo>
                  <a:lnTo>
                    <a:pt x="1384541" y="1701545"/>
                  </a:lnTo>
                  <a:lnTo>
                    <a:pt x="1396746" y="1701545"/>
                  </a:lnTo>
                  <a:close/>
                </a:path>
                <a:path w="1397000" h="1701800">
                  <a:moveTo>
                    <a:pt x="25145" y="25145"/>
                  </a:moveTo>
                  <a:lnTo>
                    <a:pt x="25145" y="12191"/>
                  </a:lnTo>
                  <a:lnTo>
                    <a:pt x="12941" y="25145"/>
                  </a:lnTo>
                  <a:lnTo>
                    <a:pt x="25145" y="25145"/>
                  </a:lnTo>
                  <a:close/>
                </a:path>
                <a:path w="1397000" h="1701800">
                  <a:moveTo>
                    <a:pt x="25145" y="1676399"/>
                  </a:moveTo>
                  <a:lnTo>
                    <a:pt x="25145" y="25145"/>
                  </a:lnTo>
                  <a:lnTo>
                    <a:pt x="12941" y="25145"/>
                  </a:lnTo>
                  <a:lnTo>
                    <a:pt x="12941" y="1676399"/>
                  </a:lnTo>
                  <a:lnTo>
                    <a:pt x="25145" y="1676399"/>
                  </a:lnTo>
                  <a:close/>
                </a:path>
                <a:path w="1397000" h="1701800">
                  <a:moveTo>
                    <a:pt x="1384541" y="1676399"/>
                  </a:moveTo>
                  <a:lnTo>
                    <a:pt x="12941" y="1676399"/>
                  </a:lnTo>
                  <a:lnTo>
                    <a:pt x="25145" y="1688591"/>
                  </a:lnTo>
                  <a:lnTo>
                    <a:pt x="25145" y="1701545"/>
                  </a:lnTo>
                  <a:lnTo>
                    <a:pt x="1371600" y="1701545"/>
                  </a:lnTo>
                  <a:lnTo>
                    <a:pt x="1371600" y="1688591"/>
                  </a:lnTo>
                  <a:lnTo>
                    <a:pt x="1384541" y="1676399"/>
                  </a:lnTo>
                  <a:close/>
                </a:path>
                <a:path w="1397000" h="1701800">
                  <a:moveTo>
                    <a:pt x="25145" y="1701545"/>
                  </a:moveTo>
                  <a:lnTo>
                    <a:pt x="25145" y="1688591"/>
                  </a:lnTo>
                  <a:lnTo>
                    <a:pt x="12941" y="1676399"/>
                  </a:lnTo>
                  <a:lnTo>
                    <a:pt x="12941" y="1701545"/>
                  </a:lnTo>
                  <a:lnTo>
                    <a:pt x="25145" y="1701545"/>
                  </a:lnTo>
                  <a:close/>
                </a:path>
                <a:path w="1397000" h="1701800">
                  <a:moveTo>
                    <a:pt x="1384541" y="25145"/>
                  </a:moveTo>
                  <a:lnTo>
                    <a:pt x="1371600" y="12191"/>
                  </a:lnTo>
                  <a:lnTo>
                    <a:pt x="1371600" y="25145"/>
                  </a:lnTo>
                  <a:lnTo>
                    <a:pt x="1384541" y="25145"/>
                  </a:lnTo>
                  <a:close/>
                </a:path>
                <a:path w="1397000" h="1701800">
                  <a:moveTo>
                    <a:pt x="1384541" y="1676399"/>
                  </a:moveTo>
                  <a:lnTo>
                    <a:pt x="1384541" y="25145"/>
                  </a:lnTo>
                  <a:lnTo>
                    <a:pt x="1371600" y="25145"/>
                  </a:lnTo>
                  <a:lnTo>
                    <a:pt x="1371600" y="1676399"/>
                  </a:lnTo>
                  <a:lnTo>
                    <a:pt x="1384541" y="1676399"/>
                  </a:lnTo>
                  <a:close/>
                </a:path>
                <a:path w="1397000" h="1701800">
                  <a:moveTo>
                    <a:pt x="1384541" y="1701545"/>
                  </a:moveTo>
                  <a:lnTo>
                    <a:pt x="1384541" y="1676399"/>
                  </a:lnTo>
                  <a:lnTo>
                    <a:pt x="1371600" y="1688591"/>
                  </a:lnTo>
                  <a:lnTo>
                    <a:pt x="1371600" y="1701545"/>
                  </a:lnTo>
                  <a:lnTo>
                    <a:pt x="1384541" y="17015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241127" y="2271522"/>
            <a:ext cx="10496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3995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Verdana"/>
                <a:cs typeface="Verdana"/>
              </a:rPr>
              <a:t>Main </a:t>
            </a:r>
            <a:r>
              <a:rPr sz="2000" spc="-10" dirty="0">
                <a:latin typeface="Verdana"/>
                <a:cs typeface="Verdana"/>
              </a:rPr>
              <a:t>Memory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892691" y="2553207"/>
            <a:ext cx="3175635" cy="81915"/>
          </a:xfrm>
          <a:custGeom>
            <a:avLst/>
            <a:gdLst/>
            <a:ahLst/>
            <a:cxnLst/>
            <a:rect l="l" t="t" r="r" b="b"/>
            <a:pathLst>
              <a:path w="3175635" h="81914">
                <a:moveTo>
                  <a:pt x="965454" y="44208"/>
                </a:moveTo>
                <a:lnTo>
                  <a:pt x="889254" y="5346"/>
                </a:lnTo>
                <a:lnTo>
                  <a:pt x="889254" y="31153"/>
                </a:lnTo>
                <a:lnTo>
                  <a:pt x="902208" y="31254"/>
                </a:lnTo>
                <a:lnTo>
                  <a:pt x="76962" y="25247"/>
                </a:lnTo>
                <a:lnTo>
                  <a:pt x="76708" y="25247"/>
                </a:lnTo>
                <a:lnTo>
                  <a:pt x="76962" y="12"/>
                </a:lnTo>
                <a:lnTo>
                  <a:pt x="0" y="37350"/>
                </a:lnTo>
                <a:lnTo>
                  <a:pt x="64008" y="69989"/>
                </a:lnTo>
                <a:lnTo>
                  <a:pt x="76200" y="76212"/>
                </a:lnTo>
                <a:lnTo>
                  <a:pt x="76441" y="51142"/>
                </a:lnTo>
                <a:lnTo>
                  <a:pt x="889254" y="56311"/>
                </a:lnTo>
                <a:lnTo>
                  <a:pt x="889254" y="81546"/>
                </a:lnTo>
                <a:lnTo>
                  <a:pt x="902208" y="75196"/>
                </a:lnTo>
                <a:lnTo>
                  <a:pt x="965454" y="44208"/>
                </a:lnTo>
                <a:close/>
              </a:path>
              <a:path w="3175635" h="81914">
                <a:moveTo>
                  <a:pt x="3175254" y="37338"/>
                </a:moveTo>
                <a:lnTo>
                  <a:pt x="3099054" y="0"/>
                </a:lnTo>
                <a:lnTo>
                  <a:pt x="3099054" y="25247"/>
                </a:lnTo>
                <a:lnTo>
                  <a:pt x="2286762" y="31153"/>
                </a:lnTo>
                <a:lnTo>
                  <a:pt x="2286254" y="31153"/>
                </a:lnTo>
                <a:lnTo>
                  <a:pt x="2286000" y="5334"/>
                </a:lnTo>
                <a:lnTo>
                  <a:pt x="2209800" y="44196"/>
                </a:lnTo>
                <a:lnTo>
                  <a:pt x="2273808" y="75260"/>
                </a:lnTo>
                <a:lnTo>
                  <a:pt x="2286000" y="81165"/>
                </a:lnTo>
                <a:lnTo>
                  <a:pt x="2286254" y="81292"/>
                </a:lnTo>
                <a:lnTo>
                  <a:pt x="2286508" y="81419"/>
                </a:lnTo>
                <a:lnTo>
                  <a:pt x="2286762" y="81534"/>
                </a:lnTo>
                <a:lnTo>
                  <a:pt x="2286508" y="56311"/>
                </a:lnTo>
                <a:lnTo>
                  <a:pt x="3099054" y="51142"/>
                </a:lnTo>
                <a:lnTo>
                  <a:pt x="3099054" y="76200"/>
                </a:lnTo>
                <a:lnTo>
                  <a:pt x="3112008" y="69596"/>
                </a:lnTo>
                <a:lnTo>
                  <a:pt x="3175254" y="373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073" y="156209"/>
            <a:ext cx="6689090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14" dirty="0"/>
              <a:t> </a:t>
            </a:r>
            <a:r>
              <a:rPr spc="-10" dirty="0"/>
              <a:t>Memories</a:t>
            </a:r>
          </a:p>
          <a:p>
            <a:pPr marL="12700">
              <a:lnSpc>
                <a:spcPct val="100000"/>
              </a:lnSpc>
            </a:pPr>
            <a:r>
              <a:rPr dirty="0"/>
              <a:t>Write</a:t>
            </a:r>
            <a:r>
              <a:rPr spc="-85" dirty="0"/>
              <a:t> </a:t>
            </a:r>
            <a:r>
              <a:rPr dirty="0"/>
              <a:t>Operation</a:t>
            </a:r>
            <a:r>
              <a:rPr spc="-45" dirty="0"/>
              <a:t> </a:t>
            </a:r>
            <a:r>
              <a:rPr dirty="0"/>
              <a:t>(Write</a:t>
            </a:r>
            <a:r>
              <a:rPr spc="-80" dirty="0"/>
              <a:t> </a:t>
            </a:r>
            <a:r>
              <a:rPr spc="-10" dirty="0"/>
              <a:t>Miss)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5643" y="3369564"/>
            <a:ext cx="7316470" cy="179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2735"/>
              </a:lnSpc>
              <a:spcBef>
                <a:spcPts val="100"/>
              </a:spcBef>
              <a:buClr>
                <a:srgbClr val="330065"/>
              </a:buClr>
              <a:buSzPct val="68750"/>
              <a:buFont typeface="Wingdings"/>
              <a:buChar char=""/>
              <a:tabLst>
                <a:tab pos="354965" algn="l"/>
              </a:tabLst>
            </a:pPr>
            <a:r>
              <a:rPr sz="2400" spc="-25" dirty="0">
                <a:latin typeface="Arial MT"/>
                <a:cs typeface="Arial MT"/>
              </a:rPr>
              <a:t>Write-</a:t>
            </a:r>
            <a:r>
              <a:rPr sz="2400" dirty="0">
                <a:latin typeface="Arial MT"/>
                <a:cs typeface="Arial MT"/>
              </a:rPr>
              <a:t>through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write-</a:t>
            </a:r>
            <a:r>
              <a:rPr sz="2400" dirty="0">
                <a:latin typeface="Arial MT"/>
                <a:cs typeface="Arial MT"/>
              </a:rPr>
              <a:t>back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combined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with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ts val="2735"/>
              </a:lnSpc>
            </a:pPr>
            <a:r>
              <a:rPr sz="2400" i="1" spc="-20" dirty="0">
                <a:latin typeface="Arial"/>
                <a:cs typeface="Arial"/>
              </a:rPr>
              <a:t>write-</a:t>
            </a:r>
            <a:r>
              <a:rPr sz="2400" i="1" dirty="0">
                <a:latin typeface="Arial"/>
                <a:cs typeface="Arial"/>
              </a:rPr>
              <a:t>allocate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i="1" spc="-25" dirty="0">
                <a:latin typeface="Arial"/>
                <a:cs typeface="Arial"/>
              </a:rPr>
              <a:t>no-</a:t>
            </a:r>
            <a:r>
              <a:rPr sz="2400" i="1" spc="-20" dirty="0">
                <a:latin typeface="Arial"/>
                <a:cs typeface="Arial"/>
              </a:rPr>
              <a:t>write-</a:t>
            </a:r>
            <a:r>
              <a:rPr sz="2400" i="1" spc="-10" dirty="0">
                <a:latin typeface="Arial"/>
                <a:cs typeface="Arial"/>
              </a:rPr>
              <a:t>allocate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85"/>
              </a:spcBef>
              <a:buClr>
                <a:srgbClr val="330065"/>
              </a:buClr>
              <a:buSzPct val="68750"/>
              <a:buFont typeface="Wingdings"/>
              <a:buChar char=""/>
              <a:tabLst>
                <a:tab pos="354965" algn="l"/>
              </a:tabLst>
            </a:pPr>
            <a:r>
              <a:rPr sz="2400" spc="-10" dirty="0">
                <a:latin typeface="Arial MT"/>
                <a:cs typeface="Arial MT"/>
              </a:rPr>
              <a:t>Typically</a:t>
            </a:r>
            <a:endParaRPr sz="2400">
              <a:latin typeface="Arial MT"/>
              <a:cs typeface="Arial MT"/>
            </a:endParaRPr>
          </a:p>
          <a:p>
            <a:pPr marL="755015" lvl="1" indent="-285115">
              <a:lnSpc>
                <a:spcPct val="100000"/>
              </a:lnSpc>
              <a:spcBef>
                <a:spcPts val="250"/>
              </a:spcBef>
              <a:buClr>
                <a:srgbClr val="659A9A"/>
              </a:buClr>
              <a:buSzPct val="70000"/>
              <a:buFont typeface="Wingdings"/>
              <a:buChar char=""/>
              <a:tabLst>
                <a:tab pos="755015" algn="l"/>
              </a:tabLst>
            </a:pPr>
            <a:r>
              <a:rPr sz="2000" spc="-10" dirty="0">
                <a:latin typeface="Arial MT"/>
                <a:cs typeface="Arial MT"/>
              </a:rPr>
              <a:t>Write-</a:t>
            </a:r>
            <a:r>
              <a:rPr sz="2000" dirty="0">
                <a:latin typeface="Arial MT"/>
                <a:cs typeface="Arial MT"/>
              </a:rPr>
              <a:t>back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caches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i="1" spc="-10" dirty="0">
                <a:latin typeface="Arial"/>
                <a:cs typeface="Arial"/>
              </a:rPr>
              <a:t>write-allocate</a:t>
            </a:r>
            <a:endParaRPr sz="20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240"/>
              </a:spcBef>
              <a:buClr>
                <a:srgbClr val="659A9A"/>
              </a:buClr>
              <a:buSzPct val="70000"/>
              <a:buFont typeface="Wingdings"/>
              <a:buChar char=""/>
              <a:tabLst>
                <a:tab pos="755015" algn="l"/>
              </a:tabLst>
            </a:pPr>
            <a:r>
              <a:rPr sz="2000" spc="-10" dirty="0">
                <a:latin typeface="Arial MT"/>
                <a:cs typeface="Arial MT"/>
              </a:rPr>
              <a:t>Write-</a:t>
            </a:r>
            <a:r>
              <a:rPr sz="2000" dirty="0">
                <a:latin typeface="Arial MT"/>
                <a:cs typeface="Arial MT"/>
              </a:rPr>
              <a:t>through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uses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i="1" spc="-20" dirty="0">
                <a:latin typeface="Arial"/>
                <a:cs typeface="Arial"/>
              </a:rPr>
              <a:t>no-write-</a:t>
            </a:r>
            <a:r>
              <a:rPr sz="2000" i="1" spc="-10" dirty="0">
                <a:latin typeface="Arial"/>
                <a:cs typeface="Arial"/>
              </a:rPr>
              <a:t>allocate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43545" y="1768348"/>
            <a:ext cx="1549400" cy="1397635"/>
            <a:chOff x="1343545" y="1768348"/>
            <a:chExt cx="1549400" cy="1397635"/>
          </a:xfrm>
        </p:grpSpPr>
        <p:sp>
          <p:nvSpPr>
            <p:cNvPr id="5" name="object 5"/>
            <p:cNvSpPr/>
            <p:nvPr/>
          </p:nvSpPr>
          <p:spPr>
            <a:xfrm>
              <a:off x="1356499" y="1781302"/>
              <a:ext cx="1524000" cy="1371600"/>
            </a:xfrm>
            <a:custGeom>
              <a:avLst/>
              <a:gdLst/>
              <a:ahLst/>
              <a:cxnLst/>
              <a:rect l="l" t="t" r="r" b="b"/>
              <a:pathLst>
                <a:path w="1524000" h="1371600">
                  <a:moveTo>
                    <a:pt x="1524000" y="1371600"/>
                  </a:moveTo>
                  <a:lnTo>
                    <a:pt x="1524000" y="0"/>
                  </a:lnTo>
                  <a:lnTo>
                    <a:pt x="0" y="0"/>
                  </a:lnTo>
                  <a:lnTo>
                    <a:pt x="0" y="1371600"/>
                  </a:lnTo>
                  <a:lnTo>
                    <a:pt x="1524000" y="13716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43545" y="1768348"/>
              <a:ext cx="1549400" cy="1397635"/>
            </a:xfrm>
            <a:custGeom>
              <a:avLst/>
              <a:gdLst/>
              <a:ahLst/>
              <a:cxnLst/>
              <a:rect l="l" t="t" r="r" b="b"/>
              <a:pathLst>
                <a:path w="1549400" h="1397635">
                  <a:moveTo>
                    <a:pt x="1549146" y="1397508"/>
                  </a:moveTo>
                  <a:lnTo>
                    <a:pt x="1549146" y="0"/>
                  </a:lnTo>
                  <a:lnTo>
                    <a:pt x="0" y="0"/>
                  </a:lnTo>
                  <a:lnTo>
                    <a:pt x="0" y="1397508"/>
                  </a:lnTo>
                  <a:lnTo>
                    <a:pt x="12954" y="1397508"/>
                  </a:lnTo>
                  <a:lnTo>
                    <a:pt x="12954" y="25908"/>
                  </a:lnTo>
                  <a:lnTo>
                    <a:pt x="25145" y="12954"/>
                  </a:lnTo>
                  <a:lnTo>
                    <a:pt x="25145" y="25908"/>
                  </a:lnTo>
                  <a:lnTo>
                    <a:pt x="1524000" y="25908"/>
                  </a:lnTo>
                  <a:lnTo>
                    <a:pt x="1524000" y="12954"/>
                  </a:lnTo>
                  <a:lnTo>
                    <a:pt x="1536953" y="25908"/>
                  </a:lnTo>
                  <a:lnTo>
                    <a:pt x="1536953" y="1397508"/>
                  </a:lnTo>
                  <a:lnTo>
                    <a:pt x="1549146" y="1397508"/>
                  </a:lnTo>
                  <a:close/>
                </a:path>
                <a:path w="1549400" h="1397635">
                  <a:moveTo>
                    <a:pt x="25145" y="25908"/>
                  </a:moveTo>
                  <a:lnTo>
                    <a:pt x="25145" y="12954"/>
                  </a:lnTo>
                  <a:lnTo>
                    <a:pt x="12954" y="25908"/>
                  </a:lnTo>
                  <a:lnTo>
                    <a:pt x="25145" y="25908"/>
                  </a:lnTo>
                  <a:close/>
                </a:path>
                <a:path w="1549400" h="1397635">
                  <a:moveTo>
                    <a:pt x="25146" y="1371600"/>
                  </a:moveTo>
                  <a:lnTo>
                    <a:pt x="25145" y="25908"/>
                  </a:lnTo>
                  <a:lnTo>
                    <a:pt x="12954" y="25908"/>
                  </a:lnTo>
                  <a:lnTo>
                    <a:pt x="12954" y="1371600"/>
                  </a:lnTo>
                  <a:lnTo>
                    <a:pt x="25146" y="1371600"/>
                  </a:lnTo>
                  <a:close/>
                </a:path>
                <a:path w="1549400" h="1397635">
                  <a:moveTo>
                    <a:pt x="1536953" y="1371600"/>
                  </a:moveTo>
                  <a:lnTo>
                    <a:pt x="12954" y="1371600"/>
                  </a:lnTo>
                  <a:lnTo>
                    <a:pt x="25146" y="1384554"/>
                  </a:lnTo>
                  <a:lnTo>
                    <a:pt x="25146" y="1397508"/>
                  </a:lnTo>
                  <a:lnTo>
                    <a:pt x="1524000" y="1397508"/>
                  </a:lnTo>
                  <a:lnTo>
                    <a:pt x="1524000" y="1384554"/>
                  </a:lnTo>
                  <a:lnTo>
                    <a:pt x="1536953" y="1371600"/>
                  </a:lnTo>
                  <a:close/>
                </a:path>
                <a:path w="1549400" h="1397635">
                  <a:moveTo>
                    <a:pt x="25146" y="1397508"/>
                  </a:moveTo>
                  <a:lnTo>
                    <a:pt x="25146" y="1384554"/>
                  </a:lnTo>
                  <a:lnTo>
                    <a:pt x="12954" y="1371600"/>
                  </a:lnTo>
                  <a:lnTo>
                    <a:pt x="12954" y="1397508"/>
                  </a:lnTo>
                  <a:lnTo>
                    <a:pt x="25146" y="1397508"/>
                  </a:lnTo>
                  <a:close/>
                </a:path>
                <a:path w="1549400" h="1397635">
                  <a:moveTo>
                    <a:pt x="1536953" y="25908"/>
                  </a:moveTo>
                  <a:lnTo>
                    <a:pt x="1524000" y="12954"/>
                  </a:lnTo>
                  <a:lnTo>
                    <a:pt x="1524000" y="25908"/>
                  </a:lnTo>
                  <a:lnTo>
                    <a:pt x="1536953" y="25908"/>
                  </a:lnTo>
                  <a:close/>
                </a:path>
                <a:path w="1549400" h="1397635">
                  <a:moveTo>
                    <a:pt x="1536953" y="1371600"/>
                  </a:moveTo>
                  <a:lnTo>
                    <a:pt x="1536953" y="25908"/>
                  </a:lnTo>
                  <a:lnTo>
                    <a:pt x="1524000" y="25908"/>
                  </a:lnTo>
                  <a:lnTo>
                    <a:pt x="1524000" y="1371600"/>
                  </a:lnTo>
                  <a:lnTo>
                    <a:pt x="1536953" y="1371600"/>
                  </a:lnTo>
                  <a:close/>
                </a:path>
                <a:path w="1549400" h="1397635">
                  <a:moveTo>
                    <a:pt x="1536953" y="1397508"/>
                  </a:moveTo>
                  <a:lnTo>
                    <a:pt x="1536953" y="1371600"/>
                  </a:lnTo>
                  <a:lnTo>
                    <a:pt x="1524000" y="1384554"/>
                  </a:lnTo>
                  <a:lnTo>
                    <a:pt x="1524000" y="1397508"/>
                  </a:lnTo>
                  <a:lnTo>
                    <a:pt x="1536953" y="13975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93145" y="2300477"/>
            <a:ext cx="12496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Processor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58145" y="1911604"/>
            <a:ext cx="1244600" cy="1122680"/>
            <a:chOff x="3858145" y="1911604"/>
            <a:chExt cx="1244600" cy="1122680"/>
          </a:xfrm>
        </p:grpSpPr>
        <p:sp>
          <p:nvSpPr>
            <p:cNvPr id="9" name="object 9"/>
            <p:cNvSpPr/>
            <p:nvPr/>
          </p:nvSpPr>
          <p:spPr>
            <a:xfrm>
              <a:off x="3871099" y="1923796"/>
              <a:ext cx="1219200" cy="1097280"/>
            </a:xfrm>
            <a:custGeom>
              <a:avLst/>
              <a:gdLst/>
              <a:ahLst/>
              <a:cxnLst/>
              <a:rect l="l" t="t" r="r" b="b"/>
              <a:pathLst>
                <a:path w="1219200" h="1097280">
                  <a:moveTo>
                    <a:pt x="1219200" y="1097280"/>
                  </a:moveTo>
                  <a:lnTo>
                    <a:pt x="1219200" y="0"/>
                  </a:lnTo>
                  <a:lnTo>
                    <a:pt x="0" y="0"/>
                  </a:lnTo>
                  <a:lnTo>
                    <a:pt x="0" y="1097280"/>
                  </a:lnTo>
                  <a:lnTo>
                    <a:pt x="1219200" y="109728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58145" y="1911604"/>
              <a:ext cx="1244600" cy="1122680"/>
            </a:xfrm>
            <a:custGeom>
              <a:avLst/>
              <a:gdLst/>
              <a:ahLst/>
              <a:cxnLst/>
              <a:rect l="l" t="t" r="r" b="b"/>
              <a:pathLst>
                <a:path w="1244600" h="1122680">
                  <a:moveTo>
                    <a:pt x="1244346" y="1122426"/>
                  </a:moveTo>
                  <a:lnTo>
                    <a:pt x="1244346" y="0"/>
                  </a:lnTo>
                  <a:lnTo>
                    <a:pt x="0" y="0"/>
                  </a:lnTo>
                  <a:lnTo>
                    <a:pt x="0" y="1122426"/>
                  </a:lnTo>
                  <a:lnTo>
                    <a:pt x="12953" y="1122426"/>
                  </a:lnTo>
                  <a:lnTo>
                    <a:pt x="12953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1219200" y="25145"/>
                  </a:lnTo>
                  <a:lnTo>
                    <a:pt x="1219200" y="12191"/>
                  </a:lnTo>
                  <a:lnTo>
                    <a:pt x="1232153" y="25145"/>
                  </a:lnTo>
                  <a:lnTo>
                    <a:pt x="1232153" y="1122426"/>
                  </a:lnTo>
                  <a:lnTo>
                    <a:pt x="1244346" y="1122426"/>
                  </a:lnTo>
                  <a:close/>
                </a:path>
                <a:path w="1244600" h="1122680">
                  <a:moveTo>
                    <a:pt x="25146" y="25145"/>
                  </a:moveTo>
                  <a:lnTo>
                    <a:pt x="25146" y="12191"/>
                  </a:lnTo>
                  <a:lnTo>
                    <a:pt x="12953" y="25145"/>
                  </a:lnTo>
                  <a:lnTo>
                    <a:pt x="25146" y="25145"/>
                  </a:lnTo>
                  <a:close/>
                </a:path>
                <a:path w="1244600" h="1122680">
                  <a:moveTo>
                    <a:pt x="25146" y="1096518"/>
                  </a:moveTo>
                  <a:lnTo>
                    <a:pt x="25146" y="25145"/>
                  </a:lnTo>
                  <a:lnTo>
                    <a:pt x="12953" y="25145"/>
                  </a:lnTo>
                  <a:lnTo>
                    <a:pt x="12953" y="1096518"/>
                  </a:lnTo>
                  <a:lnTo>
                    <a:pt x="25146" y="1096518"/>
                  </a:lnTo>
                  <a:close/>
                </a:path>
                <a:path w="1244600" h="1122680">
                  <a:moveTo>
                    <a:pt x="1232153" y="1096518"/>
                  </a:moveTo>
                  <a:lnTo>
                    <a:pt x="12953" y="1096518"/>
                  </a:lnTo>
                  <a:lnTo>
                    <a:pt x="25146" y="1109472"/>
                  </a:lnTo>
                  <a:lnTo>
                    <a:pt x="25146" y="1122426"/>
                  </a:lnTo>
                  <a:lnTo>
                    <a:pt x="1219200" y="1122426"/>
                  </a:lnTo>
                  <a:lnTo>
                    <a:pt x="1219200" y="1109472"/>
                  </a:lnTo>
                  <a:lnTo>
                    <a:pt x="1232153" y="1096518"/>
                  </a:lnTo>
                  <a:close/>
                </a:path>
                <a:path w="1244600" h="1122680">
                  <a:moveTo>
                    <a:pt x="25146" y="1122426"/>
                  </a:moveTo>
                  <a:lnTo>
                    <a:pt x="25146" y="1109472"/>
                  </a:lnTo>
                  <a:lnTo>
                    <a:pt x="12953" y="1096518"/>
                  </a:lnTo>
                  <a:lnTo>
                    <a:pt x="12953" y="1122426"/>
                  </a:lnTo>
                  <a:lnTo>
                    <a:pt x="25146" y="1122426"/>
                  </a:lnTo>
                  <a:close/>
                </a:path>
                <a:path w="1244600" h="1122680">
                  <a:moveTo>
                    <a:pt x="1232153" y="25145"/>
                  </a:moveTo>
                  <a:lnTo>
                    <a:pt x="1219200" y="12191"/>
                  </a:lnTo>
                  <a:lnTo>
                    <a:pt x="1219200" y="25145"/>
                  </a:lnTo>
                  <a:lnTo>
                    <a:pt x="1232153" y="25145"/>
                  </a:lnTo>
                  <a:close/>
                </a:path>
                <a:path w="1244600" h="1122680">
                  <a:moveTo>
                    <a:pt x="1232153" y="1096518"/>
                  </a:moveTo>
                  <a:lnTo>
                    <a:pt x="1232153" y="25145"/>
                  </a:lnTo>
                  <a:lnTo>
                    <a:pt x="1219200" y="25145"/>
                  </a:lnTo>
                  <a:lnTo>
                    <a:pt x="1219200" y="1096518"/>
                  </a:lnTo>
                  <a:lnTo>
                    <a:pt x="1232153" y="1096518"/>
                  </a:lnTo>
                  <a:close/>
                </a:path>
                <a:path w="1244600" h="1122680">
                  <a:moveTo>
                    <a:pt x="1232153" y="1122426"/>
                  </a:moveTo>
                  <a:lnTo>
                    <a:pt x="1232153" y="1096518"/>
                  </a:lnTo>
                  <a:lnTo>
                    <a:pt x="1219200" y="1109472"/>
                  </a:lnTo>
                  <a:lnTo>
                    <a:pt x="1219200" y="1122426"/>
                  </a:lnTo>
                  <a:lnTo>
                    <a:pt x="1232153" y="11224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080897" y="2305812"/>
            <a:ext cx="7994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Verdana"/>
                <a:cs typeface="Verdana"/>
              </a:rPr>
              <a:t>Cache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67945" y="1615947"/>
            <a:ext cx="1397000" cy="1702435"/>
            <a:chOff x="6067945" y="1615947"/>
            <a:chExt cx="1397000" cy="1702435"/>
          </a:xfrm>
        </p:grpSpPr>
        <p:sp>
          <p:nvSpPr>
            <p:cNvPr id="13" name="object 13"/>
            <p:cNvSpPr/>
            <p:nvPr/>
          </p:nvSpPr>
          <p:spPr>
            <a:xfrm>
              <a:off x="6080886" y="1628901"/>
              <a:ext cx="1371600" cy="1676400"/>
            </a:xfrm>
            <a:custGeom>
              <a:avLst/>
              <a:gdLst/>
              <a:ahLst/>
              <a:cxnLst/>
              <a:rect l="l" t="t" r="r" b="b"/>
              <a:pathLst>
                <a:path w="1371600" h="1676400">
                  <a:moveTo>
                    <a:pt x="1371600" y="1676399"/>
                  </a:moveTo>
                  <a:lnTo>
                    <a:pt x="1371600" y="0"/>
                  </a:lnTo>
                  <a:lnTo>
                    <a:pt x="0" y="0"/>
                  </a:lnTo>
                  <a:lnTo>
                    <a:pt x="0" y="1676399"/>
                  </a:lnTo>
                  <a:lnTo>
                    <a:pt x="1371600" y="1676399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67945" y="1615947"/>
              <a:ext cx="1397000" cy="1702435"/>
            </a:xfrm>
            <a:custGeom>
              <a:avLst/>
              <a:gdLst/>
              <a:ahLst/>
              <a:cxnLst/>
              <a:rect l="l" t="t" r="r" b="b"/>
              <a:pathLst>
                <a:path w="1397000" h="1702435">
                  <a:moveTo>
                    <a:pt x="1396746" y="1702307"/>
                  </a:moveTo>
                  <a:lnTo>
                    <a:pt x="1396746" y="0"/>
                  </a:lnTo>
                  <a:lnTo>
                    <a:pt x="0" y="0"/>
                  </a:lnTo>
                  <a:lnTo>
                    <a:pt x="0" y="1702307"/>
                  </a:lnTo>
                  <a:lnTo>
                    <a:pt x="12941" y="1702307"/>
                  </a:lnTo>
                  <a:lnTo>
                    <a:pt x="12941" y="25908"/>
                  </a:lnTo>
                  <a:lnTo>
                    <a:pt x="25145" y="12954"/>
                  </a:lnTo>
                  <a:lnTo>
                    <a:pt x="25145" y="25908"/>
                  </a:lnTo>
                  <a:lnTo>
                    <a:pt x="1371600" y="25908"/>
                  </a:lnTo>
                  <a:lnTo>
                    <a:pt x="1371600" y="12954"/>
                  </a:lnTo>
                  <a:lnTo>
                    <a:pt x="1384541" y="25908"/>
                  </a:lnTo>
                  <a:lnTo>
                    <a:pt x="1384541" y="1702307"/>
                  </a:lnTo>
                  <a:lnTo>
                    <a:pt x="1396746" y="1702307"/>
                  </a:lnTo>
                  <a:close/>
                </a:path>
                <a:path w="1397000" h="1702435">
                  <a:moveTo>
                    <a:pt x="25145" y="25908"/>
                  </a:moveTo>
                  <a:lnTo>
                    <a:pt x="25145" y="12954"/>
                  </a:lnTo>
                  <a:lnTo>
                    <a:pt x="12941" y="25908"/>
                  </a:lnTo>
                  <a:lnTo>
                    <a:pt x="25145" y="25908"/>
                  </a:lnTo>
                  <a:close/>
                </a:path>
                <a:path w="1397000" h="1702435">
                  <a:moveTo>
                    <a:pt x="25145" y="1676400"/>
                  </a:moveTo>
                  <a:lnTo>
                    <a:pt x="25145" y="25908"/>
                  </a:lnTo>
                  <a:lnTo>
                    <a:pt x="12941" y="25908"/>
                  </a:lnTo>
                  <a:lnTo>
                    <a:pt x="12941" y="1676400"/>
                  </a:lnTo>
                  <a:lnTo>
                    <a:pt x="25145" y="1676400"/>
                  </a:lnTo>
                  <a:close/>
                </a:path>
                <a:path w="1397000" h="1702435">
                  <a:moveTo>
                    <a:pt x="1384541" y="1676400"/>
                  </a:moveTo>
                  <a:lnTo>
                    <a:pt x="12941" y="1676400"/>
                  </a:lnTo>
                  <a:lnTo>
                    <a:pt x="25145" y="1689353"/>
                  </a:lnTo>
                  <a:lnTo>
                    <a:pt x="25145" y="1702307"/>
                  </a:lnTo>
                  <a:lnTo>
                    <a:pt x="1371600" y="1702307"/>
                  </a:lnTo>
                  <a:lnTo>
                    <a:pt x="1371600" y="1689353"/>
                  </a:lnTo>
                  <a:lnTo>
                    <a:pt x="1384541" y="1676400"/>
                  </a:lnTo>
                  <a:close/>
                </a:path>
                <a:path w="1397000" h="1702435">
                  <a:moveTo>
                    <a:pt x="25145" y="1702307"/>
                  </a:moveTo>
                  <a:lnTo>
                    <a:pt x="25145" y="1689353"/>
                  </a:lnTo>
                  <a:lnTo>
                    <a:pt x="12941" y="1676400"/>
                  </a:lnTo>
                  <a:lnTo>
                    <a:pt x="12941" y="1702307"/>
                  </a:lnTo>
                  <a:lnTo>
                    <a:pt x="25145" y="1702307"/>
                  </a:lnTo>
                  <a:close/>
                </a:path>
                <a:path w="1397000" h="1702435">
                  <a:moveTo>
                    <a:pt x="1384541" y="25908"/>
                  </a:moveTo>
                  <a:lnTo>
                    <a:pt x="1371600" y="12954"/>
                  </a:lnTo>
                  <a:lnTo>
                    <a:pt x="1371600" y="25908"/>
                  </a:lnTo>
                  <a:lnTo>
                    <a:pt x="1384541" y="25908"/>
                  </a:lnTo>
                  <a:close/>
                </a:path>
                <a:path w="1397000" h="1702435">
                  <a:moveTo>
                    <a:pt x="1384541" y="1676400"/>
                  </a:moveTo>
                  <a:lnTo>
                    <a:pt x="1384541" y="25908"/>
                  </a:lnTo>
                  <a:lnTo>
                    <a:pt x="1371600" y="25908"/>
                  </a:lnTo>
                  <a:lnTo>
                    <a:pt x="1371600" y="1676400"/>
                  </a:lnTo>
                  <a:lnTo>
                    <a:pt x="1384541" y="1676400"/>
                  </a:lnTo>
                  <a:close/>
                </a:path>
                <a:path w="1397000" h="1702435">
                  <a:moveTo>
                    <a:pt x="1384541" y="1702307"/>
                  </a:moveTo>
                  <a:lnTo>
                    <a:pt x="1384541" y="1676400"/>
                  </a:lnTo>
                  <a:lnTo>
                    <a:pt x="1371600" y="1689353"/>
                  </a:lnTo>
                  <a:lnTo>
                    <a:pt x="1371600" y="1702307"/>
                  </a:lnTo>
                  <a:lnTo>
                    <a:pt x="1384541" y="17023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241127" y="2148077"/>
            <a:ext cx="10496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3995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Verdana"/>
                <a:cs typeface="Verdana"/>
              </a:rPr>
              <a:t>Main </a:t>
            </a:r>
            <a:r>
              <a:rPr sz="2000" spc="-10" dirty="0">
                <a:latin typeface="Verdana"/>
                <a:cs typeface="Verdana"/>
              </a:rPr>
              <a:t>Memory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892691" y="2429776"/>
            <a:ext cx="3175635" cy="81915"/>
          </a:xfrm>
          <a:custGeom>
            <a:avLst/>
            <a:gdLst/>
            <a:ahLst/>
            <a:cxnLst/>
            <a:rect l="l" t="t" r="r" b="b"/>
            <a:pathLst>
              <a:path w="3175635" h="81914">
                <a:moveTo>
                  <a:pt x="965454" y="43434"/>
                </a:moveTo>
                <a:lnTo>
                  <a:pt x="889254" y="5334"/>
                </a:lnTo>
                <a:lnTo>
                  <a:pt x="889254" y="30391"/>
                </a:lnTo>
                <a:lnTo>
                  <a:pt x="902208" y="30480"/>
                </a:lnTo>
                <a:lnTo>
                  <a:pt x="76962" y="25222"/>
                </a:lnTo>
                <a:lnTo>
                  <a:pt x="76708" y="25222"/>
                </a:lnTo>
                <a:lnTo>
                  <a:pt x="76962" y="0"/>
                </a:lnTo>
                <a:lnTo>
                  <a:pt x="0" y="37338"/>
                </a:lnTo>
                <a:lnTo>
                  <a:pt x="64008" y="69977"/>
                </a:lnTo>
                <a:lnTo>
                  <a:pt x="76200" y="76200"/>
                </a:lnTo>
                <a:lnTo>
                  <a:pt x="76454" y="50368"/>
                </a:lnTo>
                <a:lnTo>
                  <a:pt x="889254" y="55537"/>
                </a:lnTo>
                <a:lnTo>
                  <a:pt x="889254" y="81534"/>
                </a:lnTo>
                <a:lnTo>
                  <a:pt x="902208" y="75057"/>
                </a:lnTo>
                <a:lnTo>
                  <a:pt x="965454" y="43434"/>
                </a:lnTo>
                <a:close/>
              </a:path>
              <a:path w="3175635" h="81914">
                <a:moveTo>
                  <a:pt x="3175254" y="37338"/>
                </a:moveTo>
                <a:lnTo>
                  <a:pt x="3099054" y="0"/>
                </a:lnTo>
                <a:lnTo>
                  <a:pt x="3099054" y="25222"/>
                </a:lnTo>
                <a:lnTo>
                  <a:pt x="3112008" y="25146"/>
                </a:lnTo>
                <a:lnTo>
                  <a:pt x="2286762" y="30391"/>
                </a:lnTo>
                <a:lnTo>
                  <a:pt x="2286241" y="30391"/>
                </a:lnTo>
                <a:lnTo>
                  <a:pt x="2286000" y="5334"/>
                </a:lnTo>
                <a:lnTo>
                  <a:pt x="2209800" y="43434"/>
                </a:lnTo>
                <a:lnTo>
                  <a:pt x="2273808" y="75120"/>
                </a:lnTo>
                <a:lnTo>
                  <a:pt x="2286762" y="81534"/>
                </a:lnTo>
                <a:lnTo>
                  <a:pt x="2286495" y="55537"/>
                </a:lnTo>
                <a:lnTo>
                  <a:pt x="3099054" y="50368"/>
                </a:lnTo>
                <a:lnTo>
                  <a:pt x="3099054" y="76200"/>
                </a:lnTo>
                <a:lnTo>
                  <a:pt x="3112008" y="69583"/>
                </a:lnTo>
                <a:lnTo>
                  <a:pt x="3175254" y="373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States</a:t>
            </a:r>
            <a:r>
              <a:rPr spc="-95" dirty="0"/>
              <a:t> </a:t>
            </a:r>
            <a:r>
              <a:rPr dirty="0"/>
              <a:t>for</a:t>
            </a:r>
            <a:r>
              <a:rPr spc="-100" dirty="0"/>
              <a:t> </a:t>
            </a:r>
            <a:r>
              <a:rPr dirty="0"/>
              <a:t>Cache</a:t>
            </a:r>
            <a:r>
              <a:rPr spc="-95" dirty="0"/>
              <a:t> </a:t>
            </a:r>
            <a:r>
              <a:rPr spc="-10" dirty="0"/>
              <a:t>Blocks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1647899"/>
            <a:ext cx="5090160" cy="350329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35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4965" algn="l"/>
              </a:tabLst>
            </a:pPr>
            <a:r>
              <a:rPr sz="3000" spc="-10" dirty="0">
                <a:latin typeface="Arial MT"/>
                <a:cs typeface="Arial MT"/>
              </a:rPr>
              <a:t>Write-through</a:t>
            </a:r>
            <a:endParaRPr sz="3000">
              <a:latin typeface="Arial MT"/>
              <a:cs typeface="Arial MT"/>
            </a:endParaRPr>
          </a:p>
          <a:p>
            <a:pPr marL="704215" lvl="1" indent="-347345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04215" algn="l"/>
              </a:tabLst>
            </a:pPr>
            <a:r>
              <a:rPr sz="2600" spc="-10" dirty="0">
                <a:latin typeface="Arial MT"/>
                <a:cs typeface="Arial MT"/>
              </a:rPr>
              <a:t>Invalid</a:t>
            </a:r>
            <a:endParaRPr sz="2600">
              <a:latin typeface="Arial MT"/>
              <a:cs typeface="Arial MT"/>
            </a:endParaRPr>
          </a:p>
          <a:p>
            <a:pPr marL="704215" lvl="1" indent="-347345">
              <a:lnSpc>
                <a:spcPct val="100000"/>
              </a:lnSpc>
              <a:spcBef>
                <a:spcPts val="625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04215" algn="l"/>
              </a:tabLst>
            </a:pPr>
            <a:r>
              <a:rPr sz="2600" spc="-10" dirty="0">
                <a:latin typeface="Arial MT"/>
                <a:cs typeface="Arial MT"/>
              </a:rPr>
              <a:t>Valid</a:t>
            </a:r>
            <a:endParaRPr sz="26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1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4965" algn="l"/>
              </a:tabLst>
            </a:pPr>
            <a:r>
              <a:rPr sz="3000" dirty="0">
                <a:latin typeface="Arial MT"/>
                <a:cs typeface="Arial MT"/>
              </a:rPr>
              <a:t>Write-</a:t>
            </a:r>
            <a:r>
              <a:rPr sz="3000" spc="-20" dirty="0">
                <a:latin typeface="Arial MT"/>
                <a:cs typeface="Arial MT"/>
              </a:rPr>
              <a:t>Back</a:t>
            </a:r>
            <a:endParaRPr sz="3000">
              <a:latin typeface="Arial MT"/>
              <a:cs typeface="Arial MT"/>
            </a:endParaRPr>
          </a:p>
          <a:p>
            <a:pPr marL="704215" lvl="1" indent="-347345">
              <a:lnSpc>
                <a:spcPct val="100000"/>
              </a:lnSpc>
              <a:spcBef>
                <a:spcPts val="635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04215" algn="l"/>
              </a:tabLst>
            </a:pPr>
            <a:r>
              <a:rPr sz="2600" spc="-10" dirty="0">
                <a:latin typeface="Arial MT"/>
                <a:cs typeface="Arial MT"/>
              </a:rPr>
              <a:t>Invalid</a:t>
            </a:r>
            <a:endParaRPr sz="2600">
              <a:latin typeface="Arial MT"/>
              <a:cs typeface="Arial MT"/>
            </a:endParaRPr>
          </a:p>
          <a:p>
            <a:pPr marL="704215" lvl="1" indent="-347345">
              <a:lnSpc>
                <a:spcPct val="100000"/>
              </a:lnSpc>
              <a:spcBef>
                <a:spcPts val="625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04215" algn="l"/>
              </a:tabLst>
            </a:pPr>
            <a:r>
              <a:rPr sz="2600" spc="-10" dirty="0">
                <a:latin typeface="Arial MT"/>
                <a:cs typeface="Arial MT"/>
              </a:rPr>
              <a:t>Valid</a:t>
            </a:r>
            <a:endParaRPr sz="2600">
              <a:latin typeface="Arial MT"/>
              <a:cs typeface="Arial MT"/>
            </a:endParaRPr>
          </a:p>
          <a:p>
            <a:pPr marL="704215" lvl="1" indent="-347345">
              <a:lnSpc>
                <a:spcPct val="100000"/>
              </a:lnSpc>
              <a:spcBef>
                <a:spcPts val="625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704215" algn="l"/>
              </a:tabLst>
            </a:pPr>
            <a:r>
              <a:rPr sz="2600" dirty="0">
                <a:latin typeface="Arial MT"/>
                <a:cs typeface="Arial MT"/>
              </a:rPr>
              <a:t>Dirty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(not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updated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memory)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07347" y="1435353"/>
            <a:ext cx="3530600" cy="939800"/>
            <a:chOff x="2807347" y="1435353"/>
            <a:chExt cx="3530600" cy="939800"/>
          </a:xfrm>
        </p:grpSpPr>
        <p:sp>
          <p:nvSpPr>
            <p:cNvPr id="3" name="object 3"/>
            <p:cNvSpPr/>
            <p:nvPr/>
          </p:nvSpPr>
          <p:spPr>
            <a:xfrm>
              <a:off x="2819539" y="1447545"/>
              <a:ext cx="3505200" cy="914400"/>
            </a:xfrm>
            <a:custGeom>
              <a:avLst/>
              <a:gdLst/>
              <a:ahLst/>
              <a:cxnLst/>
              <a:rect l="l" t="t" r="r" b="b"/>
              <a:pathLst>
                <a:path w="3505200" h="914400">
                  <a:moveTo>
                    <a:pt x="3505199" y="914400"/>
                  </a:moveTo>
                  <a:lnTo>
                    <a:pt x="3505199" y="0"/>
                  </a:lnTo>
                  <a:lnTo>
                    <a:pt x="0" y="0"/>
                  </a:lnTo>
                  <a:lnTo>
                    <a:pt x="0" y="914400"/>
                  </a:lnTo>
                  <a:lnTo>
                    <a:pt x="3505199" y="9144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07347" y="1435353"/>
              <a:ext cx="3530600" cy="939800"/>
            </a:xfrm>
            <a:custGeom>
              <a:avLst/>
              <a:gdLst/>
              <a:ahLst/>
              <a:cxnLst/>
              <a:rect l="l" t="t" r="r" b="b"/>
              <a:pathLst>
                <a:path w="3530600" h="939800">
                  <a:moveTo>
                    <a:pt x="3530345" y="939545"/>
                  </a:moveTo>
                  <a:lnTo>
                    <a:pt x="3530345" y="0"/>
                  </a:lnTo>
                  <a:lnTo>
                    <a:pt x="0" y="0"/>
                  </a:lnTo>
                  <a:lnTo>
                    <a:pt x="0" y="939545"/>
                  </a:lnTo>
                  <a:lnTo>
                    <a:pt x="12192" y="939545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3505200" y="25145"/>
                  </a:lnTo>
                  <a:lnTo>
                    <a:pt x="3505200" y="12191"/>
                  </a:lnTo>
                  <a:lnTo>
                    <a:pt x="3517379" y="25145"/>
                  </a:lnTo>
                  <a:lnTo>
                    <a:pt x="3517379" y="939545"/>
                  </a:lnTo>
                  <a:lnTo>
                    <a:pt x="3530345" y="939545"/>
                  </a:lnTo>
                  <a:close/>
                </a:path>
                <a:path w="3530600" h="9398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3530600" h="939800">
                  <a:moveTo>
                    <a:pt x="25146" y="9144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914400"/>
                  </a:lnTo>
                  <a:lnTo>
                    <a:pt x="25146" y="914400"/>
                  </a:lnTo>
                  <a:close/>
                </a:path>
                <a:path w="3530600" h="939800">
                  <a:moveTo>
                    <a:pt x="3517379" y="914400"/>
                  </a:moveTo>
                  <a:lnTo>
                    <a:pt x="12192" y="914400"/>
                  </a:lnTo>
                  <a:lnTo>
                    <a:pt x="25146" y="926591"/>
                  </a:lnTo>
                  <a:lnTo>
                    <a:pt x="25146" y="939545"/>
                  </a:lnTo>
                  <a:lnTo>
                    <a:pt x="3505200" y="939545"/>
                  </a:lnTo>
                  <a:lnTo>
                    <a:pt x="3505200" y="926591"/>
                  </a:lnTo>
                  <a:lnTo>
                    <a:pt x="3517379" y="914400"/>
                  </a:lnTo>
                  <a:close/>
                </a:path>
                <a:path w="3530600" h="939800">
                  <a:moveTo>
                    <a:pt x="25146" y="939545"/>
                  </a:moveTo>
                  <a:lnTo>
                    <a:pt x="25146" y="926591"/>
                  </a:lnTo>
                  <a:lnTo>
                    <a:pt x="12192" y="914400"/>
                  </a:lnTo>
                  <a:lnTo>
                    <a:pt x="12192" y="939545"/>
                  </a:lnTo>
                  <a:lnTo>
                    <a:pt x="25146" y="939545"/>
                  </a:lnTo>
                  <a:close/>
                </a:path>
                <a:path w="3530600" h="939800">
                  <a:moveTo>
                    <a:pt x="3517379" y="25145"/>
                  </a:moveTo>
                  <a:lnTo>
                    <a:pt x="3505200" y="12191"/>
                  </a:lnTo>
                  <a:lnTo>
                    <a:pt x="3505200" y="25145"/>
                  </a:lnTo>
                  <a:lnTo>
                    <a:pt x="3517379" y="25145"/>
                  </a:lnTo>
                  <a:close/>
                </a:path>
                <a:path w="3530600" h="939800">
                  <a:moveTo>
                    <a:pt x="3517379" y="914400"/>
                  </a:moveTo>
                  <a:lnTo>
                    <a:pt x="3517379" y="25145"/>
                  </a:lnTo>
                  <a:lnTo>
                    <a:pt x="3505200" y="25145"/>
                  </a:lnTo>
                  <a:lnTo>
                    <a:pt x="3505200" y="914400"/>
                  </a:lnTo>
                  <a:lnTo>
                    <a:pt x="3517379" y="914400"/>
                  </a:lnTo>
                  <a:close/>
                </a:path>
                <a:path w="3530600" h="939800">
                  <a:moveTo>
                    <a:pt x="3517379" y="939545"/>
                  </a:moveTo>
                  <a:lnTo>
                    <a:pt x="3517379" y="914400"/>
                  </a:lnTo>
                  <a:lnTo>
                    <a:pt x="3505200" y="926591"/>
                  </a:lnTo>
                  <a:lnTo>
                    <a:pt x="3505200" y="939545"/>
                  </a:lnTo>
                  <a:lnTo>
                    <a:pt x="3517379" y="9395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243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121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(Uniprocessor)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5132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78947" y="1511553"/>
            <a:ext cx="787400" cy="786765"/>
            <a:chOff x="4178947" y="1511553"/>
            <a:chExt cx="787400" cy="786765"/>
          </a:xfrm>
        </p:grpSpPr>
        <p:sp>
          <p:nvSpPr>
            <p:cNvPr id="10" name="object 10"/>
            <p:cNvSpPr/>
            <p:nvPr/>
          </p:nvSpPr>
          <p:spPr>
            <a:xfrm>
              <a:off x="41911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789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375285" y="1753361"/>
            <a:ext cx="1230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865" algn="l"/>
              </a:tabLst>
            </a:pPr>
            <a:r>
              <a:rPr sz="1800" spc="-5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50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800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2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654947" y="2502154"/>
            <a:ext cx="3759200" cy="406400"/>
            <a:chOff x="2654947" y="2502154"/>
            <a:chExt cx="3759200" cy="406400"/>
          </a:xfrm>
        </p:grpSpPr>
        <p:sp>
          <p:nvSpPr>
            <p:cNvPr id="15" name="object 15"/>
            <p:cNvSpPr/>
            <p:nvPr/>
          </p:nvSpPr>
          <p:spPr>
            <a:xfrm>
              <a:off x="2667139" y="2514346"/>
              <a:ext cx="3733800" cy="381000"/>
            </a:xfrm>
            <a:custGeom>
              <a:avLst/>
              <a:gdLst/>
              <a:ahLst/>
              <a:cxnLst/>
              <a:rect l="l" t="t" r="r" b="b"/>
              <a:pathLst>
                <a:path w="3733800" h="381000">
                  <a:moveTo>
                    <a:pt x="3733799" y="381000"/>
                  </a:moveTo>
                  <a:lnTo>
                    <a:pt x="3733799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3733799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54947" y="2502154"/>
              <a:ext cx="3759200" cy="406400"/>
            </a:xfrm>
            <a:custGeom>
              <a:avLst/>
              <a:gdLst/>
              <a:ahLst/>
              <a:cxnLst/>
              <a:rect l="l" t="t" r="r" b="b"/>
              <a:pathLst>
                <a:path w="3759200" h="406400">
                  <a:moveTo>
                    <a:pt x="3758945" y="406145"/>
                  </a:moveTo>
                  <a:lnTo>
                    <a:pt x="37589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3733800" y="25145"/>
                  </a:lnTo>
                  <a:lnTo>
                    <a:pt x="3733800" y="12191"/>
                  </a:lnTo>
                  <a:lnTo>
                    <a:pt x="3745979" y="25145"/>
                  </a:lnTo>
                  <a:lnTo>
                    <a:pt x="3745979" y="406145"/>
                  </a:lnTo>
                  <a:lnTo>
                    <a:pt x="3758945" y="406145"/>
                  </a:lnTo>
                  <a:close/>
                </a:path>
                <a:path w="37592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37592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3759200" h="406400">
                  <a:moveTo>
                    <a:pt x="3745979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3733800" y="406145"/>
                  </a:lnTo>
                  <a:lnTo>
                    <a:pt x="3733800" y="393191"/>
                  </a:lnTo>
                  <a:lnTo>
                    <a:pt x="3745979" y="381000"/>
                  </a:lnTo>
                  <a:close/>
                </a:path>
                <a:path w="37592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3759200" h="406400">
                  <a:moveTo>
                    <a:pt x="3745979" y="25145"/>
                  </a:moveTo>
                  <a:lnTo>
                    <a:pt x="3733800" y="12191"/>
                  </a:lnTo>
                  <a:lnTo>
                    <a:pt x="3733800" y="25145"/>
                  </a:lnTo>
                  <a:lnTo>
                    <a:pt x="3745979" y="25145"/>
                  </a:lnTo>
                  <a:close/>
                </a:path>
                <a:path w="3759200" h="406400">
                  <a:moveTo>
                    <a:pt x="3745979" y="381000"/>
                  </a:moveTo>
                  <a:lnTo>
                    <a:pt x="3745979" y="25145"/>
                  </a:lnTo>
                  <a:lnTo>
                    <a:pt x="3733800" y="25145"/>
                  </a:lnTo>
                  <a:lnTo>
                    <a:pt x="3733800" y="381000"/>
                  </a:lnTo>
                  <a:lnTo>
                    <a:pt x="3745979" y="381000"/>
                  </a:lnTo>
                  <a:close/>
                </a:path>
                <a:path w="3759200" h="406400">
                  <a:moveTo>
                    <a:pt x="3745979" y="406145"/>
                  </a:moveTo>
                  <a:lnTo>
                    <a:pt x="3745979" y="381000"/>
                  </a:lnTo>
                  <a:lnTo>
                    <a:pt x="3733800" y="393191"/>
                  </a:lnTo>
                  <a:lnTo>
                    <a:pt x="3733800" y="406145"/>
                  </a:lnTo>
                  <a:lnTo>
                    <a:pt x="3745979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1730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819539" y="2274316"/>
            <a:ext cx="3810000" cy="1624965"/>
            <a:chOff x="2819539" y="2274316"/>
            <a:chExt cx="3810000" cy="1624965"/>
          </a:xfrm>
        </p:grpSpPr>
        <p:sp>
          <p:nvSpPr>
            <p:cNvPr id="19" name="object 19"/>
            <p:cNvSpPr/>
            <p:nvPr/>
          </p:nvSpPr>
          <p:spPr>
            <a:xfrm>
              <a:off x="3276739" y="3504946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19539" y="2274328"/>
              <a:ext cx="3810000" cy="1624965"/>
            </a:xfrm>
            <a:custGeom>
              <a:avLst/>
              <a:gdLst/>
              <a:ahLst/>
              <a:cxnLst/>
              <a:rect l="l" t="t" r="r" b="b"/>
              <a:pathLst>
                <a:path w="3810000" h="1624964">
                  <a:moveTo>
                    <a:pt x="1224521" y="228600"/>
                  </a:moveTo>
                  <a:lnTo>
                    <a:pt x="691121" y="0"/>
                  </a:lnTo>
                  <a:lnTo>
                    <a:pt x="681215" y="23622"/>
                  </a:lnTo>
                  <a:lnTo>
                    <a:pt x="1214615" y="252222"/>
                  </a:lnTo>
                  <a:lnTo>
                    <a:pt x="1224521" y="228600"/>
                  </a:lnTo>
                  <a:close/>
                </a:path>
                <a:path w="3810000" h="1624964">
                  <a:moveTo>
                    <a:pt x="3810000" y="887717"/>
                  </a:moveTo>
                  <a:lnTo>
                    <a:pt x="1613154" y="887717"/>
                  </a:lnTo>
                  <a:lnTo>
                    <a:pt x="1613154" y="621017"/>
                  </a:lnTo>
                  <a:lnTo>
                    <a:pt x="1588008" y="621017"/>
                  </a:lnTo>
                  <a:lnTo>
                    <a:pt x="1588008" y="887717"/>
                  </a:lnTo>
                  <a:lnTo>
                    <a:pt x="0" y="887717"/>
                  </a:lnTo>
                  <a:lnTo>
                    <a:pt x="0" y="963917"/>
                  </a:lnTo>
                  <a:lnTo>
                    <a:pt x="1588008" y="963917"/>
                  </a:lnTo>
                  <a:lnTo>
                    <a:pt x="1588008" y="1218425"/>
                  </a:lnTo>
                  <a:lnTo>
                    <a:pt x="445008" y="1218425"/>
                  </a:lnTo>
                  <a:lnTo>
                    <a:pt x="445008" y="1624571"/>
                  </a:lnTo>
                  <a:lnTo>
                    <a:pt x="2832341" y="1624571"/>
                  </a:lnTo>
                  <a:lnTo>
                    <a:pt x="2832341" y="1218425"/>
                  </a:lnTo>
                  <a:lnTo>
                    <a:pt x="2807208" y="1218425"/>
                  </a:lnTo>
                  <a:lnTo>
                    <a:pt x="2807208" y="1243571"/>
                  </a:lnTo>
                  <a:lnTo>
                    <a:pt x="2807208" y="1599425"/>
                  </a:lnTo>
                  <a:lnTo>
                    <a:pt x="470154" y="1599425"/>
                  </a:lnTo>
                  <a:lnTo>
                    <a:pt x="470154" y="1243571"/>
                  </a:lnTo>
                  <a:lnTo>
                    <a:pt x="2807208" y="1243571"/>
                  </a:lnTo>
                  <a:lnTo>
                    <a:pt x="2807208" y="1218425"/>
                  </a:lnTo>
                  <a:lnTo>
                    <a:pt x="1613154" y="1218425"/>
                  </a:lnTo>
                  <a:lnTo>
                    <a:pt x="1613154" y="963917"/>
                  </a:lnTo>
                  <a:lnTo>
                    <a:pt x="3810000" y="963917"/>
                  </a:lnTo>
                  <a:lnTo>
                    <a:pt x="3810000" y="8877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36073" y="2851404"/>
            <a:ext cx="6451600" cy="3191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0240" algn="ctr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85"/>
              </a:spcBef>
            </a:pPr>
            <a:endParaRPr sz="1600">
              <a:latin typeface="Verdana"/>
              <a:cs typeface="Verdana"/>
            </a:endParaRPr>
          </a:p>
          <a:p>
            <a:pPr marL="315214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18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buClr>
                <a:srgbClr val="330065"/>
              </a:buClr>
              <a:buSzPct val="70454"/>
              <a:buAutoNum type="arabicPeriod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P1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reads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location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(value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5)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main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memory</a:t>
            </a:r>
            <a:endParaRPr sz="22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265"/>
              </a:spcBef>
              <a:buClr>
                <a:srgbClr val="330065"/>
              </a:buClr>
              <a:buSzPct val="70454"/>
              <a:buAutoNum type="arabicPeriod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P3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reads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location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main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memory</a:t>
            </a:r>
            <a:endParaRPr sz="22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265"/>
              </a:spcBef>
              <a:buClr>
                <a:srgbClr val="330065"/>
              </a:buClr>
              <a:buSzPct val="70454"/>
              <a:buAutoNum type="arabicPeriod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P3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writes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u,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changing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value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7</a:t>
            </a:r>
            <a:endParaRPr sz="22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265"/>
              </a:spcBef>
              <a:buClr>
                <a:srgbClr val="330065"/>
              </a:buClr>
              <a:buSzPct val="70454"/>
              <a:buAutoNum type="arabicPeriod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P1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reads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value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again</a:t>
            </a:r>
            <a:endParaRPr sz="22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260"/>
              </a:spcBef>
              <a:buClr>
                <a:srgbClr val="330065"/>
              </a:buClr>
              <a:buSzPct val="70454"/>
              <a:buAutoNum type="arabicPeriod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P2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reads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location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main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memory</a:t>
            </a:r>
            <a:endParaRPr sz="22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321947" y="1511553"/>
            <a:ext cx="787400" cy="786765"/>
            <a:chOff x="5321947" y="1511553"/>
            <a:chExt cx="787400" cy="786765"/>
          </a:xfrm>
        </p:grpSpPr>
        <p:sp>
          <p:nvSpPr>
            <p:cNvPr id="23" name="object 23"/>
            <p:cNvSpPr/>
            <p:nvPr/>
          </p:nvSpPr>
          <p:spPr>
            <a:xfrm>
              <a:off x="53341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219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585085" y="1753361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230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559948" y="2274328"/>
            <a:ext cx="1160145" cy="252729"/>
          </a:xfrm>
          <a:custGeom>
            <a:avLst/>
            <a:gdLst/>
            <a:ahLst/>
            <a:cxnLst/>
            <a:rect l="l" t="t" r="r" b="b"/>
            <a:pathLst>
              <a:path w="1160145" h="252730">
                <a:moveTo>
                  <a:pt x="25146" y="11417"/>
                </a:moveTo>
                <a:lnTo>
                  <a:pt x="0" y="11417"/>
                </a:lnTo>
                <a:lnTo>
                  <a:pt x="0" y="240017"/>
                </a:lnTo>
                <a:lnTo>
                  <a:pt x="25146" y="240017"/>
                </a:lnTo>
                <a:lnTo>
                  <a:pt x="25146" y="11417"/>
                </a:lnTo>
                <a:close/>
              </a:path>
              <a:path w="1160145" h="252730">
                <a:moveTo>
                  <a:pt x="1159738" y="23622"/>
                </a:moveTo>
                <a:lnTo>
                  <a:pt x="1151356" y="0"/>
                </a:lnTo>
                <a:lnTo>
                  <a:pt x="465556" y="228600"/>
                </a:lnTo>
                <a:lnTo>
                  <a:pt x="473938" y="252222"/>
                </a:lnTo>
                <a:lnTo>
                  <a:pt x="1159738" y="23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478149" y="1632204"/>
            <a:ext cx="20828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Verdana"/>
                <a:cs typeface="Verdana"/>
              </a:rPr>
              <a:t>Single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Processor </a:t>
            </a:r>
            <a:r>
              <a:rPr sz="1600" dirty="0">
                <a:latin typeface="Verdana"/>
                <a:cs typeface="Verdana"/>
              </a:rPr>
              <a:t>running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3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processes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49869" y="2524349"/>
            <a:ext cx="183578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Write-</a:t>
            </a:r>
            <a:r>
              <a:rPr sz="1600" dirty="0">
                <a:latin typeface="Verdana"/>
                <a:cs typeface="Verdana"/>
              </a:rPr>
              <a:t>Back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Cache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07347" y="1435353"/>
            <a:ext cx="3530600" cy="939800"/>
            <a:chOff x="2807347" y="1435353"/>
            <a:chExt cx="3530600" cy="939800"/>
          </a:xfrm>
        </p:grpSpPr>
        <p:sp>
          <p:nvSpPr>
            <p:cNvPr id="3" name="object 3"/>
            <p:cNvSpPr/>
            <p:nvPr/>
          </p:nvSpPr>
          <p:spPr>
            <a:xfrm>
              <a:off x="2819539" y="1447545"/>
              <a:ext cx="3505200" cy="914400"/>
            </a:xfrm>
            <a:custGeom>
              <a:avLst/>
              <a:gdLst/>
              <a:ahLst/>
              <a:cxnLst/>
              <a:rect l="l" t="t" r="r" b="b"/>
              <a:pathLst>
                <a:path w="3505200" h="914400">
                  <a:moveTo>
                    <a:pt x="3505199" y="914400"/>
                  </a:moveTo>
                  <a:lnTo>
                    <a:pt x="3505199" y="0"/>
                  </a:lnTo>
                  <a:lnTo>
                    <a:pt x="0" y="0"/>
                  </a:lnTo>
                  <a:lnTo>
                    <a:pt x="0" y="914400"/>
                  </a:lnTo>
                  <a:lnTo>
                    <a:pt x="3505199" y="9144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07347" y="1435353"/>
              <a:ext cx="3530600" cy="939800"/>
            </a:xfrm>
            <a:custGeom>
              <a:avLst/>
              <a:gdLst/>
              <a:ahLst/>
              <a:cxnLst/>
              <a:rect l="l" t="t" r="r" b="b"/>
              <a:pathLst>
                <a:path w="3530600" h="939800">
                  <a:moveTo>
                    <a:pt x="3530345" y="939545"/>
                  </a:moveTo>
                  <a:lnTo>
                    <a:pt x="3530345" y="0"/>
                  </a:lnTo>
                  <a:lnTo>
                    <a:pt x="0" y="0"/>
                  </a:lnTo>
                  <a:lnTo>
                    <a:pt x="0" y="939545"/>
                  </a:lnTo>
                  <a:lnTo>
                    <a:pt x="12192" y="939545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3505200" y="25145"/>
                  </a:lnTo>
                  <a:lnTo>
                    <a:pt x="3505200" y="12191"/>
                  </a:lnTo>
                  <a:lnTo>
                    <a:pt x="3517379" y="25145"/>
                  </a:lnTo>
                  <a:lnTo>
                    <a:pt x="3517379" y="939545"/>
                  </a:lnTo>
                  <a:lnTo>
                    <a:pt x="3530345" y="939545"/>
                  </a:lnTo>
                  <a:close/>
                </a:path>
                <a:path w="3530600" h="9398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3530600" h="939800">
                  <a:moveTo>
                    <a:pt x="25146" y="9144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914400"/>
                  </a:lnTo>
                  <a:lnTo>
                    <a:pt x="25146" y="914400"/>
                  </a:lnTo>
                  <a:close/>
                </a:path>
                <a:path w="3530600" h="939800">
                  <a:moveTo>
                    <a:pt x="3517379" y="914400"/>
                  </a:moveTo>
                  <a:lnTo>
                    <a:pt x="12192" y="914400"/>
                  </a:lnTo>
                  <a:lnTo>
                    <a:pt x="25146" y="926591"/>
                  </a:lnTo>
                  <a:lnTo>
                    <a:pt x="25146" y="939545"/>
                  </a:lnTo>
                  <a:lnTo>
                    <a:pt x="3505200" y="939545"/>
                  </a:lnTo>
                  <a:lnTo>
                    <a:pt x="3505200" y="926591"/>
                  </a:lnTo>
                  <a:lnTo>
                    <a:pt x="3517379" y="914400"/>
                  </a:lnTo>
                  <a:close/>
                </a:path>
                <a:path w="3530600" h="939800">
                  <a:moveTo>
                    <a:pt x="25146" y="939545"/>
                  </a:moveTo>
                  <a:lnTo>
                    <a:pt x="25146" y="926591"/>
                  </a:lnTo>
                  <a:lnTo>
                    <a:pt x="12192" y="914400"/>
                  </a:lnTo>
                  <a:lnTo>
                    <a:pt x="12192" y="939545"/>
                  </a:lnTo>
                  <a:lnTo>
                    <a:pt x="25146" y="939545"/>
                  </a:lnTo>
                  <a:close/>
                </a:path>
                <a:path w="3530600" h="939800">
                  <a:moveTo>
                    <a:pt x="3517379" y="25145"/>
                  </a:moveTo>
                  <a:lnTo>
                    <a:pt x="3505200" y="12191"/>
                  </a:lnTo>
                  <a:lnTo>
                    <a:pt x="3505200" y="25145"/>
                  </a:lnTo>
                  <a:lnTo>
                    <a:pt x="3517379" y="25145"/>
                  </a:lnTo>
                  <a:close/>
                </a:path>
                <a:path w="3530600" h="939800">
                  <a:moveTo>
                    <a:pt x="3517379" y="914400"/>
                  </a:moveTo>
                  <a:lnTo>
                    <a:pt x="3517379" y="25145"/>
                  </a:lnTo>
                  <a:lnTo>
                    <a:pt x="3505200" y="25145"/>
                  </a:lnTo>
                  <a:lnTo>
                    <a:pt x="3505200" y="914400"/>
                  </a:lnTo>
                  <a:lnTo>
                    <a:pt x="3517379" y="914400"/>
                  </a:lnTo>
                  <a:close/>
                </a:path>
                <a:path w="3530600" h="939800">
                  <a:moveTo>
                    <a:pt x="3517379" y="939545"/>
                  </a:moveTo>
                  <a:lnTo>
                    <a:pt x="3517379" y="914400"/>
                  </a:lnTo>
                  <a:lnTo>
                    <a:pt x="3505200" y="926591"/>
                  </a:lnTo>
                  <a:lnTo>
                    <a:pt x="3505200" y="939545"/>
                  </a:lnTo>
                  <a:lnTo>
                    <a:pt x="3517379" y="9395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243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121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(Uniprocessor)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6073" y="4156971"/>
            <a:ext cx="7539990" cy="131000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35"/>
              </a:spcBef>
              <a:buClr>
                <a:srgbClr val="330065"/>
              </a:buClr>
              <a:buSzPct val="69230"/>
              <a:buAutoNum type="arabicPeriod"/>
              <a:tabLst>
                <a:tab pos="469265" algn="l"/>
              </a:tabLst>
            </a:pPr>
            <a:r>
              <a:rPr sz="2600" dirty="0">
                <a:latin typeface="Arial MT"/>
                <a:cs typeface="Arial MT"/>
              </a:rPr>
              <a:t>P1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reads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location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(value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5)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from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main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memory</a:t>
            </a:r>
            <a:endParaRPr sz="2600">
              <a:latin typeface="Arial MT"/>
              <a:cs typeface="Arial MT"/>
            </a:endParaRPr>
          </a:p>
          <a:p>
            <a:pPr marL="850265" lvl="1" indent="-380365">
              <a:lnSpc>
                <a:spcPct val="100000"/>
              </a:lnSpc>
              <a:spcBef>
                <a:spcPts val="545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850265" algn="l"/>
              </a:tabLst>
            </a:pPr>
            <a:r>
              <a:rPr sz="2200" dirty="0">
                <a:latin typeface="Arial MT"/>
                <a:cs typeface="Arial MT"/>
              </a:rPr>
              <a:t>Cache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P1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updated</a:t>
            </a:r>
            <a:endParaRPr sz="2200">
              <a:latin typeface="Arial MT"/>
              <a:cs typeface="Arial MT"/>
            </a:endParaRPr>
          </a:p>
          <a:p>
            <a:pPr marL="850265" lvl="1" indent="-380365">
              <a:lnSpc>
                <a:spcPct val="100000"/>
              </a:lnSpc>
              <a:spcBef>
                <a:spcPts val="530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850265" algn="l"/>
              </a:tabLst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block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containing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u=5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loaded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into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cache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132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178947" y="1511553"/>
            <a:ext cx="787400" cy="786765"/>
            <a:chOff x="4178947" y="1511553"/>
            <a:chExt cx="787400" cy="786765"/>
          </a:xfrm>
        </p:grpSpPr>
        <p:sp>
          <p:nvSpPr>
            <p:cNvPr id="11" name="object 11"/>
            <p:cNvSpPr/>
            <p:nvPr/>
          </p:nvSpPr>
          <p:spPr>
            <a:xfrm>
              <a:off x="41911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789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75285" y="1753361"/>
            <a:ext cx="1230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865" algn="l"/>
              </a:tabLst>
            </a:pPr>
            <a:r>
              <a:rPr sz="1800" spc="-5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50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800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2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654947" y="2502154"/>
            <a:ext cx="3759200" cy="1397000"/>
            <a:chOff x="2654947" y="2502154"/>
            <a:chExt cx="3759200" cy="1397000"/>
          </a:xfrm>
        </p:grpSpPr>
        <p:sp>
          <p:nvSpPr>
            <p:cNvPr id="16" name="object 16"/>
            <p:cNvSpPr/>
            <p:nvPr/>
          </p:nvSpPr>
          <p:spPr>
            <a:xfrm>
              <a:off x="2667139" y="2514346"/>
              <a:ext cx="3733800" cy="381000"/>
            </a:xfrm>
            <a:custGeom>
              <a:avLst/>
              <a:gdLst/>
              <a:ahLst/>
              <a:cxnLst/>
              <a:rect l="l" t="t" r="r" b="b"/>
              <a:pathLst>
                <a:path w="3733800" h="381000">
                  <a:moveTo>
                    <a:pt x="3733799" y="381000"/>
                  </a:moveTo>
                  <a:lnTo>
                    <a:pt x="3733799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3733799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54947" y="2502154"/>
              <a:ext cx="3759200" cy="406400"/>
            </a:xfrm>
            <a:custGeom>
              <a:avLst/>
              <a:gdLst/>
              <a:ahLst/>
              <a:cxnLst/>
              <a:rect l="l" t="t" r="r" b="b"/>
              <a:pathLst>
                <a:path w="3759200" h="406400">
                  <a:moveTo>
                    <a:pt x="3758945" y="406145"/>
                  </a:moveTo>
                  <a:lnTo>
                    <a:pt x="37589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3733800" y="25145"/>
                  </a:lnTo>
                  <a:lnTo>
                    <a:pt x="3733800" y="12191"/>
                  </a:lnTo>
                  <a:lnTo>
                    <a:pt x="3745979" y="25145"/>
                  </a:lnTo>
                  <a:lnTo>
                    <a:pt x="3745979" y="406145"/>
                  </a:lnTo>
                  <a:lnTo>
                    <a:pt x="3758945" y="406145"/>
                  </a:lnTo>
                  <a:close/>
                </a:path>
                <a:path w="37592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37592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3759200" h="406400">
                  <a:moveTo>
                    <a:pt x="3745979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3733800" y="406145"/>
                  </a:lnTo>
                  <a:lnTo>
                    <a:pt x="3733800" y="393191"/>
                  </a:lnTo>
                  <a:lnTo>
                    <a:pt x="3745979" y="381000"/>
                  </a:lnTo>
                  <a:close/>
                </a:path>
                <a:path w="37592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3759200" h="406400">
                  <a:moveTo>
                    <a:pt x="3745979" y="25145"/>
                  </a:moveTo>
                  <a:lnTo>
                    <a:pt x="3733800" y="12191"/>
                  </a:lnTo>
                  <a:lnTo>
                    <a:pt x="3733800" y="25145"/>
                  </a:lnTo>
                  <a:lnTo>
                    <a:pt x="3745979" y="25145"/>
                  </a:lnTo>
                  <a:close/>
                </a:path>
                <a:path w="3759200" h="406400">
                  <a:moveTo>
                    <a:pt x="3745979" y="381000"/>
                  </a:moveTo>
                  <a:lnTo>
                    <a:pt x="3745979" y="25145"/>
                  </a:lnTo>
                  <a:lnTo>
                    <a:pt x="3733800" y="25145"/>
                  </a:lnTo>
                  <a:lnTo>
                    <a:pt x="3733800" y="381000"/>
                  </a:lnTo>
                  <a:lnTo>
                    <a:pt x="3745979" y="381000"/>
                  </a:lnTo>
                  <a:close/>
                </a:path>
                <a:path w="3759200" h="406400">
                  <a:moveTo>
                    <a:pt x="3745979" y="406145"/>
                  </a:moveTo>
                  <a:lnTo>
                    <a:pt x="3745979" y="381000"/>
                  </a:lnTo>
                  <a:lnTo>
                    <a:pt x="3733800" y="393191"/>
                  </a:lnTo>
                  <a:lnTo>
                    <a:pt x="3733800" y="406145"/>
                  </a:lnTo>
                  <a:lnTo>
                    <a:pt x="3745979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76739" y="3504946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64547" y="3492754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79" y="25146"/>
                  </a:lnTo>
                  <a:lnTo>
                    <a:pt x="2374379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79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79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79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79" y="25146"/>
                  </a:lnTo>
                  <a:close/>
                </a:path>
                <a:path w="2387600" h="406400">
                  <a:moveTo>
                    <a:pt x="2374379" y="381000"/>
                  </a:moveTo>
                  <a:lnTo>
                    <a:pt x="2374379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79" y="381000"/>
                  </a:lnTo>
                  <a:close/>
                </a:path>
                <a:path w="2387600" h="406400">
                  <a:moveTo>
                    <a:pt x="2374379" y="406146"/>
                  </a:moveTo>
                  <a:lnTo>
                    <a:pt x="2374379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79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675513" y="35440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819539" y="1511553"/>
            <a:ext cx="3810000" cy="1993900"/>
            <a:chOff x="2819539" y="1511553"/>
            <a:chExt cx="3810000" cy="1993900"/>
          </a:xfrm>
        </p:grpSpPr>
        <p:sp>
          <p:nvSpPr>
            <p:cNvPr id="22" name="object 22"/>
            <p:cNvSpPr/>
            <p:nvPr/>
          </p:nvSpPr>
          <p:spPr>
            <a:xfrm>
              <a:off x="2819539" y="2274328"/>
              <a:ext cx="3810000" cy="1230630"/>
            </a:xfrm>
            <a:custGeom>
              <a:avLst/>
              <a:gdLst/>
              <a:ahLst/>
              <a:cxnLst/>
              <a:rect l="l" t="t" r="r" b="b"/>
              <a:pathLst>
                <a:path w="3810000" h="1230629">
                  <a:moveTo>
                    <a:pt x="1224521" y="228600"/>
                  </a:moveTo>
                  <a:lnTo>
                    <a:pt x="691121" y="0"/>
                  </a:lnTo>
                  <a:lnTo>
                    <a:pt x="681215" y="23622"/>
                  </a:lnTo>
                  <a:lnTo>
                    <a:pt x="1214615" y="252222"/>
                  </a:lnTo>
                  <a:lnTo>
                    <a:pt x="1224521" y="228600"/>
                  </a:lnTo>
                  <a:close/>
                </a:path>
                <a:path w="3810000" h="1230629">
                  <a:moveTo>
                    <a:pt x="3810000" y="887717"/>
                  </a:moveTo>
                  <a:lnTo>
                    <a:pt x="1613154" y="887717"/>
                  </a:lnTo>
                  <a:lnTo>
                    <a:pt x="1613154" y="621017"/>
                  </a:lnTo>
                  <a:lnTo>
                    <a:pt x="1588008" y="621017"/>
                  </a:lnTo>
                  <a:lnTo>
                    <a:pt x="1588008" y="887717"/>
                  </a:lnTo>
                  <a:lnTo>
                    <a:pt x="0" y="887717"/>
                  </a:lnTo>
                  <a:lnTo>
                    <a:pt x="0" y="963917"/>
                  </a:lnTo>
                  <a:lnTo>
                    <a:pt x="1588008" y="963917"/>
                  </a:lnTo>
                  <a:lnTo>
                    <a:pt x="1588008" y="1230617"/>
                  </a:lnTo>
                  <a:lnTo>
                    <a:pt x="1613154" y="1230617"/>
                  </a:lnTo>
                  <a:lnTo>
                    <a:pt x="1613154" y="963917"/>
                  </a:lnTo>
                  <a:lnTo>
                    <a:pt x="3810000" y="963917"/>
                  </a:lnTo>
                  <a:lnTo>
                    <a:pt x="3810000" y="8877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341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219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585085" y="1753361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230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464191" y="2133345"/>
            <a:ext cx="2255520" cy="1450340"/>
            <a:chOff x="3464191" y="2133345"/>
            <a:chExt cx="2255520" cy="1450340"/>
          </a:xfrm>
        </p:grpSpPr>
        <p:sp>
          <p:nvSpPr>
            <p:cNvPr id="28" name="object 28"/>
            <p:cNvSpPr/>
            <p:nvPr/>
          </p:nvSpPr>
          <p:spPr>
            <a:xfrm>
              <a:off x="4559947" y="2274328"/>
              <a:ext cx="1160145" cy="252729"/>
            </a:xfrm>
            <a:custGeom>
              <a:avLst/>
              <a:gdLst/>
              <a:ahLst/>
              <a:cxnLst/>
              <a:rect l="l" t="t" r="r" b="b"/>
              <a:pathLst>
                <a:path w="1160145" h="252730">
                  <a:moveTo>
                    <a:pt x="25146" y="11417"/>
                  </a:moveTo>
                  <a:lnTo>
                    <a:pt x="0" y="11417"/>
                  </a:lnTo>
                  <a:lnTo>
                    <a:pt x="0" y="240017"/>
                  </a:lnTo>
                  <a:lnTo>
                    <a:pt x="25146" y="240017"/>
                  </a:lnTo>
                  <a:lnTo>
                    <a:pt x="25146" y="11417"/>
                  </a:lnTo>
                  <a:close/>
                </a:path>
                <a:path w="1160145" h="252730">
                  <a:moveTo>
                    <a:pt x="1159738" y="23622"/>
                  </a:moveTo>
                  <a:lnTo>
                    <a:pt x="1151356" y="0"/>
                  </a:lnTo>
                  <a:lnTo>
                    <a:pt x="465556" y="228600"/>
                  </a:lnTo>
                  <a:lnTo>
                    <a:pt x="473938" y="252222"/>
                  </a:lnTo>
                  <a:lnTo>
                    <a:pt x="1159738" y="236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464191" y="2133345"/>
              <a:ext cx="995680" cy="1450340"/>
            </a:xfrm>
            <a:custGeom>
              <a:avLst/>
              <a:gdLst/>
              <a:ahLst/>
              <a:cxnLst/>
              <a:rect l="l" t="t" r="r" b="b"/>
              <a:pathLst>
                <a:path w="995679" h="1450339">
                  <a:moveTo>
                    <a:pt x="149351" y="132588"/>
                  </a:moveTo>
                  <a:lnTo>
                    <a:pt x="41147" y="0"/>
                  </a:lnTo>
                  <a:lnTo>
                    <a:pt x="0" y="165354"/>
                  </a:lnTo>
                  <a:lnTo>
                    <a:pt x="44195" y="155657"/>
                  </a:lnTo>
                  <a:lnTo>
                    <a:pt x="44195" y="130302"/>
                  </a:lnTo>
                  <a:lnTo>
                    <a:pt x="93725" y="118872"/>
                  </a:lnTo>
                  <a:lnTo>
                    <a:pt x="99726" y="143475"/>
                  </a:lnTo>
                  <a:lnTo>
                    <a:pt x="149351" y="132588"/>
                  </a:lnTo>
                  <a:close/>
                </a:path>
                <a:path w="995679" h="1450339">
                  <a:moveTo>
                    <a:pt x="99726" y="143475"/>
                  </a:moveTo>
                  <a:lnTo>
                    <a:pt x="93725" y="118872"/>
                  </a:lnTo>
                  <a:lnTo>
                    <a:pt x="44195" y="130302"/>
                  </a:lnTo>
                  <a:lnTo>
                    <a:pt x="50066" y="154370"/>
                  </a:lnTo>
                  <a:lnTo>
                    <a:pt x="99726" y="143475"/>
                  </a:lnTo>
                  <a:close/>
                </a:path>
                <a:path w="995679" h="1450339">
                  <a:moveTo>
                    <a:pt x="50066" y="154370"/>
                  </a:moveTo>
                  <a:lnTo>
                    <a:pt x="44195" y="130302"/>
                  </a:lnTo>
                  <a:lnTo>
                    <a:pt x="44195" y="155657"/>
                  </a:lnTo>
                  <a:lnTo>
                    <a:pt x="50066" y="154370"/>
                  </a:lnTo>
                  <a:close/>
                </a:path>
                <a:path w="995679" h="1450339">
                  <a:moveTo>
                    <a:pt x="995548" y="1131764"/>
                  </a:moveTo>
                  <a:lnTo>
                    <a:pt x="995548" y="1077614"/>
                  </a:lnTo>
                  <a:lnTo>
                    <a:pt x="994167" y="1026175"/>
                  </a:lnTo>
                  <a:lnTo>
                    <a:pt x="991098" y="974908"/>
                  </a:lnTo>
                  <a:lnTo>
                    <a:pt x="985984" y="924135"/>
                  </a:lnTo>
                  <a:lnTo>
                    <a:pt x="978466" y="874178"/>
                  </a:lnTo>
                  <a:lnTo>
                    <a:pt x="968186" y="825359"/>
                  </a:lnTo>
                  <a:lnTo>
                    <a:pt x="954785" y="778002"/>
                  </a:lnTo>
                  <a:lnTo>
                    <a:pt x="939545" y="739140"/>
                  </a:lnTo>
                  <a:lnTo>
                    <a:pt x="912510" y="688622"/>
                  </a:lnTo>
                  <a:lnTo>
                    <a:pt x="880585" y="649525"/>
                  </a:lnTo>
                  <a:lnTo>
                    <a:pt x="842290" y="620295"/>
                  </a:lnTo>
                  <a:lnTo>
                    <a:pt x="796143" y="599377"/>
                  </a:lnTo>
                  <a:lnTo>
                    <a:pt x="740663" y="585216"/>
                  </a:lnTo>
                  <a:lnTo>
                    <a:pt x="697230" y="578358"/>
                  </a:lnTo>
                  <a:lnTo>
                    <a:pt x="653033" y="573786"/>
                  </a:lnTo>
                  <a:lnTo>
                    <a:pt x="606762" y="570783"/>
                  </a:lnTo>
                  <a:lnTo>
                    <a:pt x="556589" y="569153"/>
                  </a:lnTo>
                  <a:lnTo>
                    <a:pt x="499054" y="567054"/>
                  </a:lnTo>
                  <a:lnTo>
                    <a:pt x="442973" y="563044"/>
                  </a:lnTo>
                  <a:lnTo>
                    <a:pt x="388975" y="555414"/>
                  </a:lnTo>
                  <a:lnTo>
                    <a:pt x="339739" y="542524"/>
                  </a:lnTo>
                  <a:lnTo>
                    <a:pt x="297941" y="522732"/>
                  </a:lnTo>
                  <a:lnTo>
                    <a:pt x="251878" y="481944"/>
                  </a:lnTo>
                  <a:lnTo>
                    <a:pt x="221317" y="444650"/>
                  </a:lnTo>
                  <a:lnTo>
                    <a:pt x="194588" y="403586"/>
                  </a:lnTo>
                  <a:lnTo>
                    <a:pt x="171448" y="359872"/>
                  </a:lnTo>
                  <a:lnTo>
                    <a:pt x="151657" y="314628"/>
                  </a:lnTo>
                  <a:lnTo>
                    <a:pt x="134974" y="268973"/>
                  </a:lnTo>
                  <a:lnTo>
                    <a:pt x="121157" y="224028"/>
                  </a:lnTo>
                  <a:lnTo>
                    <a:pt x="110489" y="187452"/>
                  </a:lnTo>
                  <a:lnTo>
                    <a:pt x="99726" y="143475"/>
                  </a:lnTo>
                  <a:lnTo>
                    <a:pt x="50066" y="154370"/>
                  </a:lnTo>
                  <a:lnTo>
                    <a:pt x="61721" y="200406"/>
                  </a:lnTo>
                  <a:lnTo>
                    <a:pt x="72389" y="237744"/>
                  </a:lnTo>
                  <a:lnTo>
                    <a:pt x="87999" y="287915"/>
                  </a:lnTo>
                  <a:lnTo>
                    <a:pt x="106243" y="337607"/>
                  </a:lnTo>
                  <a:lnTo>
                    <a:pt x="127601" y="386086"/>
                  </a:lnTo>
                  <a:lnTo>
                    <a:pt x="152552" y="432619"/>
                  </a:lnTo>
                  <a:lnTo>
                    <a:pt x="181574" y="476473"/>
                  </a:lnTo>
                  <a:lnTo>
                    <a:pt x="215146" y="516915"/>
                  </a:lnTo>
                  <a:lnTo>
                    <a:pt x="253745" y="553212"/>
                  </a:lnTo>
                  <a:lnTo>
                    <a:pt x="309102" y="585385"/>
                  </a:lnTo>
                  <a:lnTo>
                    <a:pt x="354309" y="599831"/>
                  </a:lnTo>
                  <a:lnTo>
                    <a:pt x="403134" y="609240"/>
                  </a:lnTo>
                  <a:lnTo>
                    <a:pt x="454104" y="614872"/>
                  </a:lnTo>
                  <a:lnTo>
                    <a:pt x="505746" y="617987"/>
                  </a:lnTo>
                  <a:lnTo>
                    <a:pt x="554543" y="619772"/>
                  </a:lnTo>
                  <a:lnTo>
                    <a:pt x="605160" y="621711"/>
                  </a:lnTo>
                  <a:lnTo>
                    <a:pt x="649985" y="624840"/>
                  </a:lnTo>
                  <a:lnTo>
                    <a:pt x="691896" y="628650"/>
                  </a:lnTo>
                  <a:lnTo>
                    <a:pt x="731519" y="634746"/>
                  </a:lnTo>
                  <a:lnTo>
                    <a:pt x="789012" y="651063"/>
                  </a:lnTo>
                  <a:lnTo>
                    <a:pt x="831761" y="674074"/>
                  </a:lnTo>
                  <a:lnTo>
                    <a:pt x="864965" y="709044"/>
                  </a:lnTo>
                  <a:lnTo>
                    <a:pt x="893826" y="761238"/>
                  </a:lnTo>
                  <a:lnTo>
                    <a:pt x="919441" y="840426"/>
                  </a:lnTo>
                  <a:lnTo>
                    <a:pt x="929104" y="887126"/>
                  </a:lnTo>
                  <a:lnTo>
                    <a:pt x="936119" y="935218"/>
                  </a:lnTo>
                  <a:lnTo>
                    <a:pt x="940832" y="984290"/>
                  </a:lnTo>
                  <a:lnTo>
                    <a:pt x="943594" y="1033933"/>
                  </a:lnTo>
                  <a:lnTo>
                    <a:pt x="944653" y="1079504"/>
                  </a:lnTo>
                  <a:lnTo>
                    <a:pt x="944653" y="1447339"/>
                  </a:lnTo>
                  <a:lnTo>
                    <a:pt x="981456" y="1450086"/>
                  </a:lnTo>
                  <a:lnTo>
                    <a:pt x="984504" y="1392936"/>
                  </a:lnTo>
                  <a:lnTo>
                    <a:pt x="988313" y="1335786"/>
                  </a:lnTo>
                  <a:lnTo>
                    <a:pt x="991362" y="1278636"/>
                  </a:lnTo>
                  <a:lnTo>
                    <a:pt x="994680" y="1179716"/>
                  </a:lnTo>
                  <a:lnTo>
                    <a:pt x="995548" y="1131764"/>
                  </a:lnTo>
                  <a:close/>
                </a:path>
                <a:path w="995679" h="1450339">
                  <a:moveTo>
                    <a:pt x="944653" y="1447339"/>
                  </a:moveTo>
                  <a:lnTo>
                    <a:pt x="944653" y="1133291"/>
                  </a:lnTo>
                  <a:lnTo>
                    <a:pt x="943594" y="1184774"/>
                  </a:lnTo>
                  <a:lnTo>
                    <a:pt x="943594" y="1183813"/>
                  </a:lnTo>
                  <a:lnTo>
                    <a:pt x="940307" y="1276350"/>
                  </a:lnTo>
                  <a:lnTo>
                    <a:pt x="934212" y="1389888"/>
                  </a:lnTo>
                  <a:lnTo>
                    <a:pt x="930401" y="1446276"/>
                  </a:lnTo>
                  <a:lnTo>
                    <a:pt x="939545" y="1446958"/>
                  </a:lnTo>
                  <a:lnTo>
                    <a:pt x="940832" y="1447054"/>
                  </a:lnTo>
                  <a:lnTo>
                    <a:pt x="942082" y="1447147"/>
                  </a:lnTo>
                  <a:lnTo>
                    <a:pt x="943594" y="1447260"/>
                  </a:lnTo>
                  <a:lnTo>
                    <a:pt x="944653" y="1447339"/>
                  </a:lnTo>
                  <a:close/>
                </a:path>
              </a:pathLst>
            </a:custGeom>
            <a:solidFill>
              <a:srgbClr val="D8D8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478149" y="1632204"/>
            <a:ext cx="20828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Verdana"/>
                <a:cs typeface="Verdana"/>
              </a:rPr>
              <a:t>Single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Processor </a:t>
            </a:r>
            <a:r>
              <a:rPr sz="1600" dirty="0">
                <a:latin typeface="Verdana"/>
                <a:cs typeface="Verdana"/>
              </a:rPr>
              <a:t>running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3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processes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868601" y="353714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887349" y="2526920"/>
            <a:ext cx="1217930" cy="8991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305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  <a:p>
            <a:pPr marL="698500">
              <a:lnSpc>
                <a:spcPct val="100000"/>
              </a:lnSpc>
              <a:spcBef>
                <a:spcPts val="480"/>
              </a:spcBef>
            </a:pPr>
            <a:r>
              <a:rPr sz="1600" spc="-20" dirty="0">
                <a:solidFill>
                  <a:srgbClr val="D8D8EC"/>
                </a:solidFill>
                <a:latin typeface="Verdana"/>
                <a:cs typeface="Verdana"/>
              </a:rPr>
              <a:t>Read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58518" y="2546526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07347" y="1435353"/>
            <a:ext cx="3530600" cy="939800"/>
            <a:chOff x="2807347" y="1435353"/>
            <a:chExt cx="3530600" cy="939800"/>
          </a:xfrm>
        </p:grpSpPr>
        <p:sp>
          <p:nvSpPr>
            <p:cNvPr id="3" name="object 3"/>
            <p:cNvSpPr/>
            <p:nvPr/>
          </p:nvSpPr>
          <p:spPr>
            <a:xfrm>
              <a:off x="2819539" y="1447545"/>
              <a:ext cx="3505200" cy="914400"/>
            </a:xfrm>
            <a:custGeom>
              <a:avLst/>
              <a:gdLst/>
              <a:ahLst/>
              <a:cxnLst/>
              <a:rect l="l" t="t" r="r" b="b"/>
              <a:pathLst>
                <a:path w="3505200" h="914400">
                  <a:moveTo>
                    <a:pt x="3505199" y="914400"/>
                  </a:moveTo>
                  <a:lnTo>
                    <a:pt x="3505199" y="0"/>
                  </a:lnTo>
                  <a:lnTo>
                    <a:pt x="0" y="0"/>
                  </a:lnTo>
                  <a:lnTo>
                    <a:pt x="0" y="914400"/>
                  </a:lnTo>
                  <a:lnTo>
                    <a:pt x="3505199" y="9144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07347" y="1435353"/>
              <a:ext cx="3530600" cy="939800"/>
            </a:xfrm>
            <a:custGeom>
              <a:avLst/>
              <a:gdLst/>
              <a:ahLst/>
              <a:cxnLst/>
              <a:rect l="l" t="t" r="r" b="b"/>
              <a:pathLst>
                <a:path w="3530600" h="939800">
                  <a:moveTo>
                    <a:pt x="3530345" y="939545"/>
                  </a:moveTo>
                  <a:lnTo>
                    <a:pt x="3530345" y="0"/>
                  </a:lnTo>
                  <a:lnTo>
                    <a:pt x="0" y="0"/>
                  </a:lnTo>
                  <a:lnTo>
                    <a:pt x="0" y="939545"/>
                  </a:lnTo>
                  <a:lnTo>
                    <a:pt x="12192" y="939545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3505200" y="25145"/>
                  </a:lnTo>
                  <a:lnTo>
                    <a:pt x="3505200" y="12191"/>
                  </a:lnTo>
                  <a:lnTo>
                    <a:pt x="3517379" y="25145"/>
                  </a:lnTo>
                  <a:lnTo>
                    <a:pt x="3517379" y="939545"/>
                  </a:lnTo>
                  <a:lnTo>
                    <a:pt x="3530345" y="939545"/>
                  </a:lnTo>
                  <a:close/>
                </a:path>
                <a:path w="3530600" h="9398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3530600" h="939800">
                  <a:moveTo>
                    <a:pt x="25146" y="9144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914400"/>
                  </a:lnTo>
                  <a:lnTo>
                    <a:pt x="25146" y="914400"/>
                  </a:lnTo>
                  <a:close/>
                </a:path>
                <a:path w="3530600" h="939800">
                  <a:moveTo>
                    <a:pt x="3517379" y="914400"/>
                  </a:moveTo>
                  <a:lnTo>
                    <a:pt x="12192" y="914400"/>
                  </a:lnTo>
                  <a:lnTo>
                    <a:pt x="25146" y="926591"/>
                  </a:lnTo>
                  <a:lnTo>
                    <a:pt x="25146" y="939545"/>
                  </a:lnTo>
                  <a:lnTo>
                    <a:pt x="3505200" y="939545"/>
                  </a:lnTo>
                  <a:lnTo>
                    <a:pt x="3505200" y="926591"/>
                  </a:lnTo>
                  <a:lnTo>
                    <a:pt x="3517379" y="914400"/>
                  </a:lnTo>
                  <a:close/>
                </a:path>
                <a:path w="3530600" h="939800">
                  <a:moveTo>
                    <a:pt x="25146" y="939545"/>
                  </a:moveTo>
                  <a:lnTo>
                    <a:pt x="25146" y="926591"/>
                  </a:lnTo>
                  <a:lnTo>
                    <a:pt x="12192" y="914400"/>
                  </a:lnTo>
                  <a:lnTo>
                    <a:pt x="12192" y="939545"/>
                  </a:lnTo>
                  <a:lnTo>
                    <a:pt x="25146" y="939545"/>
                  </a:lnTo>
                  <a:close/>
                </a:path>
                <a:path w="3530600" h="939800">
                  <a:moveTo>
                    <a:pt x="3517379" y="25145"/>
                  </a:moveTo>
                  <a:lnTo>
                    <a:pt x="3505200" y="12191"/>
                  </a:lnTo>
                  <a:lnTo>
                    <a:pt x="3505200" y="25145"/>
                  </a:lnTo>
                  <a:lnTo>
                    <a:pt x="3517379" y="25145"/>
                  </a:lnTo>
                  <a:close/>
                </a:path>
                <a:path w="3530600" h="939800">
                  <a:moveTo>
                    <a:pt x="3517379" y="914400"/>
                  </a:moveTo>
                  <a:lnTo>
                    <a:pt x="3517379" y="25145"/>
                  </a:lnTo>
                  <a:lnTo>
                    <a:pt x="3505200" y="25145"/>
                  </a:lnTo>
                  <a:lnTo>
                    <a:pt x="3505200" y="914400"/>
                  </a:lnTo>
                  <a:lnTo>
                    <a:pt x="3517379" y="914400"/>
                  </a:lnTo>
                  <a:close/>
                </a:path>
                <a:path w="3530600" h="939800">
                  <a:moveTo>
                    <a:pt x="3517379" y="939545"/>
                  </a:moveTo>
                  <a:lnTo>
                    <a:pt x="3517379" y="914400"/>
                  </a:lnTo>
                  <a:lnTo>
                    <a:pt x="3505200" y="926591"/>
                  </a:lnTo>
                  <a:lnTo>
                    <a:pt x="3505200" y="939545"/>
                  </a:lnTo>
                  <a:lnTo>
                    <a:pt x="3517379" y="9395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243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121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(Uniprocessor)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6073" y="4156971"/>
            <a:ext cx="6233795" cy="90741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56565" marR="78740" indent="-456565" algn="r">
              <a:lnSpc>
                <a:spcPct val="100000"/>
              </a:lnSpc>
              <a:spcBef>
                <a:spcPts val="735"/>
              </a:spcBef>
              <a:buClr>
                <a:srgbClr val="330065"/>
              </a:buClr>
              <a:buSzPct val="69230"/>
              <a:buAutoNum type="arabicPeriod" startAt="2"/>
              <a:tabLst>
                <a:tab pos="456565" algn="l"/>
              </a:tabLst>
            </a:pPr>
            <a:r>
              <a:rPr sz="2600" dirty="0">
                <a:latin typeface="Arial MT"/>
                <a:cs typeface="Arial MT"/>
              </a:rPr>
              <a:t>P3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reads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location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from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main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memory</a:t>
            </a:r>
            <a:endParaRPr sz="2600">
              <a:latin typeface="Arial MT"/>
              <a:cs typeface="Arial MT"/>
            </a:endParaRPr>
          </a:p>
          <a:p>
            <a:pPr marL="380365" marR="5080" lvl="1" indent="-380365" algn="r">
              <a:lnSpc>
                <a:spcPct val="100000"/>
              </a:lnSpc>
              <a:spcBef>
                <a:spcPts val="545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380365" algn="l"/>
              </a:tabLst>
            </a:pPr>
            <a:r>
              <a:rPr sz="2200" dirty="0">
                <a:latin typeface="Arial MT"/>
                <a:cs typeface="Arial MT"/>
              </a:rPr>
              <a:t>Cache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Memory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have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still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value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u=5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132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178947" y="1511553"/>
            <a:ext cx="787400" cy="786765"/>
            <a:chOff x="4178947" y="1511553"/>
            <a:chExt cx="787400" cy="786765"/>
          </a:xfrm>
        </p:grpSpPr>
        <p:sp>
          <p:nvSpPr>
            <p:cNvPr id="11" name="object 11"/>
            <p:cNvSpPr/>
            <p:nvPr/>
          </p:nvSpPr>
          <p:spPr>
            <a:xfrm>
              <a:off x="41911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789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75285" y="1753361"/>
            <a:ext cx="1230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865" algn="l"/>
              </a:tabLst>
            </a:pPr>
            <a:r>
              <a:rPr sz="1800" spc="-5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50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800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2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654947" y="2502154"/>
            <a:ext cx="3759200" cy="406400"/>
            <a:chOff x="2654947" y="2502154"/>
            <a:chExt cx="3759200" cy="406400"/>
          </a:xfrm>
        </p:grpSpPr>
        <p:sp>
          <p:nvSpPr>
            <p:cNvPr id="16" name="object 16"/>
            <p:cNvSpPr/>
            <p:nvPr/>
          </p:nvSpPr>
          <p:spPr>
            <a:xfrm>
              <a:off x="2667139" y="2514346"/>
              <a:ext cx="3733800" cy="381000"/>
            </a:xfrm>
            <a:custGeom>
              <a:avLst/>
              <a:gdLst/>
              <a:ahLst/>
              <a:cxnLst/>
              <a:rect l="l" t="t" r="r" b="b"/>
              <a:pathLst>
                <a:path w="3733800" h="381000">
                  <a:moveTo>
                    <a:pt x="3733799" y="381000"/>
                  </a:moveTo>
                  <a:lnTo>
                    <a:pt x="3733799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3733799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54947" y="2502154"/>
              <a:ext cx="3759200" cy="406400"/>
            </a:xfrm>
            <a:custGeom>
              <a:avLst/>
              <a:gdLst/>
              <a:ahLst/>
              <a:cxnLst/>
              <a:rect l="l" t="t" r="r" b="b"/>
              <a:pathLst>
                <a:path w="3759200" h="406400">
                  <a:moveTo>
                    <a:pt x="3758945" y="406145"/>
                  </a:moveTo>
                  <a:lnTo>
                    <a:pt x="37589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3733800" y="25145"/>
                  </a:lnTo>
                  <a:lnTo>
                    <a:pt x="3733800" y="12191"/>
                  </a:lnTo>
                  <a:lnTo>
                    <a:pt x="3745979" y="25145"/>
                  </a:lnTo>
                  <a:lnTo>
                    <a:pt x="3745979" y="406145"/>
                  </a:lnTo>
                  <a:lnTo>
                    <a:pt x="3758945" y="406145"/>
                  </a:lnTo>
                  <a:close/>
                </a:path>
                <a:path w="37592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37592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3759200" h="406400">
                  <a:moveTo>
                    <a:pt x="3745979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3733800" y="406145"/>
                  </a:lnTo>
                  <a:lnTo>
                    <a:pt x="3733800" y="393191"/>
                  </a:lnTo>
                  <a:lnTo>
                    <a:pt x="3745979" y="381000"/>
                  </a:lnTo>
                  <a:close/>
                </a:path>
                <a:path w="37592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3759200" h="406400">
                  <a:moveTo>
                    <a:pt x="3745979" y="25145"/>
                  </a:moveTo>
                  <a:lnTo>
                    <a:pt x="3733800" y="12191"/>
                  </a:lnTo>
                  <a:lnTo>
                    <a:pt x="3733800" y="25145"/>
                  </a:lnTo>
                  <a:lnTo>
                    <a:pt x="3745979" y="25145"/>
                  </a:lnTo>
                  <a:close/>
                </a:path>
                <a:path w="3759200" h="406400">
                  <a:moveTo>
                    <a:pt x="3745979" y="381000"/>
                  </a:moveTo>
                  <a:lnTo>
                    <a:pt x="3745979" y="25145"/>
                  </a:lnTo>
                  <a:lnTo>
                    <a:pt x="3733800" y="25145"/>
                  </a:lnTo>
                  <a:lnTo>
                    <a:pt x="3733800" y="381000"/>
                  </a:lnTo>
                  <a:lnTo>
                    <a:pt x="3745979" y="381000"/>
                  </a:lnTo>
                  <a:close/>
                </a:path>
                <a:path w="3759200" h="406400">
                  <a:moveTo>
                    <a:pt x="3745979" y="406145"/>
                  </a:moveTo>
                  <a:lnTo>
                    <a:pt x="3745979" y="381000"/>
                  </a:lnTo>
                  <a:lnTo>
                    <a:pt x="3733800" y="393191"/>
                  </a:lnTo>
                  <a:lnTo>
                    <a:pt x="3733800" y="406145"/>
                  </a:lnTo>
                  <a:lnTo>
                    <a:pt x="3745979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1730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264547" y="3492753"/>
            <a:ext cx="2387600" cy="406400"/>
            <a:chOff x="3264547" y="3492753"/>
            <a:chExt cx="2387600" cy="406400"/>
          </a:xfrm>
        </p:grpSpPr>
        <p:sp>
          <p:nvSpPr>
            <p:cNvPr id="20" name="object 20"/>
            <p:cNvSpPr/>
            <p:nvPr/>
          </p:nvSpPr>
          <p:spPr>
            <a:xfrm>
              <a:off x="3276739" y="35049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64547" y="3492753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79" y="25146"/>
                  </a:lnTo>
                  <a:lnTo>
                    <a:pt x="2374379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79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79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79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79" y="25146"/>
                  </a:lnTo>
                  <a:close/>
                </a:path>
                <a:path w="2387600" h="406400">
                  <a:moveTo>
                    <a:pt x="2374379" y="381000"/>
                  </a:moveTo>
                  <a:lnTo>
                    <a:pt x="2374379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79" y="381000"/>
                  </a:lnTo>
                  <a:close/>
                </a:path>
                <a:path w="2387600" h="406400">
                  <a:moveTo>
                    <a:pt x="2374379" y="406146"/>
                  </a:moveTo>
                  <a:lnTo>
                    <a:pt x="2374379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79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675513" y="35440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819539" y="1511553"/>
            <a:ext cx="3810000" cy="1993900"/>
            <a:chOff x="2819539" y="1511553"/>
            <a:chExt cx="3810000" cy="1993900"/>
          </a:xfrm>
        </p:grpSpPr>
        <p:sp>
          <p:nvSpPr>
            <p:cNvPr id="24" name="object 24"/>
            <p:cNvSpPr/>
            <p:nvPr/>
          </p:nvSpPr>
          <p:spPr>
            <a:xfrm>
              <a:off x="2819539" y="2274328"/>
              <a:ext cx="3810000" cy="1230630"/>
            </a:xfrm>
            <a:custGeom>
              <a:avLst/>
              <a:gdLst/>
              <a:ahLst/>
              <a:cxnLst/>
              <a:rect l="l" t="t" r="r" b="b"/>
              <a:pathLst>
                <a:path w="3810000" h="1230629">
                  <a:moveTo>
                    <a:pt x="1224521" y="228600"/>
                  </a:moveTo>
                  <a:lnTo>
                    <a:pt x="691121" y="0"/>
                  </a:lnTo>
                  <a:lnTo>
                    <a:pt x="681215" y="23622"/>
                  </a:lnTo>
                  <a:lnTo>
                    <a:pt x="1214615" y="252222"/>
                  </a:lnTo>
                  <a:lnTo>
                    <a:pt x="1224521" y="228600"/>
                  </a:lnTo>
                  <a:close/>
                </a:path>
                <a:path w="3810000" h="1230629">
                  <a:moveTo>
                    <a:pt x="3810000" y="887717"/>
                  </a:moveTo>
                  <a:lnTo>
                    <a:pt x="1613154" y="887717"/>
                  </a:lnTo>
                  <a:lnTo>
                    <a:pt x="1613154" y="621017"/>
                  </a:lnTo>
                  <a:lnTo>
                    <a:pt x="1588008" y="621017"/>
                  </a:lnTo>
                  <a:lnTo>
                    <a:pt x="1588008" y="887717"/>
                  </a:lnTo>
                  <a:lnTo>
                    <a:pt x="0" y="887717"/>
                  </a:lnTo>
                  <a:lnTo>
                    <a:pt x="0" y="963917"/>
                  </a:lnTo>
                  <a:lnTo>
                    <a:pt x="1588008" y="963917"/>
                  </a:lnTo>
                  <a:lnTo>
                    <a:pt x="1588008" y="1230617"/>
                  </a:lnTo>
                  <a:lnTo>
                    <a:pt x="1613154" y="1230617"/>
                  </a:lnTo>
                  <a:lnTo>
                    <a:pt x="1613154" y="963917"/>
                  </a:lnTo>
                  <a:lnTo>
                    <a:pt x="3810000" y="963917"/>
                  </a:lnTo>
                  <a:lnTo>
                    <a:pt x="3810000" y="8877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341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219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887349" y="2851404"/>
            <a:ext cx="4000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85085" y="1753361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230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559948" y="2274328"/>
            <a:ext cx="1160145" cy="252729"/>
          </a:xfrm>
          <a:custGeom>
            <a:avLst/>
            <a:gdLst/>
            <a:ahLst/>
            <a:cxnLst/>
            <a:rect l="l" t="t" r="r" b="b"/>
            <a:pathLst>
              <a:path w="1160145" h="252730">
                <a:moveTo>
                  <a:pt x="25146" y="11417"/>
                </a:moveTo>
                <a:lnTo>
                  <a:pt x="0" y="11417"/>
                </a:lnTo>
                <a:lnTo>
                  <a:pt x="0" y="240017"/>
                </a:lnTo>
                <a:lnTo>
                  <a:pt x="25146" y="240017"/>
                </a:lnTo>
                <a:lnTo>
                  <a:pt x="25146" y="11417"/>
                </a:lnTo>
                <a:close/>
              </a:path>
              <a:path w="1160145" h="252730">
                <a:moveTo>
                  <a:pt x="1159738" y="23622"/>
                </a:moveTo>
                <a:lnTo>
                  <a:pt x="1151356" y="0"/>
                </a:lnTo>
                <a:lnTo>
                  <a:pt x="465556" y="228600"/>
                </a:lnTo>
                <a:lnTo>
                  <a:pt x="473938" y="252222"/>
                </a:lnTo>
                <a:lnTo>
                  <a:pt x="1159738" y="23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478149" y="1632204"/>
            <a:ext cx="20828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Verdana"/>
                <a:cs typeface="Verdana"/>
              </a:rPr>
              <a:t>Single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Processor </a:t>
            </a:r>
            <a:r>
              <a:rPr sz="1600" dirty="0">
                <a:latin typeface="Verdana"/>
                <a:cs typeface="Verdana"/>
              </a:rPr>
              <a:t>running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3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processes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868601" y="353714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58518" y="2546526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01688" y="2089364"/>
            <a:ext cx="53213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0" dirty="0">
                <a:solidFill>
                  <a:srgbClr val="D8D8EC"/>
                </a:solidFill>
                <a:latin typeface="Verdana"/>
                <a:cs typeface="Verdana"/>
              </a:rPr>
              <a:t>Read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375636" y="2133346"/>
            <a:ext cx="1339850" cy="697230"/>
          </a:xfrm>
          <a:custGeom>
            <a:avLst/>
            <a:gdLst/>
            <a:ahLst/>
            <a:cxnLst/>
            <a:rect l="l" t="t" r="r" b="b"/>
            <a:pathLst>
              <a:path w="1339850" h="697230">
                <a:moveTo>
                  <a:pt x="1234297" y="113142"/>
                </a:moveTo>
                <a:lnTo>
                  <a:pt x="1203520" y="73031"/>
                </a:lnTo>
                <a:lnTo>
                  <a:pt x="1196246" y="78486"/>
                </a:lnTo>
                <a:lnTo>
                  <a:pt x="1170338" y="98298"/>
                </a:lnTo>
                <a:lnTo>
                  <a:pt x="1130793" y="126570"/>
                </a:lnTo>
                <a:lnTo>
                  <a:pt x="1090148" y="153362"/>
                </a:lnTo>
                <a:lnTo>
                  <a:pt x="1048328" y="178236"/>
                </a:lnTo>
                <a:lnTo>
                  <a:pt x="1005258" y="200755"/>
                </a:lnTo>
                <a:lnTo>
                  <a:pt x="960863" y="220483"/>
                </a:lnTo>
                <a:lnTo>
                  <a:pt x="915068" y="236982"/>
                </a:lnTo>
                <a:lnTo>
                  <a:pt x="877730" y="246888"/>
                </a:lnTo>
                <a:lnTo>
                  <a:pt x="827293" y="255740"/>
                </a:lnTo>
                <a:lnTo>
                  <a:pt x="775962" y="262327"/>
                </a:lnTo>
                <a:lnTo>
                  <a:pt x="723916" y="267020"/>
                </a:lnTo>
                <a:lnTo>
                  <a:pt x="671333" y="270194"/>
                </a:lnTo>
                <a:lnTo>
                  <a:pt x="618392" y="272220"/>
                </a:lnTo>
                <a:lnTo>
                  <a:pt x="565270" y="273472"/>
                </a:lnTo>
                <a:lnTo>
                  <a:pt x="459196" y="275146"/>
                </a:lnTo>
                <a:lnTo>
                  <a:pt x="406600" y="276314"/>
                </a:lnTo>
                <a:lnTo>
                  <a:pt x="355655" y="278160"/>
                </a:lnTo>
                <a:lnTo>
                  <a:pt x="303182" y="281178"/>
                </a:lnTo>
                <a:lnTo>
                  <a:pt x="251366" y="284988"/>
                </a:lnTo>
                <a:lnTo>
                  <a:pt x="169828" y="295566"/>
                </a:lnTo>
                <a:lnTo>
                  <a:pt x="121575" y="308391"/>
                </a:lnTo>
                <a:lnTo>
                  <a:pt x="81885" y="325568"/>
                </a:lnTo>
                <a:lnTo>
                  <a:pt x="26836" y="372254"/>
                </a:lnTo>
                <a:lnTo>
                  <a:pt x="1966" y="434179"/>
                </a:lnTo>
                <a:lnTo>
                  <a:pt x="0" y="470405"/>
                </a:lnTo>
                <a:lnTo>
                  <a:pt x="4560" y="509898"/>
                </a:lnTo>
                <a:lnTo>
                  <a:pt x="15308" y="552478"/>
                </a:lnTo>
                <a:lnTo>
                  <a:pt x="31904" y="597964"/>
                </a:lnTo>
                <a:lnTo>
                  <a:pt x="50418" y="638346"/>
                </a:lnTo>
                <a:lnTo>
                  <a:pt x="50418" y="456447"/>
                </a:lnTo>
                <a:lnTo>
                  <a:pt x="56128" y="425167"/>
                </a:lnTo>
                <a:lnTo>
                  <a:pt x="94790" y="376788"/>
                </a:lnTo>
                <a:lnTo>
                  <a:pt x="129495" y="359271"/>
                </a:lnTo>
                <a:lnTo>
                  <a:pt x="175566" y="346198"/>
                </a:lnTo>
                <a:lnTo>
                  <a:pt x="233840" y="337566"/>
                </a:lnTo>
                <a:lnTo>
                  <a:pt x="281084" y="332994"/>
                </a:lnTo>
                <a:lnTo>
                  <a:pt x="354536" y="328765"/>
                </a:lnTo>
                <a:lnTo>
                  <a:pt x="355655" y="328701"/>
                </a:lnTo>
                <a:lnTo>
                  <a:pt x="405363" y="326943"/>
                </a:lnTo>
                <a:lnTo>
                  <a:pt x="455884" y="325864"/>
                </a:lnTo>
                <a:lnTo>
                  <a:pt x="558439" y="324411"/>
                </a:lnTo>
                <a:lnTo>
                  <a:pt x="610011" y="323373"/>
                </a:lnTo>
                <a:lnTo>
                  <a:pt x="661470" y="321684"/>
                </a:lnTo>
                <a:lnTo>
                  <a:pt x="712585" y="319012"/>
                </a:lnTo>
                <a:lnTo>
                  <a:pt x="763124" y="315025"/>
                </a:lnTo>
                <a:lnTo>
                  <a:pt x="812856" y="309389"/>
                </a:lnTo>
                <a:lnTo>
                  <a:pt x="861549" y="301774"/>
                </a:lnTo>
                <a:lnTo>
                  <a:pt x="908972" y="291846"/>
                </a:lnTo>
                <a:lnTo>
                  <a:pt x="948596" y="278892"/>
                </a:lnTo>
                <a:lnTo>
                  <a:pt x="993331" y="262052"/>
                </a:lnTo>
                <a:lnTo>
                  <a:pt x="1037053" y="241946"/>
                </a:lnTo>
                <a:lnTo>
                  <a:pt x="1079675" y="219103"/>
                </a:lnTo>
                <a:lnTo>
                  <a:pt x="1121108" y="194053"/>
                </a:lnTo>
                <a:lnTo>
                  <a:pt x="1161264" y="167324"/>
                </a:lnTo>
                <a:lnTo>
                  <a:pt x="1213772" y="129540"/>
                </a:lnTo>
                <a:lnTo>
                  <a:pt x="1226726" y="118872"/>
                </a:lnTo>
                <a:lnTo>
                  <a:pt x="1234297" y="113142"/>
                </a:lnTo>
                <a:close/>
              </a:path>
              <a:path w="1339850" h="697230">
                <a:moveTo>
                  <a:pt x="124874" y="675132"/>
                </a:moveTo>
                <a:lnTo>
                  <a:pt x="99728" y="624078"/>
                </a:lnTo>
                <a:lnTo>
                  <a:pt x="78330" y="575374"/>
                </a:lnTo>
                <a:lnTo>
                  <a:pt x="62433" y="531134"/>
                </a:lnTo>
                <a:lnTo>
                  <a:pt x="52875" y="491355"/>
                </a:lnTo>
                <a:lnTo>
                  <a:pt x="50418" y="454913"/>
                </a:lnTo>
                <a:lnTo>
                  <a:pt x="50418" y="638346"/>
                </a:lnTo>
                <a:lnTo>
                  <a:pt x="54008" y="646176"/>
                </a:lnTo>
                <a:lnTo>
                  <a:pt x="66200" y="672084"/>
                </a:lnTo>
                <a:lnTo>
                  <a:pt x="79154" y="697230"/>
                </a:lnTo>
                <a:lnTo>
                  <a:pt x="124874" y="675132"/>
                </a:lnTo>
                <a:close/>
              </a:path>
              <a:path w="1339850" h="697230">
                <a:moveTo>
                  <a:pt x="1339502" y="0"/>
                </a:moveTo>
                <a:lnTo>
                  <a:pt x="1172624" y="32766"/>
                </a:lnTo>
                <a:lnTo>
                  <a:pt x="1203520" y="73031"/>
                </a:lnTo>
                <a:lnTo>
                  <a:pt x="1223678" y="57912"/>
                </a:lnTo>
                <a:lnTo>
                  <a:pt x="1254920" y="97536"/>
                </a:lnTo>
                <a:lnTo>
                  <a:pt x="1254920" y="140020"/>
                </a:lnTo>
                <a:lnTo>
                  <a:pt x="1265588" y="153924"/>
                </a:lnTo>
                <a:lnTo>
                  <a:pt x="1339502" y="0"/>
                </a:lnTo>
                <a:close/>
              </a:path>
              <a:path w="1339850" h="697230">
                <a:moveTo>
                  <a:pt x="1254920" y="97536"/>
                </a:moveTo>
                <a:lnTo>
                  <a:pt x="1223678" y="57912"/>
                </a:lnTo>
                <a:lnTo>
                  <a:pt x="1203520" y="73031"/>
                </a:lnTo>
                <a:lnTo>
                  <a:pt x="1234297" y="113142"/>
                </a:lnTo>
                <a:lnTo>
                  <a:pt x="1254920" y="97536"/>
                </a:lnTo>
                <a:close/>
              </a:path>
              <a:path w="1339850" h="697230">
                <a:moveTo>
                  <a:pt x="1254920" y="140020"/>
                </a:moveTo>
                <a:lnTo>
                  <a:pt x="1254920" y="97536"/>
                </a:lnTo>
                <a:lnTo>
                  <a:pt x="1234297" y="113142"/>
                </a:lnTo>
                <a:lnTo>
                  <a:pt x="1254920" y="140020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07347" y="1435353"/>
            <a:ext cx="3530600" cy="939800"/>
            <a:chOff x="2807347" y="1435353"/>
            <a:chExt cx="3530600" cy="939800"/>
          </a:xfrm>
        </p:grpSpPr>
        <p:sp>
          <p:nvSpPr>
            <p:cNvPr id="3" name="object 3"/>
            <p:cNvSpPr/>
            <p:nvPr/>
          </p:nvSpPr>
          <p:spPr>
            <a:xfrm>
              <a:off x="2819539" y="1447545"/>
              <a:ext cx="3505200" cy="914400"/>
            </a:xfrm>
            <a:custGeom>
              <a:avLst/>
              <a:gdLst/>
              <a:ahLst/>
              <a:cxnLst/>
              <a:rect l="l" t="t" r="r" b="b"/>
              <a:pathLst>
                <a:path w="3505200" h="914400">
                  <a:moveTo>
                    <a:pt x="3505199" y="914400"/>
                  </a:moveTo>
                  <a:lnTo>
                    <a:pt x="3505199" y="0"/>
                  </a:lnTo>
                  <a:lnTo>
                    <a:pt x="0" y="0"/>
                  </a:lnTo>
                  <a:lnTo>
                    <a:pt x="0" y="914400"/>
                  </a:lnTo>
                  <a:lnTo>
                    <a:pt x="3505199" y="9144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07347" y="1435353"/>
              <a:ext cx="3530600" cy="939800"/>
            </a:xfrm>
            <a:custGeom>
              <a:avLst/>
              <a:gdLst/>
              <a:ahLst/>
              <a:cxnLst/>
              <a:rect l="l" t="t" r="r" b="b"/>
              <a:pathLst>
                <a:path w="3530600" h="939800">
                  <a:moveTo>
                    <a:pt x="3530345" y="939545"/>
                  </a:moveTo>
                  <a:lnTo>
                    <a:pt x="3530345" y="0"/>
                  </a:lnTo>
                  <a:lnTo>
                    <a:pt x="0" y="0"/>
                  </a:lnTo>
                  <a:lnTo>
                    <a:pt x="0" y="939545"/>
                  </a:lnTo>
                  <a:lnTo>
                    <a:pt x="12192" y="939545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3505200" y="25145"/>
                  </a:lnTo>
                  <a:lnTo>
                    <a:pt x="3505200" y="12191"/>
                  </a:lnTo>
                  <a:lnTo>
                    <a:pt x="3517379" y="25145"/>
                  </a:lnTo>
                  <a:lnTo>
                    <a:pt x="3517379" y="939545"/>
                  </a:lnTo>
                  <a:lnTo>
                    <a:pt x="3530345" y="939545"/>
                  </a:lnTo>
                  <a:close/>
                </a:path>
                <a:path w="3530600" h="9398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3530600" h="939800">
                  <a:moveTo>
                    <a:pt x="25146" y="9144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914400"/>
                  </a:lnTo>
                  <a:lnTo>
                    <a:pt x="25146" y="914400"/>
                  </a:lnTo>
                  <a:close/>
                </a:path>
                <a:path w="3530600" h="939800">
                  <a:moveTo>
                    <a:pt x="3517379" y="914400"/>
                  </a:moveTo>
                  <a:lnTo>
                    <a:pt x="12192" y="914400"/>
                  </a:lnTo>
                  <a:lnTo>
                    <a:pt x="25146" y="926591"/>
                  </a:lnTo>
                  <a:lnTo>
                    <a:pt x="25146" y="939545"/>
                  </a:lnTo>
                  <a:lnTo>
                    <a:pt x="3505200" y="939545"/>
                  </a:lnTo>
                  <a:lnTo>
                    <a:pt x="3505200" y="926591"/>
                  </a:lnTo>
                  <a:lnTo>
                    <a:pt x="3517379" y="914400"/>
                  </a:lnTo>
                  <a:close/>
                </a:path>
                <a:path w="3530600" h="939800">
                  <a:moveTo>
                    <a:pt x="25146" y="939545"/>
                  </a:moveTo>
                  <a:lnTo>
                    <a:pt x="25146" y="926591"/>
                  </a:lnTo>
                  <a:lnTo>
                    <a:pt x="12192" y="914400"/>
                  </a:lnTo>
                  <a:lnTo>
                    <a:pt x="12192" y="939545"/>
                  </a:lnTo>
                  <a:lnTo>
                    <a:pt x="25146" y="939545"/>
                  </a:lnTo>
                  <a:close/>
                </a:path>
                <a:path w="3530600" h="939800">
                  <a:moveTo>
                    <a:pt x="3517379" y="25145"/>
                  </a:moveTo>
                  <a:lnTo>
                    <a:pt x="3505200" y="12191"/>
                  </a:lnTo>
                  <a:lnTo>
                    <a:pt x="3505200" y="25145"/>
                  </a:lnTo>
                  <a:lnTo>
                    <a:pt x="3517379" y="25145"/>
                  </a:lnTo>
                  <a:close/>
                </a:path>
                <a:path w="3530600" h="939800">
                  <a:moveTo>
                    <a:pt x="3517379" y="914400"/>
                  </a:moveTo>
                  <a:lnTo>
                    <a:pt x="3517379" y="25145"/>
                  </a:lnTo>
                  <a:lnTo>
                    <a:pt x="3505200" y="25145"/>
                  </a:lnTo>
                  <a:lnTo>
                    <a:pt x="3505200" y="914400"/>
                  </a:lnTo>
                  <a:lnTo>
                    <a:pt x="3517379" y="914400"/>
                  </a:lnTo>
                  <a:close/>
                </a:path>
                <a:path w="3530600" h="939800">
                  <a:moveTo>
                    <a:pt x="3517379" y="939545"/>
                  </a:moveTo>
                  <a:lnTo>
                    <a:pt x="3517379" y="914400"/>
                  </a:lnTo>
                  <a:lnTo>
                    <a:pt x="3505200" y="926591"/>
                  </a:lnTo>
                  <a:lnTo>
                    <a:pt x="3505200" y="939545"/>
                  </a:lnTo>
                  <a:lnTo>
                    <a:pt x="3517379" y="9395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243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121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(Uniprocessor)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6073" y="4156971"/>
            <a:ext cx="7760334" cy="129971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35"/>
              </a:spcBef>
              <a:buClr>
                <a:srgbClr val="330065"/>
              </a:buClr>
              <a:buSzPct val="69230"/>
              <a:buAutoNum type="arabicPeriod" startAt="3"/>
              <a:tabLst>
                <a:tab pos="469265" algn="l"/>
              </a:tabLst>
            </a:pPr>
            <a:r>
              <a:rPr sz="2600" dirty="0">
                <a:latin typeface="Arial MT"/>
                <a:cs typeface="Arial MT"/>
              </a:rPr>
              <a:t>P3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writes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u,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changing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value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50" dirty="0">
                <a:latin typeface="Arial MT"/>
                <a:cs typeface="Arial MT"/>
              </a:rPr>
              <a:t>7</a:t>
            </a:r>
            <a:endParaRPr sz="2600" dirty="0">
              <a:latin typeface="Arial MT"/>
              <a:cs typeface="Arial MT"/>
            </a:endParaRPr>
          </a:p>
          <a:p>
            <a:pPr marL="850900" marR="5080" lvl="1" indent="-381000">
              <a:lnSpc>
                <a:spcPct val="100000"/>
              </a:lnSpc>
              <a:spcBef>
                <a:spcPts val="545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850900" algn="l"/>
              </a:tabLst>
            </a:pPr>
            <a:r>
              <a:rPr sz="2200" dirty="0">
                <a:latin typeface="Arial MT"/>
                <a:cs typeface="Arial MT"/>
              </a:rPr>
              <a:t>Cache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updated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(u=7)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marked</a:t>
            </a:r>
            <a:r>
              <a:rPr lang="en-US" sz="2200" dirty="0">
                <a:latin typeface="Arial MT"/>
                <a:cs typeface="Arial MT"/>
              </a:rPr>
              <a:t> (Dirty)</a:t>
            </a:r>
          </a:p>
          <a:p>
            <a:pPr marL="850900" marR="5080" lvl="1" indent="-381000">
              <a:lnSpc>
                <a:spcPct val="100000"/>
              </a:lnSpc>
              <a:spcBef>
                <a:spcPts val="545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850900" algn="l"/>
              </a:tabLst>
            </a:pPr>
            <a:r>
              <a:rPr sz="2200" dirty="0">
                <a:latin typeface="Arial MT"/>
                <a:cs typeface="Arial MT"/>
              </a:rPr>
              <a:t>Memory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not </a:t>
            </a:r>
            <a:r>
              <a:rPr sz="2200" spc="-10" dirty="0">
                <a:latin typeface="Arial MT"/>
                <a:cs typeface="Arial MT"/>
              </a:rPr>
              <a:t>changed!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132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178947" y="1511553"/>
            <a:ext cx="787400" cy="786765"/>
            <a:chOff x="4178947" y="1511553"/>
            <a:chExt cx="787400" cy="786765"/>
          </a:xfrm>
        </p:grpSpPr>
        <p:sp>
          <p:nvSpPr>
            <p:cNvPr id="11" name="object 11"/>
            <p:cNvSpPr/>
            <p:nvPr/>
          </p:nvSpPr>
          <p:spPr>
            <a:xfrm>
              <a:off x="41911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789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75285" y="1753361"/>
            <a:ext cx="1230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865" algn="l"/>
              </a:tabLst>
            </a:pPr>
            <a:r>
              <a:rPr sz="1800" spc="-5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50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800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2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654947" y="2502154"/>
            <a:ext cx="3759200" cy="406400"/>
            <a:chOff x="2654947" y="2502154"/>
            <a:chExt cx="3759200" cy="406400"/>
          </a:xfrm>
        </p:grpSpPr>
        <p:sp>
          <p:nvSpPr>
            <p:cNvPr id="16" name="object 16"/>
            <p:cNvSpPr/>
            <p:nvPr/>
          </p:nvSpPr>
          <p:spPr>
            <a:xfrm>
              <a:off x="2667139" y="2514346"/>
              <a:ext cx="3733800" cy="381000"/>
            </a:xfrm>
            <a:custGeom>
              <a:avLst/>
              <a:gdLst/>
              <a:ahLst/>
              <a:cxnLst/>
              <a:rect l="l" t="t" r="r" b="b"/>
              <a:pathLst>
                <a:path w="3733800" h="381000">
                  <a:moveTo>
                    <a:pt x="3733799" y="381000"/>
                  </a:moveTo>
                  <a:lnTo>
                    <a:pt x="3733799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3733799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54947" y="2502154"/>
              <a:ext cx="3759200" cy="406400"/>
            </a:xfrm>
            <a:custGeom>
              <a:avLst/>
              <a:gdLst/>
              <a:ahLst/>
              <a:cxnLst/>
              <a:rect l="l" t="t" r="r" b="b"/>
              <a:pathLst>
                <a:path w="3759200" h="406400">
                  <a:moveTo>
                    <a:pt x="3758945" y="406145"/>
                  </a:moveTo>
                  <a:lnTo>
                    <a:pt x="37589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3733800" y="25145"/>
                  </a:lnTo>
                  <a:lnTo>
                    <a:pt x="3733800" y="12191"/>
                  </a:lnTo>
                  <a:lnTo>
                    <a:pt x="3745979" y="25145"/>
                  </a:lnTo>
                  <a:lnTo>
                    <a:pt x="3745979" y="406145"/>
                  </a:lnTo>
                  <a:lnTo>
                    <a:pt x="3758945" y="406145"/>
                  </a:lnTo>
                  <a:close/>
                </a:path>
                <a:path w="37592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37592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3759200" h="406400">
                  <a:moveTo>
                    <a:pt x="3745979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3733800" y="406145"/>
                  </a:lnTo>
                  <a:lnTo>
                    <a:pt x="3733800" y="393191"/>
                  </a:lnTo>
                  <a:lnTo>
                    <a:pt x="3745979" y="381000"/>
                  </a:lnTo>
                  <a:close/>
                </a:path>
                <a:path w="37592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3759200" h="406400">
                  <a:moveTo>
                    <a:pt x="3745979" y="25145"/>
                  </a:moveTo>
                  <a:lnTo>
                    <a:pt x="3733800" y="12191"/>
                  </a:lnTo>
                  <a:lnTo>
                    <a:pt x="3733800" y="25145"/>
                  </a:lnTo>
                  <a:lnTo>
                    <a:pt x="3745979" y="25145"/>
                  </a:lnTo>
                  <a:close/>
                </a:path>
                <a:path w="3759200" h="406400">
                  <a:moveTo>
                    <a:pt x="3745979" y="381000"/>
                  </a:moveTo>
                  <a:lnTo>
                    <a:pt x="3745979" y="25145"/>
                  </a:lnTo>
                  <a:lnTo>
                    <a:pt x="3733800" y="25145"/>
                  </a:lnTo>
                  <a:lnTo>
                    <a:pt x="3733800" y="381000"/>
                  </a:lnTo>
                  <a:lnTo>
                    <a:pt x="3745979" y="381000"/>
                  </a:lnTo>
                  <a:close/>
                </a:path>
                <a:path w="3759200" h="406400">
                  <a:moveTo>
                    <a:pt x="3745979" y="406145"/>
                  </a:moveTo>
                  <a:lnTo>
                    <a:pt x="3745979" y="381000"/>
                  </a:lnTo>
                  <a:lnTo>
                    <a:pt x="3733800" y="393191"/>
                  </a:lnTo>
                  <a:lnTo>
                    <a:pt x="3733800" y="406145"/>
                  </a:lnTo>
                  <a:lnTo>
                    <a:pt x="3745979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1730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264547" y="3492753"/>
            <a:ext cx="2387600" cy="406400"/>
            <a:chOff x="3264547" y="3492753"/>
            <a:chExt cx="2387600" cy="406400"/>
          </a:xfrm>
        </p:grpSpPr>
        <p:sp>
          <p:nvSpPr>
            <p:cNvPr id="20" name="object 20"/>
            <p:cNvSpPr/>
            <p:nvPr/>
          </p:nvSpPr>
          <p:spPr>
            <a:xfrm>
              <a:off x="3276739" y="35049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64547" y="3492753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79" y="25146"/>
                  </a:lnTo>
                  <a:lnTo>
                    <a:pt x="2374379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79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79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79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79" y="25146"/>
                  </a:lnTo>
                  <a:close/>
                </a:path>
                <a:path w="2387600" h="406400">
                  <a:moveTo>
                    <a:pt x="2374379" y="381000"/>
                  </a:moveTo>
                  <a:lnTo>
                    <a:pt x="2374379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79" y="381000"/>
                  </a:lnTo>
                  <a:close/>
                </a:path>
                <a:path w="2387600" h="406400">
                  <a:moveTo>
                    <a:pt x="2374379" y="406146"/>
                  </a:moveTo>
                  <a:lnTo>
                    <a:pt x="2374379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79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675513" y="35440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819539" y="1511553"/>
            <a:ext cx="3810000" cy="1993900"/>
            <a:chOff x="2819539" y="1511553"/>
            <a:chExt cx="3810000" cy="1993900"/>
          </a:xfrm>
        </p:grpSpPr>
        <p:sp>
          <p:nvSpPr>
            <p:cNvPr id="24" name="object 24"/>
            <p:cNvSpPr/>
            <p:nvPr/>
          </p:nvSpPr>
          <p:spPr>
            <a:xfrm>
              <a:off x="2819539" y="2274328"/>
              <a:ext cx="3810000" cy="1230630"/>
            </a:xfrm>
            <a:custGeom>
              <a:avLst/>
              <a:gdLst/>
              <a:ahLst/>
              <a:cxnLst/>
              <a:rect l="l" t="t" r="r" b="b"/>
              <a:pathLst>
                <a:path w="3810000" h="1230629">
                  <a:moveTo>
                    <a:pt x="1224521" y="228600"/>
                  </a:moveTo>
                  <a:lnTo>
                    <a:pt x="691121" y="0"/>
                  </a:lnTo>
                  <a:lnTo>
                    <a:pt x="681215" y="23622"/>
                  </a:lnTo>
                  <a:lnTo>
                    <a:pt x="1214615" y="252222"/>
                  </a:lnTo>
                  <a:lnTo>
                    <a:pt x="1224521" y="228600"/>
                  </a:lnTo>
                  <a:close/>
                </a:path>
                <a:path w="3810000" h="1230629">
                  <a:moveTo>
                    <a:pt x="3810000" y="887717"/>
                  </a:moveTo>
                  <a:lnTo>
                    <a:pt x="1613154" y="887717"/>
                  </a:lnTo>
                  <a:lnTo>
                    <a:pt x="1613154" y="621017"/>
                  </a:lnTo>
                  <a:lnTo>
                    <a:pt x="1588008" y="621017"/>
                  </a:lnTo>
                  <a:lnTo>
                    <a:pt x="1588008" y="887717"/>
                  </a:lnTo>
                  <a:lnTo>
                    <a:pt x="0" y="887717"/>
                  </a:lnTo>
                  <a:lnTo>
                    <a:pt x="0" y="963917"/>
                  </a:lnTo>
                  <a:lnTo>
                    <a:pt x="1588008" y="963917"/>
                  </a:lnTo>
                  <a:lnTo>
                    <a:pt x="1588008" y="1230617"/>
                  </a:lnTo>
                  <a:lnTo>
                    <a:pt x="1613154" y="1230617"/>
                  </a:lnTo>
                  <a:lnTo>
                    <a:pt x="1613154" y="963917"/>
                  </a:lnTo>
                  <a:lnTo>
                    <a:pt x="3810000" y="963917"/>
                  </a:lnTo>
                  <a:lnTo>
                    <a:pt x="3810000" y="8877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341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219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887349" y="2851404"/>
            <a:ext cx="4000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85085" y="1753361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230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559948" y="2274328"/>
            <a:ext cx="1160145" cy="252729"/>
          </a:xfrm>
          <a:custGeom>
            <a:avLst/>
            <a:gdLst/>
            <a:ahLst/>
            <a:cxnLst/>
            <a:rect l="l" t="t" r="r" b="b"/>
            <a:pathLst>
              <a:path w="1160145" h="252730">
                <a:moveTo>
                  <a:pt x="25146" y="11417"/>
                </a:moveTo>
                <a:lnTo>
                  <a:pt x="0" y="11417"/>
                </a:lnTo>
                <a:lnTo>
                  <a:pt x="0" y="240017"/>
                </a:lnTo>
                <a:lnTo>
                  <a:pt x="25146" y="240017"/>
                </a:lnTo>
                <a:lnTo>
                  <a:pt x="25146" y="11417"/>
                </a:lnTo>
                <a:close/>
              </a:path>
              <a:path w="1160145" h="252730">
                <a:moveTo>
                  <a:pt x="1159738" y="23622"/>
                </a:moveTo>
                <a:lnTo>
                  <a:pt x="1151356" y="0"/>
                </a:lnTo>
                <a:lnTo>
                  <a:pt x="465556" y="228600"/>
                </a:lnTo>
                <a:lnTo>
                  <a:pt x="473938" y="252222"/>
                </a:lnTo>
                <a:lnTo>
                  <a:pt x="1159738" y="23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478149" y="1632204"/>
            <a:ext cx="20828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Verdana"/>
                <a:cs typeface="Verdana"/>
              </a:rPr>
              <a:t>Single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Processor </a:t>
            </a:r>
            <a:r>
              <a:rPr sz="1600" dirty="0">
                <a:latin typeface="Verdana"/>
                <a:cs typeface="Verdana"/>
              </a:rPr>
              <a:t>running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3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processes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868601" y="353714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58518" y="2546526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u=7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505256" y="2021411"/>
            <a:ext cx="5645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D8D8EC"/>
                </a:solidFill>
                <a:latin typeface="Verdana"/>
                <a:cs typeface="Verdana"/>
              </a:rPr>
              <a:t>Write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451743" y="2185162"/>
            <a:ext cx="1270635" cy="558165"/>
          </a:xfrm>
          <a:custGeom>
            <a:avLst/>
            <a:gdLst/>
            <a:ahLst/>
            <a:cxnLst/>
            <a:rect l="l" t="t" r="r" b="b"/>
            <a:pathLst>
              <a:path w="1270635" h="558164">
                <a:moveTo>
                  <a:pt x="104393" y="547592"/>
                </a:moveTo>
                <a:lnTo>
                  <a:pt x="104393" y="429767"/>
                </a:lnTo>
                <a:lnTo>
                  <a:pt x="54101" y="436625"/>
                </a:lnTo>
                <a:lnTo>
                  <a:pt x="50639" y="412389"/>
                </a:lnTo>
                <a:lnTo>
                  <a:pt x="0" y="421385"/>
                </a:lnTo>
                <a:lnTo>
                  <a:pt x="101345" y="557783"/>
                </a:lnTo>
                <a:lnTo>
                  <a:pt x="104393" y="547592"/>
                </a:lnTo>
                <a:close/>
              </a:path>
              <a:path w="1270635" h="558164">
                <a:moveTo>
                  <a:pt x="1270253" y="49529"/>
                </a:moveTo>
                <a:lnTo>
                  <a:pt x="1257299" y="0"/>
                </a:lnTo>
                <a:lnTo>
                  <a:pt x="1139951" y="30479"/>
                </a:lnTo>
                <a:lnTo>
                  <a:pt x="1024127" y="60959"/>
                </a:lnTo>
                <a:lnTo>
                  <a:pt x="974284" y="73483"/>
                </a:lnTo>
                <a:lnTo>
                  <a:pt x="924549" y="86217"/>
                </a:lnTo>
                <a:lnTo>
                  <a:pt x="874910" y="99145"/>
                </a:lnTo>
                <a:lnTo>
                  <a:pt x="825356" y="112251"/>
                </a:lnTo>
                <a:lnTo>
                  <a:pt x="775876" y="125521"/>
                </a:lnTo>
                <a:lnTo>
                  <a:pt x="726460" y="138936"/>
                </a:lnTo>
                <a:lnTo>
                  <a:pt x="677095" y="152483"/>
                </a:lnTo>
                <a:lnTo>
                  <a:pt x="627771" y="166144"/>
                </a:lnTo>
                <a:lnTo>
                  <a:pt x="578476" y="179905"/>
                </a:lnTo>
                <a:lnTo>
                  <a:pt x="529200" y="193748"/>
                </a:lnTo>
                <a:lnTo>
                  <a:pt x="479931" y="207658"/>
                </a:lnTo>
                <a:lnTo>
                  <a:pt x="282701" y="263651"/>
                </a:lnTo>
                <a:lnTo>
                  <a:pt x="258317" y="271271"/>
                </a:lnTo>
                <a:lnTo>
                  <a:pt x="215900" y="284021"/>
                </a:lnTo>
                <a:lnTo>
                  <a:pt x="170065" y="300354"/>
                </a:lnTo>
                <a:lnTo>
                  <a:pt x="125550" y="321437"/>
                </a:lnTo>
                <a:lnTo>
                  <a:pt x="87094" y="348438"/>
                </a:lnTo>
                <a:lnTo>
                  <a:pt x="59435" y="382523"/>
                </a:lnTo>
                <a:lnTo>
                  <a:pt x="52577" y="396239"/>
                </a:lnTo>
                <a:lnTo>
                  <a:pt x="50291" y="400049"/>
                </a:lnTo>
                <a:lnTo>
                  <a:pt x="49529" y="405383"/>
                </a:lnTo>
                <a:lnTo>
                  <a:pt x="50291" y="409955"/>
                </a:lnTo>
                <a:lnTo>
                  <a:pt x="50639" y="412389"/>
                </a:lnTo>
                <a:lnTo>
                  <a:pt x="108991" y="402022"/>
                </a:lnTo>
                <a:lnTo>
                  <a:pt x="133586" y="376395"/>
                </a:lnTo>
                <a:lnTo>
                  <a:pt x="178436" y="351905"/>
                </a:lnTo>
                <a:lnTo>
                  <a:pt x="227604" y="333772"/>
                </a:lnTo>
                <a:lnTo>
                  <a:pt x="272033" y="320039"/>
                </a:lnTo>
                <a:lnTo>
                  <a:pt x="284225" y="316229"/>
                </a:lnTo>
                <a:lnTo>
                  <a:pt x="296417" y="313181"/>
                </a:lnTo>
                <a:lnTo>
                  <a:pt x="345746" y="298829"/>
                </a:lnTo>
                <a:lnTo>
                  <a:pt x="395027" y="284594"/>
                </a:lnTo>
                <a:lnTo>
                  <a:pt x="444271" y="270475"/>
                </a:lnTo>
                <a:lnTo>
                  <a:pt x="493493" y="256472"/>
                </a:lnTo>
                <a:lnTo>
                  <a:pt x="542704" y="242584"/>
                </a:lnTo>
                <a:lnTo>
                  <a:pt x="591919" y="228808"/>
                </a:lnTo>
                <a:lnTo>
                  <a:pt x="641148" y="215144"/>
                </a:lnTo>
                <a:lnTo>
                  <a:pt x="690407" y="201591"/>
                </a:lnTo>
                <a:lnTo>
                  <a:pt x="739706" y="188148"/>
                </a:lnTo>
                <a:lnTo>
                  <a:pt x="789059" y="174814"/>
                </a:lnTo>
                <a:lnTo>
                  <a:pt x="838479" y="161586"/>
                </a:lnTo>
                <a:lnTo>
                  <a:pt x="887978" y="148465"/>
                </a:lnTo>
                <a:lnTo>
                  <a:pt x="937570" y="135449"/>
                </a:lnTo>
                <a:lnTo>
                  <a:pt x="987267" y="122537"/>
                </a:lnTo>
                <a:lnTo>
                  <a:pt x="1152905" y="80009"/>
                </a:lnTo>
                <a:lnTo>
                  <a:pt x="1270253" y="49529"/>
                </a:lnTo>
                <a:close/>
              </a:path>
              <a:path w="1270635" h="558164">
                <a:moveTo>
                  <a:pt x="100536" y="403524"/>
                </a:moveTo>
                <a:lnTo>
                  <a:pt x="50639" y="412389"/>
                </a:lnTo>
                <a:lnTo>
                  <a:pt x="54101" y="436625"/>
                </a:lnTo>
                <a:lnTo>
                  <a:pt x="99059" y="430495"/>
                </a:lnTo>
                <a:lnTo>
                  <a:pt x="99059" y="416813"/>
                </a:lnTo>
                <a:lnTo>
                  <a:pt x="100536" y="403524"/>
                </a:lnTo>
                <a:close/>
              </a:path>
              <a:path w="1270635" h="558164">
                <a:moveTo>
                  <a:pt x="108991" y="402022"/>
                </a:moveTo>
                <a:lnTo>
                  <a:pt x="100536" y="403524"/>
                </a:lnTo>
                <a:lnTo>
                  <a:pt x="99059" y="416813"/>
                </a:lnTo>
                <a:lnTo>
                  <a:pt x="100536" y="413122"/>
                </a:lnTo>
                <a:lnTo>
                  <a:pt x="100536" y="402766"/>
                </a:lnTo>
                <a:lnTo>
                  <a:pt x="101626" y="410397"/>
                </a:lnTo>
                <a:lnTo>
                  <a:pt x="102107" y="409193"/>
                </a:lnTo>
                <a:lnTo>
                  <a:pt x="108991" y="402022"/>
                </a:lnTo>
                <a:close/>
              </a:path>
              <a:path w="1270635" h="558164">
                <a:moveTo>
                  <a:pt x="104393" y="429767"/>
                </a:moveTo>
                <a:lnTo>
                  <a:pt x="101626" y="410397"/>
                </a:lnTo>
                <a:lnTo>
                  <a:pt x="99059" y="416813"/>
                </a:lnTo>
                <a:lnTo>
                  <a:pt x="99059" y="430495"/>
                </a:lnTo>
                <a:lnTo>
                  <a:pt x="104393" y="429767"/>
                </a:lnTo>
                <a:close/>
              </a:path>
              <a:path w="1270635" h="558164">
                <a:moveTo>
                  <a:pt x="101626" y="410397"/>
                </a:moveTo>
                <a:lnTo>
                  <a:pt x="100536" y="402766"/>
                </a:lnTo>
                <a:lnTo>
                  <a:pt x="100536" y="413122"/>
                </a:lnTo>
                <a:lnTo>
                  <a:pt x="101626" y="410397"/>
                </a:lnTo>
                <a:close/>
              </a:path>
              <a:path w="1270635" h="558164">
                <a:moveTo>
                  <a:pt x="150113" y="394715"/>
                </a:moveTo>
                <a:lnTo>
                  <a:pt x="108991" y="402022"/>
                </a:lnTo>
                <a:lnTo>
                  <a:pt x="102107" y="409193"/>
                </a:lnTo>
                <a:lnTo>
                  <a:pt x="101626" y="410397"/>
                </a:lnTo>
                <a:lnTo>
                  <a:pt x="104393" y="429767"/>
                </a:lnTo>
                <a:lnTo>
                  <a:pt x="104393" y="547592"/>
                </a:lnTo>
                <a:lnTo>
                  <a:pt x="150113" y="394715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54947" y="1435353"/>
            <a:ext cx="3759200" cy="1473200"/>
            <a:chOff x="2654947" y="1435353"/>
            <a:chExt cx="3759200" cy="1473200"/>
          </a:xfrm>
        </p:grpSpPr>
        <p:sp>
          <p:nvSpPr>
            <p:cNvPr id="3" name="object 3"/>
            <p:cNvSpPr/>
            <p:nvPr/>
          </p:nvSpPr>
          <p:spPr>
            <a:xfrm>
              <a:off x="2819539" y="1447545"/>
              <a:ext cx="3505200" cy="914400"/>
            </a:xfrm>
            <a:custGeom>
              <a:avLst/>
              <a:gdLst/>
              <a:ahLst/>
              <a:cxnLst/>
              <a:rect l="l" t="t" r="r" b="b"/>
              <a:pathLst>
                <a:path w="3505200" h="914400">
                  <a:moveTo>
                    <a:pt x="3505199" y="914400"/>
                  </a:moveTo>
                  <a:lnTo>
                    <a:pt x="3505199" y="0"/>
                  </a:lnTo>
                  <a:lnTo>
                    <a:pt x="0" y="0"/>
                  </a:lnTo>
                  <a:lnTo>
                    <a:pt x="0" y="914400"/>
                  </a:lnTo>
                  <a:lnTo>
                    <a:pt x="3505199" y="9144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07347" y="1435353"/>
              <a:ext cx="3530600" cy="939800"/>
            </a:xfrm>
            <a:custGeom>
              <a:avLst/>
              <a:gdLst/>
              <a:ahLst/>
              <a:cxnLst/>
              <a:rect l="l" t="t" r="r" b="b"/>
              <a:pathLst>
                <a:path w="3530600" h="939800">
                  <a:moveTo>
                    <a:pt x="3530345" y="939545"/>
                  </a:moveTo>
                  <a:lnTo>
                    <a:pt x="3530345" y="0"/>
                  </a:lnTo>
                  <a:lnTo>
                    <a:pt x="0" y="0"/>
                  </a:lnTo>
                  <a:lnTo>
                    <a:pt x="0" y="939545"/>
                  </a:lnTo>
                  <a:lnTo>
                    <a:pt x="12192" y="939545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3505200" y="25145"/>
                  </a:lnTo>
                  <a:lnTo>
                    <a:pt x="3505200" y="12191"/>
                  </a:lnTo>
                  <a:lnTo>
                    <a:pt x="3517379" y="25145"/>
                  </a:lnTo>
                  <a:lnTo>
                    <a:pt x="3517379" y="939545"/>
                  </a:lnTo>
                  <a:lnTo>
                    <a:pt x="3530345" y="939545"/>
                  </a:lnTo>
                  <a:close/>
                </a:path>
                <a:path w="3530600" h="9398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3530600" h="939800">
                  <a:moveTo>
                    <a:pt x="25146" y="9144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914400"/>
                  </a:lnTo>
                  <a:lnTo>
                    <a:pt x="25146" y="914400"/>
                  </a:lnTo>
                  <a:close/>
                </a:path>
                <a:path w="3530600" h="939800">
                  <a:moveTo>
                    <a:pt x="3517379" y="914400"/>
                  </a:moveTo>
                  <a:lnTo>
                    <a:pt x="12192" y="914400"/>
                  </a:lnTo>
                  <a:lnTo>
                    <a:pt x="25146" y="926591"/>
                  </a:lnTo>
                  <a:lnTo>
                    <a:pt x="25146" y="939545"/>
                  </a:lnTo>
                  <a:lnTo>
                    <a:pt x="3505200" y="939545"/>
                  </a:lnTo>
                  <a:lnTo>
                    <a:pt x="3505200" y="926591"/>
                  </a:lnTo>
                  <a:lnTo>
                    <a:pt x="3517379" y="914400"/>
                  </a:lnTo>
                  <a:close/>
                </a:path>
                <a:path w="3530600" h="939800">
                  <a:moveTo>
                    <a:pt x="25146" y="939545"/>
                  </a:moveTo>
                  <a:lnTo>
                    <a:pt x="25146" y="926591"/>
                  </a:lnTo>
                  <a:lnTo>
                    <a:pt x="12192" y="914400"/>
                  </a:lnTo>
                  <a:lnTo>
                    <a:pt x="12192" y="939545"/>
                  </a:lnTo>
                  <a:lnTo>
                    <a:pt x="25146" y="939545"/>
                  </a:lnTo>
                  <a:close/>
                </a:path>
                <a:path w="3530600" h="939800">
                  <a:moveTo>
                    <a:pt x="3517379" y="25145"/>
                  </a:moveTo>
                  <a:lnTo>
                    <a:pt x="3505200" y="12191"/>
                  </a:lnTo>
                  <a:lnTo>
                    <a:pt x="3505200" y="25145"/>
                  </a:lnTo>
                  <a:lnTo>
                    <a:pt x="3517379" y="25145"/>
                  </a:lnTo>
                  <a:close/>
                </a:path>
                <a:path w="3530600" h="939800">
                  <a:moveTo>
                    <a:pt x="3517379" y="914400"/>
                  </a:moveTo>
                  <a:lnTo>
                    <a:pt x="3517379" y="25145"/>
                  </a:lnTo>
                  <a:lnTo>
                    <a:pt x="3505200" y="25145"/>
                  </a:lnTo>
                  <a:lnTo>
                    <a:pt x="3505200" y="914400"/>
                  </a:lnTo>
                  <a:lnTo>
                    <a:pt x="3517379" y="914400"/>
                  </a:lnTo>
                  <a:close/>
                </a:path>
                <a:path w="3530600" h="939800">
                  <a:moveTo>
                    <a:pt x="3517379" y="939545"/>
                  </a:moveTo>
                  <a:lnTo>
                    <a:pt x="3517379" y="914400"/>
                  </a:lnTo>
                  <a:lnTo>
                    <a:pt x="3505200" y="926591"/>
                  </a:lnTo>
                  <a:lnTo>
                    <a:pt x="3505200" y="939545"/>
                  </a:lnTo>
                  <a:lnTo>
                    <a:pt x="3517379" y="9395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243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121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911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789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67139" y="2514345"/>
              <a:ext cx="3733800" cy="381000"/>
            </a:xfrm>
            <a:custGeom>
              <a:avLst/>
              <a:gdLst/>
              <a:ahLst/>
              <a:cxnLst/>
              <a:rect l="l" t="t" r="r" b="b"/>
              <a:pathLst>
                <a:path w="3733800" h="381000">
                  <a:moveTo>
                    <a:pt x="3733799" y="381000"/>
                  </a:moveTo>
                  <a:lnTo>
                    <a:pt x="3733799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3733799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54947" y="2502153"/>
              <a:ext cx="3759200" cy="406400"/>
            </a:xfrm>
            <a:custGeom>
              <a:avLst/>
              <a:gdLst/>
              <a:ahLst/>
              <a:cxnLst/>
              <a:rect l="l" t="t" r="r" b="b"/>
              <a:pathLst>
                <a:path w="3759200" h="406400">
                  <a:moveTo>
                    <a:pt x="3758945" y="406145"/>
                  </a:moveTo>
                  <a:lnTo>
                    <a:pt x="37589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3733800" y="25145"/>
                  </a:lnTo>
                  <a:lnTo>
                    <a:pt x="3733800" y="12191"/>
                  </a:lnTo>
                  <a:lnTo>
                    <a:pt x="3745979" y="25145"/>
                  </a:lnTo>
                  <a:lnTo>
                    <a:pt x="3745979" y="406145"/>
                  </a:lnTo>
                  <a:lnTo>
                    <a:pt x="3758945" y="406145"/>
                  </a:lnTo>
                  <a:close/>
                </a:path>
                <a:path w="37592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37592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3759200" h="406400">
                  <a:moveTo>
                    <a:pt x="3745979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3733800" y="406145"/>
                  </a:lnTo>
                  <a:lnTo>
                    <a:pt x="3733800" y="393191"/>
                  </a:lnTo>
                  <a:lnTo>
                    <a:pt x="3745979" y="381000"/>
                  </a:lnTo>
                  <a:close/>
                </a:path>
                <a:path w="37592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3759200" h="406400">
                  <a:moveTo>
                    <a:pt x="3745979" y="25145"/>
                  </a:moveTo>
                  <a:lnTo>
                    <a:pt x="3733800" y="12191"/>
                  </a:lnTo>
                  <a:lnTo>
                    <a:pt x="3733800" y="25145"/>
                  </a:lnTo>
                  <a:lnTo>
                    <a:pt x="3745979" y="25145"/>
                  </a:lnTo>
                  <a:close/>
                </a:path>
                <a:path w="3759200" h="406400">
                  <a:moveTo>
                    <a:pt x="3745979" y="381000"/>
                  </a:moveTo>
                  <a:lnTo>
                    <a:pt x="3745979" y="25145"/>
                  </a:lnTo>
                  <a:lnTo>
                    <a:pt x="3733800" y="25145"/>
                  </a:lnTo>
                  <a:lnTo>
                    <a:pt x="3733800" y="381000"/>
                  </a:lnTo>
                  <a:lnTo>
                    <a:pt x="3745979" y="381000"/>
                  </a:lnTo>
                  <a:close/>
                </a:path>
                <a:path w="3759200" h="406400">
                  <a:moveTo>
                    <a:pt x="3745979" y="406145"/>
                  </a:moveTo>
                  <a:lnTo>
                    <a:pt x="3745979" y="381000"/>
                  </a:lnTo>
                  <a:lnTo>
                    <a:pt x="3733800" y="393191"/>
                  </a:lnTo>
                  <a:lnTo>
                    <a:pt x="3733800" y="406145"/>
                  </a:lnTo>
                  <a:lnTo>
                    <a:pt x="3745979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(Uniprocessor)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6073" y="4156971"/>
            <a:ext cx="7352030" cy="157797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469265" indent="-456565" algn="just">
              <a:lnSpc>
                <a:spcPct val="100000"/>
              </a:lnSpc>
              <a:spcBef>
                <a:spcPts val="735"/>
              </a:spcBef>
              <a:buClr>
                <a:srgbClr val="330065"/>
              </a:buClr>
              <a:buSzPct val="69230"/>
              <a:buAutoNum type="arabicPeriod" startAt="4"/>
              <a:tabLst>
                <a:tab pos="469265" algn="l"/>
              </a:tabLst>
            </a:pPr>
            <a:r>
              <a:rPr sz="2600" dirty="0">
                <a:latin typeface="Arial MT"/>
                <a:cs typeface="Arial MT"/>
              </a:rPr>
              <a:t>P1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reads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value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again</a:t>
            </a:r>
            <a:endParaRPr sz="2600">
              <a:latin typeface="Arial MT"/>
              <a:cs typeface="Arial MT"/>
            </a:endParaRPr>
          </a:p>
          <a:p>
            <a:pPr marL="850900" marR="5080" lvl="1" indent="-381000" algn="just">
              <a:lnSpc>
                <a:spcPct val="100000"/>
              </a:lnSpc>
              <a:spcBef>
                <a:spcPts val="545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850900" algn="l"/>
              </a:tabLst>
            </a:pPr>
            <a:r>
              <a:rPr sz="2200" dirty="0">
                <a:latin typeface="Arial MT"/>
                <a:cs typeface="Arial MT"/>
              </a:rPr>
              <a:t>Since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cache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common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all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processes,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there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no </a:t>
            </a:r>
            <a:r>
              <a:rPr sz="2200" dirty="0">
                <a:latin typeface="Arial MT"/>
                <a:cs typeface="Arial MT"/>
              </a:rPr>
              <a:t>problem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though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main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memory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updated!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All </a:t>
            </a:r>
            <a:r>
              <a:rPr sz="2200" dirty="0">
                <a:latin typeface="Arial MT"/>
                <a:cs typeface="Arial MT"/>
              </a:rPr>
              <a:t>processes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have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same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view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cache!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730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264547" y="3492753"/>
            <a:ext cx="2387600" cy="406400"/>
            <a:chOff x="3264547" y="3492753"/>
            <a:chExt cx="2387600" cy="406400"/>
          </a:xfrm>
        </p:grpSpPr>
        <p:sp>
          <p:nvSpPr>
            <p:cNvPr id="15" name="object 15"/>
            <p:cNvSpPr/>
            <p:nvPr/>
          </p:nvSpPr>
          <p:spPr>
            <a:xfrm>
              <a:off x="3276739" y="35049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64547" y="3492753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79" y="25146"/>
                  </a:lnTo>
                  <a:lnTo>
                    <a:pt x="2374379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79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79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79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79" y="25146"/>
                  </a:lnTo>
                  <a:close/>
                </a:path>
                <a:path w="2387600" h="406400">
                  <a:moveTo>
                    <a:pt x="2374379" y="381000"/>
                  </a:moveTo>
                  <a:lnTo>
                    <a:pt x="2374379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79" y="381000"/>
                  </a:lnTo>
                  <a:close/>
                </a:path>
                <a:path w="2387600" h="406400">
                  <a:moveTo>
                    <a:pt x="2374379" y="406146"/>
                  </a:moveTo>
                  <a:lnTo>
                    <a:pt x="2374379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79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675513" y="35440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819539" y="1511553"/>
            <a:ext cx="3810000" cy="1993900"/>
            <a:chOff x="2819539" y="1511553"/>
            <a:chExt cx="3810000" cy="1993900"/>
          </a:xfrm>
        </p:grpSpPr>
        <p:sp>
          <p:nvSpPr>
            <p:cNvPr id="19" name="object 19"/>
            <p:cNvSpPr/>
            <p:nvPr/>
          </p:nvSpPr>
          <p:spPr>
            <a:xfrm>
              <a:off x="2819539" y="2274328"/>
              <a:ext cx="3810000" cy="1230630"/>
            </a:xfrm>
            <a:custGeom>
              <a:avLst/>
              <a:gdLst/>
              <a:ahLst/>
              <a:cxnLst/>
              <a:rect l="l" t="t" r="r" b="b"/>
              <a:pathLst>
                <a:path w="3810000" h="1230629">
                  <a:moveTo>
                    <a:pt x="1224521" y="228600"/>
                  </a:moveTo>
                  <a:lnTo>
                    <a:pt x="691121" y="0"/>
                  </a:lnTo>
                  <a:lnTo>
                    <a:pt x="681215" y="23622"/>
                  </a:lnTo>
                  <a:lnTo>
                    <a:pt x="1214615" y="252222"/>
                  </a:lnTo>
                  <a:lnTo>
                    <a:pt x="1224521" y="228600"/>
                  </a:lnTo>
                  <a:close/>
                </a:path>
                <a:path w="3810000" h="1230629">
                  <a:moveTo>
                    <a:pt x="3810000" y="887717"/>
                  </a:moveTo>
                  <a:lnTo>
                    <a:pt x="1613154" y="887717"/>
                  </a:lnTo>
                  <a:lnTo>
                    <a:pt x="1613154" y="621017"/>
                  </a:lnTo>
                  <a:lnTo>
                    <a:pt x="1588008" y="621017"/>
                  </a:lnTo>
                  <a:lnTo>
                    <a:pt x="1588008" y="887717"/>
                  </a:lnTo>
                  <a:lnTo>
                    <a:pt x="0" y="887717"/>
                  </a:lnTo>
                  <a:lnTo>
                    <a:pt x="0" y="963917"/>
                  </a:lnTo>
                  <a:lnTo>
                    <a:pt x="1588008" y="963917"/>
                  </a:lnTo>
                  <a:lnTo>
                    <a:pt x="1588008" y="1230617"/>
                  </a:lnTo>
                  <a:lnTo>
                    <a:pt x="1613154" y="1230617"/>
                  </a:lnTo>
                  <a:lnTo>
                    <a:pt x="1613154" y="963917"/>
                  </a:lnTo>
                  <a:lnTo>
                    <a:pt x="3810000" y="963917"/>
                  </a:lnTo>
                  <a:lnTo>
                    <a:pt x="3810000" y="8877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341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219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887349" y="2851404"/>
            <a:ext cx="4000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230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59948" y="2274328"/>
            <a:ext cx="1160145" cy="252729"/>
          </a:xfrm>
          <a:custGeom>
            <a:avLst/>
            <a:gdLst/>
            <a:ahLst/>
            <a:cxnLst/>
            <a:rect l="l" t="t" r="r" b="b"/>
            <a:pathLst>
              <a:path w="1160145" h="252730">
                <a:moveTo>
                  <a:pt x="25146" y="11417"/>
                </a:moveTo>
                <a:lnTo>
                  <a:pt x="0" y="11417"/>
                </a:lnTo>
                <a:lnTo>
                  <a:pt x="0" y="240017"/>
                </a:lnTo>
                <a:lnTo>
                  <a:pt x="25146" y="240017"/>
                </a:lnTo>
                <a:lnTo>
                  <a:pt x="25146" y="11417"/>
                </a:lnTo>
                <a:close/>
              </a:path>
              <a:path w="1160145" h="252730">
                <a:moveTo>
                  <a:pt x="1159738" y="23622"/>
                </a:moveTo>
                <a:lnTo>
                  <a:pt x="1151356" y="0"/>
                </a:lnTo>
                <a:lnTo>
                  <a:pt x="465556" y="228600"/>
                </a:lnTo>
                <a:lnTo>
                  <a:pt x="473938" y="252222"/>
                </a:lnTo>
                <a:lnTo>
                  <a:pt x="1159738" y="23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478149" y="1632204"/>
            <a:ext cx="20828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Verdana"/>
                <a:cs typeface="Verdana"/>
              </a:rPr>
              <a:t>Single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Processor </a:t>
            </a:r>
            <a:r>
              <a:rPr sz="1600" dirty="0">
                <a:latin typeface="Verdana"/>
                <a:cs typeface="Verdana"/>
              </a:rPr>
              <a:t>running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3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processes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68601" y="353714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71348" y="1684055"/>
            <a:ext cx="2902585" cy="67500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516255">
              <a:lnSpc>
                <a:spcPct val="100000"/>
              </a:lnSpc>
              <a:spcBef>
                <a:spcPts val="645"/>
              </a:spcBef>
              <a:tabLst>
                <a:tab pos="1583055" algn="l"/>
                <a:tab pos="2726055" algn="l"/>
              </a:tabLst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2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50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484"/>
              </a:spcBef>
            </a:pPr>
            <a:r>
              <a:rPr sz="1600" spc="-20" dirty="0">
                <a:solidFill>
                  <a:srgbClr val="D8D8EC"/>
                </a:solidFill>
                <a:latin typeface="Verdana"/>
                <a:cs typeface="Verdana"/>
              </a:rPr>
              <a:t>Read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58518" y="2546526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u=7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429139" y="2133345"/>
            <a:ext cx="152400" cy="533400"/>
          </a:xfrm>
          <a:custGeom>
            <a:avLst/>
            <a:gdLst/>
            <a:ahLst/>
            <a:cxnLst/>
            <a:rect l="l" t="t" r="r" b="b"/>
            <a:pathLst>
              <a:path w="152400" h="533400">
                <a:moveTo>
                  <a:pt x="152400" y="381000"/>
                </a:moveTo>
                <a:lnTo>
                  <a:pt x="0" y="381000"/>
                </a:lnTo>
                <a:lnTo>
                  <a:pt x="51053" y="483107"/>
                </a:lnTo>
                <a:lnTo>
                  <a:pt x="51053" y="406907"/>
                </a:lnTo>
                <a:lnTo>
                  <a:pt x="102107" y="406907"/>
                </a:lnTo>
                <a:lnTo>
                  <a:pt x="102107" y="481584"/>
                </a:lnTo>
                <a:lnTo>
                  <a:pt x="152400" y="381000"/>
                </a:lnTo>
                <a:close/>
              </a:path>
              <a:path w="152400" h="533400">
                <a:moveTo>
                  <a:pt x="102107" y="381000"/>
                </a:moveTo>
                <a:lnTo>
                  <a:pt x="102107" y="0"/>
                </a:lnTo>
                <a:lnTo>
                  <a:pt x="51053" y="0"/>
                </a:lnTo>
                <a:lnTo>
                  <a:pt x="51053" y="381000"/>
                </a:lnTo>
                <a:lnTo>
                  <a:pt x="102107" y="381000"/>
                </a:lnTo>
                <a:close/>
              </a:path>
              <a:path w="152400" h="533400">
                <a:moveTo>
                  <a:pt x="102107" y="481584"/>
                </a:moveTo>
                <a:lnTo>
                  <a:pt x="102107" y="406907"/>
                </a:lnTo>
                <a:lnTo>
                  <a:pt x="51053" y="406907"/>
                </a:lnTo>
                <a:lnTo>
                  <a:pt x="51053" y="483107"/>
                </a:lnTo>
                <a:lnTo>
                  <a:pt x="76200" y="533400"/>
                </a:lnTo>
                <a:lnTo>
                  <a:pt x="102107" y="481584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07347" y="1435353"/>
            <a:ext cx="3530600" cy="939800"/>
            <a:chOff x="2807347" y="1435353"/>
            <a:chExt cx="3530600" cy="939800"/>
          </a:xfrm>
        </p:grpSpPr>
        <p:sp>
          <p:nvSpPr>
            <p:cNvPr id="3" name="object 3"/>
            <p:cNvSpPr/>
            <p:nvPr/>
          </p:nvSpPr>
          <p:spPr>
            <a:xfrm>
              <a:off x="2819539" y="1447545"/>
              <a:ext cx="3505200" cy="914400"/>
            </a:xfrm>
            <a:custGeom>
              <a:avLst/>
              <a:gdLst/>
              <a:ahLst/>
              <a:cxnLst/>
              <a:rect l="l" t="t" r="r" b="b"/>
              <a:pathLst>
                <a:path w="3505200" h="914400">
                  <a:moveTo>
                    <a:pt x="3505199" y="914400"/>
                  </a:moveTo>
                  <a:lnTo>
                    <a:pt x="3505199" y="0"/>
                  </a:lnTo>
                  <a:lnTo>
                    <a:pt x="0" y="0"/>
                  </a:lnTo>
                  <a:lnTo>
                    <a:pt x="0" y="914400"/>
                  </a:lnTo>
                  <a:lnTo>
                    <a:pt x="3505199" y="91440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07347" y="1435353"/>
              <a:ext cx="3530600" cy="939800"/>
            </a:xfrm>
            <a:custGeom>
              <a:avLst/>
              <a:gdLst/>
              <a:ahLst/>
              <a:cxnLst/>
              <a:rect l="l" t="t" r="r" b="b"/>
              <a:pathLst>
                <a:path w="3530600" h="939800">
                  <a:moveTo>
                    <a:pt x="3530345" y="939545"/>
                  </a:moveTo>
                  <a:lnTo>
                    <a:pt x="3530345" y="0"/>
                  </a:lnTo>
                  <a:lnTo>
                    <a:pt x="0" y="0"/>
                  </a:lnTo>
                  <a:lnTo>
                    <a:pt x="0" y="939545"/>
                  </a:lnTo>
                  <a:lnTo>
                    <a:pt x="12192" y="939545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3505200" y="25145"/>
                  </a:lnTo>
                  <a:lnTo>
                    <a:pt x="3505200" y="12191"/>
                  </a:lnTo>
                  <a:lnTo>
                    <a:pt x="3517379" y="25145"/>
                  </a:lnTo>
                  <a:lnTo>
                    <a:pt x="3517379" y="939545"/>
                  </a:lnTo>
                  <a:lnTo>
                    <a:pt x="3530345" y="939545"/>
                  </a:lnTo>
                  <a:close/>
                </a:path>
                <a:path w="3530600" h="9398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3530600" h="939800">
                  <a:moveTo>
                    <a:pt x="25146" y="9144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914400"/>
                  </a:lnTo>
                  <a:lnTo>
                    <a:pt x="25146" y="914400"/>
                  </a:lnTo>
                  <a:close/>
                </a:path>
                <a:path w="3530600" h="939800">
                  <a:moveTo>
                    <a:pt x="3517379" y="914400"/>
                  </a:moveTo>
                  <a:lnTo>
                    <a:pt x="12192" y="914400"/>
                  </a:lnTo>
                  <a:lnTo>
                    <a:pt x="25146" y="926591"/>
                  </a:lnTo>
                  <a:lnTo>
                    <a:pt x="25146" y="939545"/>
                  </a:lnTo>
                  <a:lnTo>
                    <a:pt x="3505200" y="939545"/>
                  </a:lnTo>
                  <a:lnTo>
                    <a:pt x="3505200" y="926591"/>
                  </a:lnTo>
                  <a:lnTo>
                    <a:pt x="3517379" y="914400"/>
                  </a:lnTo>
                  <a:close/>
                </a:path>
                <a:path w="3530600" h="939800">
                  <a:moveTo>
                    <a:pt x="25146" y="939545"/>
                  </a:moveTo>
                  <a:lnTo>
                    <a:pt x="25146" y="926591"/>
                  </a:lnTo>
                  <a:lnTo>
                    <a:pt x="12192" y="914400"/>
                  </a:lnTo>
                  <a:lnTo>
                    <a:pt x="12192" y="939545"/>
                  </a:lnTo>
                  <a:lnTo>
                    <a:pt x="25146" y="939545"/>
                  </a:lnTo>
                  <a:close/>
                </a:path>
                <a:path w="3530600" h="939800">
                  <a:moveTo>
                    <a:pt x="3517379" y="25145"/>
                  </a:moveTo>
                  <a:lnTo>
                    <a:pt x="3505200" y="12191"/>
                  </a:lnTo>
                  <a:lnTo>
                    <a:pt x="3505200" y="25145"/>
                  </a:lnTo>
                  <a:lnTo>
                    <a:pt x="3517379" y="25145"/>
                  </a:lnTo>
                  <a:close/>
                </a:path>
                <a:path w="3530600" h="939800">
                  <a:moveTo>
                    <a:pt x="3517379" y="914400"/>
                  </a:moveTo>
                  <a:lnTo>
                    <a:pt x="3517379" y="25145"/>
                  </a:lnTo>
                  <a:lnTo>
                    <a:pt x="3505200" y="25145"/>
                  </a:lnTo>
                  <a:lnTo>
                    <a:pt x="3505200" y="914400"/>
                  </a:lnTo>
                  <a:lnTo>
                    <a:pt x="3517379" y="914400"/>
                  </a:lnTo>
                  <a:close/>
                </a:path>
                <a:path w="3530600" h="939800">
                  <a:moveTo>
                    <a:pt x="3517379" y="939545"/>
                  </a:moveTo>
                  <a:lnTo>
                    <a:pt x="3517379" y="914400"/>
                  </a:lnTo>
                  <a:lnTo>
                    <a:pt x="3505200" y="926591"/>
                  </a:lnTo>
                  <a:lnTo>
                    <a:pt x="3505200" y="939545"/>
                  </a:lnTo>
                  <a:lnTo>
                    <a:pt x="3517379" y="9395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243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121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(Uniprocessor)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6073" y="4156904"/>
            <a:ext cx="7352030" cy="143764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469265" indent="-456565" algn="just">
              <a:lnSpc>
                <a:spcPct val="100000"/>
              </a:lnSpc>
              <a:spcBef>
                <a:spcPts val="425"/>
              </a:spcBef>
              <a:buClr>
                <a:srgbClr val="330065"/>
              </a:buClr>
              <a:buSzPct val="69230"/>
              <a:buAutoNum type="arabicPeriod" startAt="5"/>
              <a:tabLst>
                <a:tab pos="469265" algn="l"/>
              </a:tabLst>
            </a:pPr>
            <a:r>
              <a:rPr sz="2600" dirty="0">
                <a:latin typeface="Arial MT"/>
                <a:cs typeface="Arial MT"/>
              </a:rPr>
              <a:t>P2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reads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location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from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main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memory</a:t>
            </a:r>
            <a:endParaRPr sz="2600">
              <a:latin typeface="Arial MT"/>
              <a:cs typeface="Arial MT"/>
            </a:endParaRPr>
          </a:p>
          <a:p>
            <a:pPr marL="850900" marR="5080" lvl="1" indent="-381000" algn="just">
              <a:lnSpc>
                <a:spcPts val="2380"/>
              </a:lnSpc>
              <a:spcBef>
                <a:spcPts val="575"/>
              </a:spcBef>
              <a:buClr>
                <a:srgbClr val="659A9A"/>
              </a:buClr>
              <a:buSzPct val="70454"/>
              <a:buFont typeface="Wingdings"/>
              <a:buChar char=""/>
              <a:tabLst>
                <a:tab pos="850900" algn="l"/>
              </a:tabLst>
            </a:pPr>
            <a:r>
              <a:rPr sz="2200" dirty="0">
                <a:latin typeface="Arial MT"/>
                <a:cs typeface="Arial MT"/>
              </a:rPr>
              <a:t>Since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cache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common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all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processes,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there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no </a:t>
            </a:r>
            <a:r>
              <a:rPr sz="2200" dirty="0">
                <a:latin typeface="Arial MT"/>
                <a:cs typeface="Arial MT"/>
              </a:rPr>
              <a:t>problem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though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main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memory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updated!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All </a:t>
            </a:r>
            <a:r>
              <a:rPr sz="2200" dirty="0">
                <a:latin typeface="Arial MT"/>
                <a:cs typeface="Arial MT"/>
              </a:rPr>
              <a:t>processes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have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same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view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cache!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132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178947" y="1511553"/>
            <a:ext cx="787400" cy="786765"/>
            <a:chOff x="4178947" y="1511553"/>
            <a:chExt cx="787400" cy="786765"/>
          </a:xfrm>
        </p:grpSpPr>
        <p:sp>
          <p:nvSpPr>
            <p:cNvPr id="11" name="object 11"/>
            <p:cNvSpPr/>
            <p:nvPr/>
          </p:nvSpPr>
          <p:spPr>
            <a:xfrm>
              <a:off x="41911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789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75285" y="1753361"/>
            <a:ext cx="1230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865" algn="l"/>
              </a:tabLst>
            </a:pPr>
            <a:r>
              <a:rPr sz="1800" spc="-5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50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800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2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654947" y="2502154"/>
            <a:ext cx="3759200" cy="1397000"/>
            <a:chOff x="2654947" y="2502154"/>
            <a:chExt cx="3759200" cy="1397000"/>
          </a:xfrm>
        </p:grpSpPr>
        <p:sp>
          <p:nvSpPr>
            <p:cNvPr id="16" name="object 16"/>
            <p:cNvSpPr/>
            <p:nvPr/>
          </p:nvSpPr>
          <p:spPr>
            <a:xfrm>
              <a:off x="2667139" y="2514346"/>
              <a:ext cx="3733800" cy="381000"/>
            </a:xfrm>
            <a:custGeom>
              <a:avLst/>
              <a:gdLst/>
              <a:ahLst/>
              <a:cxnLst/>
              <a:rect l="l" t="t" r="r" b="b"/>
              <a:pathLst>
                <a:path w="3733800" h="381000">
                  <a:moveTo>
                    <a:pt x="3733799" y="381000"/>
                  </a:moveTo>
                  <a:lnTo>
                    <a:pt x="3733799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3733799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54947" y="2502154"/>
              <a:ext cx="3759200" cy="406400"/>
            </a:xfrm>
            <a:custGeom>
              <a:avLst/>
              <a:gdLst/>
              <a:ahLst/>
              <a:cxnLst/>
              <a:rect l="l" t="t" r="r" b="b"/>
              <a:pathLst>
                <a:path w="3759200" h="406400">
                  <a:moveTo>
                    <a:pt x="3758945" y="406145"/>
                  </a:moveTo>
                  <a:lnTo>
                    <a:pt x="37589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3733800" y="25145"/>
                  </a:lnTo>
                  <a:lnTo>
                    <a:pt x="3733800" y="12191"/>
                  </a:lnTo>
                  <a:lnTo>
                    <a:pt x="3745979" y="25145"/>
                  </a:lnTo>
                  <a:lnTo>
                    <a:pt x="3745979" y="406145"/>
                  </a:lnTo>
                  <a:lnTo>
                    <a:pt x="3758945" y="406145"/>
                  </a:lnTo>
                  <a:close/>
                </a:path>
                <a:path w="37592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37592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3759200" h="406400">
                  <a:moveTo>
                    <a:pt x="3745979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3733800" y="406145"/>
                  </a:lnTo>
                  <a:lnTo>
                    <a:pt x="3733800" y="393191"/>
                  </a:lnTo>
                  <a:lnTo>
                    <a:pt x="3745979" y="381000"/>
                  </a:lnTo>
                  <a:close/>
                </a:path>
                <a:path w="37592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3759200" h="406400">
                  <a:moveTo>
                    <a:pt x="3745979" y="25145"/>
                  </a:moveTo>
                  <a:lnTo>
                    <a:pt x="3733800" y="12191"/>
                  </a:lnTo>
                  <a:lnTo>
                    <a:pt x="3733800" y="25145"/>
                  </a:lnTo>
                  <a:lnTo>
                    <a:pt x="3745979" y="25145"/>
                  </a:lnTo>
                  <a:close/>
                </a:path>
                <a:path w="3759200" h="406400">
                  <a:moveTo>
                    <a:pt x="3745979" y="381000"/>
                  </a:moveTo>
                  <a:lnTo>
                    <a:pt x="3745979" y="25145"/>
                  </a:lnTo>
                  <a:lnTo>
                    <a:pt x="3733800" y="25145"/>
                  </a:lnTo>
                  <a:lnTo>
                    <a:pt x="3733800" y="381000"/>
                  </a:lnTo>
                  <a:lnTo>
                    <a:pt x="3745979" y="381000"/>
                  </a:lnTo>
                  <a:close/>
                </a:path>
                <a:path w="3759200" h="406400">
                  <a:moveTo>
                    <a:pt x="3745979" y="406145"/>
                  </a:moveTo>
                  <a:lnTo>
                    <a:pt x="3745979" y="381000"/>
                  </a:lnTo>
                  <a:lnTo>
                    <a:pt x="3733800" y="393191"/>
                  </a:lnTo>
                  <a:lnTo>
                    <a:pt x="3733800" y="406145"/>
                  </a:lnTo>
                  <a:lnTo>
                    <a:pt x="3745979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76739" y="3504946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64547" y="3492754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79" y="25146"/>
                  </a:lnTo>
                  <a:lnTo>
                    <a:pt x="2374379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79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79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79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79" y="25146"/>
                  </a:lnTo>
                  <a:close/>
                </a:path>
                <a:path w="2387600" h="406400">
                  <a:moveTo>
                    <a:pt x="2374379" y="381000"/>
                  </a:moveTo>
                  <a:lnTo>
                    <a:pt x="2374379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79" y="381000"/>
                  </a:lnTo>
                  <a:close/>
                </a:path>
                <a:path w="2387600" h="406400">
                  <a:moveTo>
                    <a:pt x="2374379" y="406146"/>
                  </a:moveTo>
                  <a:lnTo>
                    <a:pt x="2374379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79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675513" y="35440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819539" y="1511553"/>
            <a:ext cx="3810000" cy="1993900"/>
            <a:chOff x="2819539" y="1511553"/>
            <a:chExt cx="3810000" cy="1993900"/>
          </a:xfrm>
        </p:grpSpPr>
        <p:sp>
          <p:nvSpPr>
            <p:cNvPr id="22" name="object 22"/>
            <p:cNvSpPr/>
            <p:nvPr/>
          </p:nvSpPr>
          <p:spPr>
            <a:xfrm>
              <a:off x="2819539" y="2274328"/>
              <a:ext cx="3810000" cy="1230630"/>
            </a:xfrm>
            <a:custGeom>
              <a:avLst/>
              <a:gdLst/>
              <a:ahLst/>
              <a:cxnLst/>
              <a:rect l="l" t="t" r="r" b="b"/>
              <a:pathLst>
                <a:path w="3810000" h="1230629">
                  <a:moveTo>
                    <a:pt x="1224521" y="228600"/>
                  </a:moveTo>
                  <a:lnTo>
                    <a:pt x="691121" y="0"/>
                  </a:lnTo>
                  <a:lnTo>
                    <a:pt x="681215" y="23622"/>
                  </a:lnTo>
                  <a:lnTo>
                    <a:pt x="1214615" y="252222"/>
                  </a:lnTo>
                  <a:lnTo>
                    <a:pt x="1224521" y="228600"/>
                  </a:lnTo>
                  <a:close/>
                </a:path>
                <a:path w="3810000" h="1230629">
                  <a:moveTo>
                    <a:pt x="3810000" y="887717"/>
                  </a:moveTo>
                  <a:lnTo>
                    <a:pt x="1613154" y="887717"/>
                  </a:lnTo>
                  <a:lnTo>
                    <a:pt x="1613154" y="621017"/>
                  </a:lnTo>
                  <a:lnTo>
                    <a:pt x="1588008" y="621017"/>
                  </a:lnTo>
                  <a:lnTo>
                    <a:pt x="1588008" y="887717"/>
                  </a:lnTo>
                  <a:lnTo>
                    <a:pt x="0" y="887717"/>
                  </a:lnTo>
                  <a:lnTo>
                    <a:pt x="0" y="963917"/>
                  </a:lnTo>
                  <a:lnTo>
                    <a:pt x="1588008" y="963917"/>
                  </a:lnTo>
                  <a:lnTo>
                    <a:pt x="1588008" y="1230617"/>
                  </a:lnTo>
                  <a:lnTo>
                    <a:pt x="1613154" y="1230617"/>
                  </a:lnTo>
                  <a:lnTo>
                    <a:pt x="1613154" y="963917"/>
                  </a:lnTo>
                  <a:lnTo>
                    <a:pt x="3810000" y="963917"/>
                  </a:lnTo>
                  <a:lnTo>
                    <a:pt x="3810000" y="8877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341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66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219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887349" y="2851404"/>
            <a:ext cx="4000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85085" y="1753361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23007" y="1885950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559948" y="2274328"/>
            <a:ext cx="1160145" cy="252729"/>
          </a:xfrm>
          <a:custGeom>
            <a:avLst/>
            <a:gdLst/>
            <a:ahLst/>
            <a:cxnLst/>
            <a:rect l="l" t="t" r="r" b="b"/>
            <a:pathLst>
              <a:path w="1160145" h="252730">
                <a:moveTo>
                  <a:pt x="25146" y="11417"/>
                </a:moveTo>
                <a:lnTo>
                  <a:pt x="0" y="11417"/>
                </a:lnTo>
                <a:lnTo>
                  <a:pt x="0" y="240017"/>
                </a:lnTo>
                <a:lnTo>
                  <a:pt x="25146" y="240017"/>
                </a:lnTo>
                <a:lnTo>
                  <a:pt x="25146" y="11417"/>
                </a:lnTo>
                <a:close/>
              </a:path>
              <a:path w="1160145" h="252730">
                <a:moveTo>
                  <a:pt x="1159738" y="23622"/>
                </a:moveTo>
                <a:lnTo>
                  <a:pt x="1151356" y="0"/>
                </a:lnTo>
                <a:lnTo>
                  <a:pt x="465556" y="228600"/>
                </a:lnTo>
                <a:lnTo>
                  <a:pt x="473938" y="252222"/>
                </a:lnTo>
                <a:lnTo>
                  <a:pt x="1159738" y="236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478149" y="1632204"/>
            <a:ext cx="20828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Verdana"/>
                <a:cs typeface="Verdana"/>
              </a:rPr>
              <a:t>Single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Processor </a:t>
            </a:r>
            <a:r>
              <a:rPr sz="1600" dirty="0">
                <a:latin typeface="Verdana"/>
                <a:cs typeface="Verdana"/>
              </a:rPr>
              <a:t>running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3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processes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868601" y="353714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811070" y="2037421"/>
            <a:ext cx="1083945" cy="81597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600" spc="-20" dirty="0">
                <a:solidFill>
                  <a:srgbClr val="D8D8EC"/>
                </a:solidFill>
                <a:latin typeface="Verdana"/>
                <a:cs typeface="Verdana"/>
              </a:rPr>
              <a:t>Read</a:t>
            </a:r>
            <a:endParaRPr sz="1600">
              <a:latin typeface="Verdana"/>
              <a:cs typeface="Verdana"/>
            </a:endParaRPr>
          </a:p>
          <a:p>
            <a:pPr marL="374650">
              <a:lnSpc>
                <a:spcPct val="100000"/>
              </a:lnSpc>
              <a:spcBef>
                <a:spcPts val="113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58518" y="2546526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u=7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495939" y="2133345"/>
            <a:ext cx="152400" cy="533400"/>
          </a:xfrm>
          <a:custGeom>
            <a:avLst/>
            <a:gdLst/>
            <a:ahLst/>
            <a:cxnLst/>
            <a:rect l="l" t="t" r="r" b="b"/>
            <a:pathLst>
              <a:path w="152400" h="533400">
                <a:moveTo>
                  <a:pt x="152400" y="381000"/>
                </a:moveTo>
                <a:lnTo>
                  <a:pt x="0" y="381000"/>
                </a:lnTo>
                <a:lnTo>
                  <a:pt x="51053" y="483107"/>
                </a:lnTo>
                <a:lnTo>
                  <a:pt x="51053" y="406907"/>
                </a:lnTo>
                <a:lnTo>
                  <a:pt x="102107" y="406907"/>
                </a:lnTo>
                <a:lnTo>
                  <a:pt x="102107" y="481584"/>
                </a:lnTo>
                <a:lnTo>
                  <a:pt x="152400" y="381000"/>
                </a:lnTo>
                <a:close/>
              </a:path>
              <a:path w="152400" h="533400">
                <a:moveTo>
                  <a:pt x="102107" y="381000"/>
                </a:moveTo>
                <a:lnTo>
                  <a:pt x="102107" y="0"/>
                </a:lnTo>
                <a:lnTo>
                  <a:pt x="51053" y="0"/>
                </a:lnTo>
                <a:lnTo>
                  <a:pt x="51053" y="381000"/>
                </a:lnTo>
                <a:lnTo>
                  <a:pt x="102107" y="381000"/>
                </a:lnTo>
                <a:close/>
              </a:path>
              <a:path w="152400" h="533400">
                <a:moveTo>
                  <a:pt x="102107" y="481584"/>
                </a:moveTo>
                <a:lnTo>
                  <a:pt x="102107" y="406907"/>
                </a:lnTo>
                <a:lnTo>
                  <a:pt x="51053" y="406907"/>
                </a:lnTo>
                <a:lnTo>
                  <a:pt x="51053" y="483107"/>
                </a:lnTo>
                <a:lnTo>
                  <a:pt x="76200" y="533400"/>
                </a:lnTo>
                <a:lnTo>
                  <a:pt x="102107" y="481584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(Uniprocessor)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1741170"/>
            <a:ext cx="7832090" cy="3317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88265" indent="-342900">
              <a:lnSpc>
                <a:spcPct val="100000"/>
              </a:lnSpc>
              <a:spcBef>
                <a:spcPts val="10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4965" algn="l"/>
              </a:tabLst>
            </a:pPr>
            <a:r>
              <a:rPr sz="3000" dirty="0">
                <a:latin typeface="Arial MT"/>
                <a:cs typeface="Arial MT"/>
              </a:rPr>
              <a:t>If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only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uniprocessor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involved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there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is</a:t>
            </a:r>
            <a:r>
              <a:rPr sz="3000" spc="-25" dirty="0">
                <a:latin typeface="Arial MT"/>
                <a:cs typeface="Arial MT"/>
              </a:rPr>
              <a:t> no </a:t>
            </a:r>
            <a:r>
              <a:rPr sz="3000" dirty="0">
                <a:latin typeface="Arial MT"/>
                <a:cs typeface="Arial MT"/>
              </a:rPr>
              <a:t>cache</a:t>
            </a:r>
            <a:r>
              <a:rPr sz="3000" spc="-5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coherence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problem!</a:t>
            </a:r>
            <a:endParaRPr sz="30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72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5600" algn="l"/>
              </a:tabLst>
            </a:pPr>
            <a:r>
              <a:rPr sz="3000" dirty="0">
                <a:latin typeface="Arial MT"/>
                <a:cs typeface="Arial MT"/>
              </a:rPr>
              <a:t>However,</a:t>
            </a:r>
            <a:r>
              <a:rPr sz="3000" spc="-5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if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another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device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on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bus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spc="-25" dirty="0">
                <a:latin typeface="Arial MT"/>
                <a:cs typeface="Arial MT"/>
              </a:rPr>
              <a:t>is </a:t>
            </a:r>
            <a:r>
              <a:rPr sz="3000" dirty="0">
                <a:latin typeface="Arial MT"/>
                <a:cs typeface="Arial MT"/>
              </a:rPr>
              <a:t>involved</a:t>
            </a:r>
            <a:r>
              <a:rPr sz="3000" spc="-5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that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has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direct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memory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access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(like </a:t>
            </a:r>
            <a:r>
              <a:rPr sz="3000" dirty="0">
                <a:latin typeface="Arial MT"/>
                <a:cs typeface="Arial MT"/>
              </a:rPr>
              <a:t>a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DMA),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cache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may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not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represent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spc="-25" dirty="0">
                <a:latin typeface="Arial MT"/>
                <a:cs typeface="Arial MT"/>
              </a:rPr>
              <a:t>the </a:t>
            </a:r>
            <a:r>
              <a:rPr sz="3000" dirty="0">
                <a:latin typeface="Arial MT"/>
                <a:cs typeface="Arial MT"/>
              </a:rPr>
              <a:t>contents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of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memory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and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10" dirty="0">
                <a:latin typeface="Arial MT"/>
                <a:cs typeface="Arial MT"/>
              </a:rPr>
              <a:t> cache </a:t>
            </a:r>
            <a:r>
              <a:rPr sz="3000" dirty="0">
                <a:latin typeface="Arial MT"/>
                <a:cs typeface="Arial MT"/>
              </a:rPr>
              <a:t>coherence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problem</a:t>
            </a:r>
            <a:r>
              <a:rPr sz="3000" spc="-5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can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occur!</a:t>
            </a:r>
            <a:endParaRPr sz="3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54947" y="1511553"/>
            <a:ext cx="2616200" cy="1397000"/>
            <a:chOff x="2654947" y="1511553"/>
            <a:chExt cx="2616200" cy="1397000"/>
          </a:xfrm>
        </p:grpSpPr>
        <p:sp>
          <p:nvSpPr>
            <p:cNvPr id="4" name="object 4"/>
            <p:cNvSpPr/>
            <p:nvPr/>
          </p:nvSpPr>
          <p:spPr>
            <a:xfrm>
              <a:off x="28195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073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959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837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67139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54947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6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6"/>
                  </a:lnTo>
                  <a:lnTo>
                    <a:pt x="10027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8014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959747" y="2285745"/>
            <a:ext cx="2463800" cy="1689735"/>
            <a:chOff x="2959747" y="2285745"/>
            <a:chExt cx="2463800" cy="1689735"/>
          </a:xfrm>
        </p:grpSpPr>
        <p:sp>
          <p:nvSpPr>
            <p:cNvPr id="12" name="object 12"/>
            <p:cNvSpPr/>
            <p:nvPr/>
          </p:nvSpPr>
          <p:spPr>
            <a:xfrm>
              <a:off x="2971939" y="35811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959747" y="2285745"/>
              <a:ext cx="2387600" cy="1689735"/>
            </a:xfrm>
            <a:custGeom>
              <a:avLst/>
              <a:gdLst/>
              <a:ahLst/>
              <a:cxnLst/>
              <a:rect l="l" t="t" r="r" b="b"/>
              <a:pathLst>
                <a:path w="2387600" h="1689735">
                  <a:moveTo>
                    <a:pt x="253746" y="609600"/>
                  </a:moveTo>
                  <a:lnTo>
                    <a:pt x="228600" y="609600"/>
                  </a:lnTo>
                  <a:lnTo>
                    <a:pt x="228600" y="914400"/>
                  </a:lnTo>
                  <a:lnTo>
                    <a:pt x="253746" y="914400"/>
                  </a:lnTo>
                  <a:lnTo>
                    <a:pt x="253746" y="609600"/>
                  </a:lnTo>
                  <a:close/>
                </a:path>
                <a:path w="2387600" h="1689735">
                  <a:moveTo>
                    <a:pt x="253746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253746" y="228600"/>
                  </a:lnTo>
                  <a:lnTo>
                    <a:pt x="253746" y="0"/>
                  </a:lnTo>
                  <a:close/>
                </a:path>
                <a:path w="2387600" h="1689735">
                  <a:moveTo>
                    <a:pt x="1930146" y="609600"/>
                  </a:moveTo>
                  <a:lnTo>
                    <a:pt x="1905000" y="609600"/>
                  </a:lnTo>
                  <a:lnTo>
                    <a:pt x="1905000" y="914400"/>
                  </a:lnTo>
                  <a:lnTo>
                    <a:pt x="1930146" y="914400"/>
                  </a:lnTo>
                  <a:lnTo>
                    <a:pt x="1930146" y="609600"/>
                  </a:lnTo>
                  <a:close/>
                </a:path>
                <a:path w="2387600" h="1689735">
                  <a:moveTo>
                    <a:pt x="1930146" y="0"/>
                  </a:moveTo>
                  <a:lnTo>
                    <a:pt x="1905000" y="0"/>
                  </a:lnTo>
                  <a:lnTo>
                    <a:pt x="1905000" y="228600"/>
                  </a:lnTo>
                  <a:lnTo>
                    <a:pt x="1930146" y="228600"/>
                  </a:lnTo>
                  <a:lnTo>
                    <a:pt x="1930146" y="0"/>
                  </a:lnTo>
                  <a:close/>
                </a:path>
                <a:path w="2387600" h="1689735">
                  <a:moveTo>
                    <a:pt x="2387333" y="1283208"/>
                  </a:moveTo>
                  <a:lnTo>
                    <a:pt x="2362200" y="1283208"/>
                  </a:lnTo>
                  <a:lnTo>
                    <a:pt x="2362200" y="1308354"/>
                  </a:lnTo>
                  <a:lnTo>
                    <a:pt x="2362200" y="1664208"/>
                  </a:lnTo>
                  <a:lnTo>
                    <a:pt x="25146" y="1664208"/>
                  </a:lnTo>
                  <a:lnTo>
                    <a:pt x="25146" y="1308354"/>
                  </a:lnTo>
                  <a:lnTo>
                    <a:pt x="2362200" y="1308354"/>
                  </a:lnTo>
                  <a:lnTo>
                    <a:pt x="2362200" y="1283208"/>
                  </a:lnTo>
                  <a:lnTo>
                    <a:pt x="0" y="1283208"/>
                  </a:lnTo>
                  <a:lnTo>
                    <a:pt x="0" y="1689354"/>
                  </a:lnTo>
                  <a:lnTo>
                    <a:pt x="12192" y="1689354"/>
                  </a:lnTo>
                  <a:lnTo>
                    <a:pt x="25146" y="1689354"/>
                  </a:lnTo>
                  <a:lnTo>
                    <a:pt x="2362200" y="1689354"/>
                  </a:lnTo>
                  <a:lnTo>
                    <a:pt x="2374392" y="1689354"/>
                  </a:lnTo>
                  <a:lnTo>
                    <a:pt x="2387333" y="1689354"/>
                  </a:lnTo>
                  <a:lnTo>
                    <a:pt x="2387333" y="12832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19739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07547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5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5540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819539" y="3162045"/>
            <a:ext cx="3810000" cy="419100"/>
          </a:xfrm>
          <a:custGeom>
            <a:avLst/>
            <a:gdLst/>
            <a:ahLst/>
            <a:cxnLst/>
            <a:rect l="l" t="t" r="r" b="b"/>
            <a:pathLst>
              <a:path w="3810000" h="419100">
                <a:moveTo>
                  <a:pt x="3810000" y="0"/>
                </a:moveTo>
                <a:lnTo>
                  <a:pt x="0" y="0"/>
                </a:lnTo>
                <a:lnTo>
                  <a:pt x="0" y="76200"/>
                </a:lnTo>
                <a:lnTo>
                  <a:pt x="1283208" y="76200"/>
                </a:lnTo>
                <a:lnTo>
                  <a:pt x="1283208" y="419100"/>
                </a:lnTo>
                <a:lnTo>
                  <a:pt x="1308354" y="419100"/>
                </a:lnTo>
                <a:lnTo>
                  <a:pt x="1308354" y="76200"/>
                </a:lnTo>
                <a:lnTo>
                  <a:pt x="3810000" y="76200"/>
                </a:lnTo>
                <a:lnTo>
                  <a:pt x="3810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36073" y="2851404"/>
            <a:ext cx="6451600" cy="3191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0240" algn="ctr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600">
              <a:latin typeface="Verdana"/>
              <a:cs typeface="Verdana"/>
            </a:endParaRPr>
          </a:p>
          <a:p>
            <a:pPr marL="284734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8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buClr>
                <a:srgbClr val="330065"/>
              </a:buClr>
              <a:buSzPct val="70454"/>
              <a:buAutoNum type="arabicPeriod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P1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reads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location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(value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5)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main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memory</a:t>
            </a:r>
            <a:endParaRPr sz="22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265"/>
              </a:spcBef>
              <a:buClr>
                <a:srgbClr val="330065"/>
              </a:buClr>
              <a:buSzPct val="70454"/>
              <a:buAutoNum type="arabicPeriod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P3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reads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location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main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memory</a:t>
            </a:r>
            <a:endParaRPr sz="22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265"/>
              </a:spcBef>
              <a:buClr>
                <a:srgbClr val="330065"/>
              </a:buClr>
              <a:buSzPct val="70454"/>
              <a:buAutoNum type="arabicPeriod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P3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writes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u,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changing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value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7</a:t>
            </a:r>
            <a:endParaRPr sz="22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265"/>
              </a:spcBef>
              <a:buClr>
                <a:srgbClr val="330065"/>
              </a:buClr>
              <a:buSzPct val="70454"/>
              <a:buAutoNum type="arabicPeriod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P1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reads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value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again</a:t>
            </a:r>
            <a:endParaRPr sz="22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265"/>
              </a:spcBef>
              <a:buClr>
                <a:srgbClr val="330065"/>
              </a:buClr>
              <a:buSzPct val="70454"/>
              <a:buAutoNum type="arabicPeriod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P2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reads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location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main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memory</a:t>
            </a:r>
            <a:endParaRPr sz="22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855335" y="1511553"/>
            <a:ext cx="787400" cy="786765"/>
            <a:chOff x="5855335" y="1511553"/>
            <a:chExt cx="787400" cy="786765"/>
          </a:xfrm>
        </p:grpSpPr>
        <p:sp>
          <p:nvSpPr>
            <p:cNvPr id="20" name="object 20"/>
            <p:cNvSpPr/>
            <p:nvPr/>
          </p:nvSpPr>
          <p:spPr>
            <a:xfrm>
              <a:off x="5867527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55335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057785" y="1753361"/>
            <a:ext cx="3333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701164" algn="l"/>
                <a:tab pos="3072765" algn="l"/>
              </a:tabLst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2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3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779134" y="2285745"/>
            <a:ext cx="1016000" cy="914400"/>
            <a:chOff x="5779134" y="2285745"/>
            <a:chExt cx="1016000" cy="914400"/>
          </a:xfrm>
        </p:grpSpPr>
        <p:sp>
          <p:nvSpPr>
            <p:cNvPr id="24" name="object 24"/>
            <p:cNvSpPr/>
            <p:nvPr/>
          </p:nvSpPr>
          <p:spPr>
            <a:xfrm>
              <a:off x="6236347" y="2285745"/>
              <a:ext cx="25400" cy="914400"/>
            </a:xfrm>
            <a:custGeom>
              <a:avLst/>
              <a:gdLst/>
              <a:ahLst/>
              <a:cxnLst/>
              <a:rect l="l" t="t" r="r" b="b"/>
              <a:pathLst>
                <a:path w="254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254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91326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79134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5"/>
                  </a:lnTo>
                  <a:lnTo>
                    <a:pt x="12192" y="406145"/>
                  </a:lnTo>
                  <a:lnTo>
                    <a:pt x="12192" y="25145"/>
                  </a:lnTo>
                  <a:lnTo>
                    <a:pt x="25158" y="12191"/>
                  </a:lnTo>
                  <a:lnTo>
                    <a:pt x="25158" y="25145"/>
                  </a:lnTo>
                  <a:lnTo>
                    <a:pt x="990612" y="25145"/>
                  </a:lnTo>
                  <a:lnTo>
                    <a:pt x="990612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58" y="25145"/>
                  </a:moveTo>
                  <a:lnTo>
                    <a:pt x="25158" y="12191"/>
                  </a:lnTo>
                  <a:lnTo>
                    <a:pt x="12192" y="25145"/>
                  </a:lnTo>
                  <a:lnTo>
                    <a:pt x="25158" y="25145"/>
                  </a:lnTo>
                  <a:close/>
                </a:path>
                <a:path w="1016000" h="406400">
                  <a:moveTo>
                    <a:pt x="25158" y="381000"/>
                  </a:moveTo>
                  <a:lnTo>
                    <a:pt x="25158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58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58" y="393191"/>
                  </a:lnTo>
                  <a:lnTo>
                    <a:pt x="25158" y="406145"/>
                  </a:lnTo>
                  <a:lnTo>
                    <a:pt x="990612" y="406145"/>
                  </a:lnTo>
                  <a:lnTo>
                    <a:pt x="990612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58" y="406145"/>
                  </a:moveTo>
                  <a:lnTo>
                    <a:pt x="25158" y="393191"/>
                  </a:lnTo>
                  <a:lnTo>
                    <a:pt x="12192" y="381000"/>
                  </a:lnTo>
                  <a:lnTo>
                    <a:pt x="12192" y="406145"/>
                  </a:lnTo>
                  <a:lnTo>
                    <a:pt x="25158" y="406145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12" y="12191"/>
                  </a:lnTo>
                  <a:lnTo>
                    <a:pt x="990612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12" y="25145"/>
                  </a:lnTo>
                  <a:lnTo>
                    <a:pt x="990612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12" y="393191"/>
                  </a:lnTo>
                  <a:lnTo>
                    <a:pt x="990612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9256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</a:t>
            </a:r>
            <a:r>
              <a:rPr spc="-25" dirty="0"/>
              <a:t>(Write-</a:t>
            </a:r>
            <a:r>
              <a:rPr dirty="0"/>
              <a:t>Through</a:t>
            </a:r>
            <a:r>
              <a:rPr spc="-85" dirty="0"/>
              <a:t> </a:t>
            </a:r>
            <a:r>
              <a:rPr spc="-10" dirty="0"/>
              <a:t>Cache)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4236720"/>
            <a:ext cx="7121525" cy="1416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Clr>
                <a:srgbClr val="330065"/>
              </a:buClr>
              <a:buSzPct val="70000"/>
              <a:buAutoNum type="arabicPeriod"/>
              <a:tabLst>
                <a:tab pos="469900" algn="l"/>
              </a:tabLst>
            </a:pPr>
            <a:r>
              <a:rPr sz="3000" dirty="0">
                <a:latin typeface="Arial MT"/>
                <a:cs typeface="Arial MT"/>
              </a:rPr>
              <a:t>P1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reads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location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u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(value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5)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from</a:t>
            </a:r>
            <a:r>
              <a:rPr sz="3000" spc="-20" dirty="0">
                <a:latin typeface="Arial MT"/>
                <a:cs typeface="Arial MT"/>
              </a:rPr>
              <a:t> main </a:t>
            </a:r>
            <a:r>
              <a:rPr sz="3000" spc="-10" dirty="0">
                <a:latin typeface="Arial MT"/>
                <a:cs typeface="Arial MT"/>
              </a:rPr>
              <a:t>memory</a:t>
            </a:r>
            <a:endParaRPr sz="3000">
              <a:latin typeface="Arial MT"/>
              <a:cs typeface="Arial MT"/>
            </a:endParaRPr>
          </a:p>
          <a:p>
            <a:pPr marL="850265" lvl="1" indent="-380365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850265" algn="l"/>
              </a:tabLst>
            </a:pPr>
            <a:r>
              <a:rPr sz="2600" dirty="0">
                <a:latin typeface="Arial MT"/>
                <a:cs typeface="Arial MT"/>
              </a:rPr>
              <a:t>P1’s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updated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(u=5)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54947" y="1511553"/>
            <a:ext cx="2616200" cy="1397000"/>
            <a:chOff x="2654947" y="1511553"/>
            <a:chExt cx="2616200" cy="1397000"/>
          </a:xfrm>
        </p:grpSpPr>
        <p:sp>
          <p:nvSpPr>
            <p:cNvPr id="5" name="object 5"/>
            <p:cNvSpPr/>
            <p:nvPr/>
          </p:nvSpPr>
          <p:spPr>
            <a:xfrm>
              <a:off x="28195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073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59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837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67139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54947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6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6"/>
                  </a:lnTo>
                  <a:lnTo>
                    <a:pt x="10027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014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59747" y="3568953"/>
            <a:ext cx="2387600" cy="406400"/>
            <a:chOff x="2959747" y="3568953"/>
            <a:chExt cx="2387600" cy="406400"/>
          </a:xfrm>
        </p:grpSpPr>
        <p:sp>
          <p:nvSpPr>
            <p:cNvPr id="13" name="object 13"/>
            <p:cNvSpPr/>
            <p:nvPr/>
          </p:nvSpPr>
          <p:spPr>
            <a:xfrm>
              <a:off x="2971939" y="35811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59747" y="3568953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92" y="25146"/>
                  </a:lnTo>
                  <a:lnTo>
                    <a:pt x="2374392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92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92" y="25146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2374392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374392" y="406146"/>
                  </a:moveTo>
                  <a:lnTo>
                    <a:pt x="2374392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70713" y="36202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88347" y="2285745"/>
            <a:ext cx="2235200" cy="914400"/>
            <a:chOff x="3188347" y="2285745"/>
            <a:chExt cx="2235200" cy="914400"/>
          </a:xfrm>
        </p:grpSpPr>
        <p:sp>
          <p:nvSpPr>
            <p:cNvPr id="17" name="object 17"/>
            <p:cNvSpPr/>
            <p:nvPr/>
          </p:nvSpPr>
          <p:spPr>
            <a:xfrm>
              <a:off x="3188347" y="2285745"/>
              <a:ext cx="1701800" cy="914400"/>
            </a:xfrm>
            <a:custGeom>
              <a:avLst/>
              <a:gdLst/>
              <a:ahLst/>
              <a:cxnLst/>
              <a:rect l="l" t="t" r="r" b="b"/>
              <a:pathLst>
                <a:path w="17018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17018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  <a:path w="1701800" h="914400">
                  <a:moveTo>
                    <a:pt x="1701546" y="609600"/>
                  </a:moveTo>
                  <a:lnTo>
                    <a:pt x="1676400" y="609600"/>
                  </a:lnTo>
                  <a:lnTo>
                    <a:pt x="1676400" y="914400"/>
                  </a:lnTo>
                  <a:lnTo>
                    <a:pt x="1701546" y="914400"/>
                  </a:lnTo>
                  <a:lnTo>
                    <a:pt x="1701546" y="609600"/>
                  </a:lnTo>
                  <a:close/>
                </a:path>
                <a:path w="1701800" h="914400">
                  <a:moveTo>
                    <a:pt x="1701546" y="0"/>
                  </a:moveTo>
                  <a:lnTo>
                    <a:pt x="1676400" y="0"/>
                  </a:lnTo>
                  <a:lnTo>
                    <a:pt x="1676400" y="228600"/>
                  </a:lnTo>
                  <a:lnTo>
                    <a:pt x="1701546" y="228600"/>
                  </a:lnTo>
                  <a:lnTo>
                    <a:pt x="17015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19739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07547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5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5540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819539" y="1511553"/>
            <a:ext cx="3823335" cy="2070100"/>
            <a:chOff x="2819539" y="1511553"/>
            <a:chExt cx="3823335" cy="2070100"/>
          </a:xfrm>
        </p:grpSpPr>
        <p:sp>
          <p:nvSpPr>
            <p:cNvPr id="22" name="object 22"/>
            <p:cNvSpPr/>
            <p:nvPr/>
          </p:nvSpPr>
          <p:spPr>
            <a:xfrm>
              <a:off x="2819539" y="3162045"/>
              <a:ext cx="3810000" cy="419100"/>
            </a:xfrm>
            <a:custGeom>
              <a:avLst/>
              <a:gdLst/>
              <a:ahLst/>
              <a:cxnLst/>
              <a:rect l="l" t="t" r="r" b="b"/>
              <a:pathLst>
                <a:path w="3810000" h="419100">
                  <a:moveTo>
                    <a:pt x="3810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1283208" y="76200"/>
                  </a:lnTo>
                  <a:lnTo>
                    <a:pt x="1283208" y="419100"/>
                  </a:lnTo>
                  <a:lnTo>
                    <a:pt x="1308354" y="419100"/>
                  </a:lnTo>
                  <a:lnTo>
                    <a:pt x="1308354" y="76200"/>
                  </a:lnTo>
                  <a:lnTo>
                    <a:pt x="3810000" y="7620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67526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55335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057785" y="1753361"/>
            <a:ext cx="3333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701164" algn="l"/>
                <a:tab pos="3072765" algn="l"/>
              </a:tabLst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2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3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779134" y="2285745"/>
            <a:ext cx="1016000" cy="914400"/>
            <a:chOff x="5779134" y="2285745"/>
            <a:chExt cx="1016000" cy="914400"/>
          </a:xfrm>
        </p:grpSpPr>
        <p:sp>
          <p:nvSpPr>
            <p:cNvPr id="27" name="object 27"/>
            <p:cNvSpPr/>
            <p:nvPr/>
          </p:nvSpPr>
          <p:spPr>
            <a:xfrm>
              <a:off x="6236347" y="2285745"/>
              <a:ext cx="25400" cy="914400"/>
            </a:xfrm>
            <a:custGeom>
              <a:avLst/>
              <a:gdLst/>
              <a:ahLst/>
              <a:cxnLst/>
              <a:rect l="l" t="t" r="r" b="b"/>
              <a:pathLst>
                <a:path w="254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254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91326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779134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5"/>
                  </a:lnTo>
                  <a:lnTo>
                    <a:pt x="12192" y="406145"/>
                  </a:lnTo>
                  <a:lnTo>
                    <a:pt x="12192" y="25145"/>
                  </a:lnTo>
                  <a:lnTo>
                    <a:pt x="25158" y="12191"/>
                  </a:lnTo>
                  <a:lnTo>
                    <a:pt x="25158" y="25145"/>
                  </a:lnTo>
                  <a:lnTo>
                    <a:pt x="990612" y="25145"/>
                  </a:lnTo>
                  <a:lnTo>
                    <a:pt x="990612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58" y="25145"/>
                  </a:moveTo>
                  <a:lnTo>
                    <a:pt x="25158" y="12191"/>
                  </a:lnTo>
                  <a:lnTo>
                    <a:pt x="12192" y="25145"/>
                  </a:lnTo>
                  <a:lnTo>
                    <a:pt x="25158" y="25145"/>
                  </a:lnTo>
                  <a:close/>
                </a:path>
                <a:path w="1016000" h="406400">
                  <a:moveTo>
                    <a:pt x="25158" y="381000"/>
                  </a:moveTo>
                  <a:lnTo>
                    <a:pt x="25158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58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58" y="393191"/>
                  </a:lnTo>
                  <a:lnTo>
                    <a:pt x="25158" y="406145"/>
                  </a:lnTo>
                  <a:lnTo>
                    <a:pt x="990612" y="406145"/>
                  </a:lnTo>
                  <a:lnTo>
                    <a:pt x="990612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58" y="406145"/>
                  </a:moveTo>
                  <a:lnTo>
                    <a:pt x="25158" y="393191"/>
                  </a:lnTo>
                  <a:lnTo>
                    <a:pt x="12192" y="381000"/>
                  </a:lnTo>
                  <a:lnTo>
                    <a:pt x="12192" y="406145"/>
                  </a:lnTo>
                  <a:lnTo>
                    <a:pt x="25158" y="406145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12" y="12191"/>
                  </a:lnTo>
                  <a:lnTo>
                    <a:pt x="990612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12" y="25145"/>
                  </a:lnTo>
                  <a:lnTo>
                    <a:pt x="990612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12" y="393191"/>
                  </a:lnTo>
                  <a:lnTo>
                    <a:pt x="990612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9256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63749" y="361340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093859" y="2209545"/>
            <a:ext cx="969644" cy="1381125"/>
          </a:xfrm>
          <a:custGeom>
            <a:avLst/>
            <a:gdLst/>
            <a:ahLst/>
            <a:cxnLst/>
            <a:rect l="l" t="t" r="r" b="b"/>
            <a:pathLst>
              <a:path w="969645" h="1381125">
                <a:moveTo>
                  <a:pt x="149352" y="165353"/>
                </a:moveTo>
                <a:lnTo>
                  <a:pt x="106680" y="0"/>
                </a:lnTo>
                <a:lnTo>
                  <a:pt x="0" y="133349"/>
                </a:lnTo>
                <a:lnTo>
                  <a:pt x="49832" y="144028"/>
                </a:lnTo>
                <a:lnTo>
                  <a:pt x="54864" y="118871"/>
                </a:lnTo>
                <a:lnTo>
                  <a:pt x="105156" y="129539"/>
                </a:lnTo>
                <a:lnTo>
                  <a:pt x="105156" y="155883"/>
                </a:lnTo>
                <a:lnTo>
                  <a:pt x="149352" y="165353"/>
                </a:lnTo>
                <a:close/>
              </a:path>
              <a:path w="969645" h="1381125">
                <a:moveTo>
                  <a:pt x="99665" y="154706"/>
                </a:moveTo>
                <a:lnTo>
                  <a:pt x="49832" y="144028"/>
                </a:lnTo>
                <a:lnTo>
                  <a:pt x="38862" y="202691"/>
                </a:lnTo>
                <a:lnTo>
                  <a:pt x="29139" y="273144"/>
                </a:lnTo>
                <a:lnTo>
                  <a:pt x="24639" y="323562"/>
                </a:lnTo>
                <a:lnTo>
                  <a:pt x="22996" y="374169"/>
                </a:lnTo>
                <a:lnTo>
                  <a:pt x="24894" y="424617"/>
                </a:lnTo>
                <a:lnTo>
                  <a:pt x="31017" y="474554"/>
                </a:lnTo>
                <a:lnTo>
                  <a:pt x="42049" y="523632"/>
                </a:lnTo>
                <a:lnTo>
                  <a:pt x="58674" y="571499"/>
                </a:lnTo>
                <a:lnTo>
                  <a:pt x="73975" y="603109"/>
                </a:lnTo>
                <a:lnTo>
                  <a:pt x="73975" y="385348"/>
                </a:lnTo>
                <a:lnTo>
                  <a:pt x="75138" y="333465"/>
                </a:lnTo>
                <a:lnTo>
                  <a:pt x="79516" y="281806"/>
                </a:lnTo>
                <a:lnTo>
                  <a:pt x="86106" y="230885"/>
                </a:lnTo>
                <a:lnTo>
                  <a:pt x="89154" y="211073"/>
                </a:lnTo>
                <a:lnTo>
                  <a:pt x="96012" y="171449"/>
                </a:lnTo>
                <a:lnTo>
                  <a:pt x="99665" y="154706"/>
                </a:lnTo>
                <a:close/>
              </a:path>
              <a:path w="969645" h="1381125">
                <a:moveTo>
                  <a:pt x="105156" y="129539"/>
                </a:moveTo>
                <a:lnTo>
                  <a:pt x="54864" y="118871"/>
                </a:lnTo>
                <a:lnTo>
                  <a:pt x="49832" y="144028"/>
                </a:lnTo>
                <a:lnTo>
                  <a:pt x="99665" y="154706"/>
                </a:lnTo>
                <a:lnTo>
                  <a:pt x="105156" y="129539"/>
                </a:lnTo>
                <a:close/>
              </a:path>
              <a:path w="969645" h="1381125">
                <a:moveTo>
                  <a:pt x="969264" y="1363217"/>
                </a:moveTo>
                <a:lnTo>
                  <a:pt x="952500" y="1315211"/>
                </a:lnTo>
                <a:lnTo>
                  <a:pt x="943356" y="1291589"/>
                </a:lnTo>
                <a:lnTo>
                  <a:pt x="934212" y="1267205"/>
                </a:lnTo>
                <a:lnTo>
                  <a:pt x="912408" y="1216115"/>
                </a:lnTo>
                <a:lnTo>
                  <a:pt x="888333" y="1167962"/>
                </a:lnTo>
                <a:lnTo>
                  <a:pt x="861507" y="1122345"/>
                </a:lnTo>
                <a:lnTo>
                  <a:pt x="831449" y="1078862"/>
                </a:lnTo>
                <a:lnTo>
                  <a:pt x="797650" y="1037083"/>
                </a:lnTo>
                <a:lnTo>
                  <a:pt x="759714" y="996695"/>
                </a:lnTo>
                <a:lnTo>
                  <a:pt x="746760" y="984503"/>
                </a:lnTo>
                <a:lnTo>
                  <a:pt x="733806" y="971549"/>
                </a:lnTo>
                <a:lnTo>
                  <a:pt x="695334" y="941796"/>
                </a:lnTo>
                <a:lnTo>
                  <a:pt x="654056" y="914748"/>
                </a:lnTo>
                <a:lnTo>
                  <a:pt x="610667" y="889903"/>
                </a:lnTo>
                <a:lnTo>
                  <a:pt x="565861" y="866755"/>
                </a:lnTo>
                <a:lnTo>
                  <a:pt x="520330" y="844801"/>
                </a:lnTo>
                <a:lnTo>
                  <a:pt x="474770" y="823535"/>
                </a:lnTo>
                <a:lnTo>
                  <a:pt x="429873" y="802452"/>
                </a:lnTo>
                <a:lnTo>
                  <a:pt x="386334" y="781049"/>
                </a:lnTo>
                <a:lnTo>
                  <a:pt x="363474" y="769619"/>
                </a:lnTo>
                <a:lnTo>
                  <a:pt x="341376" y="758951"/>
                </a:lnTo>
                <a:lnTo>
                  <a:pt x="298704" y="736091"/>
                </a:lnTo>
                <a:lnTo>
                  <a:pt x="255180" y="710029"/>
                </a:lnTo>
                <a:lnTo>
                  <a:pt x="212480" y="681424"/>
                </a:lnTo>
                <a:lnTo>
                  <a:pt x="172948" y="649011"/>
                </a:lnTo>
                <a:lnTo>
                  <a:pt x="138931" y="611522"/>
                </a:lnTo>
                <a:lnTo>
                  <a:pt x="112776" y="567689"/>
                </a:lnTo>
                <a:lnTo>
                  <a:pt x="85313" y="487733"/>
                </a:lnTo>
                <a:lnTo>
                  <a:pt x="77032" y="436942"/>
                </a:lnTo>
                <a:lnTo>
                  <a:pt x="73975" y="385348"/>
                </a:lnTo>
                <a:lnTo>
                  <a:pt x="73975" y="603109"/>
                </a:lnTo>
                <a:lnTo>
                  <a:pt x="101993" y="646811"/>
                </a:lnTo>
                <a:lnTo>
                  <a:pt x="134456" y="682695"/>
                </a:lnTo>
                <a:lnTo>
                  <a:pt x="171440" y="714284"/>
                </a:lnTo>
                <a:lnTo>
                  <a:pt x="211559" y="742422"/>
                </a:lnTo>
                <a:lnTo>
                  <a:pt x="253426" y="767952"/>
                </a:lnTo>
                <a:lnTo>
                  <a:pt x="295656" y="791717"/>
                </a:lnTo>
                <a:lnTo>
                  <a:pt x="363474" y="826769"/>
                </a:lnTo>
                <a:lnTo>
                  <a:pt x="386334" y="837438"/>
                </a:lnTo>
                <a:lnTo>
                  <a:pt x="431643" y="859499"/>
                </a:lnTo>
                <a:lnTo>
                  <a:pt x="480379" y="882202"/>
                </a:lnTo>
                <a:lnTo>
                  <a:pt x="530722" y="905996"/>
                </a:lnTo>
                <a:lnTo>
                  <a:pt x="580848" y="931331"/>
                </a:lnTo>
                <a:lnTo>
                  <a:pt x="628936" y="958657"/>
                </a:lnTo>
                <a:lnTo>
                  <a:pt x="673163" y="988423"/>
                </a:lnTo>
                <a:lnTo>
                  <a:pt x="711708" y="1021079"/>
                </a:lnTo>
                <a:lnTo>
                  <a:pt x="768423" y="1081256"/>
                </a:lnTo>
                <a:lnTo>
                  <a:pt x="797650" y="1118666"/>
                </a:lnTo>
                <a:lnTo>
                  <a:pt x="823564" y="1157401"/>
                </a:lnTo>
                <a:lnTo>
                  <a:pt x="846720" y="1197931"/>
                </a:lnTo>
                <a:lnTo>
                  <a:pt x="867670" y="1240726"/>
                </a:lnTo>
                <a:lnTo>
                  <a:pt x="886968" y="1286255"/>
                </a:lnTo>
                <a:lnTo>
                  <a:pt x="904494" y="1332737"/>
                </a:lnTo>
                <a:lnTo>
                  <a:pt x="921258" y="1380743"/>
                </a:lnTo>
                <a:lnTo>
                  <a:pt x="969264" y="1363217"/>
                </a:lnTo>
                <a:close/>
              </a:path>
              <a:path w="969645" h="1381125">
                <a:moveTo>
                  <a:pt x="105156" y="155883"/>
                </a:moveTo>
                <a:lnTo>
                  <a:pt x="105156" y="129539"/>
                </a:lnTo>
                <a:lnTo>
                  <a:pt x="99665" y="154706"/>
                </a:lnTo>
                <a:lnTo>
                  <a:pt x="105156" y="155883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201553" y="2790800"/>
            <a:ext cx="1085850" cy="6350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697865">
              <a:lnSpc>
                <a:spcPct val="100000"/>
              </a:lnSpc>
              <a:spcBef>
                <a:spcPts val="58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600" spc="-20" dirty="0">
                <a:solidFill>
                  <a:srgbClr val="D8D8EC"/>
                </a:solidFill>
                <a:latin typeface="Verdana"/>
                <a:cs typeface="Verdana"/>
              </a:rPr>
              <a:t>Read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58549" y="2546604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</a:t>
            </a:r>
            <a:r>
              <a:rPr spc="-25" dirty="0"/>
              <a:t>(Write-</a:t>
            </a:r>
            <a:r>
              <a:rPr dirty="0"/>
              <a:t>Through</a:t>
            </a:r>
            <a:r>
              <a:rPr spc="-85" dirty="0"/>
              <a:t> </a:t>
            </a:r>
            <a:r>
              <a:rPr spc="-10" dirty="0"/>
              <a:t>Cache)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4143449"/>
            <a:ext cx="7016750" cy="105283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835"/>
              </a:spcBef>
              <a:buClr>
                <a:srgbClr val="330065"/>
              </a:buClr>
              <a:buSzPct val="70000"/>
              <a:buAutoNum type="arabicPeriod" startAt="2"/>
              <a:tabLst>
                <a:tab pos="469265" algn="l"/>
              </a:tabLst>
            </a:pPr>
            <a:r>
              <a:rPr sz="3000" dirty="0">
                <a:latin typeface="Arial MT"/>
                <a:cs typeface="Arial MT"/>
              </a:rPr>
              <a:t>P3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reads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location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u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from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main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memory</a:t>
            </a:r>
            <a:endParaRPr sz="3000">
              <a:latin typeface="Arial MT"/>
              <a:cs typeface="Arial MT"/>
            </a:endParaRPr>
          </a:p>
          <a:p>
            <a:pPr marL="850265" lvl="1" indent="-380365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850265" algn="l"/>
              </a:tabLst>
            </a:pPr>
            <a:r>
              <a:rPr sz="2600" dirty="0">
                <a:latin typeface="Arial MT"/>
                <a:cs typeface="Arial MT"/>
              </a:rPr>
              <a:t>P3’s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updated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(u=5)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54947" y="1511553"/>
            <a:ext cx="2616200" cy="1397000"/>
            <a:chOff x="2654947" y="1511553"/>
            <a:chExt cx="2616200" cy="1397000"/>
          </a:xfrm>
        </p:grpSpPr>
        <p:sp>
          <p:nvSpPr>
            <p:cNvPr id="5" name="object 5"/>
            <p:cNvSpPr/>
            <p:nvPr/>
          </p:nvSpPr>
          <p:spPr>
            <a:xfrm>
              <a:off x="28195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073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59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837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67139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54947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6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6"/>
                  </a:lnTo>
                  <a:lnTo>
                    <a:pt x="10027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014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59747" y="3568953"/>
            <a:ext cx="2387600" cy="406400"/>
            <a:chOff x="2959747" y="3568953"/>
            <a:chExt cx="2387600" cy="406400"/>
          </a:xfrm>
        </p:grpSpPr>
        <p:sp>
          <p:nvSpPr>
            <p:cNvPr id="13" name="object 13"/>
            <p:cNvSpPr/>
            <p:nvPr/>
          </p:nvSpPr>
          <p:spPr>
            <a:xfrm>
              <a:off x="2971939" y="35811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59747" y="3568953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92" y="25146"/>
                  </a:lnTo>
                  <a:lnTo>
                    <a:pt x="2374392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92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92" y="25146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2374392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374392" y="406146"/>
                  </a:moveTo>
                  <a:lnTo>
                    <a:pt x="2374392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70713" y="36202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88347" y="2285745"/>
            <a:ext cx="2235200" cy="914400"/>
            <a:chOff x="3188347" y="2285745"/>
            <a:chExt cx="2235200" cy="914400"/>
          </a:xfrm>
        </p:grpSpPr>
        <p:sp>
          <p:nvSpPr>
            <p:cNvPr id="17" name="object 17"/>
            <p:cNvSpPr/>
            <p:nvPr/>
          </p:nvSpPr>
          <p:spPr>
            <a:xfrm>
              <a:off x="3188347" y="2285745"/>
              <a:ext cx="1701800" cy="914400"/>
            </a:xfrm>
            <a:custGeom>
              <a:avLst/>
              <a:gdLst/>
              <a:ahLst/>
              <a:cxnLst/>
              <a:rect l="l" t="t" r="r" b="b"/>
              <a:pathLst>
                <a:path w="17018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17018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  <a:path w="1701800" h="914400">
                  <a:moveTo>
                    <a:pt x="1701546" y="609600"/>
                  </a:moveTo>
                  <a:lnTo>
                    <a:pt x="1676400" y="609600"/>
                  </a:lnTo>
                  <a:lnTo>
                    <a:pt x="1676400" y="914400"/>
                  </a:lnTo>
                  <a:lnTo>
                    <a:pt x="1701546" y="914400"/>
                  </a:lnTo>
                  <a:lnTo>
                    <a:pt x="1701546" y="609600"/>
                  </a:lnTo>
                  <a:close/>
                </a:path>
                <a:path w="1701800" h="914400">
                  <a:moveTo>
                    <a:pt x="1701546" y="0"/>
                  </a:moveTo>
                  <a:lnTo>
                    <a:pt x="1676400" y="0"/>
                  </a:lnTo>
                  <a:lnTo>
                    <a:pt x="1676400" y="228600"/>
                  </a:lnTo>
                  <a:lnTo>
                    <a:pt x="1701546" y="228600"/>
                  </a:lnTo>
                  <a:lnTo>
                    <a:pt x="17015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19739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07547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5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5540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819539" y="1511553"/>
            <a:ext cx="3823335" cy="2070100"/>
            <a:chOff x="2819539" y="1511553"/>
            <a:chExt cx="3823335" cy="2070100"/>
          </a:xfrm>
        </p:grpSpPr>
        <p:sp>
          <p:nvSpPr>
            <p:cNvPr id="22" name="object 22"/>
            <p:cNvSpPr/>
            <p:nvPr/>
          </p:nvSpPr>
          <p:spPr>
            <a:xfrm>
              <a:off x="2819539" y="3162045"/>
              <a:ext cx="3810000" cy="419100"/>
            </a:xfrm>
            <a:custGeom>
              <a:avLst/>
              <a:gdLst/>
              <a:ahLst/>
              <a:cxnLst/>
              <a:rect l="l" t="t" r="r" b="b"/>
              <a:pathLst>
                <a:path w="3810000" h="419100">
                  <a:moveTo>
                    <a:pt x="3810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1283208" y="76200"/>
                  </a:lnTo>
                  <a:lnTo>
                    <a:pt x="1283208" y="419100"/>
                  </a:lnTo>
                  <a:lnTo>
                    <a:pt x="1308354" y="419100"/>
                  </a:lnTo>
                  <a:lnTo>
                    <a:pt x="1308354" y="76200"/>
                  </a:lnTo>
                  <a:lnTo>
                    <a:pt x="3810000" y="7620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67526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55335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057785" y="1753361"/>
            <a:ext cx="3333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701164" algn="l"/>
                <a:tab pos="3072765" algn="l"/>
              </a:tabLst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2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3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779134" y="2285745"/>
            <a:ext cx="1016000" cy="914400"/>
            <a:chOff x="5779134" y="2285745"/>
            <a:chExt cx="1016000" cy="914400"/>
          </a:xfrm>
        </p:grpSpPr>
        <p:sp>
          <p:nvSpPr>
            <p:cNvPr id="27" name="object 27"/>
            <p:cNvSpPr/>
            <p:nvPr/>
          </p:nvSpPr>
          <p:spPr>
            <a:xfrm>
              <a:off x="6236347" y="2285745"/>
              <a:ext cx="25400" cy="914400"/>
            </a:xfrm>
            <a:custGeom>
              <a:avLst/>
              <a:gdLst/>
              <a:ahLst/>
              <a:cxnLst/>
              <a:rect l="l" t="t" r="r" b="b"/>
              <a:pathLst>
                <a:path w="254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254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91326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779134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5"/>
                  </a:lnTo>
                  <a:lnTo>
                    <a:pt x="12192" y="406145"/>
                  </a:lnTo>
                  <a:lnTo>
                    <a:pt x="12192" y="25145"/>
                  </a:lnTo>
                  <a:lnTo>
                    <a:pt x="25158" y="12191"/>
                  </a:lnTo>
                  <a:lnTo>
                    <a:pt x="25158" y="25145"/>
                  </a:lnTo>
                  <a:lnTo>
                    <a:pt x="990612" y="25145"/>
                  </a:lnTo>
                  <a:lnTo>
                    <a:pt x="990612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58" y="25145"/>
                  </a:moveTo>
                  <a:lnTo>
                    <a:pt x="25158" y="12191"/>
                  </a:lnTo>
                  <a:lnTo>
                    <a:pt x="12192" y="25145"/>
                  </a:lnTo>
                  <a:lnTo>
                    <a:pt x="25158" y="25145"/>
                  </a:lnTo>
                  <a:close/>
                </a:path>
                <a:path w="1016000" h="406400">
                  <a:moveTo>
                    <a:pt x="25158" y="381000"/>
                  </a:moveTo>
                  <a:lnTo>
                    <a:pt x="25158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58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58" y="393191"/>
                  </a:lnTo>
                  <a:lnTo>
                    <a:pt x="25158" y="406145"/>
                  </a:lnTo>
                  <a:lnTo>
                    <a:pt x="990612" y="406145"/>
                  </a:lnTo>
                  <a:lnTo>
                    <a:pt x="990612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58" y="406145"/>
                  </a:moveTo>
                  <a:lnTo>
                    <a:pt x="25158" y="393191"/>
                  </a:lnTo>
                  <a:lnTo>
                    <a:pt x="12192" y="381000"/>
                  </a:lnTo>
                  <a:lnTo>
                    <a:pt x="12192" y="406145"/>
                  </a:lnTo>
                  <a:lnTo>
                    <a:pt x="25158" y="406145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12" y="12191"/>
                  </a:lnTo>
                  <a:lnTo>
                    <a:pt x="990612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12" y="25145"/>
                  </a:lnTo>
                  <a:lnTo>
                    <a:pt x="990612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12" y="393191"/>
                  </a:lnTo>
                  <a:lnTo>
                    <a:pt x="990612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9256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63749" y="361340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58643" y="2546694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135065" y="2285745"/>
            <a:ext cx="2220595" cy="1303020"/>
          </a:xfrm>
          <a:custGeom>
            <a:avLst/>
            <a:gdLst/>
            <a:ahLst/>
            <a:cxnLst/>
            <a:rect l="l" t="t" r="r" b="b"/>
            <a:pathLst>
              <a:path w="2220595" h="1303020">
                <a:moveTo>
                  <a:pt x="2156346" y="686161"/>
                </a:moveTo>
                <a:lnTo>
                  <a:pt x="2156346" y="466281"/>
                </a:lnTo>
                <a:lnTo>
                  <a:pt x="2153296" y="512244"/>
                </a:lnTo>
                <a:lnTo>
                  <a:pt x="2146721" y="557015"/>
                </a:lnTo>
                <a:lnTo>
                  <a:pt x="2136258" y="599923"/>
                </a:lnTo>
                <a:lnTo>
                  <a:pt x="2121519" y="640734"/>
                </a:lnTo>
                <a:lnTo>
                  <a:pt x="2102114" y="679210"/>
                </a:lnTo>
                <a:lnTo>
                  <a:pt x="2077653" y="715115"/>
                </a:lnTo>
                <a:lnTo>
                  <a:pt x="2047745" y="748212"/>
                </a:lnTo>
                <a:lnTo>
                  <a:pt x="2012002" y="778265"/>
                </a:lnTo>
                <a:lnTo>
                  <a:pt x="1970034" y="805038"/>
                </a:lnTo>
                <a:lnTo>
                  <a:pt x="1921450" y="828294"/>
                </a:lnTo>
                <a:lnTo>
                  <a:pt x="1870396" y="844296"/>
                </a:lnTo>
                <a:lnTo>
                  <a:pt x="1819181" y="855594"/>
                </a:lnTo>
                <a:lnTo>
                  <a:pt x="1766744" y="864321"/>
                </a:lnTo>
                <a:lnTo>
                  <a:pt x="1713503" y="870870"/>
                </a:lnTo>
                <a:lnTo>
                  <a:pt x="1659875" y="875636"/>
                </a:lnTo>
                <a:lnTo>
                  <a:pt x="1606274" y="879010"/>
                </a:lnTo>
                <a:lnTo>
                  <a:pt x="1553119" y="881386"/>
                </a:lnTo>
                <a:lnTo>
                  <a:pt x="1502350" y="883106"/>
                </a:lnTo>
                <a:lnTo>
                  <a:pt x="1500826" y="883158"/>
                </a:lnTo>
                <a:lnTo>
                  <a:pt x="1442152" y="883910"/>
                </a:lnTo>
                <a:lnTo>
                  <a:pt x="1330930" y="883877"/>
                </a:lnTo>
                <a:lnTo>
                  <a:pt x="1281994" y="883451"/>
                </a:lnTo>
                <a:lnTo>
                  <a:pt x="1232405" y="882685"/>
                </a:lnTo>
                <a:lnTo>
                  <a:pt x="1182820" y="881634"/>
                </a:lnTo>
                <a:lnTo>
                  <a:pt x="1133240" y="880350"/>
                </a:lnTo>
                <a:lnTo>
                  <a:pt x="1083664" y="878887"/>
                </a:lnTo>
                <a:lnTo>
                  <a:pt x="1034052" y="877295"/>
                </a:lnTo>
                <a:lnTo>
                  <a:pt x="935114" y="873954"/>
                </a:lnTo>
                <a:lnTo>
                  <a:pt x="885644" y="872306"/>
                </a:lnTo>
                <a:lnTo>
                  <a:pt x="836172" y="870743"/>
                </a:lnTo>
                <a:lnTo>
                  <a:pt x="786697" y="869317"/>
                </a:lnTo>
                <a:lnTo>
                  <a:pt x="737218" y="868082"/>
                </a:lnTo>
                <a:lnTo>
                  <a:pt x="687733" y="867090"/>
                </a:lnTo>
                <a:lnTo>
                  <a:pt x="638242" y="866394"/>
                </a:lnTo>
                <a:lnTo>
                  <a:pt x="583378" y="866394"/>
                </a:lnTo>
                <a:lnTo>
                  <a:pt x="531562" y="867156"/>
                </a:lnTo>
                <a:lnTo>
                  <a:pt x="482794" y="868633"/>
                </a:lnTo>
                <a:lnTo>
                  <a:pt x="437074" y="870129"/>
                </a:lnTo>
                <a:lnTo>
                  <a:pt x="384185" y="873944"/>
                </a:lnTo>
                <a:lnTo>
                  <a:pt x="333510" y="880131"/>
                </a:lnTo>
                <a:lnTo>
                  <a:pt x="283218" y="889225"/>
                </a:lnTo>
                <a:lnTo>
                  <a:pt x="233761" y="901689"/>
                </a:lnTo>
                <a:lnTo>
                  <a:pt x="185593" y="917986"/>
                </a:lnTo>
                <a:lnTo>
                  <a:pt x="139167" y="938579"/>
                </a:lnTo>
                <a:lnTo>
                  <a:pt x="94936" y="963930"/>
                </a:lnTo>
                <a:lnTo>
                  <a:pt x="43689" y="1010069"/>
                </a:lnTo>
                <a:lnTo>
                  <a:pt x="19244" y="1048373"/>
                </a:lnTo>
                <a:lnTo>
                  <a:pt x="5101" y="1089888"/>
                </a:lnTo>
                <a:lnTo>
                  <a:pt x="0" y="1134231"/>
                </a:lnTo>
                <a:lnTo>
                  <a:pt x="2679" y="1181018"/>
                </a:lnTo>
                <a:lnTo>
                  <a:pt x="11878" y="1229868"/>
                </a:lnTo>
                <a:lnTo>
                  <a:pt x="15688" y="1245108"/>
                </a:lnTo>
                <a:lnTo>
                  <a:pt x="23308" y="1274064"/>
                </a:lnTo>
                <a:lnTo>
                  <a:pt x="31690" y="1303020"/>
                </a:lnTo>
                <a:lnTo>
                  <a:pt x="50841" y="1297334"/>
                </a:lnTo>
                <a:lnTo>
                  <a:pt x="50841" y="1128173"/>
                </a:lnTo>
                <a:lnTo>
                  <a:pt x="57924" y="1087862"/>
                </a:lnTo>
                <a:lnTo>
                  <a:pt x="76813" y="1050513"/>
                </a:lnTo>
                <a:lnTo>
                  <a:pt x="110176" y="1015746"/>
                </a:lnTo>
                <a:lnTo>
                  <a:pt x="116272" y="1011174"/>
                </a:lnTo>
                <a:lnTo>
                  <a:pt x="123130" y="1005840"/>
                </a:lnTo>
                <a:lnTo>
                  <a:pt x="162857" y="983243"/>
                </a:lnTo>
                <a:lnTo>
                  <a:pt x="205854" y="964605"/>
                </a:lnTo>
                <a:lnTo>
                  <a:pt x="251184" y="949653"/>
                </a:lnTo>
                <a:lnTo>
                  <a:pt x="297908" y="938115"/>
                </a:lnTo>
                <a:lnTo>
                  <a:pt x="345090" y="929718"/>
                </a:lnTo>
                <a:lnTo>
                  <a:pt x="391791" y="924190"/>
                </a:lnTo>
                <a:lnTo>
                  <a:pt x="437074" y="921258"/>
                </a:lnTo>
                <a:lnTo>
                  <a:pt x="459172" y="919734"/>
                </a:lnTo>
                <a:lnTo>
                  <a:pt x="481270" y="919021"/>
                </a:lnTo>
                <a:lnTo>
                  <a:pt x="482794" y="918972"/>
                </a:lnTo>
                <a:lnTo>
                  <a:pt x="531562" y="918210"/>
                </a:lnTo>
                <a:lnTo>
                  <a:pt x="583378" y="917448"/>
                </a:lnTo>
                <a:lnTo>
                  <a:pt x="638242" y="917460"/>
                </a:lnTo>
                <a:lnTo>
                  <a:pt x="687066" y="918285"/>
                </a:lnTo>
                <a:lnTo>
                  <a:pt x="736647" y="919321"/>
                </a:lnTo>
                <a:lnTo>
                  <a:pt x="786225" y="920520"/>
                </a:lnTo>
                <a:lnTo>
                  <a:pt x="835800" y="921848"/>
                </a:lnTo>
                <a:lnTo>
                  <a:pt x="885373" y="923270"/>
                </a:lnTo>
                <a:lnTo>
                  <a:pt x="1034052" y="927748"/>
                </a:lnTo>
                <a:lnTo>
                  <a:pt x="1083522" y="929193"/>
                </a:lnTo>
                <a:lnTo>
                  <a:pt x="1132995" y="930558"/>
                </a:lnTo>
                <a:lnTo>
                  <a:pt x="1182471" y="931809"/>
                </a:lnTo>
                <a:lnTo>
                  <a:pt x="1231951" y="932909"/>
                </a:lnTo>
                <a:lnTo>
                  <a:pt x="1281437" y="933825"/>
                </a:lnTo>
                <a:lnTo>
                  <a:pt x="1330930" y="934523"/>
                </a:lnTo>
                <a:lnTo>
                  <a:pt x="1381192" y="934974"/>
                </a:lnTo>
                <a:lnTo>
                  <a:pt x="1442152" y="934974"/>
                </a:lnTo>
                <a:lnTo>
                  <a:pt x="1500826" y="933488"/>
                </a:lnTo>
                <a:lnTo>
                  <a:pt x="1549249" y="932203"/>
                </a:lnTo>
                <a:lnTo>
                  <a:pt x="1597137" y="930381"/>
                </a:lnTo>
                <a:lnTo>
                  <a:pt x="1645638" y="927727"/>
                </a:lnTo>
                <a:lnTo>
                  <a:pt x="1694374" y="923986"/>
                </a:lnTo>
                <a:lnTo>
                  <a:pt x="1742967" y="918905"/>
                </a:lnTo>
                <a:lnTo>
                  <a:pt x="1791040" y="912227"/>
                </a:lnTo>
                <a:lnTo>
                  <a:pt x="1838214" y="903698"/>
                </a:lnTo>
                <a:lnTo>
                  <a:pt x="1884112" y="893064"/>
                </a:lnTo>
                <a:lnTo>
                  <a:pt x="1922212" y="881634"/>
                </a:lnTo>
                <a:lnTo>
                  <a:pt x="1990664" y="851582"/>
                </a:lnTo>
                <a:lnTo>
                  <a:pt x="2034722" y="824383"/>
                </a:lnTo>
                <a:lnTo>
                  <a:pt x="2072982" y="794126"/>
                </a:lnTo>
                <a:lnTo>
                  <a:pt x="2105750" y="760995"/>
                </a:lnTo>
                <a:lnTo>
                  <a:pt x="2133332" y="725177"/>
                </a:lnTo>
                <a:lnTo>
                  <a:pt x="2156036" y="686857"/>
                </a:lnTo>
                <a:lnTo>
                  <a:pt x="2156346" y="686161"/>
                </a:lnTo>
                <a:close/>
              </a:path>
              <a:path w="2220595" h="1303020">
                <a:moveTo>
                  <a:pt x="80458" y="1288542"/>
                </a:moveTo>
                <a:lnTo>
                  <a:pt x="61408" y="1219200"/>
                </a:lnTo>
                <a:lnTo>
                  <a:pt x="52892" y="1171825"/>
                </a:lnTo>
                <a:lnTo>
                  <a:pt x="50841" y="1128173"/>
                </a:lnTo>
                <a:lnTo>
                  <a:pt x="50841" y="1297334"/>
                </a:lnTo>
                <a:lnTo>
                  <a:pt x="80458" y="1288542"/>
                </a:lnTo>
                <a:close/>
              </a:path>
              <a:path w="2220595" h="1303020">
                <a:moveTo>
                  <a:pt x="2220154" y="133350"/>
                </a:moveTo>
                <a:lnTo>
                  <a:pt x="2113474" y="0"/>
                </a:lnTo>
                <a:lnTo>
                  <a:pt x="2071564" y="165354"/>
                </a:lnTo>
                <a:lnTo>
                  <a:pt x="2115760" y="155834"/>
                </a:lnTo>
                <a:lnTo>
                  <a:pt x="2115760" y="129540"/>
                </a:lnTo>
                <a:lnTo>
                  <a:pt x="2165290" y="119634"/>
                </a:lnTo>
                <a:lnTo>
                  <a:pt x="2170292" y="144089"/>
                </a:lnTo>
                <a:lnTo>
                  <a:pt x="2220154" y="133350"/>
                </a:lnTo>
                <a:close/>
              </a:path>
              <a:path w="2220595" h="1303020">
                <a:moveTo>
                  <a:pt x="2170292" y="144089"/>
                </a:moveTo>
                <a:lnTo>
                  <a:pt x="2165290" y="119634"/>
                </a:lnTo>
                <a:lnTo>
                  <a:pt x="2115760" y="129540"/>
                </a:lnTo>
                <a:lnTo>
                  <a:pt x="2120856" y="154737"/>
                </a:lnTo>
                <a:lnTo>
                  <a:pt x="2170292" y="144089"/>
                </a:lnTo>
                <a:close/>
              </a:path>
              <a:path w="2220595" h="1303020">
                <a:moveTo>
                  <a:pt x="2120856" y="154737"/>
                </a:moveTo>
                <a:lnTo>
                  <a:pt x="2115760" y="129540"/>
                </a:lnTo>
                <a:lnTo>
                  <a:pt x="2115760" y="155834"/>
                </a:lnTo>
                <a:lnTo>
                  <a:pt x="2120856" y="154737"/>
                </a:lnTo>
                <a:close/>
              </a:path>
              <a:path w="2220595" h="1303020">
                <a:moveTo>
                  <a:pt x="2207103" y="464195"/>
                </a:moveTo>
                <a:lnTo>
                  <a:pt x="2206972" y="414748"/>
                </a:lnTo>
                <a:lnTo>
                  <a:pt x="2204108" y="364094"/>
                </a:lnTo>
                <a:lnTo>
                  <a:pt x="2198818" y="312420"/>
                </a:lnTo>
                <a:lnTo>
                  <a:pt x="2189674" y="249936"/>
                </a:lnTo>
                <a:lnTo>
                  <a:pt x="2179006" y="186690"/>
                </a:lnTo>
                <a:lnTo>
                  <a:pt x="2170292" y="144089"/>
                </a:lnTo>
                <a:lnTo>
                  <a:pt x="2120856" y="154737"/>
                </a:lnTo>
                <a:lnTo>
                  <a:pt x="2129476" y="197358"/>
                </a:lnTo>
                <a:lnTo>
                  <a:pt x="2140144" y="259080"/>
                </a:lnTo>
                <a:lnTo>
                  <a:pt x="2148526" y="319278"/>
                </a:lnTo>
                <a:lnTo>
                  <a:pt x="2153600" y="369129"/>
                </a:lnTo>
                <a:lnTo>
                  <a:pt x="2156346" y="418065"/>
                </a:lnTo>
                <a:lnTo>
                  <a:pt x="2156346" y="686161"/>
                </a:lnTo>
                <a:lnTo>
                  <a:pt x="2174168" y="646218"/>
                </a:lnTo>
                <a:lnTo>
                  <a:pt x="2188033" y="603448"/>
                </a:lnTo>
                <a:lnTo>
                  <a:pt x="2197940" y="558731"/>
                </a:lnTo>
                <a:lnTo>
                  <a:pt x="2204108" y="512893"/>
                </a:lnTo>
                <a:lnTo>
                  <a:pt x="2204108" y="513677"/>
                </a:lnTo>
                <a:lnTo>
                  <a:pt x="2207103" y="464195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887349" y="2714505"/>
            <a:ext cx="1370330" cy="78803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  <a:p>
            <a:pPr marL="850900">
              <a:lnSpc>
                <a:spcPct val="100000"/>
              </a:lnSpc>
              <a:spcBef>
                <a:spcPts val="1080"/>
              </a:spcBef>
            </a:pPr>
            <a:r>
              <a:rPr sz="1600" spc="-20" dirty="0">
                <a:solidFill>
                  <a:srgbClr val="D8D8EC"/>
                </a:solidFill>
                <a:latin typeface="Verdana"/>
                <a:cs typeface="Verdana"/>
              </a:rPr>
              <a:t>Read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935349" y="2546604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</a:t>
            </a:r>
            <a:r>
              <a:rPr spc="-25" dirty="0"/>
              <a:t>(Write-</a:t>
            </a:r>
            <a:r>
              <a:rPr dirty="0"/>
              <a:t>Through</a:t>
            </a:r>
            <a:r>
              <a:rPr spc="-85" dirty="0"/>
              <a:t> </a:t>
            </a:r>
            <a:r>
              <a:rPr spc="-10" dirty="0"/>
              <a:t>Cache)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4143449"/>
            <a:ext cx="7586980" cy="192468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835"/>
              </a:spcBef>
              <a:buClr>
                <a:srgbClr val="330065"/>
              </a:buClr>
              <a:buSzPct val="70000"/>
              <a:buAutoNum type="arabicPeriod" startAt="3"/>
              <a:tabLst>
                <a:tab pos="469265" algn="l"/>
              </a:tabLst>
            </a:pPr>
            <a:r>
              <a:rPr sz="3000" dirty="0">
                <a:latin typeface="Arial MT"/>
                <a:cs typeface="Arial MT"/>
              </a:rPr>
              <a:t>P3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writes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u,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changing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value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to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spc="-50" dirty="0">
                <a:latin typeface="Arial MT"/>
                <a:cs typeface="Arial MT"/>
              </a:rPr>
              <a:t>7</a:t>
            </a:r>
            <a:endParaRPr sz="3000">
              <a:latin typeface="Arial MT"/>
              <a:cs typeface="Arial MT"/>
            </a:endParaRPr>
          </a:p>
          <a:p>
            <a:pPr marL="850265" lvl="1" indent="-380365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850265" algn="l"/>
              </a:tabLst>
            </a:pPr>
            <a:r>
              <a:rPr sz="2600" dirty="0">
                <a:latin typeface="Arial MT"/>
                <a:cs typeface="Arial MT"/>
              </a:rPr>
              <a:t>main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memory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updated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(u=7)</a:t>
            </a:r>
            <a:endParaRPr sz="2600">
              <a:latin typeface="Arial MT"/>
              <a:cs typeface="Arial MT"/>
            </a:endParaRPr>
          </a:p>
          <a:p>
            <a:pPr marL="850900" marR="5080" lvl="1" indent="-381000">
              <a:lnSpc>
                <a:spcPct val="100000"/>
              </a:lnSpc>
              <a:spcBef>
                <a:spcPts val="625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850900" algn="l"/>
              </a:tabLst>
            </a:pPr>
            <a:r>
              <a:rPr sz="2600" dirty="0">
                <a:latin typeface="Arial MT"/>
                <a:cs typeface="Arial MT"/>
              </a:rPr>
              <a:t>P3’s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not</a:t>
            </a:r>
            <a:r>
              <a:rPr sz="2600" spc="-20" dirty="0">
                <a:latin typeface="Arial MT"/>
                <a:cs typeface="Arial MT"/>
              </a:rPr>
              <a:t> up-</a:t>
            </a:r>
            <a:r>
              <a:rPr sz="2600" dirty="0">
                <a:latin typeface="Arial MT"/>
                <a:cs typeface="Arial MT"/>
              </a:rPr>
              <a:t>dated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(no-write-</a:t>
            </a:r>
            <a:r>
              <a:rPr sz="2600" spc="-10" dirty="0">
                <a:latin typeface="Arial MT"/>
                <a:cs typeface="Arial MT"/>
              </a:rPr>
              <a:t>allocate), </a:t>
            </a:r>
            <a:r>
              <a:rPr sz="2600" dirty="0">
                <a:latin typeface="Arial MT"/>
                <a:cs typeface="Arial MT"/>
              </a:rPr>
              <a:t>but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block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invalidated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54947" y="1511553"/>
            <a:ext cx="2616200" cy="1397000"/>
            <a:chOff x="2654947" y="1511553"/>
            <a:chExt cx="2616200" cy="1397000"/>
          </a:xfrm>
        </p:grpSpPr>
        <p:sp>
          <p:nvSpPr>
            <p:cNvPr id="5" name="object 5"/>
            <p:cNvSpPr/>
            <p:nvPr/>
          </p:nvSpPr>
          <p:spPr>
            <a:xfrm>
              <a:off x="28195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073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59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837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67139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54947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6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6"/>
                  </a:lnTo>
                  <a:lnTo>
                    <a:pt x="10027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014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59747" y="3568953"/>
            <a:ext cx="2387600" cy="406400"/>
            <a:chOff x="2959747" y="3568953"/>
            <a:chExt cx="2387600" cy="406400"/>
          </a:xfrm>
        </p:grpSpPr>
        <p:sp>
          <p:nvSpPr>
            <p:cNvPr id="13" name="object 13"/>
            <p:cNvSpPr/>
            <p:nvPr/>
          </p:nvSpPr>
          <p:spPr>
            <a:xfrm>
              <a:off x="2971939" y="35811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59747" y="3568953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92" y="25146"/>
                  </a:lnTo>
                  <a:lnTo>
                    <a:pt x="2374392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92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92" y="25146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2374392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374392" y="406146"/>
                  </a:moveTo>
                  <a:lnTo>
                    <a:pt x="2374392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70713" y="36202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819539" y="2285745"/>
            <a:ext cx="3810000" cy="1295400"/>
            <a:chOff x="2819539" y="2285745"/>
            <a:chExt cx="3810000" cy="1295400"/>
          </a:xfrm>
        </p:grpSpPr>
        <p:sp>
          <p:nvSpPr>
            <p:cNvPr id="17" name="object 17"/>
            <p:cNvSpPr/>
            <p:nvPr/>
          </p:nvSpPr>
          <p:spPr>
            <a:xfrm>
              <a:off x="3188347" y="2285745"/>
              <a:ext cx="1701800" cy="914400"/>
            </a:xfrm>
            <a:custGeom>
              <a:avLst/>
              <a:gdLst/>
              <a:ahLst/>
              <a:cxnLst/>
              <a:rect l="l" t="t" r="r" b="b"/>
              <a:pathLst>
                <a:path w="17018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17018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  <a:path w="1701800" h="914400">
                  <a:moveTo>
                    <a:pt x="1701546" y="609600"/>
                  </a:moveTo>
                  <a:lnTo>
                    <a:pt x="1676400" y="609600"/>
                  </a:lnTo>
                  <a:lnTo>
                    <a:pt x="1676400" y="914400"/>
                  </a:lnTo>
                  <a:lnTo>
                    <a:pt x="1701546" y="914400"/>
                  </a:lnTo>
                  <a:lnTo>
                    <a:pt x="1701546" y="609600"/>
                  </a:lnTo>
                  <a:close/>
                </a:path>
                <a:path w="1701800" h="914400">
                  <a:moveTo>
                    <a:pt x="1701546" y="0"/>
                  </a:moveTo>
                  <a:lnTo>
                    <a:pt x="1676400" y="0"/>
                  </a:lnTo>
                  <a:lnTo>
                    <a:pt x="1676400" y="228600"/>
                  </a:lnTo>
                  <a:lnTo>
                    <a:pt x="1701546" y="228600"/>
                  </a:lnTo>
                  <a:lnTo>
                    <a:pt x="17015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19739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19539" y="2502153"/>
              <a:ext cx="3810000" cy="1079500"/>
            </a:xfrm>
            <a:custGeom>
              <a:avLst/>
              <a:gdLst/>
              <a:ahLst/>
              <a:cxnLst/>
              <a:rect l="l" t="t" r="r" b="b"/>
              <a:pathLst>
                <a:path w="3810000" h="1079500">
                  <a:moveTo>
                    <a:pt x="2603754" y="0"/>
                  </a:moveTo>
                  <a:lnTo>
                    <a:pt x="2578608" y="0"/>
                  </a:lnTo>
                  <a:lnTo>
                    <a:pt x="2578608" y="25146"/>
                  </a:lnTo>
                  <a:lnTo>
                    <a:pt x="2578608" y="381000"/>
                  </a:lnTo>
                  <a:lnTo>
                    <a:pt x="1613154" y="381000"/>
                  </a:lnTo>
                  <a:lnTo>
                    <a:pt x="1613154" y="25146"/>
                  </a:lnTo>
                  <a:lnTo>
                    <a:pt x="2578608" y="25146"/>
                  </a:lnTo>
                  <a:lnTo>
                    <a:pt x="2578608" y="0"/>
                  </a:lnTo>
                  <a:lnTo>
                    <a:pt x="1588008" y="0"/>
                  </a:lnTo>
                  <a:lnTo>
                    <a:pt x="1588008" y="406146"/>
                  </a:lnTo>
                  <a:lnTo>
                    <a:pt x="1600200" y="406146"/>
                  </a:lnTo>
                  <a:lnTo>
                    <a:pt x="1613154" y="406146"/>
                  </a:lnTo>
                  <a:lnTo>
                    <a:pt x="2578608" y="406146"/>
                  </a:lnTo>
                  <a:lnTo>
                    <a:pt x="2590800" y="406146"/>
                  </a:lnTo>
                  <a:lnTo>
                    <a:pt x="2603754" y="406146"/>
                  </a:lnTo>
                  <a:lnTo>
                    <a:pt x="2603754" y="0"/>
                  </a:lnTo>
                  <a:close/>
                </a:path>
                <a:path w="3810000" h="1079500">
                  <a:moveTo>
                    <a:pt x="3810000" y="659892"/>
                  </a:moveTo>
                  <a:lnTo>
                    <a:pt x="0" y="659892"/>
                  </a:lnTo>
                  <a:lnTo>
                    <a:pt x="0" y="736092"/>
                  </a:lnTo>
                  <a:lnTo>
                    <a:pt x="1283208" y="736092"/>
                  </a:lnTo>
                  <a:lnTo>
                    <a:pt x="1283208" y="1078992"/>
                  </a:lnTo>
                  <a:lnTo>
                    <a:pt x="1308354" y="1078992"/>
                  </a:lnTo>
                  <a:lnTo>
                    <a:pt x="1308354" y="736092"/>
                  </a:lnTo>
                  <a:lnTo>
                    <a:pt x="3810000" y="736092"/>
                  </a:lnTo>
                  <a:lnTo>
                    <a:pt x="3810000" y="6598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887349" y="2851404"/>
            <a:ext cx="4000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855335" y="1511553"/>
            <a:ext cx="787400" cy="786765"/>
            <a:chOff x="5855335" y="1511553"/>
            <a:chExt cx="787400" cy="786765"/>
          </a:xfrm>
        </p:grpSpPr>
        <p:sp>
          <p:nvSpPr>
            <p:cNvPr id="22" name="object 22"/>
            <p:cNvSpPr/>
            <p:nvPr/>
          </p:nvSpPr>
          <p:spPr>
            <a:xfrm>
              <a:off x="5867527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55335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057785" y="1753361"/>
            <a:ext cx="3333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701164" algn="l"/>
                <a:tab pos="3072765" algn="l"/>
              </a:tabLst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2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3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779134" y="2285745"/>
            <a:ext cx="1016000" cy="914400"/>
            <a:chOff x="5779134" y="2285745"/>
            <a:chExt cx="1016000" cy="914400"/>
          </a:xfrm>
        </p:grpSpPr>
        <p:sp>
          <p:nvSpPr>
            <p:cNvPr id="26" name="object 26"/>
            <p:cNvSpPr/>
            <p:nvPr/>
          </p:nvSpPr>
          <p:spPr>
            <a:xfrm>
              <a:off x="6236347" y="2285745"/>
              <a:ext cx="25400" cy="914400"/>
            </a:xfrm>
            <a:custGeom>
              <a:avLst/>
              <a:gdLst/>
              <a:ahLst/>
              <a:cxnLst/>
              <a:rect l="l" t="t" r="r" b="b"/>
              <a:pathLst>
                <a:path w="254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254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91326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79134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5"/>
                  </a:lnTo>
                  <a:lnTo>
                    <a:pt x="12192" y="406145"/>
                  </a:lnTo>
                  <a:lnTo>
                    <a:pt x="12192" y="25145"/>
                  </a:lnTo>
                  <a:lnTo>
                    <a:pt x="25158" y="12191"/>
                  </a:lnTo>
                  <a:lnTo>
                    <a:pt x="25158" y="25145"/>
                  </a:lnTo>
                  <a:lnTo>
                    <a:pt x="990612" y="25145"/>
                  </a:lnTo>
                  <a:lnTo>
                    <a:pt x="990612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58" y="25145"/>
                  </a:moveTo>
                  <a:lnTo>
                    <a:pt x="25158" y="12191"/>
                  </a:lnTo>
                  <a:lnTo>
                    <a:pt x="12192" y="25145"/>
                  </a:lnTo>
                  <a:lnTo>
                    <a:pt x="25158" y="25145"/>
                  </a:lnTo>
                  <a:close/>
                </a:path>
                <a:path w="1016000" h="406400">
                  <a:moveTo>
                    <a:pt x="25158" y="381000"/>
                  </a:moveTo>
                  <a:lnTo>
                    <a:pt x="25158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58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58" y="393191"/>
                  </a:lnTo>
                  <a:lnTo>
                    <a:pt x="25158" y="406145"/>
                  </a:lnTo>
                  <a:lnTo>
                    <a:pt x="990612" y="406145"/>
                  </a:lnTo>
                  <a:lnTo>
                    <a:pt x="990612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58" y="406145"/>
                  </a:moveTo>
                  <a:lnTo>
                    <a:pt x="25158" y="393191"/>
                  </a:lnTo>
                  <a:lnTo>
                    <a:pt x="12192" y="381000"/>
                  </a:lnTo>
                  <a:lnTo>
                    <a:pt x="12192" y="406145"/>
                  </a:lnTo>
                  <a:lnTo>
                    <a:pt x="25158" y="406145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12" y="12191"/>
                  </a:lnTo>
                  <a:lnTo>
                    <a:pt x="990612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12" y="25145"/>
                  </a:lnTo>
                  <a:lnTo>
                    <a:pt x="990612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12" y="393191"/>
                  </a:lnTo>
                  <a:lnTo>
                    <a:pt x="990612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563749" y="361340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u=7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35436" y="2546694"/>
            <a:ext cx="10375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r>
              <a:rPr sz="1600" spc="-20" dirty="0">
                <a:solidFill>
                  <a:srgbClr val="7D9CE8"/>
                </a:solidFill>
                <a:latin typeface="Verdana"/>
                <a:cs typeface="Verdana"/>
              </a:rPr>
              <a:t> (Inv)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085971" y="2280411"/>
            <a:ext cx="2256155" cy="1301115"/>
          </a:xfrm>
          <a:custGeom>
            <a:avLst/>
            <a:gdLst/>
            <a:ahLst/>
            <a:cxnLst/>
            <a:rect l="l" t="t" r="r" b="b"/>
            <a:pathLst>
              <a:path w="2256154" h="1301114">
                <a:moveTo>
                  <a:pt x="104393" y="1299767"/>
                </a:moveTo>
                <a:lnTo>
                  <a:pt x="104393" y="1171956"/>
                </a:lnTo>
                <a:lnTo>
                  <a:pt x="54863" y="1181100"/>
                </a:lnTo>
                <a:lnTo>
                  <a:pt x="50505" y="1156818"/>
                </a:lnTo>
                <a:lnTo>
                  <a:pt x="0" y="1167384"/>
                </a:lnTo>
                <a:lnTo>
                  <a:pt x="104393" y="1299767"/>
                </a:lnTo>
                <a:close/>
              </a:path>
              <a:path w="2256154" h="1301114">
                <a:moveTo>
                  <a:pt x="2205471" y="691318"/>
                </a:moveTo>
                <a:lnTo>
                  <a:pt x="2205471" y="471813"/>
                </a:lnTo>
                <a:lnTo>
                  <a:pt x="2202595" y="516018"/>
                </a:lnTo>
                <a:lnTo>
                  <a:pt x="2196442" y="559203"/>
                </a:lnTo>
                <a:lnTo>
                  <a:pt x="2186571" y="601067"/>
                </a:lnTo>
                <a:lnTo>
                  <a:pt x="2172543" y="641310"/>
                </a:lnTo>
                <a:lnTo>
                  <a:pt x="2153918" y="679632"/>
                </a:lnTo>
                <a:lnTo>
                  <a:pt x="2130254" y="715735"/>
                </a:lnTo>
                <a:lnTo>
                  <a:pt x="2101112" y="749316"/>
                </a:lnTo>
                <a:lnTo>
                  <a:pt x="2066052" y="780078"/>
                </a:lnTo>
                <a:lnTo>
                  <a:pt x="2024633" y="807720"/>
                </a:lnTo>
                <a:lnTo>
                  <a:pt x="1985009" y="827532"/>
                </a:lnTo>
                <a:lnTo>
                  <a:pt x="1922284" y="848961"/>
                </a:lnTo>
                <a:lnTo>
                  <a:pt x="1870095" y="860740"/>
                </a:lnTo>
                <a:lnTo>
                  <a:pt x="1817261" y="869441"/>
                </a:lnTo>
                <a:lnTo>
                  <a:pt x="1767077" y="875538"/>
                </a:lnTo>
                <a:lnTo>
                  <a:pt x="1716024" y="880110"/>
                </a:lnTo>
                <a:lnTo>
                  <a:pt x="1662683" y="883919"/>
                </a:lnTo>
                <a:lnTo>
                  <a:pt x="1611080" y="886316"/>
                </a:lnTo>
                <a:lnTo>
                  <a:pt x="1559277" y="888014"/>
                </a:lnTo>
                <a:lnTo>
                  <a:pt x="1507310" y="889080"/>
                </a:lnTo>
                <a:lnTo>
                  <a:pt x="1462336" y="889512"/>
                </a:lnTo>
                <a:lnTo>
                  <a:pt x="1403035" y="889578"/>
                </a:lnTo>
                <a:lnTo>
                  <a:pt x="1358704" y="889206"/>
                </a:lnTo>
                <a:lnTo>
                  <a:pt x="1350800" y="889140"/>
                </a:lnTo>
                <a:lnTo>
                  <a:pt x="1298550" y="888330"/>
                </a:lnTo>
                <a:lnTo>
                  <a:pt x="1246321" y="887216"/>
                </a:lnTo>
                <a:lnTo>
                  <a:pt x="1194150" y="885861"/>
                </a:lnTo>
                <a:lnTo>
                  <a:pt x="1142075" y="884332"/>
                </a:lnTo>
                <a:lnTo>
                  <a:pt x="1090131" y="882693"/>
                </a:lnTo>
                <a:lnTo>
                  <a:pt x="986789" y="879347"/>
                </a:lnTo>
                <a:lnTo>
                  <a:pt x="924305" y="877062"/>
                </a:lnTo>
                <a:lnTo>
                  <a:pt x="803147" y="874013"/>
                </a:lnTo>
                <a:lnTo>
                  <a:pt x="744473" y="872490"/>
                </a:lnTo>
                <a:lnTo>
                  <a:pt x="674343" y="871426"/>
                </a:lnTo>
                <a:lnTo>
                  <a:pt x="642205" y="871200"/>
                </a:lnTo>
                <a:lnTo>
                  <a:pt x="632985" y="871135"/>
                </a:lnTo>
                <a:lnTo>
                  <a:pt x="591097" y="871413"/>
                </a:lnTo>
                <a:lnTo>
                  <a:pt x="588434" y="871431"/>
                </a:lnTo>
                <a:lnTo>
                  <a:pt x="541440" y="872636"/>
                </a:lnTo>
                <a:lnTo>
                  <a:pt x="492757" y="875072"/>
                </a:lnTo>
                <a:lnTo>
                  <a:pt x="443135" y="879058"/>
                </a:lnTo>
                <a:lnTo>
                  <a:pt x="393325" y="884917"/>
                </a:lnTo>
                <a:lnTo>
                  <a:pt x="344081" y="892968"/>
                </a:lnTo>
                <a:lnTo>
                  <a:pt x="296152" y="903534"/>
                </a:lnTo>
                <a:lnTo>
                  <a:pt x="250291" y="916935"/>
                </a:lnTo>
                <a:lnTo>
                  <a:pt x="207249" y="933492"/>
                </a:lnTo>
                <a:lnTo>
                  <a:pt x="167779" y="953526"/>
                </a:lnTo>
                <a:lnTo>
                  <a:pt x="132630" y="977359"/>
                </a:lnTo>
                <a:lnTo>
                  <a:pt x="102556" y="1005310"/>
                </a:lnTo>
                <a:lnTo>
                  <a:pt x="78307" y="1037702"/>
                </a:lnTo>
                <a:lnTo>
                  <a:pt x="60635" y="1074856"/>
                </a:lnTo>
                <a:lnTo>
                  <a:pt x="50291" y="1117092"/>
                </a:lnTo>
                <a:lnTo>
                  <a:pt x="48768" y="1146810"/>
                </a:lnTo>
                <a:lnTo>
                  <a:pt x="48768" y="1149858"/>
                </a:lnTo>
                <a:lnTo>
                  <a:pt x="49529" y="1151382"/>
                </a:lnTo>
                <a:lnTo>
                  <a:pt x="50505" y="1156818"/>
                </a:lnTo>
                <a:lnTo>
                  <a:pt x="99059" y="1146662"/>
                </a:lnTo>
                <a:lnTo>
                  <a:pt x="99059" y="1142238"/>
                </a:lnTo>
                <a:lnTo>
                  <a:pt x="99821" y="1146483"/>
                </a:lnTo>
                <a:lnTo>
                  <a:pt x="99821" y="1135380"/>
                </a:lnTo>
                <a:lnTo>
                  <a:pt x="100583" y="1123950"/>
                </a:lnTo>
                <a:lnTo>
                  <a:pt x="117268" y="1069573"/>
                </a:lnTo>
                <a:lnTo>
                  <a:pt x="144813" y="1033933"/>
                </a:lnTo>
                <a:lnTo>
                  <a:pt x="180723" y="1005583"/>
                </a:lnTo>
                <a:lnTo>
                  <a:pt x="220979" y="984504"/>
                </a:lnTo>
                <a:lnTo>
                  <a:pt x="288450" y="958476"/>
                </a:lnTo>
                <a:lnTo>
                  <a:pt x="337281" y="945640"/>
                </a:lnTo>
                <a:lnTo>
                  <a:pt x="387059" y="936309"/>
                </a:lnTo>
                <a:lnTo>
                  <a:pt x="437556" y="929941"/>
                </a:lnTo>
                <a:lnTo>
                  <a:pt x="488546" y="925991"/>
                </a:lnTo>
                <a:lnTo>
                  <a:pt x="539802" y="923919"/>
                </a:lnTo>
                <a:lnTo>
                  <a:pt x="588434" y="923219"/>
                </a:lnTo>
                <a:lnTo>
                  <a:pt x="642205" y="923234"/>
                </a:lnTo>
                <a:lnTo>
                  <a:pt x="674343" y="923425"/>
                </a:lnTo>
                <a:lnTo>
                  <a:pt x="742949" y="923544"/>
                </a:lnTo>
                <a:lnTo>
                  <a:pt x="801623" y="925068"/>
                </a:lnTo>
                <a:lnTo>
                  <a:pt x="922782" y="928116"/>
                </a:lnTo>
                <a:lnTo>
                  <a:pt x="985265" y="930402"/>
                </a:lnTo>
                <a:lnTo>
                  <a:pt x="1048511" y="931926"/>
                </a:lnTo>
                <a:lnTo>
                  <a:pt x="1100034" y="933384"/>
                </a:lnTo>
                <a:lnTo>
                  <a:pt x="1151651" y="934883"/>
                </a:lnTo>
                <a:lnTo>
                  <a:pt x="1203344" y="936340"/>
                </a:lnTo>
                <a:lnTo>
                  <a:pt x="1255096" y="937678"/>
                </a:lnTo>
                <a:lnTo>
                  <a:pt x="1306888" y="938816"/>
                </a:lnTo>
                <a:lnTo>
                  <a:pt x="1358704" y="939675"/>
                </a:lnTo>
                <a:lnTo>
                  <a:pt x="1403035" y="940102"/>
                </a:lnTo>
                <a:lnTo>
                  <a:pt x="1455217" y="940226"/>
                </a:lnTo>
                <a:lnTo>
                  <a:pt x="1462336" y="940234"/>
                </a:lnTo>
                <a:lnTo>
                  <a:pt x="1507310" y="939836"/>
                </a:lnTo>
                <a:lnTo>
                  <a:pt x="1514117" y="939776"/>
                </a:lnTo>
                <a:lnTo>
                  <a:pt x="1565851" y="938720"/>
                </a:lnTo>
                <a:lnTo>
                  <a:pt x="1617520" y="936985"/>
                </a:lnTo>
                <a:lnTo>
                  <a:pt x="1669108" y="934493"/>
                </a:lnTo>
                <a:lnTo>
                  <a:pt x="1720595" y="931163"/>
                </a:lnTo>
                <a:lnTo>
                  <a:pt x="1773174" y="925830"/>
                </a:lnTo>
                <a:lnTo>
                  <a:pt x="1821941" y="920496"/>
                </a:lnTo>
                <a:lnTo>
                  <a:pt x="1868893" y="912722"/>
                </a:lnTo>
                <a:lnTo>
                  <a:pt x="1915620" y="902893"/>
                </a:lnTo>
                <a:lnTo>
                  <a:pt x="1961609" y="890245"/>
                </a:lnTo>
                <a:lnTo>
                  <a:pt x="2006345" y="874013"/>
                </a:lnTo>
                <a:lnTo>
                  <a:pt x="2051303" y="850391"/>
                </a:lnTo>
                <a:lnTo>
                  <a:pt x="2118384" y="802604"/>
                </a:lnTo>
                <a:lnTo>
                  <a:pt x="2152650" y="768713"/>
                </a:lnTo>
                <a:lnTo>
                  <a:pt x="2181296" y="732121"/>
                </a:lnTo>
                <a:lnTo>
                  <a:pt x="2204610" y="693230"/>
                </a:lnTo>
                <a:lnTo>
                  <a:pt x="2205471" y="691318"/>
                </a:lnTo>
                <a:close/>
              </a:path>
              <a:path w="2256154" h="1301114">
                <a:moveTo>
                  <a:pt x="99821" y="1172800"/>
                </a:moveTo>
                <a:lnTo>
                  <a:pt x="99821" y="1147572"/>
                </a:lnTo>
                <a:lnTo>
                  <a:pt x="99673" y="1146533"/>
                </a:lnTo>
                <a:lnTo>
                  <a:pt x="50505" y="1156818"/>
                </a:lnTo>
                <a:lnTo>
                  <a:pt x="54863" y="1181100"/>
                </a:lnTo>
                <a:lnTo>
                  <a:pt x="99059" y="1172940"/>
                </a:lnTo>
                <a:lnTo>
                  <a:pt x="99673" y="1172827"/>
                </a:lnTo>
                <a:lnTo>
                  <a:pt x="99821" y="1172800"/>
                </a:lnTo>
                <a:close/>
              </a:path>
              <a:path w="2256154" h="1301114">
                <a:moveTo>
                  <a:pt x="99821" y="1146502"/>
                </a:moveTo>
                <a:lnTo>
                  <a:pt x="99059" y="1142238"/>
                </a:lnTo>
                <a:lnTo>
                  <a:pt x="99673" y="1146533"/>
                </a:lnTo>
                <a:lnTo>
                  <a:pt x="99821" y="1146502"/>
                </a:lnTo>
                <a:close/>
              </a:path>
              <a:path w="2256154" h="1301114">
                <a:moveTo>
                  <a:pt x="99673" y="1146533"/>
                </a:moveTo>
                <a:lnTo>
                  <a:pt x="99059" y="1142238"/>
                </a:lnTo>
                <a:lnTo>
                  <a:pt x="99059" y="1146662"/>
                </a:lnTo>
                <a:lnTo>
                  <a:pt x="99673" y="1146533"/>
                </a:lnTo>
                <a:close/>
              </a:path>
              <a:path w="2256154" h="1301114">
                <a:moveTo>
                  <a:pt x="104393" y="1171956"/>
                </a:moveTo>
                <a:lnTo>
                  <a:pt x="99821" y="1146502"/>
                </a:lnTo>
                <a:lnTo>
                  <a:pt x="99673" y="1146533"/>
                </a:lnTo>
                <a:lnTo>
                  <a:pt x="99821" y="1147572"/>
                </a:lnTo>
                <a:lnTo>
                  <a:pt x="99821" y="1172800"/>
                </a:lnTo>
                <a:lnTo>
                  <a:pt x="104393" y="1171956"/>
                </a:lnTo>
                <a:close/>
              </a:path>
              <a:path w="2256154" h="1301114">
                <a:moveTo>
                  <a:pt x="149351" y="1136142"/>
                </a:moveTo>
                <a:lnTo>
                  <a:pt x="99821" y="1146502"/>
                </a:lnTo>
                <a:lnTo>
                  <a:pt x="104393" y="1171956"/>
                </a:lnTo>
                <a:lnTo>
                  <a:pt x="104393" y="1299767"/>
                </a:lnTo>
                <a:lnTo>
                  <a:pt x="105156" y="1300734"/>
                </a:lnTo>
                <a:lnTo>
                  <a:pt x="149351" y="1136142"/>
                </a:lnTo>
                <a:close/>
              </a:path>
              <a:path w="2256154" h="1301114">
                <a:moveTo>
                  <a:pt x="2256031" y="473709"/>
                </a:moveTo>
                <a:lnTo>
                  <a:pt x="2256031" y="424752"/>
                </a:lnTo>
                <a:lnTo>
                  <a:pt x="2253787" y="379526"/>
                </a:lnTo>
                <a:lnTo>
                  <a:pt x="2249404" y="332210"/>
                </a:lnTo>
                <a:lnTo>
                  <a:pt x="2243388" y="285124"/>
                </a:lnTo>
                <a:lnTo>
                  <a:pt x="2236147" y="238554"/>
                </a:lnTo>
                <a:lnTo>
                  <a:pt x="2228088" y="192786"/>
                </a:lnTo>
                <a:lnTo>
                  <a:pt x="2215896" y="128778"/>
                </a:lnTo>
                <a:lnTo>
                  <a:pt x="2187702" y="0"/>
                </a:lnTo>
                <a:lnTo>
                  <a:pt x="2138172" y="11430"/>
                </a:lnTo>
                <a:lnTo>
                  <a:pt x="2152650" y="75438"/>
                </a:lnTo>
                <a:lnTo>
                  <a:pt x="2178558" y="201930"/>
                </a:lnTo>
                <a:lnTo>
                  <a:pt x="2186100" y="245964"/>
                </a:lnTo>
                <a:lnTo>
                  <a:pt x="2193007" y="290777"/>
                </a:lnTo>
                <a:lnTo>
                  <a:pt x="2198838" y="336068"/>
                </a:lnTo>
                <a:lnTo>
                  <a:pt x="2203152" y="381538"/>
                </a:lnTo>
                <a:lnTo>
                  <a:pt x="2205471" y="426136"/>
                </a:lnTo>
                <a:lnTo>
                  <a:pt x="2205471" y="691318"/>
                </a:lnTo>
                <a:lnTo>
                  <a:pt x="2223039" y="652288"/>
                </a:lnTo>
                <a:lnTo>
                  <a:pt x="2236988" y="609580"/>
                </a:lnTo>
                <a:lnTo>
                  <a:pt x="2246866" y="565390"/>
                </a:lnTo>
                <a:lnTo>
                  <a:pt x="2253078" y="520005"/>
                </a:lnTo>
                <a:lnTo>
                  <a:pt x="2256031" y="473709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554099" y="2553461"/>
            <a:ext cx="2093595" cy="948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3665" algn="l"/>
              </a:tabLst>
            </a:pPr>
            <a:r>
              <a:rPr sz="1800" spc="-10" dirty="0">
                <a:latin typeface="Verdana"/>
                <a:cs typeface="Verdana"/>
              </a:rPr>
              <a:t>Cache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800">
              <a:latin typeface="Verdana"/>
              <a:cs typeface="Verdana"/>
            </a:endParaRPr>
          </a:p>
          <a:p>
            <a:pPr marL="107950">
              <a:lnSpc>
                <a:spcPct val="100000"/>
              </a:lnSpc>
            </a:pPr>
            <a:r>
              <a:rPr sz="1600" dirty="0">
                <a:solidFill>
                  <a:srgbClr val="D8D8EC"/>
                </a:solidFill>
                <a:latin typeface="Verdana"/>
                <a:cs typeface="Verdana"/>
              </a:rPr>
              <a:t>Write</a:t>
            </a:r>
            <a:r>
              <a:rPr sz="1600" spc="-85" dirty="0">
                <a:solidFill>
                  <a:srgbClr val="D8D8EC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D8D8EC"/>
                </a:solidFill>
                <a:latin typeface="Verdana"/>
                <a:cs typeface="Verdana"/>
              </a:rPr>
              <a:t>Through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58566" y="2546560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</a:t>
            </a:r>
            <a:r>
              <a:rPr spc="-25" dirty="0"/>
              <a:t>(Write-</a:t>
            </a:r>
            <a:r>
              <a:rPr dirty="0"/>
              <a:t>Through</a:t>
            </a:r>
            <a:r>
              <a:rPr spc="-85" dirty="0"/>
              <a:t> </a:t>
            </a:r>
            <a:r>
              <a:rPr spc="-10" dirty="0"/>
              <a:t>Cache)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4143449"/>
            <a:ext cx="7804150" cy="144907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835"/>
              </a:spcBef>
              <a:buClr>
                <a:srgbClr val="330065"/>
              </a:buClr>
              <a:buSzPct val="70000"/>
              <a:buAutoNum type="arabicPeriod" startAt="4"/>
              <a:tabLst>
                <a:tab pos="469265" algn="l"/>
              </a:tabLst>
            </a:pPr>
            <a:r>
              <a:rPr sz="3000" dirty="0">
                <a:latin typeface="Arial MT"/>
                <a:cs typeface="Arial MT"/>
              </a:rPr>
              <a:t>P1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reads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value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u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spc="-20" dirty="0">
                <a:latin typeface="Arial MT"/>
                <a:cs typeface="Arial MT"/>
              </a:rPr>
              <a:t>again</a:t>
            </a:r>
            <a:endParaRPr sz="3000">
              <a:latin typeface="Arial MT"/>
              <a:cs typeface="Arial MT"/>
            </a:endParaRPr>
          </a:p>
          <a:p>
            <a:pPr marL="850900" marR="5080" lvl="1" indent="-381000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850900" algn="l"/>
              </a:tabLst>
            </a:pPr>
            <a:r>
              <a:rPr sz="2600" dirty="0">
                <a:latin typeface="Arial MT"/>
                <a:cs typeface="Arial MT"/>
              </a:rPr>
              <a:t>P1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reads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value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from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(u=5),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which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not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correct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value!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54947" y="1511553"/>
            <a:ext cx="2616200" cy="1397000"/>
            <a:chOff x="2654947" y="1511553"/>
            <a:chExt cx="2616200" cy="1397000"/>
          </a:xfrm>
        </p:grpSpPr>
        <p:sp>
          <p:nvSpPr>
            <p:cNvPr id="5" name="object 5"/>
            <p:cNvSpPr/>
            <p:nvPr/>
          </p:nvSpPr>
          <p:spPr>
            <a:xfrm>
              <a:off x="28195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073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59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837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67139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54947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6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6"/>
                  </a:lnTo>
                  <a:lnTo>
                    <a:pt x="10027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014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59747" y="3568953"/>
            <a:ext cx="2387600" cy="406400"/>
            <a:chOff x="2959747" y="3568953"/>
            <a:chExt cx="2387600" cy="406400"/>
          </a:xfrm>
        </p:grpSpPr>
        <p:sp>
          <p:nvSpPr>
            <p:cNvPr id="13" name="object 13"/>
            <p:cNvSpPr/>
            <p:nvPr/>
          </p:nvSpPr>
          <p:spPr>
            <a:xfrm>
              <a:off x="2971939" y="35811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59747" y="3568953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92" y="25146"/>
                  </a:lnTo>
                  <a:lnTo>
                    <a:pt x="2374392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92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92" y="25146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2374392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374392" y="406146"/>
                  </a:moveTo>
                  <a:lnTo>
                    <a:pt x="2374392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70713" y="36202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88347" y="2285745"/>
            <a:ext cx="2235200" cy="914400"/>
            <a:chOff x="3188347" y="2285745"/>
            <a:chExt cx="2235200" cy="914400"/>
          </a:xfrm>
        </p:grpSpPr>
        <p:sp>
          <p:nvSpPr>
            <p:cNvPr id="17" name="object 17"/>
            <p:cNvSpPr/>
            <p:nvPr/>
          </p:nvSpPr>
          <p:spPr>
            <a:xfrm>
              <a:off x="3188347" y="2285745"/>
              <a:ext cx="1701800" cy="914400"/>
            </a:xfrm>
            <a:custGeom>
              <a:avLst/>
              <a:gdLst/>
              <a:ahLst/>
              <a:cxnLst/>
              <a:rect l="l" t="t" r="r" b="b"/>
              <a:pathLst>
                <a:path w="17018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17018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  <a:path w="1701800" h="914400">
                  <a:moveTo>
                    <a:pt x="1701546" y="609600"/>
                  </a:moveTo>
                  <a:lnTo>
                    <a:pt x="1676400" y="609600"/>
                  </a:lnTo>
                  <a:lnTo>
                    <a:pt x="1676400" y="914400"/>
                  </a:lnTo>
                  <a:lnTo>
                    <a:pt x="1701546" y="914400"/>
                  </a:lnTo>
                  <a:lnTo>
                    <a:pt x="1701546" y="609600"/>
                  </a:lnTo>
                  <a:close/>
                </a:path>
                <a:path w="1701800" h="914400">
                  <a:moveTo>
                    <a:pt x="1701546" y="0"/>
                  </a:moveTo>
                  <a:lnTo>
                    <a:pt x="1676400" y="0"/>
                  </a:lnTo>
                  <a:lnTo>
                    <a:pt x="1676400" y="228600"/>
                  </a:lnTo>
                  <a:lnTo>
                    <a:pt x="1701546" y="228600"/>
                  </a:lnTo>
                  <a:lnTo>
                    <a:pt x="17015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19739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07547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5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5540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819539" y="1511553"/>
            <a:ext cx="3975735" cy="2070100"/>
            <a:chOff x="2819539" y="1511553"/>
            <a:chExt cx="3975735" cy="2070100"/>
          </a:xfrm>
        </p:grpSpPr>
        <p:sp>
          <p:nvSpPr>
            <p:cNvPr id="22" name="object 22"/>
            <p:cNvSpPr/>
            <p:nvPr/>
          </p:nvSpPr>
          <p:spPr>
            <a:xfrm>
              <a:off x="2819539" y="3162045"/>
              <a:ext cx="3810000" cy="419100"/>
            </a:xfrm>
            <a:custGeom>
              <a:avLst/>
              <a:gdLst/>
              <a:ahLst/>
              <a:cxnLst/>
              <a:rect l="l" t="t" r="r" b="b"/>
              <a:pathLst>
                <a:path w="3810000" h="419100">
                  <a:moveTo>
                    <a:pt x="3810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1283208" y="76200"/>
                  </a:lnTo>
                  <a:lnTo>
                    <a:pt x="1283208" y="419100"/>
                  </a:lnTo>
                  <a:lnTo>
                    <a:pt x="1308354" y="419100"/>
                  </a:lnTo>
                  <a:lnTo>
                    <a:pt x="1308354" y="76200"/>
                  </a:lnTo>
                  <a:lnTo>
                    <a:pt x="3810000" y="7620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67526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55335" y="1511553"/>
              <a:ext cx="787400" cy="1689100"/>
            </a:xfrm>
            <a:custGeom>
              <a:avLst/>
              <a:gdLst/>
              <a:ahLst/>
              <a:cxnLst/>
              <a:rect l="l" t="t" r="r" b="b"/>
              <a:pathLst>
                <a:path w="787400" h="1689100">
                  <a:moveTo>
                    <a:pt x="406158" y="1383792"/>
                  </a:moveTo>
                  <a:lnTo>
                    <a:pt x="381012" y="1383792"/>
                  </a:lnTo>
                  <a:lnTo>
                    <a:pt x="381012" y="1688592"/>
                  </a:lnTo>
                  <a:lnTo>
                    <a:pt x="406158" y="1688592"/>
                  </a:lnTo>
                  <a:lnTo>
                    <a:pt x="406158" y="1383792"/>
                  </a:lnTo>
                  <a:close/>
                </a:path>
                <a:path w="787400" h="1689100">
                  <a:moveTo>
                    <a:pt x="787146" y="393192"/>
                  </a:moveTo>
                  <a:lnTo>
                    <a:pt x="784860" y="352806"/>
                  </a:lnTo>
                  <a:lnTo>
                    <a:pt x="771842" y="283933"/>
                  </a:lnTo>
                  <a:lnTo>
                    <a:pt x="762000" y="256400"/>
                  </a:lnTo>
                  <a:lnTo>
                    <a:pt x="762000" y="393954"/>
                  </a:lnTo>
                  <a:lnTo>
                    <a:pt x="761238" y="413004"/>
                  </a:lnTo>
                  <a:lnTo>
                    <a:pt x="755586" y="455828"/>
                  </a:lnTo>
                  <a:lnTo>
                    <a:pt x="746366" y="495896"/>
                  </a:lnTo>
                  <a:lnTo>
                    <a:pt x="733793" y="533196"/>
                  </a:lnTo>
                  <a:lnTo>
                    <a:pt x="699617" y="599427"/>
                  </a:lnTo>
                  <a:lnTo>
                    <a:pt x="655015" y="654443"/>
                  </a:lnTo>
                  <a:lnTo>
                    <a:pt x="601865" y="698195"/>
                  </a:lnTo>
                  <a:lnTo>
                    <a:pt x="542442" y="730415"/>
                  </a:lnTo>
                  <a:lnTo>
                    <a:pt x="478396" y="751192"/>
                  </a:lnTo>
                  <a:lnTo>
                    <a:pt x="413766" y="760171"/>
                  </a:lnTo>
                  <a:lnTo>
                    <a:pt x="413004" y="760247"/>
                  </a:lnTo>
                  <a:lnTo>
                    <a:pt x="411810" y="760349"/>
                  </a:lnTo>
                  <a:lnTo>
                    <a:pt x="393954" y="760463"/>
                  </a:lnTo>
                  <a:lnTo>
                    <a:pt x="378167" y="760552"/>
                  </a:lnTo>
                  <a:lnTo>
                    <a:pt x="345287" y="757872"/>
                  </a:lnTo>
                  <a:lnTo>
                    <a:pt x="344639" y="757821"/>
                  </a:lnTo>
                  <a:lnTo>
                    <a:pt x="278853" y="743496"/>
                  </a:lnTo>
                  <a:lnTo>
                    <a:pt x="216420" y="717270"/>
                  </a:lnTo>
                  <a:lnTo>
                    <a:pt x="159308" y="679069"/>
                  </a:lnTo>
                  <a:lnTo>
                    <a:pt x="109474" y="628789"/>
                  </a:lnTo>
                  <a:lnTo>
                    <a:pt x="68910" y="566318"/>
                  </a:lnTo>
                  <a:lnTo>
                    <a:pt x="52705" y="530491"/>
                  </a:lnTo>
                  <a:lnTo>
                    <a:pt x="39560" y="491591"/>
                  </a:lnTo>
                  <a:lnTo>
                    <a:pt x="29718" y="449580"/>
                  </a:lnTo>
                  <a:lnTo>
                    <a:pt x="25146" y="393192"/>
                  </a:lnTo>
                  <a:lnTo>
                    <a:pt x="25908" y="374142"/>
                  </a:lnTo>
                  <a:lnTo>
                    <a:pt x="40233" y="289229"/>
                  </a:lnTo>
                  <a:lnTo>
                    <a:pt x="56680" y="244309"/>
                  </a:lnTo>
                  <a:lnTo>
                    <a:pt x="78587" y="202438"/>
                  </a:lnTo>
                  <a:lnTo>
                    <a:pt x="105486" y="164020"/>
                  </a:lnTo>
                  <a:lnTo>
                    <a:pt x="136893" y="129438"/>
                  </a:lnTo>
                  <a:lnTo>
                    <a:pt x="172351" y="99110"/>
                  </a:lnTo>
                  <a:lnTo>
                    <a:pt x="211391" y="73431"/>
                  </a:lnTo>
                  <a:lnTo>
                    <a:pt x="253542" y="52793"/>
                  </a:lnTo>
                  <a:lnTo>
                    <a:pt x="298323" y="37604"/>
                  </a:lnTo>
                  <a:lnTo>
                    <a:pt x="345287" y="28257"/>
                  </a:lnTo>
                  <a:lnTo>
                    <a:pt x="393954" y="25146"/>
                  </a:lnTo>
                  <a:lnTo>
                    <a:pt x="411810" y="25869"/>
                  </a:lnTo>
                  <a:lnTo>
                    <a:pt x="477291" y="34823"/>
                  </a:lnTo>
                  <a:lnTo>
                    <a:pt x="521335" y="47955"/>
                  </a:lnTo>
                  <a:lnTo>
                    <a:pt x="563003" y="66421"/>
                  </a:lnTo>
                  <a:lnTo>
                    <a:pt x="601865" y="89801"/>
                  </a:lnTo>
                  <a:lnTo>
                    <a:pt x="637501" y="117678"/>
                  </a:lnTo>
                  <a:lnTo>
                    <a:pt x="669480" y="149631"/>
                  </a:lnTo>
                  <a:lnTo>
                    <a:pt x="697382" y="185242"/>
                  </a:lnTo>
                  <a:lnTo>
                    <a:pt x="720775" y="224091"/>
                  </a:lnTo>
                  <a:lnTo>
                    <a:pt x="739254" y="265747"/>
                  </a:lnTo>
                  <a:lnTo>
                    <a:pt x="752373" y="309816"/>
                  </a:lnTo>
                  <a:lnTo>
                    <a:pt x="759714" y="355854"/>
                  </a:lnTo>
                  <a:lnTo>
                    <a:pt x="762000" y="393954"/>
                  </a:lnTo>
                  <a:lnTo>
                    <a:pt x="762000" y="256400"/>
                  </a:lnTo>
                  <a:lnTo>
                    <a:pt x="733259" y="194132"/>
                  </a:lnTo>
                  <a:lnTo>
                    <a:pt x="706259" y="154114"/>
                  </a:lnTo>
                  <a:lnTo>
                    <a:pt x="674700" y="117868"/>
                  </a:lnTo>
                  <a:lnTo>
                    <a:pt x="639025" y="85750"/>
                  </a:lnTo>
                  <a:lnTo>
                    <a:pt x="599643" y="58127"/>
                  </a:lnTo>
                  <a:lnTo>
                    <a:pt x="556983" y="35369"/>
                  </a:lnTo>
                  <a:lnTo>
                    <a:pt x="511505" y="17856"/>
                  </a:lnTo>
                  <a:lnTo>
                    <a:pt x="463613" y="5943"/>
                  </a:lnTo>
                  <a:lnTo>
                    <a:pt x="413766" y="0"/>
                  </a:lnTo>
                  <a:lnTo>
                    <a:pt x="372618" y="0"/>
                  </a:lnTo>
                  <a:lnTo>
                    <a:pt x="322732" y="5956"/>
                  </a:lnTo>
                  <a:lnTo>
                    <a:pt x="274866" y="17932"/>
                  </a:lnTo>
                  <a:lnTo>
                    <a:pt x="229425" y="35534"/>
                  </a:lnTo>
                  <a:lnTo>
                    <a:pt x="187071" y="58267"/>
                  </a:lnTo>
                  <a:lnTo>
                    <a:pt x="186855" y="58381"/>
                  </a:lnTo>
                  <a:lnTo>
                    <a:pt x="147561" y="86118"/>
                  </a:lnTo>
                  <a:lnTo>
                    <a:pt x="111963" y="118351"/>
                  </a:lnTo>
                  <a:lnTo>
                    <a:pt x="80518" y="154698"/>
                  </a:lnTo>
                  <a:lnTo>
                    <a:pt x="53619" y="194805"/>
                  </a:lnTo>
                  <a:lnTo>
                    <a:pt x="31711" y="238264"/>
                  </a:lnTo>
                  <a:lnTo>
                    <a:pt x="15227" y="284708"/>
                  </a:lnTo>
                  <a:lnTo>
                    <a:pt x="4572" y="333756"/>
                  </a:lnTo>
                  <a:lnTo>
                    <a:pt x="0" y="373380"/>
                  </a:lnTo>
                  <a:lnTo>
                    <a:pt x="0" y="413766"/>
                  </a:lnTo>
                  <a:lnTo>
                    <a:pt x="1524" y="434340"/>
                  </a:lnTo>
                  <a:lnTo>
                    <a:pt x="7620" y="473202"/>
                  </a:lnTo>
                  <a:lnTo>
                    <a:pt x="20142" y="519303"/>
                  </a:lnTo>
                  <a:lnTo>
                    <a:pt x="25146" y="531571"/>
                  </a:lnTo>
                  <a:lnTo>
                    <a:pt x="37884" y="562864"/>
                  </a:lnTo>
                  <a:lnTo>
                    <a:pt x="60426" y="603542"/>
                  </a:lnTo>
                  <a:lnTo>
                    <a:pt x="87376" y="641032"/>
                  </a:lnTo>
                  <a:lnTo>
                    <a:pt x="118338" y="674992"/>
                  </a:lnTo>
                  <a:lnTo>
                    <a:pt x="152895" y="705091"/>
                  </a:lnTo>
                  <a:lnTo>
                    <a:pt x="190677" y="731012"/>
                  </a:lnTo>
                  <a:lnTo>
                    <a:pt x="231267" y="752411"/>
                  </a:lnTo>
                  <a:lnTo>
                    <a:pt x="274269" y="768985"/>
                  </a:lnTo>
                  <a:lnTo>
                    <a:pt x="319278" y="780389"/>
                  </a:lnTo>
                  <a:lnTo>
                    <a:pt x="365912" y="786295"/>
                  </a:lnTo>
                  <a:lnTo>
                    <a:pt x="381012" y="786333"/>
                  </a:lnTo>
                  <a:lnTo>
                    <a:pt x="381012" y="1002792"/>
                  </a:lnTo>
                  <a:lnTo>
                    <a:pt x="406158" y="1002792"/>
                  </a:lnTo>
                  <a:lnTo>
                    <a:pt x="406158" y="786371"/>
                  </a:lnTo>
                  <a:lnTo>
                    <a:pt x="413766" y="786384"/>
                  </a:lnTo>
                  <a:lnTo>
                    <a:pt x="454152" y="782574"/>
                  </a:lnTo>
                  <a:lnTo>
                    <a:pt x="503148" y="771867"/>
                  </a:lnTo>
                  <a:lnTo>
                    <a:pt x="549541" y="755281"/>
                  </a:lnTo>
                  <a:lnTo>
                    <a:pt x="592937" y="733272"/>
                  </a:lnTo>
                  <a:lnTo>
                    <a:pt x="632955" y="706272"/>
                  </a:lnTo>
                  <a:lnTo>
                    <a:pt x="669213" y="674700"/>
                  </a:lnTo>
                  <a:lnTo>
                    <a:pt x="701370" y="639000"/>
                  </a:lnTo>
                  <a:lnTo>
                    <a:pt x="729018" y="599605"/>
                  </a:lnTo>
                  <a:lnTo>
                    <a:pt x="751789" y="556958"/>
                  </a:lnTo>
                  <a:lnTo>
                    <a:pt x="769327" y="511479"/>
                  </a:lnTo>
                  <a:lnTo>
                    <a:pt x="781227" y="463600"/>
                  </a:lnTo>
                  <a:lnTo>
                    <a:pt x="787146" y="413766"/>
                  </a:lnTo>
                  <a:lnTo>
                    <a:pt x="787146" y="393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91326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79135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5"/>
                  </a:lnTo>
                  <a:lnTo>
                    <a:pt x="12192" y="406145"/>
                  </a:lnTo>
                  <a:lnTo>
                    <a:pt x="12192" y="25145"/>
                  </a:lnTo>
                  <a:lnTo>
                    <a:pt x="25158" y="12191"/>
                  </a:lnTo>
                  <a:lnTo>
                    <a:pt x="25158" y="25145"/>
                  </a:lnTo>
                  <a:lnTo>
                    <a:pt x="990612" y="25145"/>
                  </a:lnTo>
                  <a:lnTo>
                    <a:pt x="990612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58" y="25145"/>
                  </a:moveTo>
                  <a:lnTo>
                    <a:pt x="25158" y="12191"/>
                  </a:lnTo>
                  <a:lnTo>
                    <a:pt x="12192" y="25145"/>
                  </a:lnTo>
                  <a:lnTo>
                    <a:pt x="25158" y="25145"/>
                  </a:lnTo>
                  <a:close/>
                </a:path>
                <a:path w="1016000" h="406400">
                  <a:moveTo>
                    <a:pt x="25158" y="381000"/>
                  </a:moveTo>
                  <a:lnTo>
                    <a:pt x="25158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58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58" y="393191"/>
                  </a:lnTo>
                  <a:lnTo>
                    <a:pt x="25158" y="406145"/>
                  </a:lnTo>
                  <a:lnTo>
                    <a:pt x="990612" y="406145"/>
                  </a:lnTo>
                  <a:lnTo>
                    <a:pt x="990612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58" y="406145"/>
                  </a:moveTo>
                  <a:lnTo>
                    <a:pt x="25158" y="393191"/>
                  </a:lnTo>
                  <a:lnTo>
                    <a:pt x="12192" y="381000"/>
                  </a:lnTo>
                  <a:lnTo>
                    <a:pt x="12192" y="406145"/>
                  </a:lnTo>
                  <a:lnTo>
                    <a:pt x="25158" y="406145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12" y="12191"/>
                  </a:lnTo>
                  <a:lnTo>
                    <a:pt x="990612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12" y="25145"/>
                  </a:lnTo>
                  <a:lnTo>
                    <a:pt x="990612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12" y="393191"/>
                  </a:lnTo>
                  <a:lnTo>
                    <a:pt x="990612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887349" y="2851404"/>
            <a:ext cx="4000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256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935349" y="2546604"/>
            <a:ext cx="10375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r>
              <a:rPr sz="1600" spc="-20" dirty="0">
                <a:solidFill>
                  <a:srgbClr val="7D9CE8"/>
                </a:solidFill>
                <a:latin typeface="Verdana"/>
                <a:cs typeface="Verdana"/>
              </a:rPr>
              <a:t> (Inv)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63662" y="361331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u=7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58556" y="2546604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048139" y="2133345"/>
            <a:ext cx="152400" cy="457200"/>
          </a:xfrm>
          <a:custGeom>
            <a:avLst/>
            <a:gdLst/>
            <a:ahLst/>
            <a:cxnLst/>
            <a:rect l="l" t="t" r="r" b="b"/>
            <a:pathLst>
              <a:path w="152400" h="457200">
                <a:moveTo>
                  <a:pt x="152400" y="152400"/>
                </a:moveTo>
                <a:lnTo>
                  <a:pt x="76200" y="0"/>
                </a:lnTo>
                <a:lnTo>
                  <a:pt x="0" y="152400"/>
                </a:lnTo>
                <a:lnTo>
                  <a:pt x="51053" y="152400"/>
                </a:lnTo>
                <a:lnTo>
                  <a:pt x="51053" y="127254"/>
                </a:lnTo>
                <a:lnTo>
                  <a:pt x="102107" y="127254"/>
                </a:lnTo>
                <a:lnTo>
                  <a:pt x="102107" y="152400"/>
                </a:lnTo>
                <a:lnTo>
                  <a:pt x="152400" y="152400"/>
                </a:lnTo>
                <a:close/>
              </a:path>
              <a:path w="152400" h="457200">
                <a:moveTo>
                  <a:pt x="102107" y="152400"/>
                </a:moveTo>
                <a:lnTo>
                  <a:pt x="102107" y="127254"/>
                </a:lnTo>
                <a:lnTo>
                  <a:pt x="51053" y="127254"/>
                </a:lnTo>
                <a:lnTo>
                  <a:pt x="51053" y="152400"/>
                </a:lnTo>
                <a:lnTo>
                  <a:pt x="102107" y="152400"/>
                </a:lnTo>
                <a:close/>
              </a:path>
              <a:path w="152400" h="457200">
                <a:moveTo>
                  <a:pt x="102107" y="457200"/>
                </a:moveTo>
                <a:lnTo>
                  <a:pt x="102107" y="152400"/>
                </a:lnTo>
                <a:lnTo>
                  <a:pt x="51053" y="152400"/>
                </a:lnTo>
                <a:lnTo>
                  <a:pt x="51053" y="457200"/>
                </a:lnTo>
                <a:lnTo>
                  <a:pt x="102107" y="457200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350649" y="1598393"/>
            <a:ext cx="4053840" cy="83693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732155">
              <a:lnSpc>
                <a:spcPct val="100000"/>
              </a:lnSpc>
              <a:spcBef>
                <a:spcPts val="1320"/>
              </a:spcBef>
              <a:tabLst>
                <a:tab pos="2408555" algn="l"/>
                <a:tab pos="3780154" algn="l"/>
              </a:tabLst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2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3</a:t>
            </a:r>
            <a:endParaRPr sz="1800" baseline="-20833">
              <a:latin typeface="Verdana"/>
              <a:cs typeface="Verdana"/>
            </a:endParaRPr>
          </a:p>
          <a:p>
            <a:pPr marL="25400">
              <a:lnSpc>
                <a:spcPct val="100000"/>
              </a:lnSpc>
              <a:spcBef>
                <a:spcPts val="1085"/>
              </a:spcBef>
            </a:pPr>
            <a:r>
              <a:rPr sz="1600" spc="-20" dirty="0">
                <a:solidFill>
                  <a:srgbClr val="D8D8EC"/>
                </a:solidFill>
                <a:latin typeface="Verdana"/>
                <a:cs typeface="Verdana"/>
              </a:rPr>
              <a:t>Read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</a:t>
            </a:r>
            <a:r>
              <a:rPr spc="-25" dirty="0"/>
              <a:t>(Write-</a:t>
            </a:r>
            <a:r>
              <a:rPr dirty="0"/>
              <a:t>Through</a:t>
            </a:r>
            <a:r>
              <a:rPr spc="-85" dirty="0"/>
              <a:t> </a:t>
            </a:r>
            <a:r>
              <a:rPr spc="-10" dirty="0"/>
              <a:t>Cache)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4143449"/>
            <a:ext cx="7893684" cy="105283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835"/>
              </a:spcBef>
              <a:buClr>
                <a:srgbClr val="330065"/>
              </a:buClr>
              <a:buSzPct val="70000"/>
              <a:buAutoNum type="arabicPeriod" startAt="5"/>
              <a:tabLst>
                <a:tab pos="469265" algn="l"/>
              </a:tabLst>
            </a:pPr>
            <a:r>
              <a:rPr sz="3000" dirty="0">
                <a:latin typeface="Arial MT"/>
                <a:cs typeface="Arial MT"/>
              </a:rPr>
              <a:t>P2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reads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location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u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from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main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memory</a:t>
            </a:r>
            <a:endParaRPr sz="3000">
              <a:latin typeface="Arial MT"/>
              <a:cs typeface="Arial MT"/>
            </a:endParaRPr>
          </a:p>
          <a:p>
            <a:pPr marL="850265" lvl="1" indent="-380365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850265" algn="l"/>
              </a:tabLst>
            </a:pPr>
            <a:r>
              <a:rPr sz="2600" dirty="0">
                <a:latin typeface="Arial MT"/>
                <a:cs typeface="Arial MT"/>
              </a:rPr>
              <a:t>P2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reads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value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from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main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memory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(u=7)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54947" y="1511553"/>
            <a:ext cx="2692400" cy="2463800"/>
            <a:chOff x="2654947" y="1511553"/>
            <a:chExt cx="2692400" cy="2463800"/>
          </a:xfrm>
        </p:grpSpPr>
        <p:sp>
          <p:nvSpPr>
            <p:cNvPr id="5" name="object 5"/>
            <p:cNvSpPr/>
            <p:nvPr/>
          </p:nvSpPr>
          <p:spPr>
            <a:xfrm>
              <a:off x="28195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073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59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837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67139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54947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6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6"/>
                  </a:lnTo>
                  <a:lnTo>
                    <a:pt x="10027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71939" y="3581146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59747" y="3568953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92" y="25146"/>
                  </a:lnTo>
                  <a:lnTo>
                    <a:pt x="2374392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92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92" y="25146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2374392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374392" y="406146"/>
                  </a:moveTo>
                  <a:lnTo>
                    <a:pt x="2374392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70713" y="36202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819539" y="1511553"/>
            <a:ext cx="3975735" cy="2070100"/>
            <a:chOff x="2819539" y="1511553"/>
            <a:chExt cx="3975735" cy="2070100"/>
          </a:xfrm>
        </p:grpSpPr>
        <p:sp>
          <p:nvSpPr>
            <p:cNvPr id="15" name="object 15"/>
            <p:cNvSpPr/>
            <p:nvPr/>
          </p:nvSpPr>
          <p:spPr>
            <a:xfrm>
              <a:off x="3188347" y="2285745"/>
              <a:ext cx="1701800" cy="914400"/>
            </a:xfrm>
            <a:custGeom>
              <a:avLst/>
              <a:gdLst/>
              <a:ahLst/>
              <a:cxnLst/>
              <a:rect l="l" t="t" r="r" b="b"/>
              <a:pathLst>
                <a:path w="17018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17018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  <a:path w="1701800" h="914400">
                  <a:moveTo>
                    <a:pt x="1701546" y="609600"/>
                  </a:moveTo>
                  <a:lnTo>
                    <a:pt x="1676400" y="609600"/>
                  </a:lnTo>
                  <a:lnTo>
                    <a:pt x="1676400" y="914400"/>
                  </a:lnTo>
                  <a:lnTo>
                    <a:pt x="1701546" y="914400"/>
                  </a:lnTo>
                  <a:lnTo>
                    <a:pt x="1701546" y="609600"/>
                  </a:lnTo>
                  <a:close/>
                </a:path>
                <a:path w="1701800" h="914400">
                  <a:moveTo>
                    <a:pt x="1701546" y="0"/>
                  </a:moveTo>
                  <a:lnTo>
                    <a:pt x="1676400" y="0"/>
                  </a:lnTo>
                  <a:lnTo>
                    <a:pt x="1676400" y="228600"/>
                  </a:lnTo>
                  <a:lnTo>
                    <a:pt x="1701546" y="228600"/>
                  </a:lnTo>
                  <a:lnTo>
                    <a:pt x="17015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19739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19539" y="2502153"/>
              <a:ext cx="3810000" cy="1079500"/>
            </a:xfrm>
            <a:custGeom>
              <a:avLst/>
              <a:gdLst/>
              <a:ahLst/>
              <a:cxnLst/>
              <a:rect l="l" t="t" r="r" b="b"/>
              <a:pathLst>
                <a:path w="3810000" h="1079500">
                  <a:moveTo>
                    <a:pt x="2603754" y="0"/>
                  </a:moveTo>
                  <a:lnTo>
                    <a:pt x="2578608" y="0"/>
                  </a:lnTo>
                  <a:lnTo>
                    <a:pt x="2578608" y="25146"/>
                  </a:lnTo>
                  <a:lnTo>
                    <a:pt x="2578608" y="381000"/>
                  </a:lnTo>
                  <a:lnTo>
                    <a:pt x="1613154" y="381000"/>
                  </a:lnTo>
                  <a:lnTo>
                    <a:pt x="1613154" y="25146"/>
                  </a:lnTo>
                  <a:lnTo>
                    <a:pt x="2578608" y="25146"/>
                  </a:lnTo>
                  <a:lnTo>
                    <a:pt x="2578608" y="0"/>
                  </a:lnTo>
                  <a:lnTo>
                    <a:pt x="1588008" y="0"/>
                  </a:lnTo>
                  <a:lnTo>
                    <a:pt x="1588008" y="406146"/>
                  </a:lnTo>
                  <a:lnTo>
                    <a:pt x="1600200" y="406146"/>
                  </a:lnTo>
                  <a:lnTo>
                    <a:pt x="1613154" y="406146"/>
                  </a:lnTo>
                  <a:lnTo>
                    <a:pt x="2578608" y="406146"/>
                  </a:lnTo>
                  <a:lnTo>
                    <a:pt x="2590800" y="406146"/>
                  </a:lnTo>
                  <a:lnTo>
                    <a:pt x="2603754" y="406146"/>
                  </a:lnTo>
                  <a:lnTo>
                    <a:pt x="2603754" y="0"/>
                  </a:lnTo>
                  <a:close/>
                </a:path>
                <a:path w="3810000" h="1079500">
                  <a:moveTo>
                    <a:pt x="3810000" y="659892"/>
                  </a:moveTo>
                  <a:lnTo>
                    <a:pt x="0" y="659892"/>
                  </a:lnTo>
                  <a:lnTo>
                    <a:pt x="0" y="736092"/>
                  </a:lnTo>
                  <a:lnTo>
                    <a:pt x="1283208" y="736092"/>
                  </a:lnTo>
                  <a:lnTo>
                    <a:pt x="1283208" y="1078992"/>
                  </a:lnTo>
                  <a:lnTo>
                    <a:pt x="1308354" y="1078992"/>
                  </a:lnTo>
                  <a:lnTo>
                    <a:pt x="1308354" y="736092"/>
                  </a:lnTo>
                  <a:lnTo>
                    <a:pt x="3810000" y="736092"/>
                  </a:lnTo>
                  <a:lnTo>
                    <a:pt x="3810000" y="6598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67526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55335" y="1511553"/>
              <a:ext cx="787400" cy="1689100"/>
            </a:xfrm>
            <a:custGeom>
              <a:avLst/>
              <a:gdLst/>
              <a:ahLst/>
              <a:cxnLst/>
              <a:rect l="l" t="t" r="r" b="b"/>
              <a:pathLst>
                <a:path w="787400" h="1689100">
                  <a:moveTo>
                    <a:pt x="406158" y="1383792"/>
                  </a:moveTo>
                  <a:lnTo>
                    <a:pt x="381012" y="1383792"/>
                  </a:lnTo>
                  <a:lnTo>
                    <a:pt x="381012" y="1688592"/>
                  </a:lnTo>
                  <a:lnTo>
                    <a:pt x="406158" y="1688592"/>
                  </a:lnTo>
                  <a:lnTo>
                    <a:pt x="406158" y="1383792"/>
                  </a:lnTo>
                  <a:close/>
                </a:path>
                <a:path w="787400" h="1689100">
                  <a:moveTo>
                    <a:pt x="787146" y="393192"/>
                  </a:moveTo>
                  <a:lnTo>
                    <a:pt x="784860" y="352806"/>
                  </a:lnTo>
                  <a:lnTo>
                    <a:pt x="771842" y="283933"/>
                  </a:lnTo>
                  <a:lnTo>
                    <a:pt x="762000" y="256400"/>
                  </a:lnTo>
                  <a:lnTo>
                    <a:pt x="762000" y="393954"/>
                  </a:lnTo>
                  <a:lnTo>
                    <a:pt x="761238" y="413004"/>
                  </a:lnTo>
                  <a:lnTo>
                    <a:pt x="755586" y="455828"/>
                  </a:lnTo>
                  <a:lnTo>
                    <a:pt x="746366" y="495896"/>
                  </a:lnTo>
                  <a:lnTo>
                    <a:pt x="733793" y="533196"/>
                  </a:lnTo>
                  <a:lnTo>
                    <a:pt x="699617" y="599427"/>
                  </a:lnTo>
                  <a:lnTo>
                    <a:pt x="655015" y="654443"/>
                  </a:lnTo>
                  <a:lnTo>
                    <a:pt x="601865" y="698195"/>
                  </a:lnTo>
                  <a:lnTo>
                    <a:pt x="542442" y="730415"/>
                  </a:lnTo>
                  <a:lnTo>
                    <a:pt x="478396" y="751192"/>
                  </a:lnTo>
                  <a:lnTo>
                    <a:pt x="413766" y="760171"/>
                  </a:lnTo>
                  <a:lnTo>
                    <a:pt x="413004" y="760247"/>
                  </a:lnTo>
                  <a:lnTo>
                    <a:pt x="411810" y="760349"/>
                  </a:lnTo>
                  <a:lnTo>
                    <a:pt x="393954" y="760463"/>
                  </a:lnTo>
                  <a:lnTo>
                    <a:pt x="378167" y="760552"/>
                  </a:lnTo>
                  <a:lnTo>
                    <a:pt x="345287" y="757872"/>
                  </a:lnTo>
                  <a:lnTo>
                    <a:pt x="344639" y="757821"/>
                  </a:lnTo>
                  <a:lnTo>
                    <a:pt x="278853" y="743496"/>
                  </a:lnTo>
                  <a:lnTo>
                    <a:pt x="216420" y="717270"/>
                  </a:lnTo>
                  <a:lnTo>
                    <a:pt x="159308" y="679069"/>
                  </a:lnTo>
                  <a:lnTo>
                    <a:pt x="109474" y="628789"/>
                  </a:lnTo>
                  <a:lnTo>
                    <a:pt x="68910" y="566318"/>
                  </a:lnTo>
                  <a:lnTo>
                    <a:pt x="52705" y="530491"/>
                  </a:lnTo>
                  <a:lnTo>
                    <a:pt x="39560" y="491591"/>
                  </a:lnTo>
                  <a:lnTo>
                    <a:pt x="29718" y="449580"/>
                  </a:lnTo>
                  <a:lnTo>
                    <a:pt x="25146" y="393192"/>
                  </a:lnTo>
                  <a:lnTo>
                    <a:pt x="25908" y="374142"/>
                  </a:lnTo>
                  <a:lnTo>
                    <a:pt x="40233" y="289229"/>
                  </a:lnTo>
                  <a:lnTo>
                    <a:pt x="56680" y="244309"/>
                  </a:lnTo>
                  <a:lnTo>
                    <a:pt x="78587" y="202438"/>
                  </a:lnTo>
                  <a:lnTo>
                    <a:pt x="105486" y="164020"/>
                  </a:lnTo>
                  <a:lnTo>
                    <a:pt x="136893" y="129438"/>
                  </a:lnTo>
                  <a:lnTo>
                    <a:pt x="172351" y="99110"/>
                  </a:lnTo>
                  <a:lnTo>
                    <a:pt x="211391" y="73431"/>
                  </a:lnTo>
                  <a:lnTo>
                    <a:pt x="253542" y="52793"/>
                  </a:lnTo>
                  <a:lnTo>
                    <a:pt x="298323" y="37604"/>
                  </a:lnTo>
                  <a:lnTo>
                    <a:pt x="345287" y="28257"/>
                  </a:lnTo>
                  <a:lnTo>
                    <a:pt x="393954" y="25146"/>
                  </a:lnTo>
                  <a:lnTo>
                    <a:pt x="411810" y="25869"/>
                  </a:lnTo>
                  <a:lnTo>
                    <a:pt x="477291" y="34823"/>
                  </a:lnTo>
                  <a:lnTo>
                    <a:pt x="521335" y="47955"/>
                  </a:lnTo>
                  <a:lnTo>
                    <a:pt x="563003" y="66421"/>
                  </a:lnTo>
                  <a:lnTo>
                    <a:pt x="601865" y="89801"/>
                  </a:lnTo>
                  <a:lnTo>
                    <a:pt x="637501" y="117678"/>
                  </a:lnTo>
                  <a:lnTo>
                    <a:pt x="669480" y="149631"/>
                  </a:lnTo>
                  <a:lnTo>
                    <a:pt x="697382" y="185242"/>
                  </a:lnTo>
                  <a:lnTo>
                    <a:pt x="720775" y="224091"/>
                  </a:lnTo>
                  <a:lnTo>
                    <a:pt x="739254" y="265747"/>
                  </a:lnTo>
                  <a:lnTo>
                    <a:pt x="752373" y="309816"/>
                  </a:lnTo>
                  <a:lnTo>
                    <a:pt x="759714" y="355854"/>
                  </a:lnTo>
                  <a:lnTo>
                    <a:pt x="762000" y="393954"/>
                  </a:lnTo>
                  <a:lnTo>
                    <a:pt x="762000" y="256400"/>
                  </a:lnTo>
                  <a:lnTo>
                    <a:pt x="733259" y="194132"/>
                  </a:lnTo>
                  <a:lnTo>
                    <a:pt x="706259" y="154114"/>
                  </a:lnTo>
                  <a:lnTo>
                    <a:pt x="674700" y="117868"/>
                  </a:lnTo>
                  <a:lnTo>
                    <a:pt x="639025" y="85750"/>
                  </a:lnTo>
                  <a:lnTo>
                    <a:pt x="599643" y="58127"/>
                  </a:lnTo>
                  <a:lnTo>
                    <a:pt x="556983" y="35369"/>
                  </a:lnTo>
                  <a:lnTo>
                    <a:pt x="511505" y="17856"/>
                  </a:lnTo>
                  <a:lnTo>
                    <a:pt x="463613" y="5943"/>
                  </a:lnTo>
                  <a:lnTo>
                    <a:pt x="413766" y="0"/>
                  </a:lnTo>
                  <a:lnTo>
                    <a:pt x="372618" y="0"/>
                  </a:lnTo>
                  <a:lnTo>
                    <a:pt x="322732" y="5956"/>
                  </a:lnTo>
                  <a:lnTo>
                    <a:pt x="274866" y="17932"/>
                  </a:lnTo>
                  <a:lnTo>
                    <a:pt x="229425" y="35534"/>
                  </a:lnTo>
                  <a:lnTo>
                    <a:pt x="187071" y="58267"/>
                  </a:lnTo>
                  <a:lnTo>
                    <a:pt x="186855" y="58381"/>
                  </a:lnTo>
                  <a:lnTo>
                    <a:pt x="147561" y="86118"/>
                  </a:lnTo>
                  <a:lnTo>
                    <a:pt x="111963" y="118351"/>
                  </a:lnTo>
                  <a:lnTo>
                    <a:pt x="80518" y="154698"/>
                  </a:lnTo>
                  <a:lnTo>
                    <a:pt x="53619" y="194805"/>
                  </a:lnTo>
                  <a:lnTo>
                    <a:pt x="31711" y="238264"/>
                  </a:lnTo>
                  <a:lnTo>
                    <a:pt x="15227" y="284708"/>
                  </a:lnTo>
                  <a:lnTo>
                    <a:pt x="4572" y="333756"/>
                  </a:lnTo>
                  <a:lnTo>
                    <a:pt x="0" y="373380"/>
                  </a:lnTo>
                  <a:lnTo>
                    <a:pt x="0" y="413766"/>
                  </a:lnTo>
                  <a:lnTo>
                    <a:pt x="1524" y="434340"/>
                  </a:lnTo>
                  <a:lnTo>
                    <a:pt x="7620" y="473202"/>
                  </a:lnTo>
                  <a:lnTo>
                    <a:pt x="20142" y="519303"/>
                  </a:lnTo>
                  <a:lnTo>
                    <a:pt x="25146" y="531571"/>
                  </a:lnTo>
                  <a:lnTo>
                    <a:pt x="37884" y="562864"/>
                  </a:lnTo>
                  <a:lnTo>
                    <a:pt x="60426" y="603542"/>
                  </a:lnTo>
                  <a:lnTo>
                    <a:pt x="87376" y="641032"/>
                  </a:lnTo>
                  <a:lnTo>
                    <a:pt x="118338" y="674992"/>
                  </a:lnTo>
                  <a:lnTo>
                    <a:pt x="152895" y="705091"/>
                  </a:lnTo>
                  <a:lnTo>
                    <a:pt x="190677" y="731012"/>
                  </a:lnTo>
                  <a:lnTo>
                    <a:pt x="231267" y="752411"/>
                  </a:lnTo>
                  <a:lnTo>
                    <a:pt x="274269" y="768985"/>
                  </a:lnTo>
                  <a:lnTo>
                    <a:pt x="319278" y="780389"/>
                  </a:lnTo>
                  <a:lnTo>
                    <a:pt x="365912" y="786295"/>
                  </a:lnTo>
                  <a:lnTo>
                    <a:pt x="381012" y="786333"/>
                  </a:lnTo>
                  <a:lnTo>
                    <a:pt x="381012" y="1002792"/>
                  </a:lnTo>
                  <a:lnTo>
                    <a:pt x="406158" y="1002792"/>
                  </a:lnTo>
                  <a:lnTo>
                    <a:pt x="406158" y="786371"/>
                  </a:lnTo>
                  <a:lnTo>
                    <a:pt x="413766" y="786384"/>
                  </a:lnTo>
                  <a:lnTo>
                    <a:pt x="454152" y="782574"/>
                  </a:lnTo>
                  <a:lnTo>
                    <a:pt x="503148" y="771867"/>
                  </a:lnTo>
                  <a:lnTo>
                    <a:pt x="549541" y="755281"/>
                  </a:lnTo>
                  <a:lnTo>
                    <a:pt x="592937" y="733272"/>
                  </a:lnTo>
                  <a:lnTo>
                    <a:pt x="632955" y="706272"/>
                  </a:lnTo>
                  <a:lnTo>
                    <a:pt x="669213" y="674700"/>
                  </a:lnTo>
                  <a:lnTo>
                    <a:pt x="701370" y="639000"/>
                  </a:lnTo>
                  <a:lnTo>
                    <a:pt x="729018" y="599605"/>
                  </a:lnTo>
                  <a:lnTo>
                    <a:pt x="751789" y="556958"/>
                  </a:lnTo>
                  <a:lnTo>
                    <a:pt x="769327" y="511479"/>
                  </a:lnTo>
                  <a:lnTo>
                    <a:pt x="781227" y="463600"/>
                  </a:lnTo>
                  <a:lnTo>
                    <a:pt x="787146" y="413766"/>
                  </a:lnTo>
                  <a:lnTo>
                    <a:pt x="787146" y="393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91326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779135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5"/>
                  </a:lnTo>
                  <a:lnTo>
                    <a:pt x="12192" y="406145"/>
                  </a:lnTo>
                  <a:lnTo>
                    <a:pt x="12192" y="25145"/>
                  </a:lnTo>
                  <a:lnTo>
                    <a:pt x="25158" y="12191"/>
                  </a:lnTo>
                  <a:lnTo>
                    <a:pt x="25158" y="25145"/>
                  </a:lnTo>
                  <a:lnTo>
                    <a:pt x="990612" y="25145"/>
                  </a:lnTo>
                  <a:lnTo>
                    <a:pt x="990612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58" y="25145"/>
                  </a:moveTo>
                  <a:lnTo>
                    <a:pt x="25158" y="12191"/>
                  </a:lnTo>
                  <a:lnTo>
                    <a:pt x="12192" y="25145"/>
                  </a:lnTo>
                  <a:lnTo>
                    <a:pt x="25158" y="25145"/>
                  </a:lnTo>
                  <a:close/>
                </a:path>
                <a:path w="1016000" h="406400">
                  <a:moveTo>
                    <a:pt x="25158" y="381000"/>
                  </a:moveTo>
                  <a:lnTo>
                    <a:pt x="25158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58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58" y="393191"/>
                  </a:lnTo>
                  <a:lnTo>
                    <a:pt x="25158" y="406145"/>
                  </a:lnTo>
                  <a:lnTo>
                    <a:pt x="990612" y="406145"/>
                  </a:lnTo>
                  <a:lnTo>
                    <a:pt x="990612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58" y="406145"/>
                  </a:moveTo>
                  <a:lnTo>
                    <a:pt x="25158" y="393191"/>
                  </a:lnTo>
                  <a:lnTo>
                    <a:pt x="12192" y="381000"/>
                  </a:lnTo>
                  <a:lnTo>
                    <a:pt x="12192" y="406145"/>
                  </a:lnTo>
                  <a:lnTo>
                    <a:pt x="25158" y="406145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12" y="12191"/>
                  </a:lnTo>
                  <a:lnTo>
                    <a:pt x="990612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12" y="25145"/>
                  </a:lnTo>
                  <a:lnTo>
                    <a:pt x="990612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12" y="393191"/>
                  </a:lnTo>
                  <a:lnTo>
                    <a:pt x="990612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801499" y="2526920"/>
            <a:ext cx="3846195" cy="5943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  <a:tabLst>
                <a:tab pos="1764664" algn="l"/>
                <a:tab pos="3136265" algn="l"/>
              </a:tabLst>
            </a:pPr>
            <a:r>
              <a:rPr sz="1800" spc="-10" dirty="0">
                <a:latin typeface="Verdana"/>
                <a:cs typeface="Verdana"/>
              </a:rPr>
              <a:t>Cache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0" dirty="0">
                <a:latin typeface="Verdana"/>
                <a:cs typeface="Verdana"/>
              </a:rPr>
              <a:t>Cache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  <a:p>
            <a:pPr marL="1098550">
              <a:lnSpc>
                <a:spcPct val="100000"/>
              </a:lnSpc>
              <a:spcBef>
                <a:spcPts val="19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35349" y="2546604"/>
            <a:ext cx="10375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r>
              <a:rPr sz="1600" spc="-20" dirty="0">
                <a:solidFill>
                  <a:srgbClr val="7D9CE8"/>
                </a:solidFill>
                <a:latin typeface="Verdana"/>
                <a:cs typeface="Verdana"/>
              </a:rPr>
              <a:t> (Inv)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563662" y="361331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u=7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58556" y="2546604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648339" y="2285745"/>
            <a:ext cx="152400" cy="1447800"/>
          </a:xfrm>
          <a:custGeom>
            <a:avLst/>
            <a:gdLst/>
            <a:ahLst/>
            <a:cxnLst/>
            <a:rect l="l" t="t" r="r" b="b"/>
            <a:pathLst>
              <a:path w="152400" h="1447800">
                <a:moveTo>
                  <a:pt x="152400" y="152400"/>
                </a:moveTo>
                <a:lnTo>
                  <a:pt x="76200" y="0"/>
                </a:lnTo>
                <a:lnTo>
                  <a:pt x="0" y="152400"/>
                </a:lnTo>
                <a:lnTo>
                  <a:pt x="51053" y="152400"/>
                </a:lnTo>
                <a:lnTo>
                  <a:pt x="51053" y="127254"/>
                </a:lnTo>
                <a:lnTo>
                  <a:pt x="102107" y="127254"/>
                </a:lnTo>
                <a:lnTo>
                  <a:pt x="102107" y="152400"/>
                </a:lnTo>
                <a:lnTo>
                  <a:pt x="152400" y="152400"/>
                </a:lnTo>
                <a:close/>
              </a:path>
              <a:path w="152400" h="1447800">
                <a:moveTo>
                  <a:pt x="102107" y="152400"/>
                </a:moveTo>
                <a:lnTo>
                  <a:pt x="102107" y="127254"/>
                </a:lnTo>
                <a:lnTo>
                  <a:pt x="51053" y="127254"/>
                </a:lnTo>
                <a:lnTo>
                  <a:pt x="51053" y="152400"/>
                </a:lnTo>
                <a:lnTo>
                  <a:pt x="102107" y="152400"/>
                </a:lnTo>
                <a:close/>
              </a:path>
              <a:path w="152400" h="1447800">
                <a:moveTo>
                  <a:pt x="102107" y="1447800"/>
                </a:moveTo>
                <a:lnTo>
                  <a:pt x="102107" y="152400"/>
                </a:lnTo>
                <a:lnTo>
                  <a:pt x="51053" y="152400"/>
                </a:lnTo>
                <a:lnTo>
                  <a:pt x="51053" y="1447800"/>
                </a:lnTo>
                <a:lnTo>
                  <a:pt x="102107" y="1447800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057785" y="1753361"/>
            <a:ext cx="333375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701164" algn="l"/>
                <a:tab pos="3072765" algn="l"/>
              </a:tabLst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2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3</a:t>
            </a:r>
            <a:endParaRPr sz="1800" baseline="-20833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200">
              <a:latin typeface="Verdana"/>
              <a:cs typeface="Verdana"/>
            </a:endParaRPr>
          </a:p>
          <a:p>
            <a:pPr marL="918210">
              <a:lnSpc>
                <a:spcPct val="100000"/>
              </a:lnSpc>
              <a:spcBef>
                <a:spcPts val="5"/>
              </a:spcBef>
            </a:pPr>
            <a:r>
              <a:rPr sz="1600" spc="-20" dirty="0">
                <a:solidFill>
                  <a:srgbClr val="D8D8EC"/>
                </a:solidFill>
                <a:latin typeface="Verdana"/>
                <a:cs typeface="Verdana"/>
              </a:rPr>
              <a:t>Read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</a:t>
            </a:r>
            <a:r>
              <a:rPr spc="-30" dirty="0"/>
              <a:t>(Write-</a:t>
            </a:r>
            <a:r>
              <a:rPr dirty="0"/>
              <a:t>Back</a:t>
            </a:r>
            <a:r>
              <a:rPr spc="-35" dirty="0"/>
              <a:t> </a:t>
            </a:r>
            <a:r>
              <a:rPr spc="-10" dirty="0"/>
              <a:t>Cache)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4236720"/>
            <a:ext cx="7121525" cy="1416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Clr>
                <a:srgbClr val="330065"/>
              </a:buClr>
              <a:buSzPct val="70000"/>
              <a:buAutoNum type="arabicPeriod"/>
              <a:tabLst>
                <a:tab pos="469900" algn="l"/>
              </a:tabLst>
            </a:pPr>
            <a:r>
              <a:rPr sz="3000" dirty="0">
                <a:latin typeface="Arial MT"/>
                <a:cs typeface="Arial MT"/>
              </a:rPr>
              <a:t>P1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reads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location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u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(value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5)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from</a:t>
            </a:r>
            <a:r>
              <a:rPr sz="3000" spc="-20" dirty="0">
                <a:latin typeface="Arial MT"/>
                <a:cs typeface="Arial MT"/>
              </a:rPr>
              <a:t> main </a:t>
            </a:r>
            <a:r>
              <a:rPr sz="3000" spc="-10" dirty="0">
                <a:latin typeface="Arial MT"/>
                <a:cs typeface="Arial MT"/>
              </a:rPr>
              <a:t>memory</a:t>
            </a:r>
            <a:endParaRPr sz="3000">
              <a:latin typeface="Arial MT"/>
              <a:cs typeface="Arial MT"/>
            </a:endParaRPr>
          </a:p>
          <a:p>
            <a:pPr marL="850265" lvl="1" indent="-380365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850265" algn="l"/>
              </a:tabLst>
            </a:pPr>
            <a:r>
              <a:rPr sz="2600" dirty="0">
                <a:latin typeface="Arial MT"/>
                <a:cs typeface="Arial MT"/>
              </a:rPr>
              <a:t>P1’s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updated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(u=5)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54947" y="1511553"/>
            <a:ext cx="2616200" cy="1397000"/>
            <a:chOff x="2654947" y="1511553"/>
            <a:chExt cx="2616200" cy="1397000"/>
          </a:xfrm>
        </p:grpSpPr>
        <p:sp>
          <p:nvSpPr>
            <p:cNvPr id="5" name="object 5"/>
            <p:cNvSpPr/>
            <p:nvPr/>
          </p:nvSpPr>
          <p:spPr>
            <a:xfrm>
              <a:off x="28195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073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59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837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67139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54947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6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6"/>
                  </a:lnTo>
                  <a:lnTo>
                    <a:pt x="10027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014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59747" y="3568953"/>
            <a:ext cx="2387600" cy="406400"/>
            <a:chOff x="2959747" y="3568953"/>
            <a:chExt cx="2387600" cy="406400"/>
          </a:xfrm>
        </p:grpSpPr>
        <p:sp>
          <p:nvSpPr>
            <p:cNvPr id="13" name="object 13"/>
            <p:cNvSpPr/>
            <p:nvPr/>
          </p:nvSpPr>
          <p:spPr>
            <a:xfrm>
              <a:off x="2971939" y="35811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59747" y="3568953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92" y="25146"/>
                  </a:lnTo>
                  <a:lnTo>
                    <a:pt x="2374392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92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92" y="25146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2374392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374392" y="406146"/>
                  </a:moveTo>
                  <a:lnTo>
                    <a:pt x="2374392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70713" y="36202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88347" y="2285745"/>
            <a:ext cx="2235200" cy="914400"/>
            <a:chOff x="3188347" y="2285745"/>
            <a:chExt cx="2235200" cy="914400"/>
          </a:xfrm>
        </p:grpSpPr>
        <p:sp>
          <p:nvSpPr>
            <p:cNvPr id="17" name="object 17"/>
            <p:cNvSpPr/>
            <p:nvPr/>
          </p:nvSpPr>
          <p:spPr>
            <a:xfrm>
              <a:off x="3188347" y="2285745"/>
              <a:ext cx="1701800" cy="914400"/>
            </a:xfrm>
            <a:custGeom>
              <a:avLst/>
              <a:gdLst/>
              <a:ahLst/>
              <a:cxnLst/>
              <a:rect l="l" t="t" r="r" b="b"/>
              <a:pathLst>
                <a:path w="17018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17018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  <a:path w="1701800" h="914400">
                  <a:moveTo>
                    <a:pt x="1701546" y="609600"/>
                  </a:moveTo>
                  <a:lnTo>
                    <a:pt x="1676400" y="609600"/>
                  </a:lnTo>
                  <a:lnTo>
                    <a:pt x="1676400" y="914400"/>
                  </a:lnTo>
                  <a:lnTo>
                    <a:pt x="1701546" y="914400"/>
                  </a:lnTo>
                  <a:lnTo>
                    <a:pt x="1701546" y="609600"/>
                  </a:lnTo>
                  <a:close/>
                </a:path>
                <a:path w="1701800" h="914400">
                  <a:moveTo>
                    <a:pt x="1701546" y="0"/>
                  </a:moveTo>
                  <a:lnTo>
                    <a:pt x="1676400" y="0"/>
                  </a:lnTo>
                  <a:lnTo>
                    <a:pt x="1676400" y="228600"/>
                  </a:lnTo>
                  <a:lnTo>
                    <a:pt x="1701546" y="228600"/>
                  </a:lnTo>
                  <a:lnTo>
                    <a:pt x="17015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19739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07547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5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5540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819539" y="3162045"/>
            <a:ext cx="3810000" cy="419100"/>
          </a:xfrm>
          <a:custGeom>
            <a:avLst/>
            <a:gdLst/>
            <a:ahLst/>
            <a:cxnLst/>
            <a:rect l="l" t="t" r="r" b="b"/>
            <a:pathLst>
              <a:path w="3810000" h="419100">
                <a:moveTo>
                  <a:pt x="3810000" y="0"/>
                </a:moveTo>
                <a:lnTo>
                  <a:pt x="0" y="0"/>
                </a:lnTo>
                <a:lnTo>
                  <a:pt x="0" y="76200"/>
                </a:lnTo>
                <a:lnTo>
                  <a:pt x="1283208" y="76200"/>
                </a:lnTo>
                <a:lnTo>
                  <a:pt x="1283208" y="419100"/>
                </a:lnTo>
                <a:lnTo>
                  <a:pt x="1308354" y="419100"/>
                </a:lnTo>
                <a:lnTo>
                  <a:pt x="1308354" y="76200"/>
                </a:lnTo>
                <a:lnTo>
                  <a:pt x="3810000" y="76200"/>
                </a:lnTo>
                <a:lnTo>
                  <a:pt x="3810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887349" y="2851404"/>
            <a:ext cx="4000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855335" y="1511553"/>
            <a:ext cx="787400" cy="786765"/>
            <a:chOff x="5855335" y="1511553"/>
            <a:chExt cx="787400" cy="786765"/>
          </a:xfrm>
        </p:grpSpPr>
        <p:sp>
          <p:nvSpPr>
            <p:cNvPr id="24" name="object 24"/>
            <p:cNvSpPr/>
            <p:nvPr/>
          </p:nvSpPr>
          <p:spPr>
            <a:xfrm>
              <a:off x="5867527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55335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057785" y="1753361"/>
            <a:ext cx="3333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701164" algn="l"/>
                <a:tab pos="3072765" algn="l"/>
              </a:tabLst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2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3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779134" y="2285745"/>
            <a:ext cx="1016000" cy="914400"/>
            <a:chOff x="5779134" y="2285745"/>
            <a:chExt cx="1016000" cy="914400"/>
          </a:xfrm>
        </p:grpSpPr>
        <p:sp>
          <p:nvSpPr>
            <p:cNvPr id="28" name="object 28"/>
            <p:cNvSpPr/>
            <p:nvPr/>
          </p:nvSpPr>
          <p:spPr>
            <a:xfrm>
              <a:off x="6236347" y="2285745"/>
              <a:ext cx="25400" cy="914400"/>
            </a:xfrm>
            <a:custGeom>
              <a:avLst/>
              <a:gdLst/>
              <a:ahLst/>
              <a:cxnLst/>
              <a:rect l="l" t="t" r="r" b="b"/>
              <a:pathLst>
                <a:path w="254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254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791326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779134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5"/>
                  </a:lnTo>
                  <a:lnTo>
                    <a:pt x="12192" y="406145"/>
                  </a:lnTo>
                  <a:lnTo>
                    <a:pt x="12192" y="25145"/>
                  </a:lnTo>
                  <a:lnTo>
                    <a:pt x="25158" y="12191"/>
                  </a:lnTo>
                  <a:lnTo>
                    <a:pt x="25158" y="25145"/>
                  </a:lnTo>
                  <a:lnTo>
                    <a:pt x="990612" y="25145"/>
                  </a:lnTo>
                  <a:lnTo>
                    <a:pt x="990612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58" y="25145"/>
                  </a:moveTo>
                  <a:lnTo>
                    <a:pt x="25158" y="12191"/>
                  </a:lnTo>
                  <a:lnTo>
                    <a:pt x="12192" y="25145"/>
                  </a:lnTo>
                  <a:lnTo>
                    <a:pt x="25158" y="25145"/>
                  </a:lnTo>
                  <a:close/>
                </a:path>
                <a:path w="1016000" h="406400">
                  <a:moveTo>
                    <a:pt x="25158" y="381000"/>
                  </a:moveTo>
                  <a:lnTo>
                    <a:pt x="25158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58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58" y="393191"/>
                  </a:lnTo>
                  <a:lnTo>
                    <a:pt x="25158" y="406145"/>
                  </a:lnTo>
                  <a:lnTo>
                    <a:pt x="990612" y="406145"/>
                  </a:lnTo>
                  <a:lnTo>
                    <a:pt x="990612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58" y="406145"/>
                  </a:moveTo>
                  <a:lnTo>
                    <a:pt x="25158" y="393191"/>
                  </a:lnTo>
                  <a:lnTo>
                    <a:pt x="12192" y="381000"/>
                  </a:lnTo>
                  <a:lnTo>
                    <a:pt x="12192" y="406145"/>
                  </a:lnTo>
                  <a:lnTo>
                    <a:pt x="25158" y="406145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12" y="12191"/>
                  </a:lnTo>
                  <a:lnTo>
                    <a:pt x="990612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12" y="25145"/>
                  </a:lnTo>
                  <a:lnTo>
                    <a:pt x="990612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12" y="393191"/>
                  </a:lnTo>
                  <a:lnTo>
                    <a:pt x="990612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9256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563749" y="361340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093859" y="2209545"/>
            <a:ext cx="969644" cy="1381125"/>
          </a:xfrm>
          <a:custGeom>
            <a:avLst/>
            <a:gdLst/>
            <a:ahLst/>
            <a:cxnLst/>
            <a:rect l="l" t="t" r="r" b="b"/>
            <a:pathLst>
              <a:path w="969645" h="1381125">
                <a:moveTo>
                  <a:pt x="149352" y="165353"/>
                </a:moveTo>
                <a:lnTo>
                  <a:pt x="106680" y="0"/>
                </a:lnTo>
                <a:lnTo>
                  <a:pt x="0" y="133349"/>
                </a:lnTo>
                <a:lnTo>
                  <a:pt x="49832" y="144028"/>
                </a:lnTo>
                <a:lnTo>
                  <a:pt x="54864" y="118871"/>
                </a:lnTo>
                <a:lnTo>
                  <a:pt x="105156" y="129539"/>
                </a:lnTo>
                <a:lnTo>
                  <a:pt x="105156" y="155883"/>
                </a:lnTo>
                <a:lnTo>
                  <a:pt x="149352" y="165353"/>
                </a:lnTo>
                <a:close/>
              </a:path>
              <a:path w="969645" h="1381125">
                <a:moveTo>
                  <a:pt x="99665" y="154706"/>
                </a:moveTo>
                <a:lnTo>
                  <a:pt x="49832" y="144028"/>
                </a:lnTo>
                <a:lnTo>
                  <a:pt x="38862" y="202691"/>
                </a:lnTo>
                <a:lnTo>
                  <a:pt x="29139" y="273144"/>
                </a:lnTo>
                <a:lnTo>
                  <a:pt x="24639" y="323562"/>
                </a:lnTo>
                <a:lnTo>
                  <a:pt x="22996" y="374169"/>
                </a:lnTo>
                <a:lnTo>
                  <a:pt x="24894" y="424617"/>
                </a:lnTo>
                <a:lnTo>
                  <a:pt x="31017" y="474554"/>
                </a:lnTo>
                <a:lnTo>
                  <a:pt x="42049" y="523632"/>
                </a:lnTo>
                <a:lnTo>
                  <a:pt x="58674" y="571499"/>
                </a:lnTo>
                <a:lnTo>
                  <a:pt x="73975" y="603109"/>
                </a:lnTo>
                <a:lnTo>
                  <a:pt x="73975" y="385348"/>
                </a:lnTo>
                <a:lnTo>
                  <a:pt x="75138" y="333465"/>
                </a:lnTo>
                <a:lnTo>
                  <a:pt x="79516" y="281806"/>
                </a:lnTo>
                <a:lnTo>
                  <a:pt x="86106" y="230885"/>
                </a:lnTo>
                <a:lnTo>
                  <a:pt x="89154" y="211073"/>
                </a:lnTo>
                <a:lnTo>
                  <a:pt x="96012" y="171449"/>
                </a:lnTo>
                <a:lnTo>
                  <a:pt x="99665" y="154706"/>
                </a:lnTo>
                <a:close/>
              </a:path>
              <a:path w="969645" h="1381125">
                <a:moveTo>
                  <a:pt x="105156" y="129539"/>
                </a:moveTo>
                <a:lnTo>
                  <a:pt x="54864" y="118871"/>
                </a:lnTo>
                <a:lnTo>
                  <a:pt x="49832" y="144028"/>
                </a:lnTo>
                <a:lnTo>
                  <a:pt x="99665" y="154706"/>
                </a:lnTo>
                <a:lnTo>
                  <a:pt x="105156" y="129539"/>
                </a:lnTo>
                <a:close/>
              </a:path>
              <a:path w="969645" h="1381125">
                <a:moveTo>
                  <a:pt x="969264" y="1363217"/>
                </a:moveTo>
                <a:lnTo>
                  <a:pt x="952500" y="1315211"/>
                </a:lnTo>
                <a:lnTo>
                  <a:pt x="943356" y="1291589"/>
                </a:lnTo>
                <a:lnTo>
                  <a:pt x="934212" y="1267205"/>
                </a:lnTo>
                <a:lnTo>
                  <a:pt x="912408" y="1216115"/>
                </a:lnTo>
                <a:lnTo>
                  <a:pt x="888333" y="1167962"/>
                </a:lnTo>
                <a:lnTo>
                  <a:pt x="861507" y="1122345"/>
                </a:lnTo>
                <a:lnTo>
                  <a:pt x="831449" y="1078862"/>
                </a:lnTo>
                <a:lnTo>
                  <a:pt x="797650" y="1037083"/>
                </a:lnTo>
                <a:lnTo>
                  <a:pt x="759714" y="996695"/>
                </a:lnTo>
                <a:lnTo>
                  <a:pt x="746760" y="984503"/>
                </a:lnTo>
                <a:lnTo>
                  <a:pt x="733806" y="971549"/>
                </a:lnTo>
                <a:lnTo>
                  <a:pt x="695334" y="941796"/>
                </a:lnTo>
                <a:lnTo>
                  <a:pt x="654056" y="914748"/>
                </a:lnTo>
                <a:lnTo>
                  <a:pt x="610667" y="889903"/>
                </a:lnTo>
                <a:lnTo>
                  <a:pt x="565861" y="866755"/>
                </a:lnTo>
                <a:lnTo>
                  <a:pt x="520330" y="844801"/>
                </a:lnTo>
                <a:lnTo>
                  <a:pt x="474770" y="823535"/>
                </a:lnTo>
                <a:lnTo>
                  <a:pt x="429873" y="802452"/>
                </a:lnTo>
                <a:lnTo>
                  <a:pt x="386334" y="781049"/>
                </a:lnTo>
                <a:lnTo>
                  <a:pt x="363474" y="769619"/>
                </a:lnTo>
                <a:lnTo>
                  <a:pt x="341376" y="758951"/>
                </a:lnTo>
                <a:lnTo>
                  <a:pt x="298704" y="736091"/>
                </a:lnTo>
                <a:lnTo>
                  <a:pt x="255180" y="710029"/>
                </a:lnTo>
                <a:lnTo>
                  <a:pt x="212480" y="681424"/>
                </a:lnTo>
                <a:lnTo>
                  <a:pt x="172948" y="649011"/>
                </a:lnTo>
                <a:lnTo>
                  <a:pt x="138931" y="611522"/>
                </a:lnTo>
                <a:lnTo>
                  <a:pt x="112776" y="567689"/>
                </a:lnTo>
                <a:lnTo>
                  <a:pt x="85313" y="487733"/>
                </a:lnTo>
                <a:lnTo>
                  <a:pt x="77032" y="436942"/>
                </a:lnTo>
                <a:lnTo>
                  <a:pt x="73975" y="385348"/>
                </a:lnTo>
                <a:lnTo>
                  <a:pt x="73975" y="603109"/>
                </a:lnTo>
                <a:lnTo>
                  <a:pt x="101993" y="646811"/>
                </a:lnTo>
                <a:lnTo>
                  <a:pt x="134456" y="682695"/>
                </a:lnTo>
                <a:lnTo>
                  <a:pt x="171440" y="714284"/>
                </a:lnTo>
                <a:lnTo>
                  <a:pt x="211559" y="742422"/>
                </a:lnTo>
                <a:lnTo>
                  <a:pt x="253426" y="767952"/>
                </a:lnTo>
                <a:lnTo>
                  <a:pt x="295656" y="791717"/>
                </a:lnTo>
                <a:lnTo>
                  <a:pt x="363474" y="826769"/>
                </a:lnTo>
                <a:lnTo>
                  <a:pt x="386334" y="837438"/>
                </a:lnTo>
                <a:lnTo>
                  <a:pt x="431643" y="859499"/>
                </a:lnTo>
                <a:lnTo>
                  <a:pt x="480379" y="882202"/>
                </a:lnTo>
                <a:lnTo>
                  <a:pt x="530722" y="905996"/>
                </a:lnTo>
                <a:lnTo>
                  <a:pt x="580848" y="931331"/>
                </a:lnTo>
                <a:lnTo>
                  <a:pt x="628936" y="958657"/>
                </a:lnTo>
                <a:lnTo>
                  <a:pt x="673163" y="988423"/>
                </a:lnTo>
                <a:lnTo>
                  <a:pt x="711708" y="1021079"/>
                </a:lnTo>
                <a:lnTo>
                  <a:pt x="768423" y="1081256"/>
                </a:lnTo>
                <a:lnTo>
                  <a:pt x="797650" y="1118666"/>
                </a:lnTo>
                <a:lnTo>
                  <a:pt x="823564" y="1157401"/>
                </a:lnTo>
                <a:lnTo>
                  <a:pt x="846720" y="1197931"/>
                </a:lnTo>
                <a:lnTo>
                  <a:pt x="867670" y="1240726"/>
                </a:lnTo>
                <a:lnTo>
                  <a:pt x="886968" y="1286255"/>
                </a:lnTo>
                <a:lnTo>
                  <a:pt x="904494" y="1332737"/>
                </a:lnTo>
                <a:lnTo>
                  <a:pt x="921258" y="1380743"/>
                </a:lnTo>
                <a:lnTo>
                  <a:pt x="969264" y="1363217"/>
                </a:lnTo>
                <a:close/>
              </a:path>
              <a:path w="969645" h="1381125">
                <a:moveTo>
                  <a:pt x="105156" y="155883"/>
                </a:moveTo>
                <a:lnTo>
                  <a:pt x="105156" y="129539"/>
                </a:lnTo>
                <a:lnTo>
                  <a:pt x="99665" y="154706"/>
                </a:lnTo>
                <a:lnTo>
                  <a:pt x="105156" y="155883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058549" y="2546604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</a:t>
            </a:r>
            <a:r>
              <a:rPr spc="-30" dirty="0"/>
              <a:t>(Write-</a:t>
            </a:r>
            <a:r>
              <a:rPr dirty="0"/>
              <a:t>Back</a:t>
            </a:r>
            <a:r>
              <a:rPr spc="-35" dirty="0"/>
              <a:t> </a:t>
            </a:r>
            <a:r>
              <a:rPr spc="-10" dirty="0"/>
              <a:t>Cache)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4143449"/>
            <a:ext cx="7016750" cy="105283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835"/>
              </a:spcBef>
              <a:buClr>
                <a:srgbClr val="330065"/>
              </a:buClr>
              <a:buSzPct val="70000"/>
              <a:buAutoNum type="arabicPeriod" startAt="2"/>
              <a:tabLst>
                <a:tab pos="469265" algn="l"/>
              </a:tabLst>
            </a:pPr>
            <a:r>
              <a:rPr sz="3000" dirty="0">
                <a:latin typeface="Arial MT"/>
                <a:cs typeface="Arial MT"/>
              </a:rPr>
              <a:t>P3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reads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location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u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from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main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memory</a:t>
            </a:r>
            <a:endParaRPr sz="3000">
              <a:latin typeface="Arial MT"/>
              <a:cs typeface="Arial MT"/>
            </a:endParaRPr>
          </a:p>
          <a:p>
            <a:pPr marL="850265" lvl="1" indent="-380365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850265" algn="l"/>
              </a:tabLst>
            </a:pPr>
            <a:r>
              <a:rPr sz="2600" dirty="0">
                <a:latin typeface="Arial MT"/>
                <a:cs typeface="Arial MT"/>
              </a:rPr>
              <a:t>P3’s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updated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(u=5)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54947" y="1511553"/>
            <a:ext cx="2616200" cy="1397000"/>
            <a:chOff x="2654947" y="1511553"/>
            <a:chExt cx="2616200" cy="1397000"/>
          </a:xfrm>
        </p:grpSpPr>
        <p:sp>
          <p:nvSpPr>
            <p:cNvPr id="5" name="object 5"/>
            <p:cNvSpPr/>
            <p:nvPr/>
          </p:nvSpPr>
          <p:spPr>
            <a:xfrm>
              <a:off x="28195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073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59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837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67139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54947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6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6"/>
                  </a:lnTo>
                  <a:lnTo>
                    <a:pt x="10027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014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59747" y="3568953"/>
            <a:ext cx="2387600" cy="406400"/>
            <a:chOff x="2959747" y="3568953"/>
            <a:chExt cx="2387600" cy="406400"/>
          </a:xfrm>
        </p:grpSpPr>
        <p:sp>
          <p:nvSpPr>
            <p:cNvPr id="13" name="object 13"/>
            <p:cNvSpPr/>
            <p:nvPr/>
          </p:nvSpPr>
          <p:spPr>
            <a:xfrm>
              <a:off x="2971939" y="35811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59747" y="3568953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92" y="25146"/>
                  </a:lnTo>
                  <a:lnTo>
                    <a:pt x="2374392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92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92" y="25146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2374392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374392" y="406146"/>
                  </a:moveTo>
                  <a:lnTo>
                    <a:pt x="2374392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70713" y="36202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88347" y="2285745"/>
            <a:ext cx="2235200" cy="914400"/>
            <a:chOff x="3188347" y="2285745"/>
            <a:chExt cx="2235200" cy="914400"/>
          </a:xfrm>
        </p:grpSpPr>
        <p:sp>
          <p:nvSpPr>
            <p:cNvPr id="17" name="object 17"/>
            <p:cNvSpPr/>
            <p:nvPr/>
          </p:nvSpPr>
          <p:spPr>
            <a:xfrm>
              <a:off x="3188347" y="2285745"/>
              <a:ext cx="1701800" cy="914400"/>
            </a:xfrm>
            <a:custGeom>
              <a:avLst/>
              <a:gdLst/>
              <a:ahLst/>
              <a:cxnLst/>
              <a:rect l="l" t="t" r="r" b="b"/>
              <a:pathLst>
                <a:path w="17018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17018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  <a:path w="1701800" h="914400">
                  <a:moveTo>
                    <a:pt x="1701546" y="609600"/>
                  </a:moveTo>
                  <a:lnTo>
                    <a:pt x="1676400" y="609600"/>
                  </a:lnTo>
                  <a:lnTo>
                    <a:pt x="1676400" y="914400"/>
                  </a:lnTo>
                  <a:lnTo>
                    <a:pt x="1701546" y="914400"/>
                  </a:lnTo>
                  <a:lnTo>
                    <a:pt x="1701546" y="609600"/>
                  </a:lnTo>
                  <a:close/>
                </a:path>
                <a:path w="1701800" h="914400">
                  <a:moveTo>
                    <a:pt x="1701546" y="0"/>
                  </a:moveTo>
                  <a:lnTo>
                    <a:pt x="1676400" y="0"/>
                  </a:lnTo>
                  <a:lnTo>
                    <a:pt x="1676400" y="228600"/>
                  </a:lnTo>
                  <a:lnTo>
                    <a:pt x="1701546" y="228600"/>
                  </a:lnTo>
                  <a:lnTo>
                    <a:pt x="17015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19739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07547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5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5540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819539" y="1511553"/>
            <a:ext cx="3823335" cy="2070100"/>
            <a:chOff x="2819539" y="1511553"/>
            <a:chExt cx="3823335" cy="2070100"/>
          </a:xfrm>
        </p:grpSpPr>
        <p:sp>
          <p:nvSpPr>
            <p:cNvPr id="22" name="object 22"/>
            <p:cNvSpPr/>
            <p:nvPr/>
          </p:nvSpPr>
          <p:spPr>
            <a:xfrm>
              <a:off x="2819539" y="3162045"/>
              <a:ext cx="3810000" cy="419100"/>
            </a:xfrm>
            <a:custGeom>
              <a:avLst/>
              <a:gdLst/>
              <a:ahLst/>
              <a:cxnLst/>
              <a:rect l="l" t="t" r="r" b="b"/>
              <a:pathLst>
                <a:path w="3810000" h="419100">
                  <a:moveTo>
                    <a:pt x="3810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1283208" y="76200"/>
                  </a:lnTo>
                  <a:lnTo>
                    <a:pt x="1283208" y="419100"/>
                  </a:lnTo>
                  <a:lnTo>
                    <a:pt x="1308354" y="419100"/>
                  </a:lnTo>
                  <a:lnTo>
                    <a:pt x="1308354" y="76200"/>
                  </a:lnTo>
                  <a:lnTo>
                    <a:pt x="3810000" y="7620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67526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55335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057785" y="1753361"/>
            <a:ext cx="3333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701164" algn="l"/>
                <a:tab pos="3072765" algn="l"/>
              </a:tabLst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2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3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779134" y="2285745"/>
            <a:ext cx="1016000" cy="914400"/>
            <a:chOff x="5779134" y="2285745"/>
            <a:chExt cx="1016000" cy="914400"/>
          </a:xfrm>
        </p:grpSpPr>
        <p:sp>
          <p:nvSpPr>
            <p:cNvPr id="27" name="object 27"/>
            <p:cNvSpPr/>
            <p:nvPr/>
          </p:nvSpPr>
          <p:spPr>
            <a:xfrm>
              <a:off x="6236347" y="2285745"/>
              <a:ext cx="25400" cy="914400"/>
            </a:xfrm>
            <a:custGeom>
              <a:avLst/>
              <a:gdLst/>
              <a:ahLst/>
              <a:cxnLst/>
              <a:rect l="l" t="t" r="r" b="b"/>
              <a:pathLst>
                <a:path w="254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254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91326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779134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5"/>
                  </a:lnTo>
                  <a:lnTo>
                    <a:pt x="12192" y="406145"/>
                  </a:lnTo>
                  <a:lnTo>
                    <a:pt x="12192" y="25145"/>
                  </a:lnTo>
                  <a:lnTo>
                    <a:pt x="25158" y="12191"/>
                  </a:lnTo>
                  <a:lnTo>
                    <a:pt x="25158" y="25145"/>
                  </a:lnTo>
                  <a:lnTo>
                    <a:pt x="990612" y="25145"/>
                  </a:lnTo>
                  <a:lnTo>
                    <a:pt x="990612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58" y="25145"/>
                  </a:moveTo>
                  <a:lnTo>
                    <a:pt x="25158" y="12191"/>
                  </a:lnTo>
                  <a:lnTo>
                    <a:pt x="12192" y="25145"/>
                  </a:lnTo>
                  <a:lnTo>
                    <a:pt x="25158" y="25145"/>
                  </a:lnTo>
                  <a:close/>
                </a:path>
                <a:path w="1016000" h="406400">
                  <a:moveTo>
                    <a:pt x="25158" y="381000"/>
                  </a:moveTo>
                  <a:lnTo>
                    <a:pt x="25158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58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58" y="393191"/>
                  </a:lnTo>
                  <a:lnTo>
                    <a:pt x="25158" y="406145"/>
                  </a:lnTo>
                  <a:lnTo>
                    <a:pt x="990612" y="406145"/>
                  </a:lnTo>
                  <a:lnTo>
                    <a:pt x="990612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58" y="406145"/>
                  </a:moveTo>
                  <a:lnTo>
                    <a:pt x="25158" y="393191"/>
                  </a:lnTo>
                  <a:lnTo>
                    <a:pt x="12192" y="381000"/>
                  </a:lnTo>
                  <a:lnTo>
                    <a:pt x="12192" y="406145"/>
                  </a:lnTo>
                  <a:lnTo>
                    <a:pt x="25158" y="406145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12" y="12191"/>
                  </a:lnTo>
                  <a:lnTo>
                    <a:pt x="990612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12" y="25145"/>
                  </a:lnTo>
                  <a:lnTo>
                    <a:pt x="990612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12" y="393191"/>
                  </a:lnTo>
                  <a:lnTo>
                    <a:pt x="990612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9256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63749" y="361340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58643" y="2546694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135065" y="2285745"/>
            <a:ext cx="2220595" cy="1303020"/>
          </a:xfrm>
          <a:custGeom>
            <a:avLst/>
            <a:gdLst/>
            <a:ahLst/>
            <a:cxnLst/>
            <a:rect l="l" t="t" r="r" b="b"/>
            <a:pathLst>
              <a:path w="2220595" h="1303020">
                <a:moveTo>
                  <a:pt x="2156346" y="686161"/>
                </a:moveTo>
                <a:lnTo>
                  <a:pt x="2156346" y="466281"/>
                </a:lnTo>
                <a:lnTo>
                  <a:pt x="2153296" y="512244"/>
                </a:lnTo>
                <a:lnTo>
                  <a:pt x="2146721" y="557015"/>
                </a:lnTo>
                <a:lnTo>
                  <a:pt x="2136258" y="599923"/>
                </a:lnTo>
                <a:lnTo>
                  <a:pt x="2121519" y="640734"/>
                </a:lnTo>
                <a:lnTo>
                  <a:pt x="2102114" y="679210"/>
                </a:lnTo>
                <a:lnTo>
                  <a:pt x="2077653" y="715115"/>
                </a:lnTo>
                <a:lnTo>
                  <a:pt x="2047745" y="748212"/>
                </a:lnTo>
                <a:lnTo>
                  <a:pt x="2012002" y="778265"/>
                </a:lnTo>
                <a:lnTo>
                  <a:pt x="1970034" y="805038"/>
                </a:lnTo>
                <a:lnTo>
                  <a:pt x="1921450" y="828294"/>
                </a:lnTo>
                <a:lnTo>
                  <a:pt x="1870396" y="844296"/>
                </a:lnTo>
                <a:lnTo>
                  <a:pt x="1819181" y="855594"/>
                </a:lnTo>
                <a:lnTo>
                  <a:pt x="1766744" y="864321"/>
                </a:lnTo>
                <a:lnTo>
                  <a:pt x="1713503" y="870870"/>
                </a:lnTo>
                <a:lnTo>
                  <a:pt x="1659875" y="875636"/>
                </a:lnTo>
                <a:lnTo>
                  <a:pt x="1606274" y="879010"/>
                </a:lnTo>
                <a:lnTo>
                  <a:pt x="1553119" y="881386"/>
                </a:lnTo>
                <a:lnTo>
                  <a:pt x="1502350" y="883106"/>
                </a:lnTo>
                <a:lnTo>
                  <a:pt x="1500826" y="883158"/>
                </a:lnTo>
                <a:lnTo>
                  <a:pt x="1442152" y="883910"/>
                </a:lnTo>
                <a:lnTo>
                  <a:pt x="1330930" y="883877"/>
                </a:lnTo>
                <a:lnTo>
                  <a:pt x="1281994" y="883451"/>
                </a:lnTo>
                <a:lnTo>
                  <a:pt x="1232405" y="882685"/>
                </a:lnTo>
                <a:lnTo>
                  <a:pt x="1182820" y="881634"/>
                </a:lnTo>
                <a:lnTo>
                  <a:pt x="1133240" y="880350"/>
                </a:lnTo>
                <a:lnTo>
                  <a:pt x="1083664" y="878887"/>
                </a:lnTo>
                <a:lnTo>
                  <a:pt x="1034052" y="877295"/>
                </a:lnTo>
                <a:lnTo>
                  <a:pt x="935114" y="873954"/>
                </a:lnTo>
                <a:lnTo>
                  <a:pt x="885644" y="872306"/>
                </a:lnTo>
                <a:lnTo>
                  <a:pt x="836172" y="870743"/>
                </a:lnTo>
                <a:lnTo>
                  <a:pt x="786697" y="869317"/>
                </a:lnTo>
                <a:lnTo>
                  <a:pt x="737218" y="868082"/>
                </a:lnTo>
                <a:lnTo>
                  <a:pt x="687733" y="867090"/>
                </a:lnTo>
                <a:lnTo>
                  <a:pt x="638242" y="866394"/>
                </a:lnTo>
                <a:lnTo>
                  <a:pt x="583378" y="866394"/>
                </a:lnTo>
                <a:lnTo>
                  <a:pt x="531562" y="867156"/>
                </a:lnTo>
                <a:lnTo>
                  <a:pt x="482794" y="868633"/>
                </a:lnTo>
                <a:lnTo>
                  <a:pt x="437074" y="870129"/>
                </a:lnTo>
                <a:lnTo>
                  <a:pt x="384185" y="873944"/>
                </a:lnTo>
                <a:lnTo>
                  <a:pt x="333510" y="880131"/>
                </a:lnTo>
                <a:lnTo>
                  <a:pt x="283218" y="889225"/>
                </a:lnTo>
                <a:lnTo>
                  <a:pt x="233761" y="901689"/>
                </a:lnTo>
                <a:lnTo>
                  <a:pt x="185593" y="917986"/>
                </a:lnTo>
                <a:lnTo>
                  <a:pt x="139167" y="938579"/>
                </a:lnTo>
                <a:lnTo>
                  <a:pt x="94936" y="963930"/>
                </a:lnTo>
                <a:lnTo>
                  <a:pt x="43689" y="1010069"/>
                </a:lnTo>
                <a:lnTo>
                  <a:pt x="19244" y="1048373"/>
                </a:lnTo>
                <a:lnTo>
                  <a:pt x="5101" y="1089888"/>
                </a:lnTo>
                <a:lnTo>
                  <a:pt x="0" y="1134231"/>
                </a:lnTo>
                <a:lnTo>
                  <a:pt x="2679" y="1181018"/>
                </a:lnTo>
                <a:lnTo>
                  <a:pt x="11878" y="1229868"/>
                </a:lnTo>
                <a:lnTo>
                  <a:pt x="15688" y="1245108"/>
                </a:lnTo>
                <a:lnTo>
                  <a:pt x="23308" y="1274064"/>
                </a:lnTo>
                <a:lnTo>
                  <a:pt x="31690" y="1303020"/>
                </a:lnTo>
                <a:lnTo>
                  <a:pt x="50841" y="1297334"/>
                </a:lnTo>
                <a:lnTo>
                  <a:pt x="50841" y="1128173"/>
                </a:lnTo>
                <a:lnTo>
                  <a:pt x="57924" y="1087862"/>
                </a:lnTo>
                <a:lnTo>
                  <a:pt x="76813" y="1050513"/>
                </a:lnTo>
                <a:lnTo>
                  <a:pt x="110176" y="1015746"/>
                </a:lnTo>
                <a:lnTo>
                  <a:pt x="116272" y="1011174"/>
                </a:lnTo>
                <a:lnTo>
                  <a:pt x="123130" y="1005840"/>
                </a:lnTo>
                <a:lnTo>
                  <a:pt x="162857" y="983243"/>
                </a:lnTo>
                <a:lnTo>
                  <a:pt x="205854" y="964605"/>
                </a:lnTo>
                <a:lnTo>
                  <a:pt x="251184" y="949653"/>
                </a:lnTo>
                <a:lnTo>
                  <a:pt x="297908" y="938115"/>
                </a:lnTo>
                <a:lnTo>
                  <a:pt x="345090" y="929718"/>
                </a:lnTo>
                <a:lnTo>
                  <a:pt x="391791" y="924190"/>
                </a:lnTo>
                <a:lnTo>
                  <a:pt x="437074" y="921258"/>
                </a:lnTo>
                <a:lnTo>
                  <a:pt x="459172" y="919734"/>
                </a:lnTo>
                <a:lnTo>
                  <a:pt x="481270" y="919021"/>
                </a:lnTo>
                <a:lnTo>
                  <a:pt x="482794" y="918972"/>
                </a:lnTo>
                <a:lnTo>
                  <a:pt x="531562" y="918210"/>
                </a:lnTo>
                <a:lnTo>
                  <a:pt x="583378" y="917448"/>
                </a:lnTo>
                <a:lnTo>
                  <a:pt x="638242" y="917460"/>
                </a:lnTo>
                <a:lnTo>
                  <a:pt x="687066" y="918285"/>
                </a:lnTo>
                <a:lnTo>
                  <a:pt x="736647" y="919321"/>
                </a:lnTo>
                <a:lnTo>
                  <a:pt x="786225" y="920520"/>
                </a:lnTo>
                <a:lnTo>
                  <a:pt x="835800" y="921848"/>
                </a:lnTo>
                <a:lnTo>
                  <a:pt x="885373" y="923270"/>
                </a:lnTo>
                <a:lnTo>
                  <a:pt x="1034052" y="927748"/>
                </a:lnTo>
                <a:lnTo>
                  <a:pt x="1083522" y="929193"/>
                </a:lnTo>
                <a:lnTo>
                  <a:pt x="1132995" y="930558"/>
                </a:lnTo>
                <a:lnTo>
                  <a:pt x="1182471" y="931809"/>
                </a:lnTo>
                <a:lnTo>
                  <a:pt x="1231951" y="932909"/>
                </a:lnTo>
                <a:lnTo>
                  <a:pt x="1281437" y="933825"/>
                </a:lnTo>
                <a:lnTo>
                  <a:pt x="1330930" y="934523"/>
                </a:lnTo>
                <a:lnTo>
                  <a:pt x="1381192" y="934974"/>
                </a:lnTo>
                <a:lnTo>
                  <a:pt x="1442152" y="934974"/>
                </a:lnTo>
                <a:lnTo>
                  <a:pt x="1500826" y="933488"/>
                </a:lnTo>
                <a:lnTo>
                  <a:pt x="1549249" y="932203"/>
                </a:lnTo>
                <a:lnTo>
                  <a:pt x="1597137" y="930381"/>
                </a:lnTo>
                <a:lnTo>
                  <a:pt x="1645638" y="927727"/>
                </a:lnTo>
                <a:lnTo>
                  <a:pt x="1694374" y="923986"/>
                </a:lnTo>
                <a:lnTo>
                  <a:pt x="1742967" y="918905"/>
                </a:lnTo>
                <a:lnTo>
                  <a:pt x="1791040" y="912227"/>
                </a:lnTo>
                <a:lnTo>
                  <a:pt x="1838214" y="903698"/>
                </a:lnTo>
                <a:lnTo>
                  <a:pt x="1884112" y="893064"/>
                </a:lnTo>
                <a:lnTo>
                  <a:pt x="1922212" y="881634"/>
                </a:lnTo>
                <a:lnTo>
                  <a:pt x="1990664" y="851582"/>
                </a:lnTo>
                <a:lnTo>
                  <a:pt x="2034722" y="824383"/>
                </a:lnTo>
                <a:lnTo>
                  <a:pt x="2072982" y="794126"/>
                </a:lnTo>
                <a:lnTo>
                  <a:pt x="2105750" y="760995"/>
                </a:lnTo>
                <a:lnTo>
                  <a:pt x="2133332" y="725177"/>
                </a:lnTo>
                <a:lnTo>
                  <a:pt x="2156036" y="686857"/>
                </a:lnTo>
                <a:lnTo>
                  <a:pt x="2156346" y="686161"/>
                </a:lnTo>
                <a:close/>
              </a:path>
              <a:path w="2220595" h="1303020">
                <a:moveTo>
                  <a:pt x="80458" y="1288542"/>
                </a:moveTo>
                <a:lnTo>
                  <a:pt x="61408" y="1219200"/>
                </a:lnTo>
                <a:lnTo>
                  <a:pt x="52892" y="1171825"/>
                </a:lnTo>
                <a:lnTo>
                  <a:pt x="50841" y="1128173"/>
                </a:lnTo>
                <a:lnTo>
                  <a:pt x="50841" y="1297334"/>
                </a:lnTo>
                <a:lnTo>
                  <a:pt x="80458" y="1288542"/>
                </a:lnTo>
                <a:close/>
              </a:path>
              <a:path w="2220595" h="1303020">
                <a:moveTo>
                  <a:pt x="2220154" y="133350"/>
                </a:moveTo>
                <a:lnTo>
                  <a:pt x="2113474" y="0"/>
                </a:lnTo>
                <a:lnTo>
                  <a:pt x="2071564" y="165354"/>
                </a:lnTo>
                <a:lnTo>
                  <a:pt x="2115760" y="155834"/>
                </a:lnTo>
                <a:lnTo>
                  <a:pt x="2115760" y="129540"/>
                </a:lnTo>
                <a:lnTo>
                  <a:pt x="2165290" y="119634"/>
                </a:lnTo>
                <a:lnTo>
                  <a:pt x="2170292" y="144089"/>
                </a:lnTo>
                <a:lnTo>
                  <a:pt x="2220154" y="133350"/>
                </a:lnTo>
                <a:close/>
              </a:path>
              <a:path w="2220595" h="1303020">
                <a:moveTo>
                  <a:pt x="2170292" y="144089"/>
                </a:moveTo>
                <a:lnTo>
                  <a:pt x="2165290" y="119634"/>
                </a:lnTo>
                <a:lnTo>
                  <a:pt x="2115760" y="129540"/>
                </a:lnTo>
                <a:lnTo>
                  <a:pt x="2120856" y="154737"/>
                </a:lnTo>
                <a:lnTo>
                  <a:pt x="2170292" y="144089"/>
                </a:lnTo>
                <a:close/>
              </a:path>
              <a:path w="2220595" h="1303020">
                <a:moveTo>
                  <a:pt x="2120856" y="154737"/>
                </a:moveTo>
                <a:lnTo>
                  <a:pt x="2115760" y="129540"/>
                </a:lnTo>
                <a:lnTo>
                  <a:pt x="2115760" y="155834"/>
                </a:lnTo>
                <a:lnTo>
                  <a:pt x="2120856" y="154737"/>
                </a:lnTo>
                <a:close/>
              </a:path>
              <a:path w="2220595" h="1303020">
                <a:moveTo>
                  <a:pt x="2207103" y="464195"/>
                </a:moveTo>
                <a:lnTo>
                  <a:pt x="2206972" y="414748"/>
                </a:lnTo>
                <a:lnTo>
                  <a:pt x="2204108" y="364094"/>
                </a:lnTo>
                <a:lnTo>
                  <a:pt x="2198818" y="312420"/>
                </a:lnTo>
                <a:lnTo>
                  <a:pt x="2189674" y="249936"/>
                </a:lnTo>
                <a:lnTo>
                  <a:pt x="2179006" y="186690"/>
                </a:lnTo>
                <a:lnTo>
                  <a:pt x="2170292" y="144089"/>
                </a:lnTo>
                <a:lnTo>
                  <a:pt x="2120856" y="154737"/>
                </a:lnTo>
                <a:lnTo>
                  <a:pt x="2129476" y="197358"/>
                </a:lnTo>
                <a:lnTo>
                  <a:pt x="2140144" y="259080"/>
                </a:lnTo>
                <a:lnTo>
                  <a:pt x="2148526" y="319278"/>
                </a:lnTo>
                <a:lnTo>
                  <a:pt x="2153600" y="369129"/>
                </a:lnTo>
                <a:lnTo>
                  <a:pt x="2156346" y="418065"/>
                </a:lnTo>
                <a:lnTo>
                  <a:pt x="2156346" y="686161"/>
                </a:lnTo>
                <a:lnTo>
                  <a:pt x="2174168" y="646218"/>
                </a:lnTo>
                <a:lnTo>
                  <a:pt x="2188033" y="603448"/>
                </a:lnTo>
                <a:lnTo>
                  <a:pt x="2197940" y="558731"/>
                </a:lnTo>
                <a:lnTo>
                  <a:pt x="2204108" y="512893"/>
                </a:lnTo>
                <a:lnTo>
                  <a:pt x="2204108" y="513677"/>
                </a:lnTo>
                <a:lnTo>
                  <a:pt x="2207103" y="464195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887349" y="2714505"/>
            <a:ext cx="1370330" cy="78803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  <a:p>
            <a:pPr marL="850900">
              <a:lnSpc>
                <a:spcPct val="100000"/>
              </a:lnSpc>
              <a:spcBef>
                <a:spcPts val="1080"/>
              </a:spcBef>
            </a:pPr>
            <a:r>
              <a:rPr sz="1600" spc="-20" dirty="0">
                <a:solidFill>
                  <a:srgbClr val="D8D8EC"/>
                </a:solidFill>
                <a:latin typeface="Verdana"/>
                <a:cs typeface="Verdana"/>
              </a:rPr>
              <a:t>Read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935349" y="2546604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</a:t>
            </a:r>
            <a:r>
              <a:rPr spc="-30" dirty="0"/>
              <a:t>(Write-</a:t>
            </a:r>
            <a:r>
              <a:rPr dirty="0"/>
              <a:t>Back</a:t>
            </a:r>
            <a:r>
              <a:rPr spc="-35" dirty="0"/>
              <a:t> </a:t>
            </a:r>
            <a:r>
              <a:rPr spc="-10" dirty="0"/>
              <a:t>Cache)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4143449"/>
            <a:ext cx="7453630" cy="192468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835"/>
              </a:spcBef>
              <a:buClr>
                <a:srgbClr val="330065"/>
              </a:buClr>
              <a:buSzPct val="70000"/>
              <a:buAutoNum type="arabicPeriod" startAt="3"/>
              <a:tabLst>
                <a:tab pos="469265" algn="l"/>
              </a:tabLst>
            </a:pPr>
            <a:r>
              <a:rPr sz="3000" dirty="0">
                <a:latin typeface="Arial MT"/>
                <a:cs typeface="Arial MT"/>
              </a:rPr>
              <a:t>P3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writes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u,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changing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value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to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spc="-50" dirty="0">
                <a:latin typeface="Arial MT"/>
                <a:cs typeface="Arial MT"/>
              </a:rPr>
              <a:t>7</a:t>
            </a:r>
            <a:endParaRPr sz="3000">
              <a:latin typeface="Arial MT"/>
              <a:cs typeface="Arial MT"/>
            </a:endParaRPr>
          </a:p>
          <a:p>
            <a:pPr marL="850900" marR="5080" lvl="1" indent="-381000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850900" algn="l"/>
              </a:tabLst>
            </a:pPr>
            <a:r>
              <a:rPr sz="2600" dirty="0">
                <a:latin typeface="Arial MT"/>
                <a:cs typeface="Arial MT"/>
              </a:rPr>
              <a:t>P3’s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updated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(u=7)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location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is </a:t>
            </a:r>
            <a:r>
              <a:rPr sz="2600" spc="-10" dirty="0">
                <a:latin typeface="Arial MT"/>
                <a:cs typeface="Arial MT"/>
              </a:rPr>
              <a:t>marked</a:t>
            </a:r>
            <a:endParaRPr sz="2600">
              <a:latin typeface="Arial MT"/>
              <a:cs typeface="Arial MT"/>
            </a:endParaRPr>
          </a:p>
          <a:p>
            <a:pPr marL="850265" lvl="1" indent="-380365">
              <a:lnSpc>
                <a:spcPct val="100000"/>
              </a:lnSpc>
              <a:spcBef>
                <a:spcPts val="625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850265" algn="l"/>
              </a:tabLst>
            </a:pPr>
            <a:r>
              <a:rPr sz="2600" dirty="0">
                <a:latin typeface="Arial MT"/>
                <a:cs typeface="Arial MT"/>
              </a:rPr>
              <a:t>Main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memory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NOT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updated!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54947" y="1511553"/>
            <a:ext cx="2616200" cy="1397000"/>
            <a:chOff x="2654947" y="1511553"/>
            <a:chExt cx="2616200" cy="1397000"/>
          </a:xfrm>
        </p:grpSpPr>
        <p:sp>
          <p:nvSpPr>
            <p:cNvPr id="5" name="object 5"/>
            <p:cNvSpPr/>
            <p:nvPr/>
          </p:nvSpPr>
          <p:spPr>
            <a:xfrm>
              <a:off x="28195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073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59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837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67139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54947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6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6"/>
                  </a:lnTo>
                  <a:lnTo>
                    <a:pt x="10027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014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59747" y="3568953"/>
            <a:ext cx="2387600" cy="406400"/>
            <a:chOff x="2959747" y="3568953"/>
            <a:chExt cx="2387600" cy="406400"/>
          </a:xfrm>
        </p:grpSpPr>
        <p:sp>
          <p:nvSpPr>
            <p:cNvPr id="13" name="object 13"/>
            <p:cNvSpPr/>
            <p:nvPr/>
          </p:nvSpPr>
          <p:spPr>
            <a:xfrm>
              <a:off x="2971939" y="35811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59747" y="3568953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92" y="25146"/>
                  </a:lnTo>
                  <a:lnTo>
                    <a:pt x="2374392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92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92" y="25146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2374392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374392" y="406146"/>
                  </a:moveTo>
                  <a:lnTo>
                    <a:pt x="2374392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70713" y="36202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88347" y="2285745"/>
            <a:ext cx="2235200" cy="914400"/>
            <a:chOff x="3188347" y="2285745"/>
            <a:chExt cx="2235200" cy="914400"/>
          </a:xfrm>
        </p:grpSpPr>
        <p:sp>
          <p:nvSpPr>
            <p:cNvPr id="17" name="object 17"/>
            <p:cNvSpPr/>
            <p:nvPr/>
          </p:nvSpPr>
          <p:spPr>
            <a:xfrm>
              <a:off x="3188347" y="2285745"/>
              <a:ext cx="1701800" cy="914400"/>
            </a:xfrm>
            <a:custGeom>
              <a:avLst/>
              <a:gdLst/>
              <a:ahLst/>
              <a:cxnLst/>
              <a:rect l="l" t="t" r="r" b="b"/>
              <a:pathLst>
                <a:path w="17018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17018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  <a:path w="1701800" h="914400">
                  <a:moveTo>
                    <a:pt x="1701546" y="609600"/>
                  </a:moveTo>
                  <a:lnTo>
                    <a:pt x="1676400" y="609600"/>
                  </a:lnTo>
                  <a:lnTo>
                    <a:pt x="1676400" y="914400"/>
                  </a:lnTo>
                  <a:lnTo>
                    <a:pt x="1701546" y="914400"/>
                  </a:lnTo>
                  <a:lnTo>
                    <a:pt x="1701546" y="609600"/>
                  </a:lnTo>
                  <a:close/>
                </a:path>
                <a:path w="1701800" h="914400">
                  <a:moveTo>
                    <a:pt x="1701546" y="0"/>
                  </a:moveTo>
                  <a:lnTo>
                    <a:pt x="1676400" y="0"/>
                  </a:lnTo>
                  <a:lnTo>
                    <a:pt x="1676400" y="228600"/>
                  </a:lnTo>
                  <a:lnTo>
                    <a:pt x="1701546" y="228600"/>
                  </a:lnTo>
                  <a:lnTo>
                    <a:pt x="17015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19739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07547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5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5540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819539" y="1511553"/>
            <a:ext cx="3975735" cy="2070100"/>
            <a:chOff x="2819539" y="1511553"/>
            <a:chExt cx="3975735" cy="2070100"/>
          </a:xfrm>
        </p:grpSpPr>
        <p:sp>
          <p:nvSpPr>
            <p:cNvPr id="22" name="object 22"/>
            <p:cNvSpPr/>
            <p:nvPr/>
          </p:nvSpPr>
          <p:spPr>
            <a:xfrm>
              <a:off x="2819539" y="3162045"/>
              <a:ext cx="3810000" cy="419100"/>
            </a:xfrm>
            <a:custGeom>
              <a:avLst/>
              <a:gdLst/>
              <a:ahLst/>
              <a:cxnLst/>
              <a:rect l="l" t="t" r="r" b="b"/>
              <a:pathLst>
                <a:path w="3810000" h="419100">
                  <a:moveTo>
                    <a:pt x="3810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1283208" y="76200"/>
                  </a:lnTo>
                  <a:lnTo>
                    <a:pt x="1283208" y="419100"/>
                  </a:lnTo>
                  <a:lnTo>
                    <a:pt x="1308354" y="419100"/>
                  </a:lnTo>
                  <a:lnTo>
                    <a:pt x="1308354" y="76200"/>
                  </a:lnTo>
                  <a:lnTo>
                    <a:pt x="3810000" y="7620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67526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55335" y="1511553"/>
              <a:ext cx="787400" cy="1689100"/>
            </a:xfrm>
            <a:custGeom>
              <a:avLst/>
              <a:gdLst/>
              <a:ahLst/>
              <a:cxnLst/>
              <a:rect l="l" t="t" r="r" b="b"/>
              <a:pathLst>
                <a:path w="787400" h="1689100">
                  <a:moveTo>
                    <a:pt x="406158" y="1383792"/>
                  </a:moveTo>
                  <a:lnTo>
                    <a:pt x="381012" y="1383792"/>
                  </a:lnTo>
                  <a:lnTo>
                    <a:pt x="381012" y="1688592"/>
                  </a:lnTo>
                  <a:lnTo>
                    <a:pt x="406158" y="1688592"/>
                  </a:lnTo>
                  <a:lnTo>
                    <a:pt x="406158" y="1383792"/>
                  </a:lnTo>
                  <a:close/>
                </a:path>
                <a:path w="787400" h="1689100">
                  <a:moveTo>
                    <a:pt x="787146" y="393192"/>
                  </a:moveTo>
                  <a:lnTo>
                    <a:pt x="784860" y="352806"/>
                  </a:lnTo>
                  <a:lnTo>
                    <a:pt x="771842" y="283933"/>
                  </a:lnTo>
                  <a:lnTo>
                    <a:pt x="762000" y="256400"/>
                  </a:lnTo>
                  <a:lnTo>
                    <a:pt x="762000" y="393954"/>
                  </a:lnTo>
                  <a:lnTo>
                    <a:pt x="761238" y="413004"/>
                  </a:lnTo>
                  <a:lnTo>
                    <a:pt x="755586" y="455828"/>
                  </a:lnTo>
                  <a:lnTo>
                    <a:pt x="746366" y="495896"/>
                  </a:lnTo>
                  <a:lnTo>
                    <a:pt x="733793" y="533196"/>
                  </a:lnTo>
                  <a:lnTo>
                    <a:pt x="699617" y="599427"/>
                  </a:lnTo>
                  <a:lnTo>
                    <a:pt x="655015" y="654443"/>
                  </a:lnTo>
                  <a:lnTo>
                    <a:pt x="601865" y="698195"/>
                  </a:lnTo>
                  <a:lnTo>
                    <a:pt x="542442" y="730415"/>
                  </a:lnTo>
                  <a:lnTo>
                    <a:pt x="478396" y="751192"/>
                  </a:lnTo>
                  <a:lnTo>
                    <a:pt x="413766" y="760171"/>
                  </a:lnTo>
                  <a:lnTo>
                    <a:pt x="413004" y="760247"/>
                  </a:lnTo>
                  <a:lnTo>
                    <a:pt x="411810" y="760349"/>
                  </a:lnTo>
                  <a:lnTo>
                    <a:pt x="393954" y="760463"/>
                  </a:lnTo>
                  <a:lnTo>
                    <a:pt x="378167" y="760552"/>
                  </a:lnTo>
                  <a:lnTo>
                    <a:pt x="345287" y="757872"/>
                  </a:lnTo>
                  <a:lnTo>
                    <a:pt x="344639" y="757821"/>
                  </a:lnTo>
                  <a:lnTo>
                    <a:pt x="278853" y="743496"/>
                  </a:lnTo>
                  <a:lnTo>
                    <a:pt x="216420" y="717270"/>
                  </a:lnTo>
                  <a:lnTo>
                    <a:pt x="159308" y="679069"/>
                  </a:lnTo>
                  <a:lnTo>
                    <a:pt x="109474" y="628789"/>
                  </a:lnTo>
                  <a:lnTo>
                    <a:pt x="68910" y="566318"/>
                  </a:lnTo>
                  <a:lnTo>
                    <a:pt x="52705" y="530491"/>
                  </a:lnTo>
                  <a:lnTo>
                    <a:pt x="39560" y="491591"/>
                  </a:lnTo>
                  <a:lnTo>
                    <a:pt x="29718" y="449580"/>
                  </a:lnTo>
                  <a:lnTo>
                    <a:pt x="25146" y="393192"/>
                  </a:lnTo>
                  <a:lnTo>
                    <a:pt x="25908" y="374142"/>
                  </a:lnTo>
                  <a:lnTo>
                    <a:pt x="40233" y="289229"/>
                  </a:lnTo>
                  <a:lnTo>
                    <a:pt x="56680" y="244309"/>
                  </a:lnTo>
                  <a:lnTo>
                    <a:pt x="78587" y="202438"/>
                  </a:lnTo>
                  <a:lnTo>
                    <a:pt x="105486" y="164020"/>
                  </a:lnTo>
                  <a:lnTo>
                    <a:pt x="136893" y="129438"/>
                  </a:lnTo>
                  <a:lnTo>
                    <a:pt x="172351" y="99110"/>
                  </a:lnTo>
                  <a:lnTo>
                    <a:pt x="211391" y="73431"/>
                  </a:lnTo>
                  <a:lnTo>
                    <a:pt x="253542" y="52793"/>
                  </a:lnTo>
                  <a:lnTo>
                    <a:pt x="298323" y="37604"/>
                  </a:lnTo>
                  <a:lnTo>
                    <a:pt x="345287" y="28257"/>
                  </a:lnTo>
                  <a:lnTo>
                    <a:pt x="393954" y="25146"/>
                  </a:lnTo>
                  <a:lnTo>
                    <a:pt x="411810" y="25869"/>
                  </a:lnTo>
                  <a:lnTo>
                    <a:pt x="477291" y="34823"/>
                  </a:lnTo>
                  <a:lnTo>
                    <a:pt x="521335" y="47955"/>
                  </a:lnTo>
                  <a:lnTo>
                    <a:pt x="563003" y="66421"/>
                  </a:lnTo>
                  <a:lnTo>
                    <a:pt x="601865" y="89801"/>
                  </a:lnTo>
                  <a:lnTo>
                    <a:pt x="637501" y="117678"/>
                  </a:lnTo>
                  <a:lnTo>
                    <a:pt x="669480" y="149631"/>
                  </a:lnTo>
                  <a:lnTo>
                    <a:pt x="697382" y="185242"/>
                  </a:lnTo>
                  <a:lnTo>
                    <a:pt x="720775" y="224091"/>
                  </a:lnTo>
                  <a:lnTo>
                    <a:pt x="739254" y="265747"/>
                  </a:lnTo>
                  <a:lnTo>
                    <a:pt x="752373" y="309816"/>
                  </a:lnTo>
                  <a:lnTo>
                    <a:pt x="759714" y="355854"/>
                  </a:lnTo>
                  <a:lnTo>
                    <a:pt x="762000" y="393954"/>
                  </a:lnTo>
                  <a:lnTo>
                    <a:pt x="762000" y="256400"/>
                  </a:lnTo>
                  <a:lnTo>
                    <a:pt x="733259" y="194132"/>
                  </a:lnTo>
                  <a:lnTo>
                    <a:pt x="706259" y="154114"/>
                  </a:lnTo>
                  <a:lnTo>
                    <a:pt x="674700" y="117868"/>
                  </a:lnTo>
                  <a:lnTo>
                    <a:pt x="639025" y="85750"/>
                  </a:lnTo>
                  <a:lnTo>
                    <a:pt x="599643" y="58127"/>
                  </a:lnTo>
                  <a:lnTo>
                    <a:pt x="556983" y="35369"/>
                  </a:lnTo>
                  <a:lnTo>
                    <a:pt x="511505" y="17856"/>
                  </a:lnTo>
                  <a:lnTo>
                    <a:pt x="463613" y="5943"/>
                  </a:lnTo>
                  <a:lnTo>
                    <a:pt x="413766" y="0"/>
                  </a:lnTo>
                  <a:lnTo>
                    <a:pt x="372618" y="0"/>
                  </a:lnTo>
                  <a:lnTo>
                    <a:pt x="322732" y="5956"/>
                  </a:lnTo>
                  <a:lnTo>
                    <a:pt x="274866" y="17932"/>
                  </a:lnTo>
                  <a:lnTo>
                    <a:pt x="229425" y="35534"/>
                  </a:lnTo>
                  <a:lnTo>
                    <a:pt x="187071" y="58267"/>
                  </a:lnTo>
                  <a:lnTo>
                    <a:pt x="186855" y="58381"/>
                  </a:lnTo>
                  <a:lnTo>
                    <a:pt x="147561" y="86118"/>
                  </a:lnTo>
                  <a:lnTo>
                    <a:pt x="111963" y="118351"/>
                  </a:lnTo>
                  <a:lnTo>
                    <a:pt x="80518" y="154698"/>
                  </a:lnTo>
                  <a:lnTo>
                    <a:pt x="53619" y="194805"/>
                  </a:lnTo>
                  <a:lnTo>
                    <a:pt x="31711" y="238264"/>
                  </a:lnTo>
                  <a:lnTo>
                    <a:pt x="15227" y="284708"/>
                  </a:lnTo>
                  <a:lnTo>
                    <a:pt x="4572" y="333756"/>
                  </a:lnTo>
                  <a:lnTo>
                    <a:pt x="0" y="373380"/>
                  </a:lnTo>
                  <a:lnTo>
                    <a:pt x="0" y="413766"/>
                  </a:lnTo>
                  <a:lnTo>
                    <a:pt x="1524" y="434340"/>
                  </a:lnTo>
                  <a:lnTo>
                    <a:pt x="7620" y="473202"/>
                  </a:lnTo>
                  <a:lnTo>
                    <a:pt x="20142" y="519303"/>
                  </a:lnTo>
                  <a:lnTo>
                    <a:pt x="25146" y="531571"/>
                  </a:lnTo>
                  <a:lnTo>
                    <a:pt x="37884" y="562864"/>
                  </a:lnTo>
                  <a:lnTo>
                    <a:pt x="60426" y="603542"/>
                  </a:lnTo>
                  <a:lnTo>
                    <a:pt x="87376" y="641032"/>
                  </a:lnTo>
                  <a:lnTo>
                    <a:pt x="118338" y="674992"/>
                  </a:lnTo>
                  <a:lnTo>
                    <a:pt x="152895" y="705091"/>
                  </a:lnTo>
                  <a:lnTo>
                    <a:pt x="190677" y="731012"/>
                  </a:lnTo>
                  <a:lnTo>
                    <a:pt x="231267" y="752411"/>
                  </a:lnTo>
                  <a:lnTo>
                    <a:pt x="274269" y="768985"/>
                  </a:lnTo>
                  <a:lnTo>
                    <a:pt x="319278" y="780389"/>
                  </a:lnTo>
                  <a:lnTo>
                    <a:pt x="365912" y="786295"/>
                  </a:lnTo>
                  <a:lnTo>
                    <a:pt x="381012" y="786333"/>
                  </a:lnTo>
                  <a:lnTo>
                    <a:pt x="381012" y="1002792"/>
                  </a:lnTo>
                  <a:lnTo>
                    <a:pt x="406158" y="1002792"/>
                  </a:lnTo>
                  <a:lnTo>
                    <a:pt x="406158" y="786371"/>
                  </a:lnTo>
                  <a:lnTo>
                    <a:pt x="413766" y="786384"/>
                  </a:lnTo>
                  <a:lnTo>
                    <a:pt x="454152" y="782574"/>
                  </a:lnTo>
                  <a:lnTo>
                    <a:pt x="503148" y="771867"/>
                  </a:lnTo>
                  <a:lnTo>
                    <a:pt x="549541" y="755281"/>
                  </a:lnTo>
                  <a:lnTo>
                    <a:pt x="592937" y="733272"/>
                  </a:lnTo>
                  <a:lnTo>
                    <a:pt x="632955" y="706272"/>
                  </a:lnTo>
                  <a:lnTo>
                    <a:pt x="669213" y="674700"/>
                  </a:lnTo>
                  <a:lnTo>
                    <a:pt x="701370" y="639000"/>
                  </a:lnTo>
                  <a:lnTo>
                    <a:pt x="729018" y="599605"/>
                  </a:lnTo>
                  <a:lnTo>
                    <a:pt x="751789" y="556958"/>
                  </a:lnTo>
                  <a:lnTo>
                    <a:pt x="769327" y="511479"/>
                  </a:lnTo>
                  <a:lnTo>
                    <a:pt x="781227" y="463600"/>
                  </a:lnTo>
                  <a:lnTo>
                    <a:pt x="787146" y="413766"/>
                  </a:lnTo>
                  <a:lnTo>
                    <a:pt x="787146" y="393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91326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79135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5"/>
                  </a:lnTo>
                  <a:lnTo>
                    <a:pt x="12192" y="406145"/>
                  </a:lnTo>
                  <a:lnTo>
                    <a:pt x="12192" y="25145"/>
                  </a:lnTo>
                  <a:lnTo>
                    <a:pt x="25158" y="12191"/>
                  </a:lnTo>
                  <a:lnTo>
                    <a:pt x="25158" y="25145"/>
                  </a:lnTo>
                  <a:lnTo>
                    <a:pt x="990612" y="25145"/>
                  </a:lnTo>
                  <a:lnTo>
                    <a:pt x="990612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58" y="25145"/>
                  </a:moveTo>
                  <a:lnTo>
                    <a:pt x="25158" y="12191"/>
                  </a:lnTo>
                  <a:lnTo>
                    <a:pt x="12192" y="25145"/>
                  </a:lnTo>
                  <a:lnTo>
                    <a:pt x="25158" y="25145"/>
                  </a:lnTo>
                  <a:close/>
                </a:path>
                <a:path w="1016000" h="406400">
                  <a:moveTo>
                    <a:pt x="25158" y="381000"/>
                  </a:moveTo>
                  <a:lnTo>
                    <a:pt x="25158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58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58" y="393191"/>
                  </a:lnTo>
                  <a:lnTo>
                    <a:pt x="25158" y="406145"/>
                  </a:lnTo>
                  <a:lnTo>
                    <a:pt x="990612" y="406145"/>
                  </a:lnTo>
                  <a:lnTo>
                    <a:pt x="990612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58" y="406145"/>
                  </a:moveTo>
                  <a:lnTo>
                    <a:pt x="25158" y="393191"/>
                  </a:lnTo>
                  <a:lnTo>
                    <a:pt x="12192" y="381000"/>
                  </a:lnTo>
                  <a:lnTo>
                    <a:pt x="12192" y="406145"/>
                  </a:lnTo>
                  <a:lnTo>
                    <a:pt x="25158" y="406145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12" y="12191"/>
                  </a:lnTo>
                  <a:lnTo>
                    <a:pt x="990612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12" y="25145"/>
                  </a:lnTo>
                  <a:lnTo>
                    <a:pt x="990612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12" y="393191"/>
                  </a:lnTo>
                  <a:lnTo>
                    <a:pt x="990612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887349" y="2851404"/>
            <a:ext cx="4000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256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63749" y="361340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045085" y="1598369"/>
            <a:ext cx="4568825" cy="83693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20"/>
              </a:spcBef>
              <a:tabLst>
                <a:tab pos="1713864" algn="l"/>
                <a:tab pos="3085465" algn="l"/>
              </a:tabLst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2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3</a:t>
            </a:r>
            <a:endParaRPr sz="1800" baseline="-20833">
              <a:latin typeface="Verdana"/>
              <a:cs typeface="Verdana"/>
            </a:endParaRPr>
          </a:p>
          <a:p>
            <a:pPr marR="17780" algn="r">
              <a:lnSpc>
                <a:spcPct val="100000"/>
              </a:lnSpc>
              <a:spcBef>
                <a:spcPts val="1085"/>
              </a:spcBef>
            </a:pPr>
            <a:r>
              <a:rPr sz="1600" dirty="0">
                <a:solidFill>
                  <a:srgbClr val="D8D8EC"/>
                </a:solidFill>
                <a:latin typeface="Verdana"/>
                <a:cs typeface="Verdana"/>
              </a:rPr>
              <a:t>Write</a:t>
            </a:r>
            <a:r>
              <a:rPr sz="1600" spc="-90" dirty="0">
                <a:solidFill>
                  <a:srgbClr val="D8D8EC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D8D8EC"/>
                </a:solidFill>
                <a:latin typeface="Verdana"/>
                <a:cs typeface="Verdana"/>
              </a:rPr>
              <a:t>Back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35436" y="2546694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u=7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58643" y="2546694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172327" y="2133345"/>
            <a:ext cx="152400" cy="457200"/>
          </a:xfrm>
          <a:custGeom>
            <a:avLst/>
            <a:gdLst/>
            <a:ahLst/>
            <a:cxnLst/>
            <a:rect l="l" t="t" r="r" b="b"/>
            <a:pathLst>
              <a:path w="152400" h="457200">
                <a:moveTo>
                  <a:pt x="152400" y="304800"/>
                </a:moveTo>
                <a:lnTo>
                  <a:pt x="0" y="304800"/>
                </a:lnTo>
                <a:lnTo>
                  <a:pt x="51066" y="406933"/>
                </a:lnTo>
                <a:lnTo>
                  <a:pt x="51066" y="330707"/>
                </a:lnTo>
                <a:lnTo>
                  <a:pt x="102120" y="330707"/>
                </a:lnTo>
                <a:lnTo>
                  <a:pt x="102120" y="405358"/>
                </a:lnTo>
                <a:lnTo>
                  <a:pt x="152400" y="304800"/>
                </a:lnTo>
                <a:close/>
              </a:path>
              <a:path w="152400" h="457200">
                <a:moveTo>
                  <a:pt x="102120" y="304800"/>
                </a:moveTo>
                <a:lnTo>
                  <a:pt x="102120" y="0"/>
                </a:lnTo>
                <a:lnTo>
                  <a:pt x="51066" y="0"/>
                </a:lnTo>
                <a:lnTo>
                  <a:pt x="51066" y="304800"/>
                </a:lnTo>
                <a:lnTo>
                  <a:pt x="102120" y="304800"/>
                </a:lnTo>
                <a:close/>
              </a:path>
              <a:path w="152400" h="457200">
                <a:moveTo>
                  <a:pt x="102120" y="405358"/>
                </a:moveTo>
                <a:lnTo>
                  <a:pt x="102120" y="330707"/>
                </a:lnTo>
                <a:lnTo>
                  <a:pt x="51066" y="330707"/>
                </a:lnTo>
                <a:lnTo>
                  <a:pt x="51066" y="406933"/>
                </a:lnTo>
                <a:lnTo>
                  <a:pt x="76200" y="457200"/>
                </a:lnTo>
                <a:lnTo>
                  <a:pt x="102120" y="405358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</a:t>
            </a:r>
            <a:r>
              <a:rPr spc="-30" dirty="0"/>
              <a:t>(Write-</a:t>
            </a:r>
            <a:r>
              <a:rPr dirty="0"/>
              <a:t>Back</a:t>
            </a:r>
            <a:r>
              <a:rPr spc="-35" dirty="0"/>
              <a:t> </a:t>
            </a:r>
            <a:r>
              <a:rPr spc="-10" dirty="0"/>
              <a:t>Cache)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4143449"/>
            <a:ext cx="7804150" cy="144907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835"/>
              </a:spcBef>
              <a:buClr>
                <a:srgbClr val="330065"/>
              </a:buClr>
              <a:buSzPct val="70000"/>
              <a:buAutoNum type="arabicPeriod" startAt="4"/>
              <a:tabLst>
                <a:tab pos="469265" algn="l"/>
              </a:tabLst>
            </a:pPr>
            <a:r>
              <a:rPr sz="3000" dirty="0">
                <a:latin typeface="Arial MT"/>
                <a:cs typeface="Arial MT"/>
              </a:rPr>
              <a:t>P1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reads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value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u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spc="-20" dirty="0">
                <a:latin typeface="Arial MT"/>
                <a:cs typeface="Arial MT"/>
              </a:rPr>
              <a:t>again</a:t>
            </a:r>
            <a:endParaRPr sz="3000">
              <a:latin typeface="Arial MT"/>
              <a:cs typeface="Arial MT"/>
            </a:endParaRPr>
          </a:p>
          <a:p>
            <a:pPr marL="850900" marR="5080" lvl="1" indent="-381000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850900" algn="l"/>
              </a:tabLst>
            </a:pPr>
            <a:r>
              <a:rPr sz="2600" dirty="0">
                <a:latin typeface="Arial MT"/>
                <a:cs typeface="Arial MT"/>
              </a:rPr>
              <a:t>P1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reads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value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from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(u=5),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which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not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correct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value!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54947" y="1511553"/>
            <a:ext cx="2616200" cy="1397000"/>
            <a:chOff x="2654947" y="1511553"/>
            <a:chExt cx="2616200" cy="1397000"/>
          </a:xfrm>
        </p:grpSpPr>
        <p:sp>
          <p:nvSpPr>
            <p:cNvPr id="5" name="object 5"/>
            <p:cNvSpPr/>
            <p:nvPr/>
          </p:nvSpPr>
          <p:spPr>
            <a:xfrm>
              <a:off x="28195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073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59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837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67139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54947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6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6"/>
                  </a:lnTo>
                  <a:lnTo>
                    <a:pt x="10027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014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59747" y="3568953"/>
            <a:ext cx="2387600" cy="406400"/>
            <a:chOff x="2959747" y="3568953"/>
            <a:chExt cx="2387600" cy="406400"/>
          </a:xfrm>
        </p:grpSpPr>
        <p:sp>
          <p:nvSpPr>
            <p:cNvPr id="13" name="object 13"/>
            <p:cNvSpPr/>
            <p:nvPr/>
          </p:nvSpPr>
          <p:spPr>
            <a:xfrm>
              <a:off x="2971939" y="35811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59747" y="3568953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92" y="25146"/>
                  </a:lnTo>
                  <a:lnTo>
                    <a:pt x="2374392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92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92" y="25146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2374392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374392" y="406146"/>
                  </a:moveTo>
                  <a:lnTo>
                    <a:pt x="2374392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70713" y="36202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88347" y="2285745"/>
            <a:ext cx="2235200" cy="914400"/>
            <a:chOff x="3188347" y="2285745"/>
            <a:chExt cx="2235200" cy="914400"/>
          </a:xfrm>
        </p:grpSpPr>
        <p:sp>
          <p:nvSpPr>
            <p:cNvPr id="17" name="object 17"/>
            <p:cNvSpPr/>
            <p:nvPr/>
          </p:nvSpPr>
          <p:spPr>
            <a:xfrm>
              <a:off x="3188347" y="2285745"/>
              <a:ext cx="1701800" cy="914400"/>
            </a:xfrm>
            <a:custGeom>
              <a:avLst/>
              <a:gdLst/>
              <a:ahLst/>
              <a:cxnLst/>
              <a:rect l="l" t="t" r="r" b="b"/>
              <a:pathLst>
                <a:path w="17018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17018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  <a:path w="1701800" h="914400">
                  <a:moveTo>
                    <a:pt x="1701546" y="609600"/>
                  </a:moveTo>
                  <a:lnTo>
                    <a:pt x="1676400" y="609600"/>
                  </a:lnTo>
                  <a:lnTo>
                    <a:pt x="1676400" y="914400"/>
                  </a:lnTo>
                  <a:lnTo>
                    <a:pt x="1701546" y="914400"/>
                  </a:lnTo>
                  <a:lnTo>
                    <a:pt x="1701546" y="609600"/>
                  </a:lnTo>
                  <a:close/>
                </a:path>
                <a:path w="1701800" h="914400">
                  <a:moveTo>
                    <a:pt x="1701546" y="0"/>
                  </a:moveTo>
                  <a:lnTo>
                    <a:pt x="1676400" y="0"/>
                  </a:lnTo>
                  <a:lnTo>
                    <a:pt x="1676400" y="228600"/>
                  </a:lnTo>
                  <a:lnTo>
                    <a:pt x="1701546" y="228600"/>
                  </a:lnTo>
                  <a:lnTo>
                    <a:pt x="17015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19739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07547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5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5540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819539" y="1511553"/>
            <a:ext cx="3975735" cy="2070100"/>
            <a:chOff x="2819539" y="1511553"/>
            <a:chExt cx="3975735" cy="2070100"/>
          </a:xfrm>
        </p:grpSpPr>
        <p:sp>
          <p:nvSpPr>
            <p:cNvPr id="22" name="object 22"/>
            <p:cNvSpPr/>
            <p:nvPr/>
          </p:nvSpPr>
          <p:spPr>
            <a:xfrm>
              <a:off x="2819539" y="3162045"/>
              <a:ext cx="3810000" cy="419100"/>
            </a:xfrm>
            <a:custGeom>
              <a:avLst/>
              <a:gdLst/>
              <a:ahLst/>
              <a:cxnLst/>
              <a:rect l="l" t="t" r="r" b="b"/>
              <a:pathLst>
                <a:path w="3810000" h="419100">
                  <a:moveTo>
                    <a:pt x="38100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1283208" y="76200"/>
                  </a:lnTo>
                  <a:lnTo>
                    <a:pt x="1283208" y="419100"/>
                  </a:lnTo>
                  <a:lnTo>
                    <a:pt x="1308354" y="419100"/>
                  </a:lnTo>
                  <a:lnTo>
                    <a:pt x="1308354" y="76200"/>
                  </a:lnTo>
                  <a:lnTo>
                    <a:pt x="3810000" y="7620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67526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55335" y="1511553"/>
              <a:ext cx="787400" cy="1689100"/>
            </a:xfrm>
            <a:custGeom>
              <a:avLst/>
              <a:gdLst/>
              <a:ahLst/>
              <a:cxnLst/>
              <a:rect l="l" t="t" r="r" b="b"/>
              <a:pathLst>
                <a:path w="787400" h="1689100">
                  <a:moveTo>
                    <a:pt x="406158" y="1383792"/>
                  </a:moveTo>
                  <a:lnTo>
                    <a:pt x="381012" y="1383792"/>
                  </a:lnTo>
                  <a:lnTo>
                    <a:pt x="381012" y="1688592"/>
                  </a:lnTo>
                  <a:lnTo>
                    <a:pt x="406158" y="1688592"/>
                  </a:lnTo>
                  <a:lnTo>
                    <a:pt x="406158" y="1383792"/>
                  </a:lnTo>
                  <a:close/>
                </a:path>
                <a:path w="787400" h="1689100">
                  <a:moveTo>
                    <a:pt x="787146" y="393192"/>
                  </a:moveTo>
                  <a:lnTo>
                    <a:pt x="784860" y="352806"/>
                  </a:lnTo>
                  <a:lnTo>
                    <a:pt x="771842" y="283933"/>
                  </a:lnTo>
                  <a:lnTo>
                    <a:pt x="762000" y="256400"/>
                  </a:lnTo>
                  <a:lnTo>
                    <a:pt x="762000" y="393954"/>
                  </a:lnTo>
                  <a:lnTo>
                    <a:pt x="761238" y="413004"/>
                  </a:lnTo>
                  <a:lnTo>
                    <a:pt x="755586" y="455828"/>
                  </a:lnTo>
                  <a:lnTo>
                    <a:pt x="746366" y="495896"/>
                  </a:lnTo>
                  <a:lnTo>
                    <a:pt x="733793" y="533196"/>
                  </a:lnTo>
                  <a:lnTo>
                    <a:pt x="699617" y="599427"/>
                  </a:lnTo>
                  <a:lnTo>
                    <a:pt x="655015" y="654443"/>
                  </a:lnTo>
                  <a:lnTo>
                    <a:pt x="601865" y="698195"/>
                  </a:lnTo>
                  <a:lnTo>
                    <a:pt x="542442" y="730415"/>
                  </a:lnTo>
                  <a:lnTo>
                    <a:pt x="478396" y="751192"/>
                  </a:lnTo>
                  <a:lnTo>
                    <a:pt x="413766" y="760171"/>
                  </a:lnTo>
                  <a:lnTo>
                    <a:pt x="413004" y="760247"/>
                  </a:lnTo>
                  <a:lnTo>
                    <a:pt x="411810" y="760349"/>
                  </a:lnTo>
                  <a:lnTo>
                    <a:pt x="393954" y="760463"/>
                  </a:lnTo>
                  <a:lnTo>
                    <a:pt x="378167" y="760552"/>
                  </a:lnTo>
                  <a:lnTo>
                    <a:pt x="345287" y="757872"/>
                  </a:lnTo>
                  <a:lnTo>
                    <a:pt x="344639" y="757821"/>
                  </a:lnTo>
                  <a:lnTo>
                    <a:pt x="278853" y="743496"/>
                  </a:lnTo>
                  <a:lnTo>
                    <a:pt x="216420" y="717270"/>
                  </a:lnTo>
                  <a:lnTo>
                    <a:pt x="159308" y="679069"/>
                  </a:lnTo>
                  <a:lnTo>
                    <a:pt x="109474" y="628789"/>
                  </a:lnTo>
                  <a:lnTo>
                    <a:pt x="68910" y="566318"/>
                  </a:lnTo>
                  <a:lnTo>
                    <a:pt x="52705" y="530491"/>
                  </a:lnTo>
                  <a:lnTo>
                    <a:pt x="39560" y="491591"/>
                  </a:lnTo>
                  <a:lnTo>
                    <a:pt x="29718" y="449580"/>
                  </a:lnTo>
                  <a:lnTo>
                    <a:pt x="25146" y="393192"/>
                  </a:lnTo>
                  <a:lnTo>
                    <a:pt x="25908" y="374142"/>
                  </a:lnTo>
                  <a:lnTo>
                    <a:pt x="40233" y="289229"/>
                  </a:lnTo>
                  <a:lnTo>
                    <a:pt x="56680" y="244309"/>
                  </a:lnTo>
                  <a:lnTo>
                    <a:pt x="78587" y="202438"/>
                  </a:lnTo>
                  <a:lnTo>
                    <a:pt x="105486" y="164020"/>
                  </a:lnTo>
                  <a:lnTo>
                    <a:pt x="136893" y="129438"/>
                  </a:lnTo>
                  <a:lnTo>
                    <a:pt x="172351" y="99110"/>
                  </a:lnTo>
                  <a:lnTo>
                    <a:pt x="211391" y="73431"/>
                  </a:lnTo>
                  <a:lnTo>
                    <a:pt x="253542" y="52793"/>
                  </a:lnTo>
                  <a:lnTo>
                    <a:pt x="298323" y="37604"/>
                  </a:lnTo>
                  <a:lnTo>
                    <a:pt x="345287" y="28257"/>
                  </a:lnTo>
                  <a:lnTo>
                    <a:pt x="393954" y="25146"/>
                  </a:lnTo>
                  <a:lnTo>
                    <a:pt x="411810" y="25869"/>
                  </a:lnTo>
                  <a:lnTo>
                    <a:pt x="477291" y="34823"/>
                  </a:lnTo>
                  <a:lnTo>
                    <a:pt x="521335" y="47955"/>
                  </a:lnTo>
                  <a:lnTo>
                    <a:pt x="563003" y="66421"/>
                  </a:lnTo>
                  <a:lnTo>
                    <a:pt x="601865" y="89801"/>
                  </a:lnTo>
                  <a:lnTo>
                    <a:pt x="637501" y="117678"/>
                  </a:lnTo>
                  <a:lnTo>
                    <a:pt x="669480" y="149631"/>
                  </a:lnTo>
                  <a:lnTo>
                    <a:pt x="697382" y="185242"/>
                  </a:lnTo>
                  <a:lnTo>
                    <a:pt x="720775" y="224091"/>
                  </a:lnTo>
                  <a:lnTo>
                    <a:pt x="739254" y="265747"/>
                  </a:lnTo>
                  <a:lnTo>
                    <a:pt x="752373" y="309816"/>
                  </a:lnTo>
                  <a:lnTo>
                    <a:pt x="759714" y="355854"/>
                  </a:lnTo>
                  <a:lnTo>
                    <a:pt x="762000" y="393954"/>
                  </a:lnTo>
                  <a:lnTo>
                    <a:pt x="762000" y="256400"/>
                  </a:lnTo>
                  <a:lnTo>
                    <a:pt x="733259" y="194132"/>
                  </a:lnTo>
                  <a:lnTo>
                    <a:pt x="706259" y="154114"/>
                  </a:lnTo>
                  <a:lnTo>
                    <a:pt x="674700" y="117868"/>
                  </a:lnTo>
                  <a:lnTo>
                    <a:pt x="639025" y="85750"/>
                  </a:lnTo>
                  <a:lnTo>
                    <a:pt x="599643" y="58127"/>
                  </a:lnTo>
                  <a:lnTo>
                    <a:pt x="556983" y="35369"/>
                  </a:lnTo>
                  <a:lnTo>
                    <a:pt x="511505" y="17856"/>
                  </a:lnTo>
                  <a:lnTo>
                    <a:pt x="463613" y="5943"/>
                  </a:lnTo>
                  <a:lnTo>
                    <a:pt x="413766" y="0"/>
                  </a:lnTo>
                  <a:lnTo>
                    <a:pt x="372618" y="0"/>
                  </a:lnTo>
                  <a:lnTo>
                    <a:pt x="322732" y="5956"/>
                  </a:lnTo>
                  <a:lnTo>
                    <a:pt x="274866" y="17932"/>
                  </a:lnTo>
                  <a:lnTo>
                    <a:pt x="229425" y="35534"/>
                  </a:lnTo>
                  <a:lnTo>
                    <a:pt x="187071" y="58267"/>
                  </a:lnTo>
                  <a:lnTo>
                    <a:pt x="186855" y="58381"/>
                  </a:lnTo>
                  <a:lnTo>
                    <a:pt x="147561" y="86118"/>
                  </a:lnTo>
                  <a:lnTo>
                    <a:pt x="111963" y="118351"/>
                  </a:lnTo>
                  <a:lnTo>
                    <a:pt x="80518" y="154698"/>
                  </a:lnTo>
                  <a:lnTo>
                    <a:pt x="53619" y="194805"/>
                  </a:lnTo>
                  <a:lnTo>
                    <a:pt x="31711" y="238264"/>
                  </a:lnTo>
                  <a:lnTo>
                    <a:pt x="15227" y="284708"/>
                  </a:lnTo>
                  <a:lnTo>
                    <a:pt x="4572" y="333756"/>
                  </a:lnTo>
                  <a:lnTo>
                    <a:pt x="0" y="373380"/>
                  </a:lnTo>
                  <a:lnTo>
                    <a:pt x="0" y="413766"/>
                  </a:lnTo>
                  <a:lnTo>
                    <a:pt x="1524" y="434340"/>
                  </a:lnTo>
                  <a:lnTo>
                    <a:pt x="7620" y="473202"/>
                  </a:lnTo>
                  <a:lnTo>
                    <a:pt x="20142" y="519303"/>
                  </a:lnTo>
                  <a:lnTo>
                    <a:pt x="25146" y="531571"/>
                  </a:lnTo>
                  <a:lnTo>
                    <a:pt x="37884" y="562864"/>
                  </a:lnTo>
                  <a:lnTo>
                    <a:pt x="60426" y="603542"/>
                  </a:lnTo>
                  <a:lnTo>
                    <a:pt x="87376" y="641032"/>
                  </a:lnTo>
                  <a:lnTo>
                    <a:pt x="118338" y="674992"/>
                  </a:lnTo>
                  <a:lnTo>
                    <a:pt x="152895" y="705091"/>
                  </a:lnTo>
                  <a:lnTo>
                    <a:pt x="190677" y="731012"/>
                  </a:lnTo>
                  <a:lnTo>
                    <a:pt x="231267" y="752411"/>
                  </a:lnTo>
                  <a:lnTo>
                    <a:pt x="274269" y="768985"/>
                  </a:lnTo>
                  <a:lnTo>
                    <a:pt x="319278" y="780389"/>
                  </a:lnTo>
                  <a:lnTo>
                    <a:pt x="365912" y="786295"/>
                  </a:lnTo>
                  <a:lnTo>
                    <a:pt x="381012" y="786333"/>
                  </a:lnTo>
                  <a:lnTo>
                    <a:pt x="381012" y="1002792"/>
                  </a:lnTo>
                  <a:lnTo>
                    <a:pt x="406158" y="1002792"/>
                  </a:lnTo>
                  <a:lnTo>
                    <a:pt x="406158" y="786371"/>
                  </a:lnTo>
                  <a:lnTo>
                    <a:pt x="413766" y="786384"/>
                  </a:lnTo>
                  <a:lnTo>
                    <a:pt x="454152" y="782574"/>
                  </a:lnTo>
                  <a:lnTo>
                    <a:pt x="503148" y="771867"/>
                  </a:lnTo>
                  <a:lnTo>
                    <a:pt x="549541" y="755281"/>
                  </a:lnTo>
                  <a:lnTo>
                    <a:pt x="592937" y="733272"/>
                  </a:lnTo>
                  <a:lnTo>
                    <a:pt x="632955" y="706272"/>
                  </a:lnTo>
                  <a:lnTo>
                    <a:pt x="669213" y="674700"/>
                  </a:lnTo>
                  <a:lnTo>
                    <a:pt x="701370" y="639000"/>
                  </a:lnTo>
                  <a:lnTo>
                    <a:pt x="729018" y="599605"/>
                  </a:lnTo>
                  <a:lnTo>
                    <a:pt x="751789" y="556958"/>
                  </a:lnTo>
                  <a:lnTo>
                    <a:pt x="769327" y="511479"/>
                  </a:lnTo>
                  <a:lnTo>
                    <a:pt x="781227" y="463600"/>
                  </a:lnTo>
                  <a:lnTo>
                    <a:pt x="787146" y="413766"/>
                  </a:lnTo>
                  <a:lnTo>
                    <a:pt x="787146" y="393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91326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79135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5"/>
                  </a:lnTo>
                  <a:lnTo>
                    <a:pt x="12192" y="406145"/>
                  </a:lnTo>
                  <a:lnTo>
                    <a:pt x="12192" y="25145"/>
                  </a:lnTo>
                  <a:lnTo>
                    <a:pt x="25158" y="12191"/>
                  </a:lnTo>
                  <a:lnTo>
                    <a:pt x="25158" y="25145"/>
                  </a:lnTo>
                  <a:lnTo>
                    <a:pt x="990612" y="25145"/>
                  </a:lnTo>
                  <a:lnTo>
                    <a:pt x="990612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58" y="25145"/>
                  </a:moveTo>
                  <a:lnTo>
                    <a:pt x="25158" y="12191"/>
                  </a:lnTo>
                  <a:lnTo>
                    <a:pt x="12192" y="25145"/>
                  </a:lnTo>
                  <a:lnTo>
                    <a:pt x="25158" y="25145"/>
                  </a:lnTo>
                  <a:close/>
                </a:path>
                <a:path w="1016000" h="406400">
                  <a:moveTo>
                    <a:pt x="25158" y="381000"/>
                  </a:moveTo>
                  <a:lnTo>
                    <a:pt x="25158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58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58" y="393191"/>
                  </a:lnTo>
                  <a:lnTo>
                    <a:pt x="25158" y="406145"/>
                  </a:lnTo>
                  <a:lnTo>
                    <a:pt x="990612" y="406145"/>
                  </a:lnTo>
                  <a:lnTo>
                    <a:pt x="990612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58" y="406145"/>
                  </a:moveTo>
                  <a:lnTo>
                    <a:pt x="25158" y="393191"/>
                  </a:lnTo>
                  <a:lnTo>
                    <a:pt x="12192" y="381000"/>
                  </a:lnTo>
                  <a:lnTo>
                    <a:pt x="12192" y="406145"/>
                  </a:lnTo>
                  <a:lnTo>
                    <a:pt x="25158" y="406145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12" y="12191"/>
                  </a:lnTo>
                  <a:lnTo>
                    <a:pt x="990612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12" y="25145"/>
                  </a:lnTo>
                  <a:lnTo>
                    <a:pt x="990612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12" y="393191"/>
                  </a:lnTo>
                  <a:lnTo>
                    <a:pt x="990612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887349" y="2851404"/>
            <a:ext cx="4000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256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935349" y="2546604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u=7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63662" y="361331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58556" y="2546604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048139" y="2133345"/>
            <a:ext cx="152400" cy="457200"/>
          </a:xfrm>
          <a:custGeom>
            <a:avLst/>
            <a:gdLst/>
            <a:ahLst/>
            <a:cxnLst/>
            <a:rect l="l" t="t" r="r" b="b"/>
            <a:pathLst>
              <a:path w="152400" h="457200">
                <a:moveTo>
                  <a:pt x="152400" y="152400"/>
                </a:moveTo>
                <a:lnTo>
                  <a:pt x="76200" y="0"/>
                </a:lnTo>
                <a:lnTo>
                  <a:pt x="0" y="152400"/>
                </a:lnTo>
                <a:lnTo>
                  <a:pt x="51053" y="152400"/>
                </a:lnTo>
                <a:lnTo>
                  <a:pt x="51053" y="127254"/>
                </a:lnTo>
                <a:lnTo>
                  <a:pt x="102107" y="127254"/>
                </a:lnTo>
                <a:lnTo>
                  <a:pt x="102107" y="152400"/>
                </a:lnTo>
                <a:lnTo>
                  <a:pt x="152400" y="152400"/>
                </a:lnTo>
                <a:close/>
              </a:path>
              <a:path w="152400" h="457200">
                <a:moveTo>
                  <a:pt x="102107" y="152400"/>
                </a:moveTo>
                <a:lnTo>
                  <a:pt x="102107" y="127254"/>
                </a:lnTo>
                <a:lnTo>
                  <a:pt x="51053" y="127254"/>
                </a:lnTo>
                <a:lnTo>
                  <a:pt x="51053" y="152400"/>
                </a:lnTo>
                <a:lnTo>
                  <a:pt x="102107" y="152400"/>
                </a:lnTo>
                <a:close/>
              </a:path>
              <a:path w="152400" h="457200">
                <a:moveTo>
                  <a:pt x="102107" y="457200"/>
                </a:moveTo>
                <a:lnTo>
                  <a:pt x="102107" y="152400"/>
                </a:lnTo>
                <a:lnTo>
                  <a:pt x="51053" y="152400"/>
                </a:lnTo>
                <a:lnTo>
                  <a:pt x="51053" y="457200"/>
                </a:lnTo>
                <a:lnTo>
                  <a:pt x="102107" y="457200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791307" y="1322839"/>
            <a:ext cx="4053840" cy="83693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732155">
              <a:lnSpc>
                <a:spcPct val="100000"/>
              </a:lnSpc>
              <a:spcBef>
                <a:spcPts val="1320"/>
              </a:spcBef>
              <a:tabLst>
                <a:tab pos="2408555" algn="l"/>
                <a:tab pos="3780154" algn="l"/>
              </a:tabLst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2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3</a:t>
            </a:r>
            <a:endParaRPr sz="1800" baseline="-20833">
              <a:latin typeface="Verdana"/>
              <a:cs typeface="Verdana"/>
            </a:endParaRPr>
          </a:p>
          <a:p>
            <a:pPr marL="25400">
              <a:lnSpc>
                <a:spcPct val="100000"/>
              </a:lnSpc>
              <a:spcBef>
                <a:spcPts val="1085"/>
              </a:spcBef>
            </a:pPr>
            <a:r>
              <a:rPr sz="1600" spc="-20" dirty="0">
                <a:solidFill>
                  <a:srgbClr val="D8D8EC"/>
                </a:solidFill>
                <a:latin typeface="Verdana"/>
                <a:cs typeface="Verdana"/>
              </a:rPr>
              <a:t>Read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65" dirty="0"/>
              <a:t> </a:t>
            </a:r>
            <a:r>
              <a:rPr dirty="0"/>
              <a:t>Coherence</a:t>
            </a:r>
            <a:r>
              <a:rPr spc="-165" dirty="0"/>
              <a:t> </a:t>
            </a:r>
            <a:r>
              <a:rPr spc="-10" dirty="0"/>
              <a:t>Problem </a:t>
            </a:r>
            <a:r>
              <a:rPr spc="-30" dirty="0"/>
              <a:t>(Write-</a:t>
            </a:r>
            <a:r>
              <a:rPr dirty="0"/>
              <a:t>Back</a:t>
            </a:r>
            <a:r>
              <a:rPr spc="-35" dirty="0"/>
              <a:t> </a:t>
            </a:r>
            <a:r>
              <a:rPr spc="-10" dirty="0"/>
              <a:t>Cache)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4143449"/>
            <a:ext cx="7804150" cy="144907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835"/>
              </a:spcBef>
              <a:buClr>
                <a:srgbClr val="330065"/>
              </a:buClr>
              <a:buSzPct val="70000"/>
              <a:buAutoNum type="arabicPeriod" startAt="5"/>
              <a:tabLst>
                <a:tab pos="469265" algn="l"/>
              </a:tabLst>
            </a:pPr>
            <a:r>
              <a:rPr sz="3000" dirty="0">
                <a:latin typeface="Arial MT"/>
                <a:cs typeface="Arial MT"/>
              </a:rPr>
              <a:t>P2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reads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location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u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from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main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memory</a:t>
            </a:r>
            <a:endParaRPr sz="3000">
              <a:latin typeface="Arial MT"/>
              <a:cs typeface="Arial MT"/>
            </a:endParaRPr>
          </a:p>
          <a:p>
            <a:pPr marL="850900" marR="5080" lvl="1" indent="-381000">
              <a:lnSpc>
                <a:spcPct val="100000"/>
              </a:lnSpc>
              <a:spcBef>
                <a:spcPts val="630"/>
              </a:spcBef>
              <a:buClr>
                <a:srgbClr val="659A9A"/>
              </a:buClr>
              <a:buSzPct val="69230"/>
              <a:buFont typeface="Wingdings"/>
              <a:buChar char=""/>
              <a:tabLst>
                <a:tab pos="850900" algn="l"/>
              </a:tabLst>
            </a:pPr>
            <a:r>
              <a:rPr sz="2600" dirty="0">
                <a:latin typeface="Arial MT"/>
                <a:cs typeface="Arial MT"/>
              </a:rPr>
              <a:t>P2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reads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value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from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cache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(u=5),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which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not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correct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value!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54947" y="1511553"/>
            <a:ext cx="2616200" cy="1397000"/>
            <a:chOff x="2654947" y="1511553"/>
            <a:chExt cx="2616200" cy="1397000"/>
          </a:xfrm>
        </p:grpSpPr>
        <p:sp>
          <p:nvSpPr>
            <p:cNvPr id="5" name="object 5"/>
            <p:cNvSpPr/>
            <p:nvPr/>
          </p:nvSpPr>
          <p:spPr>
            <a:xfrm>
              <a:off x="28195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073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5939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83747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67139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54947" y="2502154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6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5"/>
                  </a:lnTo>
                  <a:lnTo>
                    <a:pt x="25146" y="12191"/>
                  </a:lnTo>
                  <a:lnTo>
                    <a:pt x="25146" y="25145"/>
                  </a:lnTo>
                  <a:lnTo>
                    <a:pt x="990600" y="25145"/>
                  </a:lnTo>
                  <a:lnTo>
                    <a:pt x="990600" y="12191"/>
                  </a:lnTo>
                  <a:lnTo>
                    <a:pt x="1002792" y="25145"/>
                  </a:lnTo>
                  <a:lnTo>
                    <a:pt x="1002792" y="406146"/>
                  </a:lnTo>
                  <a:lnTo>
                    <a:pt x="1015746" y="406146"/>
                  </a:lnTo>
                  <a:close/>
                </a:path>
                <a:path w="1016000" h="406400">
                  <a:moveTo>
                    <a:pt x="25146" y="25145"/>
                  </a:moveTo>
                  <a:lnTo>
                    <a:pt x="25146" y="12191"/>
                  </a:lnTo>
                  <a:lnTo>
                    <a:pt x="12192" y="25145"/>
                  </a:lnTo>
                  <a:lnTo>
                    <a:pt x="25146" y="25145"/>
                  </a:lnTo>
                  <a:close/>
                </a:path>
                <a:path w="1016000" h="406400">
                  <a:moveTo>
                    <a:pt x="25146" y="381000"/>
                  </a:moveTo>
                  <a:lnTo>
                    <a:pt x="25146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46" y="393191"/>
                  </a:lnTo>
                  <a:lnTo>
                    <a:pt x="25146" y="406146"/>
                  </a:lnTo>
                  <a:lnTo>
                    <a:pt x="990600" y="406146"/>
                  </a:lnTo>
                  <a:lnTo>
                    <a:pt x="990600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46" y="406146"/>
                  </a:moveTo>
                  <a:lnTo>
                    <a:pt x="25146" y="393191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00" y="12191"/>
                  </a:lnTo>
                  <a:lnTo>
                    <a:pt x="990600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00" y="25145"/>
                  </a:lnTo>
                  <a:lnTo>
                    <a:pt x="990600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6"/>
                  </a:moveTo>
                  <a:lnTo>
                    <a:pt x="1002792" y="381000"/>
                  </a:lnTo>
                  <a:lnTo>
                    <a:pt x="990600" y="393191"/>
                  </a:lnTo>
                  <a:lnTo>
                    <a:pt x="990600" y="406146"/>
                  </a:lnTo>
                  <a:lnTo>
                    <a:pt x="10027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014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59747" y="3568953"/>
            <a:ext cx="2387600" cy="406400"/>
            <a:chOff x="2959747" y="3568953"/>
            <a:chExt cx="2387600" cy="406400"/>
          </a:xfrm>
        </p:grpSpPr>
        <p:sp>
          <p:nvSpPr>
            <p:cNvPr id="13" name="object 13"/>
            <p:cNvSpPr/>
            <p:nvPr/>
          </p:nvSpPr>
          <p:spPr>
            <a:xfrm>
              <a:off x="2971939" y="3581145"/>
              <a:ext cx="2362200" cy="381000"/>
            </a:xfrm>
            <a:custGeom>
              <a:avLst/>
              <a:gdLst/>
              <a:ahLst/>
              <a:cxnLst/>
              <a:rect l="l" t="t" r="r" b="b"/>
              <a:pathLst>
                <a:path w="2362200" h="381000">
                  <a:moveTo>
                    <a:pt x="2362200" y="381000"/>
                  </a:moveTo>
                  <a:lnTo>
                    <a:pt x="23622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23622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59747" y="3568953"/>
              <a:ext cx="2387600" cy="406400"/>
            </a:xfrm>
            <a:custGeom>
              <a:avLst/>
              <a:gdLst/>
              <a:ahLst/>
              <a:cxnLst/>
              <a:rect l="l" t="t" r="r" b="b"/>
              <a:pathLst>
                <a:path w="2387600" h="406400">
                  <a:moveTo>
                    <a:pt x="2387345" y="406146"/>
                  </a:moveTo>
                  <a:lnTo>
                    <a:pt x="2387345" y="0"/>
                  </a:lnTo>
                  <a:lnTo>
                    <a:pt x="0" y="0"/>
                  </a:lnTo>
                  <a:lnTo>
                    <a:pt x="0" y="406146"/>
                  </a:lnTo>
                  <a:lnTo>
                    <a:pt x="12192" y="406146"/>
                  </a:lnTo>
                  <a:lnTo>
                    <a:pt x="12192" y="25146"/>
                  </a:lnTo>
                  <a:lnTo>
                    <a:pt x="25146" y="12192"/>
                  </a:lnTo>
                  <a:lnTo>
                    <a:pt x="25146" y="25146"/>
                  </a:lnTo>
                  <a:lnTo>
                    <a:pt x="2362200" y="25146"/>
                  </a:lnTo>
                  <a:lnTo>
                    <a:pt x="2362200" y="12192"/>
                  </a:lnTo>
                  <a:lnTo>
                    <a:pt x="2374392" y="25146"/>
                  </a:lnTo>
                  <a:lnTo>
                    <a:pt x="2374392" y="406146"/>
                  </a:lnTo>
                  <a:lnTo>
                    <a:pt x="2387345" y="406146"/>
                  </a:lnTo>
                  <a:close/>
                </a:path>
                <a:path w="2387600" h="406400">
                  <a:moveTo>
                    <a:pt x="25146" y="25146"/>
                  </a:moveTo>
                  <a:lnTo>
                    <a:pt x="25146" y="12192"/>
                  </a:lnTo>
                  <a:lnTo>
                    <a:pt x="12192" y="25146"/>
                  </a:lnTo>
                  <a:lnTo>
                    <a:pt x="25146" y="25146"/>
                  </a:lnTo>
                  <a:close/>
                </a:path>
                <a:path w="2387600" h="406400">
                  <a:moveTo>
                    <a:pt x="25146" y="381000"/>
                  </a:moveTo>
                  <a:lnTo>
                    <a:pt x="25146" y="25146"/>
                  </a:lnTo>
                  <a:lnTo>
                    <a:pt x="12192" y="25146"/>
                  </a:lnTo>
                  <a:lnTo>
                    <a:pt x="12192" y="381000"/>
                  </a:lnTo>
                  <a:lnTo>
                    <a:pt x="25146" y="381000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12192" y="381000"/>
                  </a:lnTo>
                  <a:lnTo>
                    <a:pt x="25146" y="393192"/>
                  </a:lnTo>
                  <a:lnTo>
                    <a:pt x="25146" y="406146"/>
                  </a:lnTo>
                  <a:lnTo>
                    <a:pt x="2362200" y="406146"/>
                  </a:lnTo>
                  <a:lnTo>
                    <a:pt x="2362200" y="393192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5146" y="406146"/>
                  </a:moveTo>
                  <a:lnTo>
                    <a:pt x="25146" y="393192"/>
                  </a:lnTo>
                  <a:lnTo>
                    <a:pt x="12192" y="381000"/>
                  </a:lnTo>
                  <a:lnTo>
                    <a:pt x="12192" y="406146"/>
                  </a:lnTo>
                  <a:lnTo>
                    <a:pt x="25146" y="406146"/>
                  </a:lnTo>
                  <a:close/>
                </a:path>
                <a:path w="2387600" h="406400">
                  <a:moveTo>
                    <a:pt x="2374392" y="25146"/>
                  </a:moveTo>
                  <a:lnTo>
                    <a:pt x="2362200" y="12192"/>
                  </a:lnTo>
                  <a:lnTo>
                    <a:pt x="2362200" y="25146"/>
                  </a:lnTo>
                  <a:lnTo>
                    <a:pt x="2374392" y="25146"/>
                  </a:lnTo>
                  <a:close/>
                </a:path>
                <a:path w="2387600" h="406400">
                  <a:moveTo>
                    <a:pt x="2374392" y="381000"/>
                  </a:moveTo>
                  <a:lnTo>
                    <a:pt x="2374392" y="25146"/>
                  </a:lnTo>
                  <a:lnTo>
                    <a:pt x="2362200" y="25146"/>
                  </a:lnTo>
                  <a:lnTo>
                    <a:pt x="2362200" y="381000"/>
                  </a:lnTo>
                  <a:lnTo>
                    <a:pt x="2374392" y="381000"/>
                  </a:lnTo>
                  <a:close/>
                </a:path>
                <a:path w="2387600" h="406400">
                  <a:moveTo>
                    <a:pt x="2374392" y="406146"/>
                  </a:moveTo>
                  <a:lnTo>
                    <a:pt x="2374392" y="381000"/>
                  </a:lnTo>
                  <a:lnTo>
                    <a:pt x="2362200" y="393192"/>
                  </a:lnTo>
                  <a:lnTo>
                    <a:pt x="2362200" y="406146"/>
                  </a:lnTo>
                  <a:lnTo>
                    <a:pt x="2374392" y="4061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70713" y="3620261"/>
            <a:ext cx="156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Main</a:t>
            </a:r>
            <a:r>
              <a:rPr sz="1800" spc="-10" dirty="0">
                <a:latin typeface="Verdana"/>
                <a:cs typeface="Verdana"/>
              </a:rPr>
              <a:t> Memory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819539" y="1511553"/>
            <a:ext cx="3823335" cy="2070100"/>
            <a:chOff x="2819539" y="1511553"/>
            <a:chExt cx="3823335" cy="2070100"/>
          </a:xfrm>
        </p:grpSpPr>
        <p:sp>
          <p:nvSpPr>
            <p:cNvPr id="17" name="object 17"/>
            <p:cNvSpPr/>
            <p:nvPr/>
          </p:nvSpPr>
          <p:spPr>
            <a:xfrm>
              <a:off x="3188347" y="2285745"/>
              <a:ext cx="1701800" cy="914400"/>
            </a:xfrm>
            <a:custGeom>
              <a:avLst/>
              <a:gdLst/>
              <a:ahLst/>
              <a:cxnLst/>
              <a:rect l="l" t="t" r="r" b="b"/>
              <a:pathLst>
                <a:path w="17018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17018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  <a:path w="1701800" h="914400">
                  <a:moveTo>
                    <a:pt x="1701546" y="609600"/>
                  </a:moveTo>
                  <a:lnTo>
                    <a:pt x="1676400" y="609600"/>
                  </a:lnTo>
                  <a:lnTo>
                    <a:pt x="1676400" y="914400"/>
                  </a:lnTo>
                  <a:lnTo>
                    <a:pt x="1701546" y="914400"/>
                  </a:lnTo>
                  <a:lnTo>
                    <a:pt x="1701546" y="609600"/>
                  </a:lnTo>
                  <a:close/>
                </a:path>
                <a:path w="1701800" h="914400">
                  <a:moveTo>
                    <a:pt x="1701546" y="0"/>
                  </a:moveTo>
                  <a:lnTo>
                    <a:pt x="1676400" y="0"/>
                  </a:lnTo>
                  <a:lnTo>
                    <a:pt x="1676400" y="228600"/>
                  </a:lnTo>
                  <a:lnTo>
                    <a:pt x="1701546" y="228600"/>
                  </a:lnTo>
                  <a:lnTo>
                    <a:pt x="17015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19739" y="2514346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19539" y="2502153"/>
              <a:ext cx="3810000" cy="1079500"/>
            </a:xfrm>
            <a:custGeom>
              <a:avLst/>
              <a:gdLst/>
              <a:ahLst/>
              <a:cxnLst/>
              <a:rect l="l" t="t" r="r" b="b"/>
              <a:pathLst>
                <a:path w="3810000" h="1079500">
                  <a:moveTo>
                    <a:pt x="2603754" y="0"/>
                  </a:moveTo>
                  <a:lnTo>
                    <a:pt x="2578608" y="0"/>
                  </a:lnTo>
                  <a:lnTo>
                    <a:pt x="2578608" y="25146"/>
                  </a:lnTo>
                  <a:lnTo>
                    <a:pt x="2578608" y="381000"/>
                  </a:lnTo>
                  <a:lnTo>
                    <a:pt x="1613154" y="381000"/>
                  </a:lnTo>
                  <a:lnTo>
                    <a:pt x="1613154" y="25146"/>
                  </a:lnTo>
                  <a:lnTo>
                    <a:pt x="2578608" y="25146"/>
                  </a:lnTo>
                  <a:lnTo>
                    <a:pt x="2578608" y="0"/>
                  </a:lnTo>
                  <a:lnTo>
                    <a:pt x="1588008" y="0"/>
                  </a:lnTo>
                  <a:lnTo>
                    <a:pt x="1588008" y="406146"/>
                  </a:lnTo>
                  <a:lnTo>
                    <a:pt x="1600200" y="406146"/>
                  </a:lnTo>
                  <a:lnTo>
                    <a:pt x="1613154" y="406146"/>
                  </a:lnTo>
                  <a:lnTo>
                    <a:pt x="2578608" y="406146"/>
                  </a:lnTo>
                  <a:lnTo>
                    <a:pt x="2590800" y="406146"/>
                  </a:lnTo>
                  <a:lnTo>
                    <a:pt x="2603754" y="406146"/>
                  </a:lnTo>
                  <a:lnTo>
                    <a:pt x="2603754" y="0"/>
                  </a:lnTo>
                  <a:close/>
                </a:path>
                <a:path w="3810000" h="1079500">
                  <a:moveTo>
                    <a:pt x="3810000" y="659892"/>
                  </a:moveTo>
                  <a:lnTo>
                    <a:pt x="0" y="659892"/>
                  </a:lnTo>
                  <a:lnTo>
                    <a:pt x="0" y="736092"/>
                  </a:lnTo>
                  <a:lnTo>
                    <a:pt x="1283208" y="736092"/>
                  </a:lnTo>
                  <a:lnTo>
                    <a:pt x="1283208" y="1078992"/>
                  </a:lnTo>
                  <a:lnTo>
                    <a:pt x="1308354" y="1078992"/>
                  </a:lnTo>
                  <a:lnTo>
                    <a:pt x="1308354" y="736092"/>
                  </a:lnTo>
                  <a:lnTo>
                    <a:pt x="3810000" y="736092"/>
                  </a:lnTo>
                  <a:lnTo>
                    <a:pt x="3810000" y="6598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867526" y="1523745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380999"/>
                  </a:moveTo>
                  <a:lnTo>
                    <a:pt x="759042" y="333229"/>
                  </a:lnTo>
                  <a:lnTo>
                    <a:pt x="750403" y="287223"/>
                  </a:lnTo>
                  <a:lnTo>
                    <a:pt x="736434" y="243340"/>
                  </a:lnTo>
                  <a:lnTo>
                    <a:pt x="717488" y="201937"/>
                  </a:lnTo>
                  <a:lnTo>
                    <a:pt x="693915" y="163373"/>
                  </a:lnTo>
                  <a:lnTo>
                    <a:pt x="666069" y="128006"/>
                  </a:lnTo>
                  <a:lnTo>
                    <a:pt x="634299" y="96193"/>
                  </a:lnTo>
                  <a:lnTo>
                    <a:pt x="598959" y="68292"/>
                  </a:lnTo>
                  <a:lnTo>
                    <a:pt x="560399" y="44661"/>
                  </a:lnTo>
                  <a:lnTo>
                    <a:pt x="518971" y="25658"/>
                  </a:lnTo>
                  <a:lnTo>
                    <a:pt x="475028" y="11642"/>
                  </a:lnTo>
                  <a:lnTo>
                    <a:pt x="428920" y="2970"/>
                  </a:lnTo>
                  <a:lnTo>
                    <a:pt x="380999" y="0"/>
                  </a:lnTo>
                  <a:lnTo>
                    <a:pt x="333229" y="2970"/>
                  </a:lnTo>
                  <a:lnTo>
                    <a:pt x="287223" y="11642"/>
                  </a:lnTo>
                  <a:lnTo>
                    <a:pt x="243340" y="25658"/>
                  </a:lnTo>
                  <a:lnTo>
                    <a:pt x="201937" y="44661"/>
                  </a:lnTo>
                  <a:lnTo>
                    <a:pt x="163373" y="68292"/>
                  </a:lnTo>
                  <a:lnTo>
                    <a:pt x="128006" y="96193"/>
                  </a:lnTo>
                  <a:lnTo>
                    <a:pt x="96193" y="128006"/>
                  </a:lnTo>
                  <a:lnTo>
                    <a:pt x="68292" y="163373"/>
                  </a:lnTo>
                  <a:lnTo>
                    <a:pt x="44661" y="201937"/>
                  </a:lnTo>
                  <a:lnTo>
                    <a:pt x="25658" y="243340"/>
                  </a:lnTo>
                  <a:lnTo>
                    <a:pt x="11642" y="287223"/>
                  </a:lnTo>
                  <a:lnTo>
                    <a:pt x="2970" y="333229"/>
                  </a:lnTo>
                  <a:lnTo>
                    <a:pt x="0" y="381000"/>
                  </a:lnTo>
                  <a:lnTo>
                    <a:pt x="2970" y="428920"/>
                  </a:lnTo>
                  <a:lnTo>
                    <a:pt x="11642" y="475028"/>
                  </a:lnTo>
                  <a:lnTo>
                    <a:pt x="25658" y="518971"/>
                  </a:lnTo>
                  <a:lnTo>
                    <a:pt x="44661" y="560399"/>
                  </a:lnTo>
                  <a:lnTo>
                    <a:pt x="68292" y="598959"/>
                  </a:lnTo>
                  <a:lnTo>
                    <a:pt x="96193" y="634299"/>
                  </a:lnTo>
                  <a:lnTo>
                    <a:pt x="128006" y="666069"/>
                  </a:lnTo>
                  <a:lnTo>
                    <a:pt x="163373" y="693915"/>
                  </a:lnTo>
                  <a:lnTo>
                    <a:pt x="201937" y="717488"/>
                  </a:lnTo>
                  <a:lnTo>
                    <a:pt x="243340" y="736434"/>
                  </a:lnTo>
                  <a:lnTo>
                    <a:pt x="287223" y="750403"/>
                  </a:lnTo>
                  <a:lnTo>
                    <a:pt x="333229" y="759042"/>
                  </a:lnTo>
                  <a:lnTo>
                    <a:pt x="381000" y="762000"/>
                  </a:lnTo>
                  <a:lnTo>
                    <a:pt x="428920" y="759042"/>
                  </a:lnTo>
                  <a:lnTo>
                    <a:pt x="475028" y="750403"/>
                  </a:lnTo>
                  <a:lnTo>
                    <a:pt x="518971" y="736434"/>
                  </a:lnTo>
                  <a:lnTo>
                    <a:pt x="560399" y="717488"/>
                  </a:lnTo>
                  <a:lnTo>
                    <a:pt x="598959" y="693915"/>
                  </a:lnTo>
                  <a:lnTo>
                    <a:pt x="634299" y="666069"/>
                  </a:lnTo>
                  <a:lnTo>
                    <a:pt x="666069" y="634299"/>
                  </a:lnTo>
                  <a:lnTo>
                    <a:pt x="693915" y="598959"/>
                  </a:lnTo>
                  <a:lnTo>
                    <a:pt x="717488" y="560399"/>
                  </a:lnTo>
                  <a:lnTo>
                    <a:pt x="736434" y="518971"/>
                  </a:lnTo>
                  <a:lnTo>
                    <a:pt x="750403" y="475028"/>
                  </a:lnTo>
                  <a:lnTo>
                    <a:pt x="759042" y="428920"/>
                  </a:lnTo>
                  <a:lnTo>
                    <a:pt x="762000" y="38099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55335" y="1511553"/>
              <a:ext cx="787400" cy="786765"/>
            </a:xfrm>
            <a:custGeom>
              <a:avLst/>
              <a:gdLst/>
              <a:ahLst/>
              <a:cxnLst/>
              <a:rect l="l" t="t" r="r" b="b"/>
              <a:pathLst>
                <a:path w="787400" h="786764">
                  <a:moveTo>
                    <a:pt x="787146" y="413765"/>
                  </a:moveTo>
                  <a:lnTo>
                    <a:pt x="787146" y="393191"/>
                  </a:lnTo>
                  <a:lnTo>
                    <a:pt x="786384" y="372617"/>
                  </a:lnTo>
                  <a:lnTo>
                    <a:pt x="782574" y="332993"/>
                  </a:lnTo>
                  <a:lnTo>
                    <a:pt x="771848" y="283930"/>
                  </a:lnTo>
                  <a:lnTo>
                    <a:pt x="755267" y="237516"/>
                  </a:lnTo>
                  <a:lnTo>
                    <a:pt x="733263" y="194120"/>
                  </a:lnTo>
                  <a:lnTo>
                    <a:pt x="706267" y="154113"/>
                  </a:lnTo>
                  <a:lnTo>
                    <a:pt x="674711" y="117864"/>
                  </a:lnTo>
                  <a:lnTo>
                    <a:pt x="639026" y="85743"/>
                  </a:lnTo>
                  <a:lnTo>
                    <a:pt x="599643" y="58120"/>
                  </a:lnTo>
                  <a:lnTo>
                    <a:pt x="556994" y="35364"/>
                  </a:lnTo>
                  <a:lnTo>
                    <a:pt x="511511" y="17845"/>
                  </a:lnTo>
                  <a:lnTo>
                    <a:pt x="463624" y="5934"/>
                  </a:lnTo>
                  <a:lnTo>
                    <a:pt x="413766" y="0"/>
                  </a:lnTo>
                  <a:lnTo>
                    <a:pt x="372617" y="0"/>
                  </a:lnTo>
                  <a:lnTo>
                    <a:pt x="322743" y="5954"/>
                  </a:lnTo>
                  <a:lnTo>
                    <a:pt x="274875" y="17921"/>
                  </a:lnTo>
                  <a:lnTo>
                    <a:pt x="229438" y="35522"/>
                  </a:lnTo>
                  <a:lnTo>
                    <a:pt x="187078" y="58259"/>
                  </a:lnTo>
                  <a:lnTo>
                    <a:pt x="147562" y="86111"/>
                  </a:lnTo>
                  <a:lnTo>
                    <a:pt x="111974" y="118343"/>
                  </a:lnTo>
                  <a:lnTo>
                    <a:pt x="80521" y="154697"/>
                  </a:lnTo>
                  <a:lnTo>
                    <a:pt x="53629" y="194793"/>
                  </a:lnTo>
                  <a:lnTo>
                    <a:pt x="31722" y="238253"/>
                  </a:lnTo>
                  <a:lnTo>
                    <a:pt x="15228" y="284700"/>
                  </a:lnTo>
                  <a:lnTo>
                    <a:pt x="4571" y="333755"/>
                  </a:lnTo>
                  <a:lnTo>
                    <a:pt x="0" y="373379"/>
                  </a:lnTo>
                  <a:lnTo>
                    <a:pt x="0" y="413765"/>
                  </a:lnTo>
                  <a:lnTo>
                    <a:pt x="1524" y="434339"/>
                  </a:lnTo>
                  <a:lnTo>
                    <a:pt x="7620" y="473201"/>
                  </a:lnTo>
                  <a:lnTo>
                    <a:pt x="20153" y="519302"/>
                  </a:lnTo>
                  <a:lnTo>
                    <a:pt x="25146" y="531563"/>
                  </a:lnTo>
                  <a:lnTo>
                    <a:pt x="25146" y="393191"/>
                  </a:lnTo>
                  <a:lnTo>
                    <a:pt x="25908" y="374141"/>
                  </a:lnTo>
                  <a:lnTo>
                    <a:pt x="40242" y="289228"/>
                  </a:lnTo>
                  <a:lnTo>
                    <a:pt x="56691" y="244305"/>
                  </a:lnTo>
                  <a:lnTo>
                    <a:pt x="78597" y="202432"/>
                  </a:lnTo>
                  <a:lnTo>
                    <a:pt x="105489" y="164008"/>
                  </a:lnTo>
                  <a:lnTo>
                    <a:pt x="136900" y="129433"/>
                  </a:lnTo>
                  <a:lnTo>
                    <a:pt x="172358" y="99106"/>
                  </a:lnTo>
                  <a:lnTo>
                    <a:pt x="211396" y="73425"/>
                  </a:lnTo>
                  <a:lnTo>
                    <a:pt x="253543" y="52789"/>
                  </a:lnTo>
                  <a:lnTo>
                    <a:pt x="298332" y="37598"/>
                  </a:lnTo>
                  <a:lnTo>
                    <a:pt x="345291" y="28251"/>
                  </a:lnTo>
                  <a:lnTo>
                    <a:pt x="393953" y="25145"/>
                  </a:lnTo>
                  <a:lnTo>
                    <a:pt x="411813" y="25860"/>
                  </a:lnTo>
                  <a:lnTo>
                    <a:pt x="477294" y="34812"/>
                  </a:lnTo>
                  <a:lnTo>
                    <a:pt x="521342" y="47945"/>
                  </a:lnTo>
                  <a:lnTo>
                    <a:pt x="563010" y="66412"/>
                  </a:lnTo>
                  <a:lnTo>
                    <a:pt x="601874" y="89794"/>
                  </a:lnTo>
                  <a:lnTo>
                    <a:pt x="637508" y="117671"/>
                  </a:lnTo>
                  <a:lnTo>
                    <a:pt x="669488" y="149623"/>
                  </a:lnTo>
                  <a:lnTo>
                    <a:pt x="697390" y="185233"/>
                  </a:lnTo>
                  <a:lnTo>
                    <a:pt x="720788" y="224080"/>
                  </a:lnTo>
                  <a:lnTo>
                    <a:pt x="739257" y="265745"/>
                  </a:lnTo>
                  <a:lnTo>
                    <a:pt x="752374" y="309809"/>
                  </a:lnTo>
                  <a:lnTo>
                    <a:pt x="759714" y="355853"/>
                  </a:lnTo>
                  <a:lnTo>
                    <a:pt x="762000" y="393953"/>
                  </a:lnTo>
                  <a:lnTo>
                    <a:pt x="762000" y="530488"/>
                  </a:lnTo>
                  <a:lnTo>
                    <a:pt x="769330" y="511470"/>
                  </a:lnTo>
                  <a:lnTo>
                    <a:pt x="781237" y="463597"/>
                  </a:lnTo>
                  <a:lnTo>
                    <a:pt x="787146" y="413765"/>
                  </a:lnTo>
                  <a:close/>
                </a:path>
                <a:path w="787400" h="786764">
                  <a:moveTo>
                    <a:pt x="762000" y="530488"/>
                  </a:moveTo>
                  <a:lnTo>
                    <a:pt x="762000" y="393953"/>
                  </a:lnTo>
                  <a:lnTo>
                    <a:pt x="761238" y="413003"/>
                  </a:lnTo>
                  <a:lnTo>
                    <a:pt x="755597" y="455827"/>
                  </a:lnTo>
                  <a:lnTo>
                    <a:pt x="746370" y="495893"/>
                  </a:lnTo>
                  <a:lnTo>
                    <a:pt x="733800" y="533188"/>
                  </a:lnTo>
                  <a:lnTo>
                    <a:pt x="699620" y="599423"/>
                  </a:lnTo>
                  <a:lnTo>
                    <a:pt x="655023" y="654434"/>
                  </a:lnTo>
                  <a:lnTo>
                    <a:pt x="601874" y="698190"/>
                  </a:lnTo>
                  <a:lnTo>
                    <a:pt x="542448" y="730408"/>
                  </a:lnTo>
                  <a:lnTo>
                    <a:pt x="478404" y="751180"/>
                  </a:lnTo>
                  <a:lnTo>
                    <a:pt x="413766" y="760165"/>
                  </a:lnTo>
                  <a:lnTo>
                    <a:pt x="413004" y="760236"/>
                  </a:lnTo>
                  <a:lnTo>
                    <a:pt x="411813" y="760347"/>
                  </a:lnTo>
                  <a:lnTo>
                    <a:pt x="393954" y="760454"/>
                  </a:lnTo>
                  <a:lnTo>
                    <a:pt x="378176" y="760549"/>
                  </a:lnTo>
                  <a:lnTo>
                    <a:pt x="345291" y="757867"/>
                  </a:lnTo>
                  <a:lnTo>
                    <a:pt x="344641" y="757814"/>
                  </a:lnTo>
                  <a:lnTo>
                    <a:pt x="311451" y="752131"/>
                  </a:lnTo>
                  <a:lnTo>
                    <a:pt x="247096" y="731869"/>
                  </a:lnTo>
                  <a:lnTo>
                    <a:pt x="187078" y="699670"/>
                  </a:lnTo>
                  <a:lnTo>
                    <a:pt x="133364" y="655437"/>
                  </a:lnTo>
                  <a:lnTo>
                    <a:pt x="87921" y="599074"/>
                  </a:lnTo>
                  <a:lnTo>
                    <a:pt x="52717" y="530487"/>
                  </a:lnTo>
                  <a:lnTo>
                    <a:pt x="39568" y="491579"/>
                  </a:lnTo>
                  <a:lnTo>
                    <a:pt x="29718" y="449579"/>
                  </a:lnTo>
                  <a:lnTo>
                    <a:pt x="25146" y="393191"/>
                  </a:lnTo>
                  <a:lnTo>
                    <a:pt x="25146" y="531563"/>
                  </a:lnTo>
                  <a:lnTo>
                    <a:pt x="60432" y="603541"/>
                  </a:lnTo>
                  <a:lnTo>
                    <a:pt x="87381" y="641025"/>
                  </a:lnTo>
                  <a:lnTo>
                    <a:pt x="118338" y="674981"/>
                  </a:lnTo>
                  <a:lnTo>
                    <a:pt x="152904" y="705083"/>
                  </a:lnTo>
                  <a:lnTo>
                    <a:pt x="190681" y="731001"/>
                  </a:lnTo>
                  <a:lnTo>
                    <a:pt x="231269" y="752410"/>
                  </a:lnTo>
                  <a:lnTo>
                    <a:pt x="274271" y="768980"/>
                  </a:lnTo>
                  <a:lnTo>
                    <a:pt x="319286" y="780384"/>
                  </a:lnTo>
                  <a:lnTo>
                    <a:pt x="365918" y="786294"/>
                  </a:lnTo>
                  <a:lnTo>
                    <a:pt x="413766" y="786383"/>
                  </a:lnTo>
                  <a:lnTo>
                    <a:pt x="434340" y="784859"/>
                  </a:lnTo>
                  <a:lnTo>
                    <a:pt x="503161" y="771859"/>
                  </a:lnTo>
                  <a:lnTo>
                    <a:pt x="549547" y="755280"/>
                  </a:lnTo>
                  <a:lnTo>
                    <a:pt x="592937" y="733270"/>
                  </a:lnTo>
                  <a:lnTo>
                    <a:pt x="632955" y="706263"/>
                  </a:lnTo>
                  <a:lnTo>
                    <a:pt x="669225" y="674694"/>
                  </a:lnTo>
                  <a:lnTo>
                    <a:pt x="701373" y="638996"/>
                  </a:lnTo>
                  <a:lnTo>
                    <a:pt x="729023" y="599603"/>
                  </a:lnTo>
                  <a:lnTo>
                    <a:pt x="751800" y="556950"/>
                  </a:lnTo>
                  <a:lnTo>
                    <a:pt x="762000" y="5304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887349" y="2851404"/>
            <a:ext cx="4000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Verdana"/>
                <a:cs typeface="Verdana"/>
              </a:rPr>
              <a:t>Bus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57785" y="1753361"/>
            <a:ext cx="3333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701164" algn="l"/>
                <a:tab pos="3072765" algn="l"/>
              </a:tabLst>
            </a:pP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1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2</a:t>
            </a:r>
            <a:r>
              <a:rPr sz="1800" baseline="-20833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37" baseline="-20833" dirty="0">
                <a:latin typeface="Verdana"/>
                <a:cs typeface="Verdana"/>
              </a:rPr>
              <a:t>3</a:t>
            </a:r>
            <a:endParaRPr sz="1800" baseline="-20833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779134" y="2285745"/>
            <a:ext cx="1016000" cy="914400"/>
            <a:chOff x="5779134" y="2285745"/>
            <a:chExt cx="1016000" cy="914400"/>
          </a:xfrm>
        </p:grpSpPr>
        <p:sp>
          <p:nvSpPr>
            <p:cNvPr id="25" name="object 25"/>
            <p:cNvSpPr/>
            <p:nvPr/>
          </p:nvSpPr>
          <p:spPr>
            <a:xfrm>
              <a:off x="6236347" y="2285745"/>
              <a:ext cx="25400" cy="914400"/>
            </a:xfrm>
            <a:custGeom>
              <a:avLst/>
              <a:gdLst/>
              <a:ahLst/>
              <a:cxnLst/>
              <a:rect l="l" t="t" r="r" b="b"/>
              <a:pathLst>
                <a:path w="25400" h="914400">
                  <a:moveTo>
                    <a:pt x="25146" y="609600"/>
                  </a:moveTo>
                  <a:lnTo>
                    <a:pt x="0" y="609600"/>
                  </a:lnTo>
                  <a:lnTo>
                    <a:pt x="0" y="914400"/>
                  </a:lnTo>
                  <a:lnTo>
                    <a:pt x="25146" y="914400"/>
                  </a:lnTo>
                  <a:lnTo>
                    <a:pt x="25146" y="609600"/>
                  </a:lnTo>
                  <a:close/>
                </a:path>
                <a:path w="25400" h="914400">
                  <a:moveTo>
                    <a:pt x="25146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5146" y="228600"/>
                  </a:lnTo>
                  <a:lnTo>
                    <a:pt x="251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91326" y="2514345"/>
              <a:ext cx="990600" cy="381000"/>
            </a:xfrm>
            <a:custGeom>
              <a:avLst/>
              <a:gdLst/>
              <a:ahLst/>
              <a:cxnLst/>
              <a:rect l="l" t="t" r="r" b="b"/>
              <a:pathLst>
                <a:path w="990600" h="381000">
                  <a:moveTo>
                    <a:pt x="990600" y="381000"/>
                  </a:moveTo>
                  <a:lnTo>
                    <a:pt x="990600" y="0"/>
                  </a:lnTo>
                  <a:lnTo>
                    <a:pt x="0" y="0"/>
                  </a:lnTo>
                  <a:lnTo>
                    <a:pt x="0" y="381000"/>
                  </a:lnTo>
                  <a:lnTo>
                    <a:pt x="990600" y="381000"/>
                  </a:lnTo>
                  <a:close/>
                </a:path>
              </a:pathLst>
            </a:custGeom>
            <a:solidFill>
              <a:srgbClr val="CC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79134" y="2502153"/>
              <a:ext cx="1016000" cy="406400"/>
            </a:xfrm>
            <a:custGeom>
              <a:avLst/>
              <a:gdLst/>
              <a:ahLst/>
              <a:cxnLst/>
              <a:rect l="l" t="t" r="r" b="b"/>
              <a:pathLst>
                <a:path w="1016000" h="406400">
                  <a:moveTo>
                    <a:pt x="1015746" y="406145"/>
                  </a:moveTo>
                  <a:lnTo>
                    <a:pt x="1015746" y="0"/>
                  </a:lnTo>
                  <a:lnTo>
                    <a:pt x="0" y="0"/>
                  </a:lnTo>
                  <a:lnTo>
                    <a:pt x="0" y="406145"/>
                  </a:lnTo>
                  <a:lnTo>
                    <a:pt x="12192" y="406145"/>
                  </a:lnTo>
                  <a:lnTo>
                    <a:pt x="12192" y="25145"/>
                  </a:lnTo>
                  <a:lnTo>
                    <a:pt x="25158" y="12191"/>
                  </a:lnTo>
                  <a:lnTo>
                    <a:pt x="25158" y="25145"/>
                  </a:lnTo>
                  <a:lnTo>
                    <a:pt x="990612" y="25145"/>
                  </a:lnTo>
                  <a:lnTo>
                    <a:pt x="990612" y="12191"/>
                  </a:lnTo>
                  <a:lnTo>
                    <a:pt x="1002792" y="25145"/>
                  </a:lnTo>
                  <a:lnTo>
                    <a:pt x="1002792" y="406145"/>
                  </a:lnTo>
                  <a:lnTo>
                    <a:pt x="1015746" y="406145"/>
                  </a:lnTo>
                  <a:close/>
                </a:path>
                <a:path w="1016000" h="406400">
                  <a:moveTo>
                    <a:pt x="25158" y="25145"/>
                  </a:moveTo>
                  <a:lnTo>
                    <a:pt x="25158" y="12191"/>
                  </a:lnTo>
                  <a:lnTo>
                    <a:pt x="12192" y="25145"/>
                  </a:lnTo>
                  <a:lnTo>
                    <a:pt x="25158" y="25145"/>
                  </a:lnTo>
                  <a:close/>
                </a:path>
                <a:path w="1016000" h="406400">
                  <a:moveTo>
                    <a:pt x="25158" y="381000"/>
                  </a:moveTo>
                  <a:lnTo>
                    <a:pt x="25158" y="25145"/>
                  </a:lnTo>
                  <a:lnTo>
                    <a:pt x="12192" y="25145"/>
                  </a:lnTo>
                  <a:lnTo>
                    <a:pt x="12192" y="381000"/>
                  </a:lnTo>
                  <a:lnTo>
                    <a:pt x="25158" y="381000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2192" y="381000"/>
                  </a:lnTo>
                  <a:lnTo>
                    <a:pt x="25158" y="393191"/>
                  </a:lnTo>
                  <a:lnTo>
                    <a:pt x="25158" y="406145"/>
                  </a:lnTo>
                  <a:lnTo>
                    <a:pt x="990612" y="406145"/>
                  </a:lnTo>
                  <a:lnTo>
                    <a:pt x="990612" y="393191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25158" y="406145"/>
                  </a:moveTo>
                  <a:lnTo>
                    <a:pt x="25158" y="393191"/>
                  </a:lnTo>
                  <a:lnTo>
                    <a:pt x="12192" y="381000"/>
                  </a:lnTo>
                  <a:lnTo>
                    <a:pt x="12192" y="406145"/>
                  </a:lnTo>
                  <a:lnTo>
                    <a:pt x="25158" y="406145"/>
                  </a:lnTo>
                  <a:close/>
                </a:path>
                <a:path w="1016000" h="406400">
                  <a:moveTo>
                    <a:pt x="1002792" y="25145"/>
                  </a:moveTo>
                  <a:lnTo>
                    <a:pt x="990612" y="12191"/>
                  </a:lnTo>
                  <a:lnTo>
                    <a:pt x="990612" y="25145"/>
                  </a:lnTo>
                  <a:lnTo>
                    <a:pt x="1002792" y="25145"/>
                  </a:lnTo>
                  <a:close/>
                </a:path>
                <a:path w="1016000" h="406400">
                  <a:moveTo>
                    <a:pt x="1002792" y="381000"/>
                  </a:moveTo>
                  <a:lnTo>
                    <a:pt x="1002792" y="25145"/>
                  </a:lnTo>
                  <a:lnTo>
                    <a:pt x="990612" y="25145"/>
                  </a:lnTo>
                  <a:lnTo>
                    <a:pt x="990612" y="381000"/>
                  </a:lnTo>
                  <a:lnTo>
                    <a:pt x="1002792" y="381000"/>
                  </a:lnTo>
                  <a:close/>
                </a:path>
                <a:path w="1016000" h="406400">
                  <a:moveTo>
                    <a:pt x="1002792" y="406145"/>
                  </a:moveTo>
                  <a:lnTo>
                    <a:pt x="1002792" y="381000"/>
                  </a:lnTo>
                  <a:lnTo>
                    <a:pt x="990612" y="393191"/>
                  </a:lnTo>
                  <a:lnTo>
                    <a:pt x="990612" y="406145"/>
                  </a:lnTo>
                  <a:lnTo>
                    <a:pt x="1002792" y="406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925699" y="2553461"/>
            <a:ext cx="721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935349" y="2546604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u=7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63662" y="3613313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58556" y="2546604"/>
            <a:ext cx="4508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7D9CE8"/>
                </a:solidFill>
                <a:latin typeface="Verdana"/>
                <a:cs typeface="Verdana"/>
              </a:rPr>
              <a:t>u=5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724539" y="2133345"/>
            <a:ext cx="152400" cy="1524000"/>
          </a:xfrm>
          <a:custGeom>
            <a:avLst/>
            <a:gdLst/>
            <a:ahLst/>
            <a:cxnLst/>
            <a:rect l="l" t="t" r="r" b="b"/>
            <a:pathLst>
              <a:path w="152400" h="1524000">
                <a:moveTo>
                  <a:pt x="152400" y="152400"/>
                </a:moveTo>
                <a:lnTo>
                  <a:pt x="76200" y="0"/>
                </a:lnTo>
                <a:lnTo>
                  <a:pt x="0" y="152400"/>
                </a:lnTo>
                <a:lnTo>
                  <a:pt x="51053" y="152400"/>
                </a:lnTo>
                <a:lnTo>
                  <a:pt x="51053" y="127254"/>
                </a:lnTo>
                <a:lnTo>
                  <a:pt x="102107" y="127254"/>
                </a:lnTo>
                <a:lnTo>
                  <a:pt x="102107" y="152400"/>
                </a:lnTo>
                <a:lnTo>
                  <a:pt x="152400" y="152400"/>
                </a:lnTo>
                <a:close/>
              </a:path>
              <a:path w="152400" h="1524000">
                <a:moveTo>
                  <a:pt x="102107" y="152400"/>
                </a:moveTo>
                <a:lnTo>
                  <a:pt x="102107" y="127254"/>
                </a:lnTo>
                <a:lnTo>
                  <a:pt x="51053" y="127254"/>
                </a:lnTo>
                <a:lnTo>
                  <a:pt x="51053" y="152400"/>
                </a:lnTo>
                <a:lnTo>
                  <a:pt x="102107" y="152400"/>
                </a:lnTo>
                <a:close/>
              </a:path>
              <a:path w="152400" h="1524000">
                <a:moveTo>
                  <a:pt x="102107" y="1524000"/>
                </a:moveTo>
                <a:lnTo>
                  <a:pt x="102107" y="152400"/>
                </a:lnTo>
                <a:lnTo>
                  <a:pt x="51053" y="152400"/>
                </a:lnTo>
                <a:lnTo>
                  <a:pt x="51053" y="1524000"/>
                </a:lnTo>
                <a:lnTo>
                  <a:pt x="102107" y="1524000"/>
                </a:lnTo>
                <a:close/>
              </a:path>
            </a:pathLst>
          </a:custGeom>
          <a:solidFill>
            <a:srgbClr val="D8D8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115949" y="2037699"/>
            <a:ext cx="1160145" cy="81597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600" spc="-20" dirty="0">
                <a:solidFill>
                  <a:srgbClr val="D8D8EC"/>
                </a:solidFill>
                <a:latin typeface="Verdana"/>
                <a:cs typeface="Verdana"/>
              </a:rPr>
              <a:t>Read</a:t>
            </a:r>
            <a:endParaRPr sz="1600">
              <a:latin typeface="Verdana"/>
              <a:cs typeface="Verdana"/>
            </a:endParaRPr>
          </a:p>
          <a:p>
            <a:pPr marL="450850">
              <a:lnSpc>
                <a:spcPct val="100000"/>
              </a:lnSpc>
              <a:spcBef>
                <a:spcPts val="1130"/>
              </a:spcBef>
            </a:pPr>
            <a:r>
              <a:rPr sz="1800" spc="-10" dirty="0">
                <a:latin typeface="Verdana"/>
                <a:cs typeface="Verdana"/>
              </a:rPr>
              <a:t>Cache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114" dirty="0"/>
              <a:t> </a:t>
            </a:r>
            <a:r>
              <a:rPr spc="-10" dirty="0"/>
              <a:t>Coherence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073" y="1741170"/>
            <a:ext cx="7919084" cy="3408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0" indent="-342900">
              <a:lnSpc>
                <a:spcPct val="100000"/>
              </a:lnSpc>
              <a:spcBef>
                <a:spcPts val="10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4965" algn="l"/>
              </a:tabLst>
            </a:pPr>
            <a:r>
              <a:rPr sz="3000" dirty="0">
                <a:latin typeface="Arial MT"/>
                <a:cs typeface="Arial MT"/>
              </a:rPr>
              <a:t>Since</a:t>
            </a:r>
            <a:r>
              <a:rPr sz="3000" spc="-7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communication</a:t>
            </a:r>
            <a:r>
              <a:rPr sz="3000" spc="-6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between</a:t>
            </a:r>
            <a:r>
              <a:rPr sz="3000" spc="-6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processors</a:t>
            </a:r>
            <a:r>
              <a:rPr sz="3000" spc="-55" dirty="0">
                <a:latin typeface="Arial MT"/>
                <a:cs typeface="Arial MT"/>
              </a:rPr>
              <a:t> </a:t>
            </a:r>
            <a:r>
              <a:rPr sz="3000" spc="-25" dirty="0">
                <a:latin typeface="Arial MT"/>
                <a:cs typeface="Arial MT"/>
              </a:rPr>
              <a:t>is </a:t>
            </a:r>
            <a:r>
              <a:rPr sz="3000" dirty="0">
                <a:latin typeface="Arial MT"/>
                <a:cs typeface="Arial MT"/>
              </a:rPr>
              <a:t>done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by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means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of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shared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memory,</a:t>
            </a:r>
            <a:r>
              <a:rPr sz="3000" spc="-20" dirty="0">
                <a:latin typeface="Arial MT"/>
                <a:cs typeface="Arial MT"/>
              </a:rPr>
              <a:t> cache </a:t>
            </a:r>
            <a:r>
              <a:rPr sz="3000" dirty="0">
                <a:latin typeface="Arial MT"/>
                <a:cs typeface="Arial MT"/>
              </a:rPr>
              <a:t>coherence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must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be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guaranteed.</a:t>
            </a:r>
            <a:endParaRPr sz="3000">
              <a:latin typeface="Arial MT"/>
              <a:cs typeface="Arial MT"/>
            </a:endParaRPr>
          </a:p>
          <a:p>
            <a:pPr marL="355600" marR="1487170" indent="-342900">
              <a:lnSpc>
                <a:spcPct val="100000"/>
              </a:lnSpc>
              <a:spcBef>
                <a:spcPts val="72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5600" algn="l"/>
              </a:tabLst>
            </a:pP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hardware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should</a:t>
            </a:r>
            <a:r>
              <a:rPr sz="3000" spc="-4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support</a:t>
            </a:r>
            <a:r>
              <a:rPr sz="3000" spc="-3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cache coherence!</a:t>
            </a:r>
            <a:endParaRPr sz="30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720"/>
              </a:spcBef>
              <a:buClr>
                <a:srgbClr val="330065"/>
              </a:buClr>
              <a:buSzPct val="70000"/>
              <a:buFont typeface="Wingdings"/>
              <a:buChar char=""/>
              <a:tabLst>
                <a:tab pos="355600" algn="l"/>
              </a:tabLst>
            </a:pPr>
            <a:r>
              <a:rPr sz="3000" dirty="0">
                <a:latin typeface="Arial MT"/>
                <a:cs typeface="Arial MT"/>
              </a:rPr>
              <a:t>Everybody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should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have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same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view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of</a:t>
            </a:r>
            <a:r>
              <a:rPr sz="3000" spc="-25" dirty="0">
                <a:latin typeface="Arial MT"/>
                <a:cs typeface="Arial MT"/>
              </a:rPr>
              <a:t> the </a:t>
            </a:r>
            <a:r>
              <a:rPr sz="3000" dirty="0">
                <a:latin typeface="Arial MT"/>
                <a:cs typeface="Arial MT"/>
              </a:rPr>
              <a:t>memory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system!</a:t>
            </a:r>
            <a:endParaRPr sz="3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073" y="156209"/>
            <a:ext cx="6333490" cy="600164"/>
          </a:xfrm>
        </p:spPr>
        <p:txBody>
          <a:bodyPr/>
          <a:lstStyle/>
          <a:p>
            <a:r>
              <a:rPr lang="en-US" dirty="0"/>
              <a:t>Next Lecture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073" y="1653287"/>
            <a:ext cx="7934959" cy="461665"/>
          </a:xfrm>
        </p:spPr>
        <p:txBody>
          <a:bodyPr/>
          <a:lstStyle/>
          <a:p>
            <a:r>
              <a:rPr lang="en-US" dirty="0"/>
              <a:t>Coherence Protocols</a:t>
            </a:r>
          </a:p>
        </p:txBody>
      </p:sp>
    </p:spTree>
    <p:extLst>
      <p:ext uri="{BB962C8B-B14F-4D97-AF65-F5344CB8AC3E}">
        <p14:creationId xmlns:p14="http://schemas.microsoft.com/office/powerpoint/2010/main" val="2307300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</TotalTime>
  <Words>1954</Words>
  <Application>Microsoft Office PowerPoint</Application>
  <PresentationFormat>On-screen Show (4:3)</PresentationFormat>
  <Paragraphs>452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Arial MT</vt:lpstr>
      <vt:lpstr>Calibri</vt:lpstr>
      <vt:lpstr>Verdana</vt:lpstr>
      <vt:lpstr>Wingdings</vt:lpstr>
      <vt:lpstr>Office Theme</vt:lpstr>
      <vt:lpstr>Shared Memory Multiprocessors</vt:lpstr>
      <vt:lpstr>Outline</vt:lpstr>
      <vt:lpstr>Shared Memory Architectures</vt:lpstr>
      <vt:lpstr>Shared Memory Architectures</vt:lpstr>
      <vt:lpstr>Shared Memory Architectures</vt:lpstr>
      <vt:lpstr>Memory Bandwidth</vt:lpstr>
      <vt:lpstr>Shared Cache Architecture</vt:lpstr>
      <vt:lpstr>Bus-shared Memory</vt:lpstr>
      <vt:lpstr>Dancehall Architecture</vt:lpstr>
      <vt:lpstr>Distributed Memory</vt:lpstr>
      <vt:lpstr>ARM’s Cortex-A9</vt:lpstr>
      <vt:lpstr>Tilera Gx Architecture</vt:lpstr>
      <vt:lpstr>Cache Coherency</vt:lpstr>
      <vt:lpstr>Caches and Cache Coherence</vt:lpstr>
      <vt:lpstr>Cache Memories</vt:lpstr>
      <vt:lpstr>Cache Memories</vt:lpstr>
      <vt:lpstr>Cache Memories Read Operation</vt:lpstr>
      <vt:lpstr>Cache Memories Write Operation (Write Hit)</vt:lpstr>
      <vt:lpstr>Cache Memories Write Operation (Write Hit)</vt:lpstr>
      <vt:lpstr>Cache Memories Write Operation (Write Miss)</vt:lpstr>
      <vt:lpstr>Cache Memories Write Operation (Write Miss)</vt:lpstr>
      <vt:lpstr>States for Cache Blocks</vt:lpstr>
      <vt:lpstr>Cache Coherence Problem (Uniprocessor)</vt:lpstr>
      <vt:lpstr>Cache Coherence Problem (Uniprocessor)</vt:lpstr>
      <vt:lpstr>Cache Coherence Problem (Uniprocessor)</vt:lpstr>
      <vt:lpstr>Cache Coherence Problem (Uniprocessor)</vt:lpstr>
      <vt:lpstr>Cache Coherence Problem (Uniprocessor)</vt:lpstr>
      <vt:lpstr>Cache Coherence Problem (Uniprocessor)</vt:lpstr>
      <vt:lpstr>Cache Coherence Problem (Uniprocessor)</vt:lpstr>
      <vt:lpstr>Cache Coherence Problem</vt:lpstr>
      <vt:lpstr>Cache Coherence Problem (Write-Through Cache)</vt:lpstr>
      <vt:lpstr>Cache Coherence Problem (Write-Through Cache)</vt:lpstr>
      <vt:lpstr>Cache Coherence Problem (Write-Through Cache)</vt:lpstr>
      <vt:lpstr>Cache Coherence Problem (Write-Through Cache)</vt:lpstr>
      <vt:lpstr>Cache Coherence Problem (Write-Through Cache)</vt:lpstr>
      <vt:lpstr>Cache Coherence Problem (Write-Back Cache)</vt:lpstr>
      <vt:lpstr>Cache Coherence Problem (Write-Back Cache)</vt:lpstr>
      <vt:lpstr>Cache Coherence Problem (Write-Back Cache)</vt:lpstr>
      <vt:lpstr>Cache Coherence Problem (Write-Back Cache)</vt:lpstr>
      <vt:lpstr>Cache Coherence Problem (Write-Back Cache)</vt:lpstr>
      <vt:lpstr>Cache Coherence</vt:lpstr>
      <vt:lpstr>Next Lecture</vt:lpstr>
    </vt:vector>
  </TitlesOfParts>
  <Company>KTH/IMIT/LECS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Performance</dc:title>
  <dc:creator>Ingo Sander</dc:creator>
  <cp:lastModifiedBy>Ncdc</cp:lastModifiedBy>
  <cp:revision>38</cp:revision>
  <dcterms:created xsi:type="dcterms:W3CDTF">2025-08-27T09:45:01Z</dcterms:created>
  <dcterms:modified xsi:type="dcterms:W3CDTF">2025-09-10T09:35:36Z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2011-01-26T00:00:00Z</vt:filetime>
  </property>
  <property fmtid="{D5CDD505-2E9C-101B-9397-08002B2CF9AE}" pid="3" name="Creator">
    <vt:lpwstr>Acrobat PDFMaker 8.1 for PowerPoint</vt:lpwstr>
  </property>
  <property fmtid="{D5CDD505-2E9C-101B-9397-08002B2CF9AE}" pid="4" name="LastSaved">
    <vt:filetime>2025-08-27T00:00:00Z</vt:filetime>
  </property>
  <property fmtid="{D5CDD505-2E9C-101B-9397-08002B2CF9AE}" pid="5" name="Producer">
    <vt:lpwstr>Acrobat Distiller 8.2.5 (Windows)</vt:lpwstr>
  </property>
</Properties>
</file>